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20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5.png"/><Relationship Id="rId7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158" name="Group 158"/>
          <p:cNvGrpSpPr/>
          <p:nvPr/>
        </p:nvGrpSpPr>
        <p:grpSpPr>
          <a:xfrm>
            <a:off x="0" y="-159826"/>
            <a:ext cx="13061649" cy="7019884"/>
            <a:chOff x="0" y="-159826"/>
            <a:chExt cx="13061649" cy="7019884"/>
          </a:xfrm>
        </p:grpSpPr>
        <p:grpSp>
          <p:nvGrpSpPr>
            <p:cNvPr id="11" name="Group 11"/>
            <p:cNvGrpSpPr/>
            <p:nvPr/>
          </p:nvGrpSpPr>
          <p:grpSpPr>
            <a:xfrm>
              <a:off x="8559380" y="648131"/>
              <a:ext cx="2495078" cy="3087720"/>
              <a:chOff x="8559380" y="648131"/>
              <a:chExt cx="2495078" cy="308772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559380" y="648131"/>
                <a:ext cx="2495069" cy="3087720"/>
              </a:xfrm>
              <a:prstGeom prst="rect">
                <a:avLst/>
              </a:prstGeom>
              <a:solidFill>
                <a:srgbClr val="FFC1CB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 rot="5400000">
                <a:off x="8263063" y="944456"/>
                <a:ext cx="3087720" cy="2495069"/>
                <a:chOff x="8263055" y="944456"/>
                <a:chExt cx="3087720" cy="2495069"/>
              </a:xfrm>
            </p:grpSpPr>
            <p:pic>
              <p:nvPicPr>
                <p:cNvPr id="9" name="Image 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263055" y="944456"/>
                  <a:ext cx="3087720" cy="2495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0800" h="2772299">
                      <a:moveTo>
                        <a:pt x="0" y="2772299"/>
                      </a:moveTo>
                      <a:lnTo>
                        <a:pt x="0" y="0"/>
                      </a:lnTo>
                      <a:lnTo>
                        <a:pt x="3430800" y="0"/>
                      </a:lnTo>
                      <a:lnTo>
                        <a:pt x="3430800" y="277229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1" name="Group 61"/>
            <p:cNvGrpSpPr/>
            <p:nvPr/>
          </p:nvGrpSpPr>
          <p:grpSpPr>
            <a:xfrm>
              <a:off x="9046096" y="3433412"/>
              <a:ext cx="2456328" cy="2423585"/>
              <a:chOff x="9046096" y="3433412"/>
              <a:chExt cx="2456328" cy="242358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391279" y="3433412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93895" y="46929"/>
                    </a:moveTo>
                    <a:cubicBezTo>
                      <a:pt x="93895" y="72865"/>
                      <a:pt x="72873" y="93875"/>
                      <a:pt x="46939" y="93875"/>
                    </a:cubicBezTo>
                    <a:cubicBezTo>
                      <a:pt x="21005" y="93875"/>
                      <a:pt x="0" y="72865"/>
                      <a:pt x="0" y="46929"/>
                    </a:cubicBezTo>
                    <a:cubicBezTo>
                      <a:pt x="0" y="21010"/>
                      <a:pt x="21005" y="0"/>
                      <a:pt x="46939" y="0"/>
                    </a:cubicBezTo>
                    <a:cubicBezTo>
                      <a:pt x="72873" y="0"/>
                      <a:pt x="93895" y="21010"/>
                      <a:pt x="93895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000410" y="3433412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93912" y="46929"/>
                    </a:moveTo>
                    <a:cubicBezTo>
                      <a:pt x="93912" y="72865"/>
                      <a:pt x="72890" y="93875"/>
                      <a:pt x="46956" y="93875"/>
                    </a:cubicBez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9557" y="3433412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93895" y="46929"/>
                    </a:moveTo>
                    <a:cubicBezTo>
                      <a:pt x="93895" y="72865"/>
                      <a:pt x="72873" y="93875"/>
                      <a:pt x="46939" y="93875"/>
                    </a:cubicBezTo>
                    <a:cubicBezTo>
                      <a:pt x="21005" y="93875"/>
                      <a:pt x="0" y="72865"/>
                      <a:pt x="0" y="46929"/>
                    </a:cubicBezTo>
                    <a:cubicBezTo>
                      <a:pt x="0" y="21010"/>
                      <a:pt x="21005" y="0"/>
                      <a:pt x="46939" y="0"/>
                    </a:cubicBezTo>
                    <a:cubicBezTo>
                      <a:pt x="72873" y="0"/>
                      <a:pt x="93895" y="21010"/>
                      <a:pt x="93895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18671" y="3433412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93929" y="46929"/>
                    </a:moveTo>
                    <a:cubicBezTo>
                      <a:pt x="93929" y="72865"/>
                      <a:pt x="72907" y="93875"/>
                      <a:pt x="46956" y="93875"/>
                    </a:cubicBez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907" y="0"/>
                      <a:pt x="93929" y="21010"/>
                      <a:pt x="93929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27818" y="3433412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93929" y="46929"/>
                    </a:moveTo>
                    <a:cubicBezTo>
                      <a:pt x="93929" y="72865"/>
                      <a:pt x="72890" y="93875"/>
                      <a:pt x="46956" y="93875"/>
                    </a:cubicBez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29" y="21010"/>
                      <a:pt x="93929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436965" y="3433412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93929" y="46929"/>
                    </a:moveTo>
                    <a:cubicBezTo>
                      <a:pt x="93929" y="72865"/>
                      <a:pt x="72890" y="93875"/>
                      <a:pt x="46956" y="93875"/>
                    </a:cubicBez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29" y="21010"/>
                      <a:pt x="93929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046096" y="3433412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93945" y="46929"/>
                    </a:moveTo>
                    <a:cubicBezTo>
                      <a:pt x="93945" y="72865"/>
                      <a:pt x="72907" y="93875"/>
                      <a:pt x="46973" y="93875"/>
                    </a:cubicBez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73" y="0"/>
                    </a:cubicBezTo>
                    <a:cubicBezTo>
                      <a:pt x="72907" y="0"/>
                      <a:pt x="93945" y="21010"/>
                      <a:pt x="93945" y="46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047672" y="5763122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29" y="21027"/>
                      <a:pt x="93929" y="46946"/>
                    </a:cubicBezTo>
                    <a:cubicBezTo>
                      <a:pt x="9392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47672" y="5372492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29" y="21010"/>
                      <a:pt x="93929" y="46946"/>
                    </a:cubicBezTo>
                    <a:cubicBezTo>
                      <a:pt x="9392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047672" y="4981861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29" y="21010"/>
                      <a:pt x="93929" y="46946"/>
                    </a:cubicBezTo>
                    <a:cubicBezTo>
                      <a:pt x="9392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47672" y="4591230"/>
                <a:ext cx="9392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29" y="21010"/>
                      <a:pt x="93929" y="46929"/>
                    </a:cubicBezTo>
                    <a:cubicBezTo>
                      <a:pt x="9392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047672" y="4200583"/>
                <a:ext cx="93929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29" y="21027"/>
                      <a:pt x="93929" y="46946"/>
                    </a:cubicBezTo>
                    <a:cubicBezTo>
                      <a:pt x="93929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047672" y="3809952"/>
                <a:ext cx="93929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29" y="21027"/>
                      <a:pt x="93929" y="46946"/>
                    </a:cubicBezTo>
                    <a:cubicBezTo>
                      <a:pt x="93929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441123" y="5763122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441123" y="5372492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441123" y="4981861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441123" y="4591230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29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29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441123" y="4200583"/>
                <a:ext cx="9394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92">
                    <a:moveTo>
                      <a:pt x="46973" y="93892"/>
                    </a:moveTo>
                    <a:cubicBezTo>
                      <a:pt x="21039" y="93892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92"/>
                      <a:pt x="46973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41123" y="3809952"/>
                <a:ext cx="9394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92">
                    <a:moveTo>
                      <a:pt x="46973" y="93892"/>
                    </a:moveTo>
                    <a:cubicBezTo>
                      <a:pt x="21039" y="93892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92"/>
                      <a:pt x="46973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834591" y="5763122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834591" y="5372492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34591" y="4981861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46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46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834591" y="4591230"/>
                <a:ext cx="9394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75">
                    <a:moveTo>
                      <a:pt x="46973" y="93875"/>
                    </a:moveTo>
                    <a:cubicBezTo>
                      <a:pt x="21039" y="93875"/>
                      <a:pt x="0" y="72865"/>
                      <a:pt x="0" y="46929"/>
                    </a:cubicBezTo>
                    <a:cubicBezTo>
                      <a:pt x="0" y="21010"/>
                      <a:pt x="21039" y="0"/>
                      <a:pt x="46973" y="0"/>
                    </a:cubicBezTo>
                    <a:cubicBezTo>
                      <a:pt x="72907" y="0"/>
                      <a:pt x="93945" y="21010"/>
                      <a:pt x="93945" y="46929"/>
                    </a:cubicBezTo>
                    <a:cubicBezTo>
                      <a:pt x="93945" y="72865"/>
                      <a:pt x="72907" y="93875"/>
                      <a:pt x="46973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834591" y="4200583"/>
                <a:ext cx="9394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92">
                    <a:moveTo>
                      <a:pt x="46973" y="93892"/>
                    </a:moveTo>
                    <a:cubicBezTo>
                      <a:pt x="21039" y="93892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92"/>
                      <a:pt x="46973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834591" y="3809952"/>
                <a:ext cx="9394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892">
                    <a:moveTo>
                      <a:pt x="46973" y="93892"/>
                    </a:moveTo>
                    <a:cubicBezTo>
                      <a:pt x="21039" y="93892"/>
                      <a:pt x="0" y="72865"/>
                      <a:pt x="0" y="46946"/>
                    </a:cubicBezTo>
                    <a:cubicBezTo>
                      <a:pt x="0" y="21027"/>
                      <a:pt x="21039" y="0"/>
                      <a:pt x="46973" y="0"/>
                    </a:cubicBezTo>
                    <a:cubicBezTo>
                      <a:pt x="72907" y="0"/>
                      <a:pt x="93945" y="21027"/>
                      <a:pt x="93945" y="46946"/>
                    </a:cubicBezTo>
                    <a:cubicBezTo>
                      <a:pt x="93945" y="72865"/>
                      <a:pt x="72907" y="93892"/>
                      <a:pt x="46973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228075" y="5763122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228075" y="5372492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28075" y="4981861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228075" y="4591230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29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228075" y="4200583"/>
                <a:ext cx="93912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228075" y="3809952"/>
                <a:ext cx="93912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621526" y="5763122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46939" y="93875"/>
                    </a:moveTo>
                    <a:cubicBezTo>
                      <a:pt x="21005" y="93875"/>
                      <a:pt x="0" y="72865"/>
                      <a:pt x="0" y="46946"/>
                    </a:cubicBezTo>
                    <a:cubicBezTo>
                      <a:pt x="0" y="21027"/>
                      <a:pt x="21005" y="0"/>
                      <a:pt x="46939" y="0"/>
                    </a:cubicBezTo>
                    <a:cubicBezTo>
                      <a:pt x="72873" y="0"/>
                      <a:pt x="93895" y="21027"/>
                      <a:pt x="93895" y="46946"/>
                    </a:cubicBezTo>
                    <a:cubicBezTo>
                      <a:pt x="93895" y="72865"/>
                      <a:pt x="72873" y="93875"/>
                      <a:pt x="46939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21526" y="5372492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46939" y="93875"/>
                    </a:moveTo>
                    <a:cubicBezTo>
                      <a:pt x="21005" y="93875"/>
                      <a:pt x="0" y="72865"/>
                      <a:pt x="0" y="46946"/>
                    </a:cubicBezTo>
                    <a:cubicBezTo>
                      <a:pt x="0" y="21010"/>
                      <a:pt x="21005" y="0"/>
                      <a:pt x="46939" y="0"/>
                    </a:cubicBezTo>
                    <a:cubicBezTo>
                      <a:pt x="72873" y="0"/>
                      <a:pt x="93895" y="21010"/>
                      <a:pt x="93895" y="46946"/>
                    </a:cubicBezTo>
                    <a:cubicBezTo>
                      <a:pt x="93895" y="72865"/>
                      <a:pt x="72873" y="93875"/>
                      <a:pt x="46939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621526" y="4981861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46939" y="93875"/>
                    </a:moveTo>
                    <a:cubicBezTo>
                      <a:pt x="21005" y="93875"/>
                      <a:pt x="0" y="72865"/>
                      <a:pt x="0" y="46946"/>
                    </a:cubicBezTo>
                    <a:cubicBezTo>
                      <a:pt x="0" y="21010"/>
                      <a:pt x="21005" y="0"/>
                      <a:pt x="46939" y="0"/>
                    </a:cubicBezTo>
                    <a:cubicBezTo>
                      <a:pt x="72873" y="0"/>
                      <a:pt x="93895" y="21010"/>
                      <a:pt x="93895" y="46946"/>
                    </a:cubicBezTo>
                    <a:cubicBezTo>
                      <a:pt x="93895" y="72865"/>
                      <a:pt x="72873" y="93875"/>
                      <a:pt x="46939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21526" y="4591230"/>
                <a:ext cx="93895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75">
                    <a:moveTo>
                      <a:pt x="46939" y="93875"/>
                    </a:moveTo>
                    <a:cubicBezTo>
                      <a:pt x="21005" y="93875"/>
                      <a:pt x="0" y="72865"/>
                      <a:pt x="0" y="46929"/>
                    </a:cubicBezTo>
                    <a:cubicBezTo>
                      <a:pt x="0" y="21010"/>
                      <a:pt x="21005" y="0"/>
                      <a:pt x="46939" y="0"/>
                    </a:cubicBezTo>
                    <a:cubicBezTo>
                      <a:pt x="72873" y="0"/>
                      <a:pt x="93895" y="21010"/>
                      <a:pt x="93895" y="46929"/>
                    </a:cubicBezTo>
                    <a:cubicBezTo>
                      <a:pt x="93895" y="72865"/>
                      <a:pt x="72873" y="93875"/>
                      <a:pt x="46939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621526" y="4200583"/>
                <a:ext cx="9389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92">
                    <a:moveTo>
                      <a:pt x="46939" y="93892"/>
                    </a:moveTo>
                    <a:cubicBezTo>
                      <a:pt x="21005" y="93892"/>
                      <a:pt x="0" y="72865"/>
                      <a:pt x="0" y="46946"/>
                    </a:cubicBezTo>
                    <a:cubicBezTo>
                      <a:pt x="0" y="21027"/>
                      <a:pt x="21005" y="0"/>
                      <a:pt x="46939" y="0"/>
                    </a:cubicBezTo>
                    <a:cubicBezTo>
                      <a:pt x="72873" y="0"/>
                      <a:pt x="93895" y="21027"/>
                      <a:pt x="93895" y="46946"/>
                    </a:cubicBezTo>
                    <a:cubicBezTo>
                      <a:pt x="93895" y="72865"/>
                      <a:pt x="72873" y="93892"/>
                      <a:pt x="46939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621526" y="3809952"/>
                <a:ext cx="93895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892">
                    <a:moveTo>
                      <a:pt x="46939" y="93892"/>
                    </a:moveTo>
                    <a:cubicBezTo>
                      <a:pt x="21005" y="93892"/>
                      <a:pt x="0" y="72865"/>
                      <a:pt x="0" y="46946"/>
                    </a:cubicBezTo>
                    <a:cubicBezTo>
                      <a:pt x="0" y="21027"/>
                      <a:pt x="21005" y="0"/>
                      <a:pt x="46939" y="0"/>
                    </a:cubicBezTo>
                    <a:cubicBezTo>
                      <a:pt x="72873" y="0"/>
                      <a:pt x="93895" y="21027"/>
                      <a:pt x="93895" y="46946"/>
                    </a:cubicBezTo>
                    <a:cubicBezTo>
                      <a:pt x="93895" y="72865"/>
                      <a:pt x="72873" y="93892"/>
                      <a:pt x="46939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015011" y="5763122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015011" y="5372492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015011" y="4981861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46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015011" y="4591230"/>
                <a:ext cx="93912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12" y="21010"/>
                      <a:pt x="93912" y="46929"/>
                    </a:cubicBezTo>
                    <a:cubicBezTo>
                      <a:pt x="93912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15011" y="4200583"/>
                <a:ext cx="93912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015011" y="3809952"/>
                <a:ext cx="93912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12" y="21027"/>
                      <a:pt x="93912" y="46946"/>
                    </a:cubicBezTo>
                    <a:cubicBezTo>
                      <a:pt x="93912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408445" y="5763122"/>
                <a:ext cx="9397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79" y="21027"/>
                      <a:pt x="93979" y="46946"/>
                    </a:cubicBezTo>
                    <a:cubicBezTo>
                      <a:pt x="9397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408445" y="5372492"/>
                <a:ext cx="9397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79" y="21010"/>
                      <a:pt x="93979" y="46946"/>
                    </a:cubicBezTo>
                    <a:cubicBezTo>
                      <a:pt x="9397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08445" y="4981861"/>
                <a:ext cx="9397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46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79" y="21010"/>
                      <a:pt x="93979" y="46946"/>
                    </a:cubicBezTo>
                    <a:cubicBezTo>
                      <a:pt x="9397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408445" y="4591230"/>
                <a:ext cx="93979" cy="9387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75">
                    <a:moveTo>
                      <a:pt x="46956" y="93875"/>
                    </a:moveTo>
                    <a:cubicBezTo>
                      <a:pt x="21022" y="93875"/>
                      <a:pt x="0" y="72865"/>
                      <a:pt x="0" y="46929"/>
                    </a:cubicBezTo>
                    <a:cubicBezTo>
                      <a:pt x="0" y="21010"/>
                      <a:pt x="21022" y="0"/>
                      <a:pt x="46956" y="0"/>
                    </a:cubicBezTo>
                    <a:cubicBezTo>
                      <a:pt x="72890" y="0"/>
                      <a:pt x="93979" y="21010"/>
                      <a:pt x="93979" y="46929"/>
                    </a:cubicBezTo>
                    <a:cubicBezTo>
                      <a:pt x="93979" y="72865"/>
                      <a:pt x="72890" y="93875"/>
                      <a:pt x="46956" y="938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1408445" y="4200583"/>
                <a:ext cx="93979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79" y="21027"/>
                      <a:pt x="93979" y="46946"/>
                    </a:cubicBezTo>
                    <a:cubicBezTo>
                      <a:pt x="93979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408445" y="3809952"/>
                <a:ext cx="93979" cy="9389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892">
                    <a:moveTo>
                      <a:pt x="46956" y="93892"/>
                    </a:moveTo>
                    <a:cubicBezTo>
                      <a:pt x="21022" y="93892"/>
                      <a:pt x="0" y="72865"/>
                      <a:pt x="0" y="46946"/>
                    </a:cubicBezTo>
                    <a:cubicBezTo>
                      <a:pt x="0" y="21027"/>
                      <a:pt x="21022" y="0"/>
                      <a:pt x="46956" y="0"/>
                    </a:cubicBezTo>
                    <a:cubicBezTo>
                      <a:pt x="72890" y="0"/>
                      <a:pt x="93979" y="21027"/>
                      <a:pt x="93979" y="46946"/>
                    </a:cubicBezTo>
                    <a:cubicBezTo>
                      <a:pt x="93979" y="72865"/>
                      <a:pt x="72890" y="93892"/>
                      <a:pt x="46956" y="938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111" name="Group 111"/>
            <p:cNvGrpSpPr/>
            <p:nvPr/>
          </p:nvGrpSpPr>
          <p:grpSpPr>
            <a:xfrm>
              <a:off x="406612" y="496442"/>
              <a:ext cx="2456279" cy="2424979"/>
              <a:chOff x="406612" y="496442"/>
              <a:chExt cx="2456279" cy="242497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2751745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907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360892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970040" y="496442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93912" y="46956"/>
                    </a:moveTo>
                    <a:cubicBezTo>
                      <a:pt x="93912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579170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907" y="93929"/>
                      <a:pt x="46973" y="93929"/>
                    </a:cubicBez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188318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907" y="93929"/>
                      <a:pt x="46973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97465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907" y="93929"/>
                      <a:pt x="46973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406612" y="496442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408171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408171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08171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08171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408171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408171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1639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01639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01639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01639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01639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01639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195107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195107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195107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195107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195107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195107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588575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29" y="21039"/>
                      <a:pt x="93929" y="46973"/>
                    </a:cubicBezTo>
                    <a:cubicBezTo>
                      <a:pt x="9392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588575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73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588575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73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588575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588575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1588575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29" y="21039"/>
                      <a:pt x="93929" y="46973"/>
                    </a:cubicBezTo>
                    <a:cubicBezTo>
                      <a:pt x="9392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982026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1982026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1982026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1982026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1982026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1982026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2375494" y="2827476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2375494" y="2436624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2375494" y="2045771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2375494" y="1654918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56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2375494" y="1264066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56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2375494" y="873196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2768962" y="282747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2768962" y="2436624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2768962" y="204577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73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2768962" y="165491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2768962" y="126406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ubicBezTo>
                      <a:pt x="93929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2768962" y="87319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29" y="21039"/>
                      <a:pt x="93929" y="46973"/>
                    </a:cubicBezTo>
                    <a:cubicBezTo>
                      <a:pt x="93929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115" name="Group 115"/>
            <p:cNvGrpSpPr/>
            <p:nvPr/>
          </p:nvGrpSpPr>
          <p:grpSpPr>
            <a:xfrm>
              <a:off x="0" y="1381925"/>
              <a:ext cx="9312602" cy="3836709"/>
              <a:chOff x="0" y="1381925"/>
              <a:chExt cx="9312602" cy="3836709"/>
            </a:xfrm>
          </p:grpSpPr>
          <p:sp>
            <p:nvSpPr>
              <p:cNvPr id="112" name="Rectangle 112"/>
              <p:cNvSpPr/>
              <p:nvPr/>
            </p:nvSpPr>
            <p:spPr>
              <a:xfrm>
                <a:off x="0" y="1381925"/>
                <a:ext cx="9312602" cy="3836699"/>
              </a:xfrm>
              <a:prstGeom prst="rect">
                <a:avLst/>
              </a:prstGeom>
              <a:solidFill>
                <a:srgbClr val="58C1DD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 rot="5400000">
                <a:off x="2737952" y="-1356017"/>
                <a:ext cx="3836699" cy="9312602"/>
                <a:chOff x="2737952" y="-1356027"/>
                <a:chExt cx="3836699" cy="9312602"/>
              </a:xfrm>
            </p:grpSpPr>
            <p:pic>
              <p:nvPicPr>
                <p:cNvPr id="113" name="Image 113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>
                  <a:off x="2737952" y="-1356027"/>
                  <a:ext cx="3836699" cy="931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6699" h="9312602">
                      <a:moveTo>
                        <a:pt x="0" y="9312602"/>
                      </a:moveTo>
                      <a:lnTo>
                        <a:pt x="0" y="0"/>
                      </a:lnTo>
                      <a:lnTo>
                        <a:pt x="3836699" y="0"/>
                      </a:lnTo>
                      <a:lnTo>
                        <a:pt x="3836699" y="9312602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19" name="Group 119"/>
            <p:cNvGrpSpPr/>
            <p:nvPr/>
          </p:nvGrpSpPr>
          <p:grpSpPr>
            <a:xfrm>
              <a:off x="8242326" y="307348"/>
              <a:ext cx="1372885" cy="675513"/>
              <a:chOff x="8242326" y="307348"/>
              <a:chExt cx="1372885" cy="675513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8242334" y="307348"/>
                <a:ext cx="1372877" cy="675513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5513">
                    <a:moveTo>
                      <a:pt x="0" y="0"/>
                    </a:moveTo>
                    <a:cubicBezTo>
                      <a:pt x="6352" y="373958"/>
                      <a:pt x="310736" y="675513"/>
                      <a:pt x="686220" y="675513"/>
                    </a:cubicBezTo>
                    <a:cubicBezTo>
                      <a:pt x="1061713" y="675513"/>
                      <a:pt x="1366525" y="373958"/>
                      <a:pt x="1372877" y="0"/>
                    </a:cubicBezTo>
                    <a:lnTo>
                      <a:pt x="1024062" y="0"/>
                    </a:lnTo>
                    <a:cubicBezTo>
                      <a:pt x="1017710" y="181557"/>
                      <a:pt x="869294" y="327169"/>
                      <a:pt x="686220" y="327169"/>
                    </a:cubicBezTo>
                    <a:cubicBezTo>
                      <a:pt x="503086" y="327169"/>
                      <a:pt x="354884" y="181557"/>
                      <a:pt x="34853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18" name="Group 118"/>
              <p:cNvGrpSpPr/>
              <p:nvPr/>
            </p:nvGrpSpPr>
            <p:grpSpPr>
              <a:xfrm rot="5400000">
                <a:off x="8591008" y="-41334"/>
                <a:ext cx="675513" cy="1372877"/>
                <a:chOff x="8591012" y="-41330"/>
                <a:chExt cx="675513" cy="1372877"/>
              </a:xfrm>
            </p:grpSpPr>
            <p:pic>
              <p:nvPicPr>
                <p:cNvPr id="117" name="Image 117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>
                  <a:off x="8591012" y="-41330"/>
                  <a:ext cx="675513" cy="1372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25" name="Group 125"/>
            <p:cNvGrpSpPr/>
            <p:nvPr/>
          </p:nvGrpSpPr>
          <p:grpSpPr>
            <a:xfrm>
              <a:off x="1311087" y="6283317"/>
              <a:ext cx="3900333" cy="576741"/>
              <a:chOff x="1311087" y="6283317"/>
              <a:chExt cx="3900333" cy="576741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1311087" y="6283334"/>
                <a:ext cx="1959999" cy="576724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724">
                    <a:moveTo>
                      <a:pt x="0" y="0"/>
                    </a:moveTo>
                    <a:lnTo>
                      <a:pt x="1959999" y="0"/>
                    </a:lnTo>
                    <a:lnTo>
                      <a:pt x="1959999" y="576724"/>
                    </a:lnTo>
                    <a:lnTo>
                      <a:pt x="0" y="576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3579345" y="6283317"/>
                <a:ext cx="666143" cy="576741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741">
                    <a:moveTo>
                      <a:pt x="0" y="0"/>
                    </a:moveTo>
                    <a:lnTo>
                      <a:pt x="666143" y="0"/>
                    </a:lnTo>
                    <a:lnTo>
                      <a:pt x="666143" y="576741"/>
                    </a:lnTo>
                    <a:lnTo>
                      <a:pt x="0" y="5767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4545277" y="6283317"/>
                <a:ext cx="666143" cy="576741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741">
                    <a:moveTo>
                      <a:pt x="0" y="0"/>
                    </a:moveTo>
                    <a:lnTo>
                      <a:pt x="666143" y="0"/>
                    </a:lnTo>
                    <a:lnTo>
                      <a:pt x="666143" y="576741"/>
                    </a:lnTo>
                    <a:lnTo>
                      <a:pt x="0" y="5767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24" name="Group 124"/>
              <p:cNvGrpSpPr/>
              <p:nvPr/>
            </p:nvGrpSpPr>
            <p:grpSpPr>
              <a:xfrm rot="5400000">
                <a:off x="2972884" y="4621520"/>
                <a:ext cx="576741" cy="3900333"/>
                <a:chOff x="2972883" y="4621520"/>
                <a:chExt cx="576741" cy="3900333"/>
              </a:xfrm>
            </p:grpSpPr>
            <p:pic>
              <p:nvPicPr>
                <p:cNvPr id="123" name="Image 123"/>
                <p:cNvPicPr>
                  <a:picLocks noChangeAspect="1"/>
                </p:cNvPicPr>
                <p:nvPr/>
              </p:nvPicPr>
              <p:blipFill>
                <a:blip r:embed="rId6">
                  <a:alphaModFix amt="20000"/>
                </a:blip>
                <a:stretch>
                  <a:fillRect/>
                </a:stretch>
              </p:blipFill>
              <p:spPr>
                <a:xfrm>
                  <a:off x="2972883" y="4621520"/>
                  <a:ext cx="576741" cy="3900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29" name="Group 129"/>
            <p:cNvGrpSpPr/>
            <p:nvPr/>
          </p:nvGrpSpPr>
          <p:grpSpPr>
            <a:xfrm>
              <a:off x="9326361" y="4820917"/>
              <a:ext cx="835108" cy="835099"/>
              <a:chOff x="9326361" y="4820917"/>
              <a:chExt cx="835108" cy="835099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9326362" y="4820917"/>
                <a:ext cx="835107" cy="835099"/>
              </a:xfrm>
              <a:custGeom>
                <a:avLst/>
                <a:gdLst/>
                <a:ahLst/>
                <a:cxnLst/>
                <a:rect l="l" t="t" r="r" b="b"/>
                <a:pathLst>
                  <a:path w="835107" h="835099">
                    <a:moveTo>
                      <a:pt x="0" y="417549"/>
                    </a:moveTo>
                    <a:cubicBezTo>
                      <a:pt x="0" y="186949"/>
                      <a:pt x="186949" y="0"/>
                      <a:pt x="417558" y="0"/>
                    </a:cubicBezTo>
                    <a:cubicBezTo>
                      <a:pt x="648158" y="0"/>
                      <a:pt x="835107" y="186949"/>
                      <a:pt x="835107" y="417549"/>
                    </a:cubicBezTo>
                    <a:cubicBezTo>
                      <a:pt x="835107" y="648158"/>
                      <a:pt x="648158" y="835099"/>
                      <a:pt x="417558" y="835099"/>
                    </a:cubicBezTo>
                    <a:cubicBezTo>
                      <a:pt x="186949" y="835099"/>
                      <a:pt x="0" y="648158"/>
                      <a:pt x="0" y="417549"/>
                    </a:cubicBez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28" name="Group 128"/>
              <p:cNvGrpSpPr/>
              <p:nvPr/>
            </p:nvGrpSpPr>
            <p:grpSpPr>
              <a:xfrm rot="5400000">
                <a:off x="9326362" y="4820916"/>
                <a:ext cx="835099" cy="835099"/>
                <a:chOff x="9326362" y="4820917"/>
                <a:chExt cx="835099" cy="835099"/>
              </a:xfrm>
            </p:grpSpPr>
            <p:pic>
              <p:nvPicPr>
                <p:cNvPr id="127" name="Image 127"/>
                <p:cNvPicPr>
                  <a:picLocks noChangeAspect="1"/>
                </p:cNvPicPr>
                <p:nvPr/>
              </p:nvPicPr>
              <p:blipFill>
                <a:blip r:embed="rId7">
                  <a:alphaModFix amt="20000"/>
                </a:blip>
                <a:stretch>
                  <a:fillRect/>
                </a:stretch>
              </p:blipFill>
              <p:spPr>
                <a:xfrm>
                  <a:off x="9326362" y="4820917"/>
                  <a:ext cx="835099" cy="83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87" h="927887">
                      <a:moveTo>
                        <a:pt x="0" y="463944"/>
                      </a:moveTo>
                      <a:cubicBezTo>
                        <a:pt x="0" y="207712"/>
                        <a:pt x="207721" y="0"/>
                        <a:pt x="463953" y="0"/>
                      </a:cubicBezTo>
                      <a:cubicBezTo>
                        <a:pt x="720176" y="0"/>
                        <a:pt x="927897" y="207712"/>
                        <a:pt x="927897" y="463944"/>
                      </a:cubicBezTo>
                      <a:cubicBezTo>
                        <a:pt x="927897" y="720176"/>
                        <a:pt x="720176" y="927887"/>
                        <a:pt x="463953" y="927887"/>
                      </a:cubicBezTo>
                      <a:cubicBezTo>
                        <a:pt x="207721" y="927887"/>
                        <a:pt x="0" y="720176"/>
                        <a:pt x="0" y="463944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33" name="Group 133"/>
            <p:cNvGrpSpPr/>
            <p:nvPr/>
          </p:nvGrpSpPr>
          <p:grpSpPr>
            <a:xfrm>
              <a:off x="11419247" y="1462471"/>
              <a:ext cx="609059" cy="609008"/>
              <a:chOff x="11419247" y="1462471"/>
              <a:chExt cx="609059" cy="609008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11419247" y="1462471"/>
                <a:ext cx="609059" cy="609008"/>
              </a:xfrm>
              <a:custGeom>
                <a:avLst/>
                <a:gdLst/>
                <a:ahLst/>
                <a:cxnLst/>
                <a:rect l="l" t="t" r="r" b="b"/>
                <a:pathLst>
                  <a:path w="609059" h="609008">
                    <a:moveTo>
                      <a:pt x="0" y="304504"/>
                    </a:moveTo>
                    <a:cubicBezTo>
                      <a:pt x="0" y="136337"/>
                      <a:pt x="136363" y="0"/>
                      <a:pt x="304529" y="0"/>
                    </a:cubicBezTo>
                    <a:cubicBezTo>
                      <a:pt x="472696" y="0"/>
                      <a:pt x="609059" y="136337"/>
                      <a:pt x="609059" y="304504"/>
                    </a:cubicBezTo>
                    <a:cubicBezTo>
                      <a:pt x="609059" y="472679"/>
                      <a:pt x="472696" y="609008"/>
                      <a:pt x="304529" y="609008"/>
                    </a:cubicBezTo>
                    <a:cubicBezTo>
                      <a:pt x="136363" y="609008"/>
                      <a:pt x="0" y="472679"/>
                      <a:pt x="0" y="304504"/>
                    </a:cubicBez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32" name="Group 132"/>
              <p:cNvGrpSpPr/>
              <p:nvPr/>
            </p:nvGrpSpPr>
            <p:grpSpPr>
              <a:xfrm rot="5400000">
                <a:off x="11419277" y="1462450"/>
                <a:ext cx="609008" cy="609050"/>
                <a:chOff x="11419273" y="1462446"/>
                <a:chExt cx="609008" cy="609050"/>
              </a:xfrm>
            </p:grpSpPr>
            <p:pic>
              <p:nvPicPr>
                <p:cNvPr id="131" name="Image 131"/>
                <p:cNvPicPr>
                  <a:picLocks noChangeAspect="1"/>
                </p:cNvPicPr>
                <p:nvPr/>
              </p:nvPicPr>
              <p:blipFill>
                <a:blip r:embed="rId8">
                  <a:alphaModFix amt="20000"/>
                </a:blip>
                <a:stretch>
                  <a:fillRect/>
                </a:stretch>
              </p:blipFill>
              <p:spPr>
                <a:xfrm>
                  <a:off x="11419273" y="1462446"/>
                  <a:ext cx="609008" cy="60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675" h="676723">
                      <a:moveTo>
                        <a:pt x="0" y="338366"/>
                      </a:moveTo>
                      <a:cubicBezTo>
                        <a:pt x="0" y="151514"/>
                        <a:pt x="151486" y="0"/>
                        <a:pt x="338338" y="0"/>
                      </a:cubicBezTo>
                      <a:cubicBezTo>
                        <a:pt x="525199" y="0"/>
                        <a:pt x="676675" y="151514"/>
                        <a:pt x="676675" y="338366"/>
                      </a:cubicBezTo>
                      <a:cubicBezTo>
                        <a:pt x="676675" y="525218"/>
                        <a:pt x="525199" y="676732"/>
                        <a:pt x="338338" y="676732"/>
                      </a:cubicBezTo>
                      <a:cubicBezTo>
                        <a:pt x="151486" y="676732"/>
                        <a:pt x="0" y="525218"/>
                        <a:pt x="0" y="338366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37" name="Group 137"/>
            <p:cNvGrpSpPr/>
            <p:nvPr/>
          </p:nvGrpSpPr>
          <p:grpSpPr>
            <a:xfrm>
              <a:off x="10730837" y="4720696"/>
              <a:ext cx="2330812" cy="2121274"/>
              <a:chOff x="10730837" y="4720696"/>
              <a:chExt cx="2330812" cy="2121274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10730837" y="4720696"/>
                <a:ext cx="2330811" cy="2121274"/>
              </a:xfrm>
              <a:custGeom>
                <a:avLst/>
                <a:gdLst/>
                <a:ahLst/>
                <a:cxnLst/>
                <a:rect l="l" t="t" r="r" b="b"/>
                <a:pathLst>
                  <a:path w="2330811" h="2121274">
                    <a:moveTo>
                      <a:pt x="1165406" y="0"/>
                    </a:moveTo>
                    <a:cubicBezTo>
                      <a:pt x="521834" y="0"/>
                      <a:pt x="0" y="521782"/>
                      <a:pt x="0" y="1165389"/>
                    </a:cubicBezTo>
                    <a:lnTo>
                      <a:pt x="0" y="2121274"/>
                    </a:lnTo>
                    <a:lnTo>
                      <a:pt x="591725" y="2121274"/>
                    </a:lnTo>
                    <a:lnTo>
                      <a:pt x="591725" y="1185885"/>
                    </a:lnTo>
                    <a:cubicBezTo>
                      <a:pt x="591725" y="859865"/>
                      <a:pt x="855887" y="595506"/>
                      <a:pt x="1181882" y="595506"/>
                    </a:cubicBezTo>
                    <a:cubicBezTo>
                      <a:pt x="1507946" y="595506"/>
                      <a:pt x="1772244" y="859865"/>
                      <a:pt x="1772244" y="1185885"/>
                    </a:cubicBezTo>
                    <a:lnTo>
                      <a:pt x="1772244" y="2121274"/>
                    </a:lnTo>
                    <a:lnTo>
                      <a:pt x="2330811" y="2121274"/>
                    </a:lnTo>
                    <a:lnTo>
                      <a:pt x="2330811" y="1165389"/>
                    </a:lnTo>
                    <a:cubicBezTo>
                      <a:pt x="2330811" y="521782"/>
                      <a:pt x="1808978" y="0"/>
                      <a:pt x="1165406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36" name="Group 136"/>
              <p:cNvGrpSpPr/>
              <p:nvPr/>
            </p:nvGrpSpPr>
            <p:grpSpPr>
              <a:xfrm rot="5400000">
                <a:off x="10835606" y="4615928"/>
                <a:ext cx="2121274" cy="2330811"/>
                <a:chOff x="10835602" y="4615931"/>
                <a:chExt cx="2121274" cy="2330811"/>
              </a:xfrm>
            </p:grpSpPr>
            <p:pic>
              <p:nvPicPr>
                <p:cNvPr id="135" name="Image 135"/>
                <p:cNvPicPr>
                  <a:picLocks noChangeAspect="1"/>
                </p:cNvPicPr>
                <p:nvPr/>
              </p:nvPicPr>
              <p:blipFill>
                <a:blip r:embed="rId9">
                  <a:alphaModFix amt="20000"/>
                </a:blip>
                <a:stretch>
                  <a:fillRect/>
                </a:stretch>
              </p:blipFill>
              <p:spPr>
                <a:xfrm>
                  <a:off x="10835602" y="4615931"/>
                  <a:ext cx="2121274" cy="233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45" name="Group 145"/>
            <p:cNvGrpSpPr/>
            <p:nvPr/>
          </p:nvGrpSpPr>
          <p:grpSpPr>
            <a:xfrm>
              <a:off x="10563013" y="2695083"/>
              <a:ext cx="1548849" cy="335710"/>
              <a:chOff x="10563013" y="2695083"/>
              <a:chExt cx="1548849" cy="335710"/>
            </a:xfrm>
          </p:grpSpPr>
          <p:grpSp>
            <p:nvGrpSpPr>
              <p:cNvPr id="142" name="Group 142"/>
              <p:cNvGrpSpPr/>
              <p:nvPr/>
            </p:nvGrpSpPr>
            <p:grpSpPr>
              <a:xfrm>
                <a:off x="10564596" y="2695537"/>
                <a:ext cx="1547266" cy="335256"/>
                <a:chOff x="10564596" y="2695537"/>
                <a:chExt cx="1547266" cy="335256"/>
              </a:xfrm>
            </p:grpSpPr>
            <p:sp>
              <p:nvSpPr>
                <p:cNvPr id="138" name="Freeform 138"/>
                <p:cNvSpPr/>
                <p:nvPr/>
              </p:nvSpPr>
              <p:spPr>
                <a:xfrm>
                  <a:off x="10564596" y="2695537"/>
                  <a:ext cx="406988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88" h="335256">
                      <a:moveTo>
                        <a:pt x="226114" y="0"/>
                      </a:moveTo>
                      <a:lnTo>
                        <a:pt x="406988" y="0"/>
                      </a:lnTo>
                      <a:lnTo>
                        <a:pt x="180941" y="335256"/>
                      </a:lnTo>
                      <a:lnTo>
                        <a:pt x="0" y="335256"/>
                      </a:lnTo>
                      <a:lnTo>
                        <a:pt x="22611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39" name="Freeform 139"/>
                <p:cNvSpPr/>
                <p:nvPr/>
              </p:nvSpPr>
              <p:spPr>
                <a:xfrm>
                  <a:off x="10944638" y="2695537"/>
                  <a:ext cx="407055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55" h="335256">
                      <a:moveTo>
                        <a:pt x="226131" y="0"/>
                      </a:moveTo>
                      <a:lnTo>
                        <a:pt x="407055" y="0"/>
                      </a:lnTo>
                      <a:lnTo>
                        <a:pt x="180941" y="335256"/>
                      </a:lnTo>
                      <a:lnTo>
                        <a:pt x="0" y="335256"/>
                      </a:lnTo>
                      <a:lnTo>
                        <a:pt x="22613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0" name="Freeform 140"/>
                <p:cNvSpPr/>
                <p:nvPr/>
              </p:nvSpPr>
              <p:spPr>
                <a:xfrm>
                  <a:off x="11324764" y="2695537"/>
                  <a:ext cx="406988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88" h="335256">
                      <a:moveTo>
                        <a:pt x="226114" y="0"/>
                      </a:moveTo>
                      <a:lnTo>
                        <a:pt x="406988" y="0"/>
                      </a:lnTo>
                      <a:lnTo>
                        <a:pt x="180941" y="335256"/>
                      </a:lnTo>
                      <a:lnTo>
                        <a:pt x="0" y="335256"/>
                      </a:lnTo>
                      <a:lnTo>
                        <a:pt x="22611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1" name="Freeform 141"/>
                <p:cNvSpPr/>
                <p:nvPr/>
              </p:nvSpPr>
              <p:spPr>
                <a:xfrm>
                  <a:off x="11704807" y="2695537"/>
                  <a:ext cx="407055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55" h="335256">
                      <a:moveTo>
                        <a:pt x="226114" y="0"/>
                      </a:moveTo>
                      <a:lnTo>
                        <a:pt x="407055" y="0"/>
                      </a:lnTo>
                      <a:lnTo>
                        <a:pt x="180941" y="335256"/>
                      </a:lnTo>
                      <a:lnTo>
                        <a:pt x="0" y="335256"/>
                      </a:lnTo>
                      <a:lnTo>
                        <a:pt x="22611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144" name="Group 144"/>
              <p:cNvGrpSpPr/>
              <p:nvPr/>
            </p:nvGrpSpPr>
            <p:grpSpPr>
              <a:xfrm rot="5400000">
                <a:off x="11168926" y="2089170"/>
                <a:ext cx="335202" cy="1547028"/>
                <a:chOff x="11168935" y="2089161"/>
                <a:chExt cx="335202" cy="1547028"/>
              </a:xfrm>
            </p:grpSpPr>
            <p:pic>
              <p:nvPicPr>
                <p:cNvPr id="143" name="Image 143"/>
                <p:cNvPicPr>
                  <a:picLocks noChangeAspect="1"/>
                </p:cNvPicPr>
                <p:nvPr/>
              </p:nvPicPr>
              <p:blipFill>
                <a:blip r:embed="rId10">
                  <a:alphaModFix amt="20000"/>
                </a:blip>
                <a:stretch>
                  <a:fillRect/>
                </a:stretch>
              </p:blipFill>
              <p:spPr>
                <a:xfrm>
                  <a:off x="11168935" y="2089161"/>
                  <a:ext cx="335202" cy="1547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0">
                      <a:moveTo>
                        <a:pt x="0" y="201016"/>
                      </a:moveTo>
                      <a:lnTo>
                        <a:pt x="0" y="0"/>
                      </a:lnTo>
                      <a:lnTo>
                        <a:pt x="372437" y="251203"/>
                      </a:lnTo>
                      <a:lnTo>
                        <a:pt x="372437" y="452218"/>
                      </a:lnTo>
                      <a:close/>
                      <a:moveTo>
                        <a:pt x="0" y="623221"/>
                      </a:moveTo>
                      <a:lnTo>
                        <a:pt x="0" y="422291"/>
                      </a:lnTo>
                      <a:lnTo>
                        <a:pt x="372437" y="673418"/>
                      </a:lnTo>
                      <a:lnTo>
                        <a:pt x="372437" y="874424"/>
                      </a:lnTo>
                      <a:close/>
                      <a:moveTo>
                        <a:pt x="0" y="1045512"/>
                      </a:moveTo>
                      <a:lnTo>
                        <a:pt x="0" y="844496"/>
                      </a:lnTo>
                      <a:lnTo>
                        <a:pt x="372437" y="1095708"/>
                      </a:lnTo>
                      <a:lnTo>
                        <a:pt x="372437" y="1296714"/>
                      </a:lnTo>
                      <a:close/>
                      <a:moveTo>
                        <a:pt x="0" y="1467717"/>
                      </a:moveTo>
                      <a:lnTo>
                        <a:pt x="0" y="1266787"/>
                      </a:lnTo>
                      <a:lnTo>
                        <a:pt x="372437" y="1517914"/>
                      </a:lnTo>
                      <a:lnTo>
                        <a:pt x="372437" y="1718920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53" name="Group 153"/>
            <p:cNvGrpSpPr/>
            <p:nvPr/>
          </p:nvGrpSpPr>
          <p:grpSpPr>
            <a:xfrm>
              <a:off x="8806337" y="6153693"/>
              <a:ext cx="1548178" cy="336101"/>
              <a:chOff x="8806337" y="6153693"/>
              <a:chExt cx="1548178" cy="336101"/>
            </a:xfrm>
          </p:grpSpPr>
          <p:grpSp>
            <p:nvGrpSpPr>
              <p:cNvPr id="150" name="Group 150"/>
              <p:cNvGrpSpPr/>
              <p:nvPr/>
            </p:nvGrpSpPr>
            <p:grpSpPr>
              <a:xfrm>
                <a:off x="8807232" y="6154538"/>
                <a:ext cx="1547283" cy="335256"/>
                <a:chOff x="8807232" y="6154538"/>
                <a:chExt cx="1547283" cy="335256"/>
              </a:xfrm>
            </p:grpSpPr>
            <p:sp>
              <p:nvSpPr>
                <p:cNvPr id="146" name="Freeform 146"/>
                <p:cNvSpPr/>
                <p:nvPr/>
              </p:nvSpPr>
              <p:spPr>
                <a:xfrm>
                  <a:off x="8807232" y="6154538"/>
                  <a:ext cx="407022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22" h="335256">
                      <a:moveTo>
                        <a:pt x="226097" y="0"/>
                      </a:moveTo>
                      <a:lnTo>
                        <a:pt x="407022" y="0"/>
                      </a:lnTo>
                      <a:lnTo>
                        <a:pt x="180925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7" name="Freeform 147"/>
                <p:cNvSpPr/>
                <p:nvPr/>
              </p:nvSpPr>
              <p:spPr>
                <a:xfrm>
                  <a:off x="9187307" y="6154538"/>
                  <a:ext cx="407022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22" h="335256">
                      <a:moveTo>
                        <a:pt x="226097" y="0"/>
                      </a:moveTo>
                      <a:lnTo>
                        <a:pt x="407022" y="0"/>
                      </a:lnTo>
                      <a:lnTo>
                        <a:pt x="180925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8" name="Freeform 148"/>
                <p:cNvSpPr/>
                <p:nvPr/>
              </p:nvSpPr>
              <p:spPr>
                <a:xfrm>
                  <a:off x="9567400" y="6154538"/>
                  <a:ext cx="407005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05" h="335256">
                      <a:moveTo>
                        <a:pt x="226097" y="0"/>
                      </a:moveTo>
                      <a:lnTo>
                        <a:pt x="407005" y="0"/>
                      </a:lnTo>
                      <a:lnTo>
                        <a:pt x="180908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9" name="Freeform 149"/>
                <p:cNvSpPr/>
                <p:nvPr/>
              </p:nvSpPr>
              <p:spPr>
                <a:xfrm>
                  <a:off x="9947476" y="6154538"/>
                  <a:ext cx="407039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39" h="335256">
                      <a:moveTo>
                        <a:pt x="226097" y="0"/>
                      </a:moveTo>
                      <a:lnTo>
                        <a:pt x="407039" y="0"/>
                      </a:lnTo>
                      <a:lnTo>
                        <a:pt x="180908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152" name="Group 152"/>
              <p:cNvGrpSpPr/>
              <p:nvPr/>
            </p:nvGrpSpPr>
            <p:grpSpPr>
              <a:xfrm rot="5400000">
                <a:off x="9412254" y="5547776"/>
                <a:ext cx="335202" cy="1547036"/>
                <a:chOff x="9412258" y="5547780"/>
                <a:chExt cx="335202" cy="1547036"/>
              </a:xfrm>
            </p:grpSpPr>
            <p:pic>
              <p:nvPicPr>
                <p:cNvPr id="151" name="Image 151"/>
                <p:cNvPicPr>
                  <a:picLocks noChangeAspect="1"/>
                </p:cNvPicPr>
                <p:nvPr/>
              </p:nvPicPr>
              <p:blipFill>
                <a:blip r:embed="rId11">
                  <a:alphaModFix amt="20000"/>
                </a:blip>
                <a:stretch>
                  <a:fillRect/>
                </a:stretch>
              </p:blipFill>
              <p:spPr>
                <a:xfrm>
                  <a:off x="9412258" y="5547780"/>
                  <a:ext cx="335202" cy="15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57" name="Group 157"/>
            <p:cNvGrpSpPr/>
            <p:nvPr/>
          </p:nvGrpSpPr>
          <p:grpSpPr>
            <a:xfrm>
              <a:off x="3208425" y="-159826"/>
              <a:ext cx="1470261" cy="1470484"/>
              <a:chOff x="3208425" y="-159826"/>
              <a:chExt cx="1470261" cy="1470484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3208425" y="-159826"/>
                <a:ext cx="1470261" cy="1470475"/>
              </a:xfrm>
              <a:custGeom>
                <a:avLst/>
                <a:gdLst/>
                <a:ahLst/>
                <a:cxnLst/>
                <a:rect l="l" t="t" r="r" b="b"/>
                <a:pathLst>
                  <a:path w="1470261" h="1470475">
                    <a:moveTo>
                      <a:pt x="735015" y="0"/>
                    </a:moveTo>
                    <a:cubicBezTo>
                      <a:pt x="329013" y="0"/>
                      <a:pt x="0" y="329218"/>
                      <a:pt x="0" y="735238"/>
                    </a:cubicBezTo>
                    <a:cubicBezTo>
                      <a:pt x="0" y="1141248"/>
                      <a:pt x="329013" y="1470475"/>
                      <a:pt x="735015" y="1470475"/>
                    </a:cubicBezTo>
                    <a:cubicBezTo>
                      <a:pt x="1141025" y="1470475"/>
                      <a:pt x="1470261" y="1141248"/>
                      <a:pt x="1470261" y="735238"/>
                    </a:cubicBezTo>
                    <a:cubicBezTo>
                      <a:pt x="1470261" y="329218"/>
                      <a:pt x="1141025" y="0"/>
                      <a:pt x="735015" y="0"/>
                    </a:cubicBezTo>
                    <a:close/>
                    <a:moveTo>
                      <a:pt x="735015" y="372629"/>
                    </a:moveTo>
                    <a:cubicBezTo>
                      <a:pt x="935260" y="372629"/>
                      <a:pt x="1097623" y="534993"/>
                      <a:pt x="1097623" y="735238"/>
                    </a:cubicBezTo>
                    <a:cubicBezTo>
                      <a:pt x="1097623" y="935483"/>
                      <a:pt x="935260" y="1097846"/>
                      <a:pt x="735015" y="1097846"/>
                    </a:cubicBezTo>
                    <a:cubicBezTo>
                      <a:pt x="534778" y="1097846"/>
                      <a:pt x="372415" y="935483"/>
                      <a:pt x="372415" y="735238"/>
                    </a:cubicBezTo>
                    <a:cubicBezTo>
                      <a:pt x="372415" y="534993"/>
                      <a:pt x="534778" y="372629"/>
                      <a:pt x="735015" y="372629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56" name="Group 156"/>
              <p:cNvGrpSpPr/>
              <p:nvPr/>
            </p:nvGrpSpPr>
            <p:grpSpPr>
              <a:xfrm rot="5400000">
                <a:off x="3212656" y="-155372"/>
                <a:ext cx="1461800" cy="1470261"/>
                <a:chOff x="3212651" y="-155377"/>
                <a:chExt cx="1461800" cy="1470261"/>
              </a:xfrm>
            </p:grpSpPr>
            <p:pic>
              <p:nvPicPr>
                <p:cNvPr id="155" name="Image 155"/>
                <p:cNvPicPr>
                  <a:picLocks noChangeAspect="1"/>
                </p:cNvPicPr>
                <p:nvPr/>
              </p:nvPicPr>
              <p:blipFill>
                <a:blip r:embed="rId12">
                  <a:alphaModFix amt="20000"/>
                </a:blip>
                <a:stretch>
                  <a:fillRect/>
                </a:stretch>
              </p:blipFill>
              <p:spPr>
                <a:xfrm>
                  <a:off x="3212651" y="-155377"/>
                  <a:ext cx="1461800" cy="1470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222" h="1633623">
                      <a:moveTo>
                        <a:pt x="404393" y="816940"/>
                      </a:moveTo>
                      <a:cubicBezTo>
                        <a:pt x="404393" y="1039425"/>
                        <a:pt x="584797" y="1219829"/>
                        <a:pt x="807282" y="1219829"/>
                      </a:cubicBezTo>
                      <a:cubicBezTo>
                        <a:pt x="1029786" y="1219829"/>
                        <a:pt x="1210180" y="1039425"/>
                        <a:pt x="1210180" y="816940"/>
                      </a:cubicBezTo>
                      <a:cubicBezTo>
                        <a:pt x="1210180" y="594446"/>
                        <a:pt x="1029786" y="414042"/>
                        <a:pt x="807282" y="414042"/>
                      </a:cubicBezTo>
                      <a:cubicBezTo>
                        <a:pt x="584797" y="414042"/>
                        <a:pt x="404393" y="594446"/>
                        <a:pt x="404393" y="816940"/>
                      </a:cubicBezTo>
                      <a:close/>
                      <a:moveTo>
                        <a:pt x="0" y="936022"/>
                      </a:moveTo>
                      <a:lnTo>
                        <a:pt x="0" y="697849"/>
                      </a:lnTo>
                      <a:lnTo>
                        <a:pt x="6953" y="652310"/>
                      </a:lnTo>
                      <a:cubicBezTo>
                        <a:pt x="83144" y="280073"/>
                        <a:pt x="412556" y="0"/>
                        <a:pt x="807282" y="0"/>
                      </a:cubicBezTo>
                      <a:cubicBezTo>
                        <a:pt x="1258414" y="0"/>
                        <a:pt x="1624222" y="365817"/>
                        <a:pt x="1624222" y="816940"/>
                      </a:cubicBezTo>
                      <a:cubicBezTo>
                        <a:pt x="1624222" y="1268054"/>
                        <a:pt x="1258414" y="1633623"/>
                        <a:pt x="807282" y="1633623"/>
                      </a:cubicBezTo>
                      <a:cubicBezTo>
                        <a:pt x="412547" y="1633623"/>
                        <a:pt x="83144" y="1353741"/>
                        <a:pt x="6953" y="981551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161" name="Group 161"/>
          <p:cNvGrpSpPr/>
          <p:nvPr/>
        </p:nvGrpSpPr>
        <p:grpSpPr>
          <a:xfrm>
            <a:off x="159601" y="1639376"/>
            <a:ext cx="9041702" cy="2736904"/>
            <a:chOff x="159601" y="1639376"/>
            <a:chExt cx="9041702" cy="2736904"/>
          </a:xfrm>
        </p:grpSpPr>
        <p:sp>
          <p:nvSpPr>
            <p:cNvPr id="159" name="Rectangle 159"/>
            <p:cNvSpPr/>
            <p:nvPr/>
          </p:nvSpPr>
          <p:spPr>
            <a:xfrm>
              <a:off x="159601" y="1639376"/>
              <a:ext cx="9041702" cy="2736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281502" y="2103101"/>
              <a:ext cx="6907098" cy="13360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681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996 养狗生存指南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281502" y="4525222"/>
            <a:ext cx="7635506" cy="431927"/>
            <a:chOff x="281502" y="4525222"/>
            <a:chExt cx="7635506" cy="431927"/>
          </a:xfrm>
        </p:grpSpPr>
        <p:sp>
          <p:nvSpPr>
            <p:cNvPr id="162" name="TextBox 162"/>
            <p:cNvSpPr txBox="1"/>
            <p:nvPr/>
          </p:nvSpPr>
          <p:spPr>
            <a:xfrm>
              <a:off x="281502" y="4525222"/>
              <a:ext cx="7635506" cy="4319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200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8 种热门小型犬 × 10 项关键指标，快速匹配公寓与碎片化生活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74" name="Group 74"/>
          <p:cNvGrpSpPr/>
          <p:nvPr/>
        </p:nvGrpSpPr>
        <p:grpSpPr>
          <a:xfrm>
            <a:off x="-85" y="734990"/>
            <a:ext cx="12192180" cy="6124017"/>
            <a:chOff x="-85" y="734990"/>
            <a:chExt cx="12192180" cy="6124017"/>
          </a:xfrm>
        </p:grpSpPr>
        <p:grpSp>
          <p:nvGrpSpPr>
            <p:cNvPr id="11" name="Group 11"/>
            <p:cNvGrpSpPr/>
            <p:nvPr/>
          </p:nvGrpSpPr>
          <p:grpSpPr>
            <a:xfrm rot="-5400000" flipV="1">
              <a:off x="11185534" y="3050194"/>
              <a:ext cx="1372885" cy="640236"/>
              <a:chOff x="7673626" y="189976"/>
              <a:chExt cx="1525428" cy="75057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10" name="Group 10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9" name="Image 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9" name="Group 19"/>
            <p:cNvGrpSpPr/>
            <p:nvPr/>
          </p:nvGrpSpPr>
          <p:grpSpPr>
            <a:xfrm>
              <a:off x="9369991" y="6485563"/>
              <a:ext cx="1720197" cy="373444"/>
              <a:chOff x="9369991" y="6485563"/>
              <a:chExt cx="1720197" cy="373444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9370984" y="6486501"/>
                <a:ext cx="1719204" cy="372506"/>
                <a:chOff x="9370984" y="6486501"/>
                <a:chExt cx="1719204" cy="37250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370984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793291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215616" y="6486501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51219" y="0"/>
                      </a:moveTo>
                      <a:lnTo>
                        <a:pt x="452228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637923" y="6486501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51219" y="0"/>
                      </a:moveTo>
                      <a:lnTo>
                        <a:pt x="452265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18" name="Group 18"/>
              <p:cNvGrpSpPr/>
              <p:nvPr/>
            </p:nvGrpSpPr>
            <p:grpSpPr>
              <a:xfrm rot="5400000">
                <a:off x="10043232" y="5812322"/>
                <a:ext cx="372447" cy="1718929"/>
                <a:chOff x="10043236" y="5812326"/>
                <a:chExt cx="372447" cy="1718929"/>
              </a:xfrm>
            </p:grpSpPr>
            <p:pic>
              <p:nvPicPr>
                <p:cNvPr id="17" name="Image 17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>
                  <a:off x="10043236" y="5812326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23" name="Group 23"/>
            <p:cNvGrpSpPr/>
            <p:nvPr/>
          </p:nvGrpSpPr>
          <p:grpSpPr>
            <a:xfrm rot="-5400000">
              <a:off x="-366410" y="4575442"/>
              <a:ext cx="1372885" cy="640236"/>
              <a:chOff x="7673626" y="189976"/>
              <a:chExt cx="1525428" cy="75057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21" name="Image 21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3" name="Group 73"/>
            <p:cNvGrpSpPr/>
            <p:nvPr/>
          </p:nvGrpSpPr>
          <p:grpSpPr>
            <a:xfrm>
              <a:off x="943" y="734990"/>
              <a:ext cx="2729874" cy="2695016"/>
              <a:chOff x="943" y="734990"/>
              <a:chExt cx="2729874" cy="269501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07294" y="734990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104352" y="52185"/>
                    </a:moveTo>
                    <a:cubicBezTo>
                      <a:pt x="104352" y="81026"/>
                      <a:pt x="80989" y="104389"/>
                      <a:pt x="52167" y="104389"/>
                    </a:cubicBezTo>
                    <a:cubicBezTo>
                      <a:pt x="23345" y="104389"/>
                      <a:pt x="0" y="81026"/>
                      <a:pt x="0" y="52185"/>
                    </a:cubicBezTo>
                    <a:cubicBezTo>
                      <a:pt x="0" y="23363"/>
                      <a:pt x="23345" y="0"/>
                      <a:pt x="52167" y="0"/>
                    </a:cubicBezTo>
                    <a:cubicBezTo>
                      <a:pt x="80989" y="0"/>
                      <a:pt x="104352" y="23363"/>
                      <a:pt x="104352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172896" y="734990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104370" y="52185"/>
                    </a:moveTo>
                    <a:cubicBezTo>
                      <a:pt x="104370" y="81026"/>
                      <a:pt x="81007" y="104389"/>
                      <a:pt x="52185" y="104389"/>
                    </a:cubicBez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738517" y="734990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104352" y="52185"/>
                    </a:moveTo>
                    <a:cubicBezTo>
                      <a:pt x="104352" y="81026"/>
                      <a:pt x="80989" y="104389"/>
                      <a:pt x="52167" y="104389"/>
                    </a:cubicBezTo>
                    <a:cubicBezTo>
                      <a:pt x="23345" y="104389"/>
                      <a:pt x="0" y="81026"/>
                      <a:pt x="0" y="52185"/>
                    </a:cubicBezTo>
                    <a:cubicBezTo>
                      <a:pt x="0" y="23363"/>
                      <a:pt x="23345" y="0"/>
                      <a:pt x="52167" y="0"/>
                    </a:cubicBezTo>
                    <a:cubicBezTo>
                      <a:pt x="80989" y="0"/>
                      <a:pt x="104352" y="23363"/>
                      <a:pt x="104352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04100" y="734990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104389" y="52185"/>
                    </a:moveTo>
                    <a:cubicBezTo>
                      <a:pt x="104389" y="81026"/>
                      <a:pt x="81026" y="104389"/>
                      <a:pt x="52185" y="104389"/>
                    </a:cubicBez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26" y="0"/>
                      <a:pt x="104389" y="23363"/>
                      <a:pt x="104389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9721" y="734990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104389" y="52185"/>
                    </a:moveTo>
                    <a:cubicBezTo>
                      <a:pt x="104389" y="81026"/>
                      <a:pt x="81007" y="104389"/>
                      <a:pt x="52185" y="104389"/>
                    </a:cubicBez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89" y="23363"/>
                      <a:pt x="104389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5341" y="734990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104389" y="52185"/>
                    </a:moveTo>
                    <a:cubicBezTo>
                      <a:pt x="104389" y="81026"/>
                      <a:pt x="81007" y="104389"/>
                      <a:pt x="52185" y="104389"/>
                    </a:cubicBez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89" y="23363"/>
                      <a:pt x="104389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3" y="734990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104408" y="52185"/>
                    </a:moveTo>
                    <a:cubicBezTo>
                      <a:pt x="104408" y="81026"/>
                      <a:pt x="81026" y="104389"/>
                      <a:pt x="52204" y="104389"/>
                    </a:cubicBez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204" y="0"/>
                    </a:cubicBezTo>
                    <a:cubicBezTo>
                      <a:pt x="81026" y="0"/>
                      <a:pt x="104408" y="23363"/>
                      <a:pt x="104408" y="521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694" y="3325617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89" y="23382"/>
                      <a:pt x="104389" y="52204"/>
                    </a:cubicBezTo>
                    <a:cubicBezTo>
                      <a:pt x="104389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694" y="2891238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89" y="23363"/>
                      <a:pt x="104389" y="52204"/>
                    </a:cubicBezTo>
                    <a:cubicBezTo>
                      <a:pt x="104389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694" y="2456858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89" y="23363"/>
                      <a:pt x="104389" y="52204"/>
                    </a:cubicBezTo>
                    <a:cubicBezTo>
                      <a:pt x="104389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694" y="2022479"/>
                <a:ext cx="104389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89" y="23363"/>
                      <a:pt x="104389" y="52185"/>
                    </a:cubicBezTo>
                    <a:cubicBezTo>
                      <a:pt x="104389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694" y="1588081"/>
                <a:ext cx="104389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89" y="23382"/>
                      <a:pt x="104389" y="52204"/>
                    </a:cubicBezTo>
                    <a:cubicBezTo>
                      <a:pt x="104389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694" y="1153701"/>
                <a:ext cx="104389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89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89" y="23382"/>
                      <a:pt x="104389" y="52204"/>
                    </a:cubicBezTo>
                    <a:cubicBezTo>
                      <a:pt x="104389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9962" y="3325617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39962" y="2891238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39962" y="2456858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39962" y="2022479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185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185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39962" y="1588081"/>
                <a:ext cx="104408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408">
                    <a:moveTo>
                      <a:pt x="52204" y="104408"/>
                    </a:moveTo>
                    <a:cubicBezTo>
                      <a:pt x="23382" y="104408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408"/>
                      <a:pt x="52204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39962" y="1153701"/>
                <a:ext cx="104408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408">
                    <a:moveTo>
                      <a:pt x="52204" y="104408"/>
                    </a:moveTo>
                    <a:cubicBezTo>
                      <a:pt x="23382" y="104408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408"/>
                      <a:pt x="52204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7248" y="3325617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7248" y="2891238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7248" y="2456858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204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204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7248" y="2022479"/>
                <a:ext cx="104408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389">
                    <a:moveTo>
                      <a:pt x="52204" y="104389"/>
                    </a:moveTo>
                    <a:cubicBezTo>
                      <a:pt x="23382" y="104389"/>
                      <a:pt x="0" y="81026"/>
                      <a:pt x="0" y="52185"/>
                    </a:cubicBezTo>
                    <a:cubicBezTo>
                      <a:pt x="0" y="23363"/>
                      <a:pt x="23382" y="0"/>
                      <a:pt x="52204" y="0"/>
                    </a:cubicBezTo>
                    <a:cubicBezTo>
                      <a:pt x="81026" y="0"/>
                      <a:pt x="104408" y="23363"/>
                      <a:pt x="104408" y="52185"/>
                    </a:cubicBezTo>
                    <a:cubicBezTo>
                      <a:pt x="104408" y="81026"/>
                      <a:pt x="81026" y="104389"/>
                      <a:pt x="52204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7248" y="1588081"/>
                <a:ext cx="104408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408">
                    <a:moveTo>
                      <a:pt x="52204" y="104408"/>
                    </a:moveTo>
                    <a:cubicBezTo>
                      <a:pt x="23382" y="104408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408"/>
                      <a:pt x="52204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7248" y="1153701"/>
                <a:ext cx="104408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08" h="104408">
                    <a:moveTo>
                      <a:pt x="52204" y="104408"/>
                    </a:moveTo>
                    <a:cubicBezTo>
                      <a:pt x="23382" y="104408"/>
                      <a:pt x="0" y="81026"/>
                      <a:pt x="0" y="52204"/>
                    </a:cubicBezTo>
                    <a:cubicBezTo>
                      <a:pt x="0" y="23382"/>
                      <a:pt x="23382" y="0"/>
                      <a:pt x="52204" y="0"/>
                    </a:cubicBezTo>
                    <a:cubicBezTo>
                      <a:pt x="81026" y="0"/>
                      <a:pt x="104408" y="23382"/>
                      <a:pt x="104408" y="52204"/>
                    </a:cubicBezTo>
                    <a:cubicBezTo>
                      <a:pt x="104408" y="81026"/>
                      <a:pt x="81026" y="104408"/>
                      <a:pt x="52204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314552" y="3325617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14552" y="2891238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14552" y="2456858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314552" y="2022479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185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314552" y="1588081"/>
                <a:ext cx="104370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314552" y="1153701"/>
                <a:ext cx="104370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751819" y="3325617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52167" y="104389"/>
                    </a:moveTo>
                    <a:cubicBezTo>
                      <a:pt x="23345" y="104389"/>
                      <a:pt x="0" y="81026"/>
                      <a:pt x="0" y="52204"/>
                    </a:cubicBezTo>
                    <a:cubicBezTo>
                      <a:pt x="0" y="23382"/>
                      <a:pt x="23345" y="0"/>
                      <a:pt x="52167" y="0"/>
                    </a:cubicBezTo>
                    <a:cubicBezTo>
                      <a:pt x="80989" y="0"/>
                      <a:pt x="104352" y="23382"/>
                      <a:pt x="104352" y="52204"/>
                    </a:cubicBezTo>
                    <a:cubicBezTo>
                      <a:pt x="104352" y="81026"/>
                      <a:pt x="80989" y="104389"/>
                      <a:pt x="52167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751819" y="2891238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52167" y="104389"/>
                    </a:moveTo>
                    <a:cubicBezTo>
                      <a:pt x="23345" y="104389"/>
                      <a:pt x="0" y="81026"/>
                      <a:pt x="0" y="52204"/>
                    </a:cubicBezTo>
                    <a:cubicBezTo>
                      <a:pt x="0" y="23363"/>
                      <a:pt x="23345" y="0"/>
                      <a:pt x="52167" y="0"/>
                    </a:cubicBezTo>
                    <a:cubicBezTo>
                      <a:pt x="80989" y="0"/>
                      <a:pt x="104352" y="23363"/>
                      <a:pt x="104352" y="52204"/>
                    </a:cubicBezTo>
                    <a:cubicBezTo>
                      <a:pt x="104352" y="81026"/>
                      <a:pt x="80989" y="104389"/>
                      <a:pt x="52167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751819" y="2456858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52167" y="104389"/>
                    </a:moveTo>
                    <a:cubicBezTo>
                      <a:pt x="23345" y="104389"/>
                      <a:pt x="0" y="81026"/>
                      <a:pt x="0" y="52204"/>
                    </a:cubicBezTo>
                    <a:cubicBezTo>
                      <a:pt x="0" y="23363"/>
                      <a:pt x="23345" y="0"/>
                      <a:pt x="52167" y="0"/>
                    </a:cubicBezTo>
                    <a:cubicBezTo>
                      <a:pt x="80989" y="0"/>
                      <a:pt x="104352" y="23363"/>
                      <a:pt x="104352" y="52204"/>
                    </a:cubicBezTo>
                    <a:cubicBezTo>
                      <a:pt x="104352" y="81026"/>
                      <a:pt x="80989" y="104389"/>
                      <a:pt x="52167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751819" y="2022479"/>
                <a:ext cx="104352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389">
                    <a:moveTo>
                      <a:pt x="52167" y="104389"/>
                    </a:moveTo>
                    <a:cubicBezTo>
                      <a:pt x="23345" y="104389"/>
                      <a:pt x="0" y="81026"/>
                      <a:pt x="0" y="52185"/>
                    </a:cubicBezTo>
                    <a:cubicBezTo>
                      <a:pt x="0" y="23363"/>
                      <a:pt x="23345" y="0"/>
                      <a:pt x="52167" y="0"/>
                    </a:cubicBezTo>
                    <a:cubicBezTo>
                      <a:pt x="80989" y="0"/>
                      <a:pt x="104352" y="23363"/>
                      <a:pt x="104352" y="52185"/>
                    </a:cubicBezTo>
                    <a:cubicBezTo>
                      <a:pt x="104352" y="81026"/>
                      <a:pt x="80989" y="104389"/>
                      <a:pt x="52167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751819" y="1588081"/>
                <a:ext cx="104352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408">
                    <a:moveTo>
                      <a:pt x="52167" y="104408"/>
                    </a:moveTo>
                    <a:cubicBezTo>
                      <a:pt x="23345" y="104408"/>
                      <a:pt x="0" y="81026"/>
                      <a:pt x="0" y="52204"/>
                    </a:cubicBezTo>
                    <a:cubicBezTo>
                      <a:pt x="0" y="23382"/>
                      <a:pt x="23345" y="0"/>
                      <a:pt x="52167" y="0"/>
                    </a:cubicBezTo>
                    <a:cubicBezTo>
                      <a:pt x="80989" y="0"/>
                      <a:pt x="104352" y="23382"/>
                      <a:pt x="104352" y="52204"/>
                    </a:cubicBezTo>
                    <a:cubicBezTo>
                      <a:pt x="104352" y="81026"/>
                      <a:pt x="80989" y="104408"/>
                      <a:pt x="52167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751819" y="1153701"/>
                <a:ext cx="104352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52" h="104408">
                    <a:moveTo>
                      <a:pt x="52167" y="104408"/>
                    </a:moveTo>
                    <a:cubicBezTo>
                      <a:pt x="23345" y="104408"/>
                      <a:pt x="0" y="81026"/>
                      <a:pt x="0" y="52204"/>
                    </a:cubicBezTo>
                    <a:cubicBezTo>
                      <a:pt x="0" y="23382"/>
                      <a:pt x="23345" y="0"/>
                      <a:pt x="52167" y="0"/>
                    </a:cubicBezTo>
                    <a:cubicBezTo>
                      <a:pt x="80989" y="0"/>
                      <a:pt x="104352" y="23382"/>
                      <a:pt x="104352" y="52204"/>
                    </a:cubicBezTo>
                    <a:cubicBezTo>
                      <a:pt x="104352" y="81026"/>
                      <a:pt x="80989" y="104408"/>
                      <a:pt x="52167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2189124" y="3325617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2189124" y="2891238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189124" y="2456858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204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2189124" y="2022479"/>
                <a:ext cx="104370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370" y="23363"/>
                      <a:pt x="104370" y="52185"/>
                    </a:cubicBezTo>
                    <a:cubicBezTo>
                      <a:pt x="104370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2189124" y="1588081"/>
                <a:ext cx="104370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189124" y="1153701"/>
                <a:ext cx="104370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370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370" y="23382"/>
                      <a:pt x="104370" y="52204"/>
                    </a:cubicBezTo>
                    <a:cubicBezTo>
                      <a:pt x="104370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626372" y="3325617"/>
                <a:ext cx="104445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445" y="23382"/>
                      <a:pt x="104445" y="52204"/>
                    </a:cubicBezTo>
                    <a:cubicBezTo>
                      <a:pt x="104445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2626372" y="2891238"/>
                <a:ext cx="104445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445" y="23363"/>
                      <a:pt x="104445" y="52204"/>
                    </a:cubicBezTo>
                    <a:cubicBezTo>
                      <a:pt x="104445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2626372" y="2456858"/>
                <a:ext cx="104445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204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445" y="23363"/>
                      <a:pt x="104445" y="52204"/>
                    </a:cubicBezTo>
                    <a:cubicBezTo>
                      <a:pt x="104445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2626372" y="2022479"/>
                <a:ext cx="104445" cy="104389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389">
                    <a:moveTo>
                      <a:pt x="52185" y="104389"/>
                    </a:moveTo>
                    <a:cubicBezTo>
                      <a:pt x="23363" y="104389"/>
                      <a:pt x="0" y="81026"/>
                      <a:pt x="0" y="52185"/>
                    </a:cubicBezTo>
                    <a:cubicBezTo>
                      <a:pt x="0" y="23363"/>
                      <a:pt x="23363" y="0"/>
                      <a:pt x="52185" y="0"/>
                    </a:cubicBezTo>
                    <a:cubicBezTo>
                      <a:pt x="81007" y="0"/>
                      <a:pt x="104445" y="23363"/>
                      <a:pt x="104445" y="52185"/>
                    </a:cubicBezTo>
                    <a:cubicBezTo>
                      <a:pt x="104445" y="81026"/>
                      <a:pt x="81007" y="104389"/>
                      <a:pt x="52185" y="1043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2626372" y="1588081"/>
                <a:ext cx="104445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445" y="23382"/>
                      <a:pt x="104445" y="52204"/>
                    </a:cubicBezTo>
                    <a:cubicBezTo>
                      <a:pt x="104445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2626372" y="1153701"/>
                <a:ext cx="104445" cy="104408"/>
              </a:xfrm>
              <a:custGeom>
                <a:avLst/>
                <a:gdLst/>
                <a:ahLst/>
                <a:cxnLst/>
                <a:rect l="l" t="t" r="r" b="b"/>
                <a:pathLst>
                  <a:path w="104445" h="104408">
                    <a:moveTo>
                      <a:pt x="52185" y="104408"/>
                    </a:moveTo>
                    <a:cubicBezTo>
                      <a:pt x="23363" y="104408"/>
                      <a:pt x="0" y="81026"/>
                      <a:pt x="0" y="52204"/>
                    </a:cubicBezTo>
                    <a:cubicBezTo>
                      <a:pt x="0" y="23382"/>
                      <a:pt x="23363" y="0"/>
                      <a:pt x="52185" y="0"/>
                    </a:cubicBezTo>
                    <a:cubicBezTo>
                      <a:pt x="81007" y="0"/>
                      <a:pt x="104445" y="23382"/>
                      <a:pt x="104445" y="52204"/>
                    </a:cubicBezTo>
                    <a:cubicBezTo>
                      <a:pt x="104445" y="81026"/>
                      <a:pt x="81007" y="104408"/>
                      <a:pt x="52185" y="104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</p:grpSp>
      <p:grpSp>
        <p:nvGrpSpPr>
          <p:cNvPr id="78" name="Group 78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75" name="Rectangle 75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77" name="Group 77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76" name="Image 76"/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1" name="Group 81"/>
          <p:cNvGrpSpPr/>
          <p:nvPr/>
        </p:nvGrpSpPr>
        <p:grpSpPr>
          <a:xfrm>
            <a:off x="428225" y="423072"/>
            <a:ext cx="11367992" cy="958444"/>
            <a:chOff x="428225" y="423072"/>
            <a:chExt cx="11367992" cy="958444"/>
          </a:xfrm>
        </p:grpSpPr>
        <p:sp>
          <p:nvSpPr>
            <p:cNvPr id="79" name="Rectangle 79"/>
            <p:cNvSpPr/>
            <p:nvPr/>
          </p:nvSpPr>
          <p:spPr>
            <a:xfrm>
              <a:off x="428225" y="423072"/>
              <a:ext cx="11360696" cy="933898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749497" y="497596"/>
              <a:ext cx="80467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先判断能不能养，再决定养哪只</a:t>
              </a:r>
            </a:p>
          </p:txBody>
        </p:sp>
      </p:grpSp>
      <p:sp>
        <p:nvSpPr>
          <p:cNvPr id="106" name="Rectangle 82">
            <a:extLst>
              <a:ext uri="{FF2B5EF4-FFF2-40B4-BE49-F238E27FC236}">
                <a16:creationId xmlns:a16="http://schemas.microsoft.com/office/drawing/2014/main" id="{652F2A59-2AA5-9B9B-D53B-E443575CD422}"/>
              </a:ext>
            </a:extLst>
          </p:cNvPr>
          <p:cNvSpPr/>
          <p:nvPr/>
        </p:nvSpPr>
        <p:spPr>
          <a:xfrm>
            <a:off x="2312384" y="1869758"/>
            <a:ext cx="986980" cy="988028"/>
          </a:xfrm>
          <a:prstGeom prst="rect">
            <a:avLst/>
          </a:prstGeom>
          <a:solidFill>
            <a:srgbClr val="5C76D8"/>
          </a:solidFill>
          <a:ln>
            <a:noFill/>
          </a:ln>
        </p:spPr>
      </p:sp>
      <p:sp>
        <p:nvSpPr>
          <p:cNvPr id="108" name="Ellipse 87">
            <a:extLst>
              <a:ext uri="{FF2B5EF4-FFF2-40B4-BE49-F238E27FC236}">
                <a16:creationId xmlns:a16="http://schemas.microsoft.com/office/drawing/2014/main" id="{6B1D6D95-A9D7-4197-EBC8-2DFA625C07E1}"/>
              </a:ext>
            </a:extLst>
          </p:cNvPr>
          <p:cNvSpPr/>
          <p:nvPr/>
        </p:nvSpPr>
        <p:spPr>
          <a:xfrm>
            <a:off x="5682044" y="1927670"/>
            <a:ext cx="927926" cy="927926"/>
          </a:xfrm>
          <a:prstGeom prst="ellipse">
            <a:avLst/>
          </a:prstGeom>
          <a:solidFill>
            <a:srgbClr val="FA5041"/>
          </a:solidFill>
          <a:ln>
            <a:noFill/>
          </a:ln>
        </p:spPr>
      </p:sp>
      <p:sp>
        <p:nvSpPr>
          <p:cNvPr id="110" name="Rectangle 92">
            <a:extLst>
              <a:ext uri="{FF2B5EF4-FFF2-40B4-BE49-F238E27FC236}">
                <a16:creationId xmlns:a16="http://schemas.microsoft.com/office/drawing/2014/main" id="{F12A91B9-CBD7-865A-400A-C229ADF89017}"/>
              </a:ext>
            </a:extLst>
          </p:cNvPr>
          <p:cNvSpPr/>
          <p:nvPr/>
        </p:nvSpPr>
        <p:spPr>
          <a:xfrm>
            <a:off x="8888920" y="1869758"/>
            <a:ext cx="986981" cy="988028"/>
          </a:xfrm>
          <a:prstGeom prst="rect">
            <a:avLst/>
          </a:prstGeom>
          <a:solidFill>
            <a:srgbClr val="E7C126"/>
          </a:solidFill>
          <a:ln>
            <a:noFill/>
          </a:ln>
        </p:spPr>
      </p:sp>
      <p:sp>
        <p:nvSpPr>
          <p:cNvPr id="112" name="Ellipse 97">
            <a:extLst>
              <a:ext uri="{FF2B5EF4-FFF2-40B4-BE49-F238E27FC236}">
                <a16:creationId xmlns:a16="http://schemas.microsoft.com/office/drawing/2014/main" id="{F99A8E8B-B38A-CEA4-90F9-354DD4A9751D}"/>
              </a:ext>
            </a:extLst>
          </p:cNvPr>
          <p:cNvSpPr/>
          <p:nvPr/>
        </p:nvSpPr>
        <p:spPr>
          <a:xfrm>
            <a:off x="5632037" y="4202645"/>
            <a:ext cx="927926" cy="927926"/>
          </a:xfrm>
          <a:prstGeom prst="ellipse">
            <a:avLst/>
          </a:prstGeom>
          <a:solidFill>
            <a:srgbClr val="9D6FC7"/>
          </a:solidFill>
          <a:ln>
            <a:noFill/>
          </a:ln>
        </p:spPr>
      </p:sp>
      <p:grpSp>
        <p:nvGrpSpPr>
          <p:cNvPr id="97" name="Group 97"/>
          <p:cNvGrpSpPr/>
          <p:nvPr/>
        </p:nvGrpSpPr>
        <p:grpSpPr>
          <a:xfrm>
            <a:off x="1466850" y="2222830"/>
            <a:ext cx="8216738" cy="1584122"/>
            <a:chOff x="1466850" y="2222830"/>
            <a:chExt cx="8216738" cy="1584122"/>
          </a:xfrm>
        </p:grpSpPr>
        <p:grpSp>
          <p:nvGrpSpPr>
            <p:cNvPr id="86" name="Group 86"/>
            <p:cNvGrpSpPr/>
            <p:nvPr/>
          </p:nvGrpSpPr>
          <p:grpSpPr>
            <a:xfrm>
              <a:off x="1466850" y="2222830"/>
              <a:ext cx="1615913" cy="1584122"/>
              <a:chOff x="1466850" y="2222830"/>
              <a:chExt cx="1615913" cy="1584122"/>
            </a:xfrm>
          </p:grpSpPr>
          <p:sp>
            <p:nvSpPr>
              <p:cNvPr id="82" name="TextBox 82"/>
              <p:cNvSpPr txBox="1"/>
              <p:nvPr/>
            </p:nvSpPr>
            <p:spPr>
              <a:xfrm>
                <a:off x="2590800" y="2222830"/>
                <a:ext cx="491963" cy="602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307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01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466850" y="2871788"/>
                <a:ext cx="1209675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可行性评估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466850" y="3269361"/>
                <a:ext cx="155676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独处时间、陪伴投入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466850" y="3536061"/>
                <a:ext cx="121386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预算与医疗保障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4762500" y="2222830"/>
              <a:ext cx="1899666" cy="1584122"/>
              <a:chOff x="4762500" y="2222830"/>
              <a:chExt cx="1899666" cy="1584122"/>
            </a:xfrm>
          </p:grpSpPr>
          <p:sp>
            <p:nvSpPr>
              <p:cNvPr id="87" name="TextBox 87"/>
              <p:cNvSpPr txBox="1"/>
              <p:nvPr/>
            </p:nvSpPr>
            <p:spPr>
              <a:xfrm>
                <a:off x="5895975" y="2222830"/>
                <a:ext cx="491963" cy="602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307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4762500" y="2871788"/>
                <a:ext cx="971550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犬种对决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4762500" y="3269361"/>
                <a:ext cx="172821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短鼻萌犬、迷你警报器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4762500" y="3536061"/>
                <a:ext cx="189966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白色陪伴犬、聪明训练组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8077200" y="2222830"/>
              <a:ext cx="1606388" cy="1584122"/>
              <a:chOff x="8077200" y="2222830"/>
              <a:chExt cx="1606388" cy="1584122"/>
            </a:xfrm>
          </p:grpSpPr>
          <p:sp>
            <p:nvSpPr>
              <p:cNvPr id="92" name="TextBox 92"/>
              <p:cNvSpPr txBox="1"/>
              <p:nvPr/>
            </p:nvSpPr>
            <p:spPr>
              <a:xfrm>
                <a:off x="9191625" y="2222830"/>
                <a:ext cx="491963" cy="602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307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03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077200" y="2871788"/>
                <a:ext cx="971550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快速筛选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077200" y="3269361"/>
                <a:ext cx="1175915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8 犬种横向评分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077200" y="3536061"/>
                <a:ext cx="121386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与典型场景推荐</a:t>
                </a:r>
              </a:p>
            </p:txBody>
          </p:sp>
        </p:grpSp>
      </p:grpSp>
      <p:grpSp>
        <p:nvGrpSpPr>
          <p:cNvPr id="103" name="Group 103"/>
          <p:cNvGrpSpPr/>
          <p:nvPr/>
        </p:nvGrpSpPr>
        <p:grpSpPr>
          <a:xfrm>
            <a:off x="4754880" y="4444465"/>
            <a:ext cx="1709017" cy="1679372"/>
            <a:chOff x="1466850" y="4527880"/>
            <a:chExt cx="1709017" cy="1679372"/>
          </a:xfrm>
        </p:grpSpPr>
        <p:grpSp>
          <p:nvGrpSpPr>
            <p:cNvPr id="102" name="Group 102"/>
            <p:cNvGrpSpPr/>
            <p:nvPr/>
          </p:nvGrpSpPr>
          <p:grpSpPr>
            <a:xfrm>
              <a:off x="1466850" y="4527880"/>
              <a:ext cx="1709017" cy="1679372"/>
              <a:chOff x="1466850" y="4527880"/>
              <a:chExt cx="1709017" cy="1679372"/>
            </a:xfrm>
          </p:grpSpPr>
          <p:sp>
            <p:nvSpPr>
              <p:cNvPr id="98" name="TextBox 98"/>
              <p:cNvSpPr txBox="1"/>
              <p:nvPr/>
            </p:nvSpPr>
            <p:spPr>
              <a:xfrm>
                <a:off x="2590800" y="4527880"/>
                <a:ext cx="491963" cy="602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307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04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466850" y="5272088"/>
                <a:ext cx="971550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落地准备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466850" y="5669661"/>
                <a:ext cx="1556766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真实账单、装备清单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1466850" y="5936361"/>
                <a:ext cx="1709017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996 时间表与最终决策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>
            <a:off x="415759" y="189133"/>
            <a:ext cx="11618968" cy="6669874"/>
            <a:chOff x="415759" y="189133"/>
            <a:chExt cx="11618968" cy="6669874"/>
          </a:xfrm>
        </p:grpSpPr>
        <p:grpSp>
          <p:nvGrpSpPr>
            <p:cNvPr id="57" name="Group 57"/>
            <p:cNvGrpSpPr/>
            <p:nvPr/>
          </p:nvGrpSpPr>
          <p:grpSpPr>
            <a:xfrm>
              <a:off x="10008255" y="189133"/>
              <a:ext cx="2026472" cy="2000595"/>
              <a:chOff x="10008255" y="189133"/>
              <a:chExt cx="2026472" cy="20005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94303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20564" y="18913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77477" y="38739"/>
                    </a:moveTo>
                    <a:cubicBezTo>
                      <a:pt x="77477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9811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75630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48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48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53176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30723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8255" y="18913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77505" y="38739"/>
                    </a:moveTo>
                    <a:cubicBezTo>
                      <a:pt x="77505" y="60148"/>
                      <a:pt x="60148" y="77491"/>
                      <a:pt x="38753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09555" y="2112237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09555" y="178978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09555" y="1467330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009555" y="1144876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9555" y="822409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09555" y="499955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334153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334153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334153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334153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34153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334153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658764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58764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658764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58764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58764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658764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3388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983388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83388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983388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83388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83388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307985" y="2112237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307985" y="178978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07985" y="1467330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307985" y="1144876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307985" y="822409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307985" y="499955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32610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632610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632610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632610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632610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632610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57194" y="2112237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957194" y="1789783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957194" y="1467330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957194" y="1144876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39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57194" y="822409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957194" y="499955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9369991" y="6485563"/>
              <a:ext cx="1720197" cy="373444"/>
              <a:chOff x="9369991" y="6485563"/>
              <a:chExt cx="1720197" cy="373444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9370984" y="6486501"/>
                <a:ext cx="1719204" cy="372506"/>
                <a:chOff x="9370984" y="6486501"/>
                <a:chExt cx="1719204" cy="372506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370984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793291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15616" y="6486501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51219" y="0"/>
                      </a:moveTo>
                      <a:lnTo>
                        <a:pt x="452228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637923" y="6486501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51219" y="0"/>
                      </a:moveTo>
                      <a:lnTo>
                        <a:pt x="452265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 rot="5400000">
                <a:off x="10043232" y="5812322"/>
                <a:ext cx="372447" cy="1718929"/>
                <a:chOff x="10043236" y="5812326"/>
                <a:chExt cx="372447" cy="1718929"/>
              </a:xfrm>
            </p:grpSpPr>
            <p:pic>
              <p:nvPicPr>
                <p:cNvPr id="63" name="Image 63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>
                  <a:off x="10043236" y="5812326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415759" y="6388241"/>
              <a:ext cx="3193940" cy="469083"/>
              <a:chOff x="415759" y="6388241"/>
              <a:chExt cx="3193940" cy="46908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415759" y="6388255"/>
                <a:ext cx="1605022" cy="469068"/>
              </a:xfrm>
              <a:custGeom>
                <a:avLst/>
                <a:gdLst/>
                <a:ahLst/>
                <a:cxnLst/>
                <a:rect l="l" t="t" r="r" b="b"/>
                <a:pathLst>
                  <a:path w="1605022" h="469068">
                    <a:moveTo>
                      <a:pt x="0" y="0"/>
                    </a:moveTo>
                    <a:lnTo>
                      <a:pt x="1605022" y="0"/>
                    </a:lnTo>
                    <a:lnTo>
                      <a:pt x="1605022" y="469068"/>
                    </a:lnTo>
                    <a:lnTo>
                      <a:pt x="0" y="469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273211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064202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5400000">
                <a:off x="1778188" y="5025813"/>
                <a:ext cx="469083" cy="3193940"/>
                <a:chOff x="1776586" y="5036647"/>
                <a:chExt cx="472287" cy="3172271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1776586" y="5036647"/>
                  <a:ext cx="472287" cy="3172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76" name="Group 76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73" name="Rectangle 73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74" name="Image 74"/>
              <p:cNvPicPr>
                <a:picLocks noChangeAspect="1"/>
              </p:cNvPicPr>
              <p:nvPr/>
            </p:nvPicPr>
            <p:blipFill>
              <a:blip r:embed="rId4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9" name="Group 79"/>
          <p:cNvGrpSpPr/>
          <p:nvPr/>
        </p:nvGrpSpPr>
        <p:grpSpPr>
          <a:xfrm>
            <a:off x="507749" y="396154"/>
            <a:ext cx="11176502" cy="987904"/>
            <a:chOff x="507749" y="396154"/>
            <a:chExt cx="11176502" cy="987904"/>
          </a:xfrm>
        </p:grpSpPr>
        <p:sp>
          <p:nvSpPr>
            <p:cNvPr id="77" name="Rectangle 77"/>
            <p:cNvSpPr/>
            <p:nvPr/>
          </p:nvSpPr>
          <p:spPr>
            <a:xfrm>
              <a:off x="507749" y="396154"/>
              <a:ext cx="11176502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92884" y="468516"/>
              <a:ext cx="690535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先过这 6 关，才有资格选狗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23875" y="1485900"/>
            <a:ext cx="11144250" cy="263271"/>
            <a:chOff x="523875" y="1485900"/>
            <a:chExt cx="11144250" cy="263271"/>
          </a:xfrm>
        </p:grpSpPr>
        <p:sp>
          <p:nvSpPr>
            <p:cNvPr id="80" name="Rectangle 80"/>
            <p:cNvSpPr/>
            <p:nvPr/>
          </p:nvSpPr>
          <p:spPr>
            <a:xfrm>
              <a:off x="523875" y="1485900"/>
              <a:ext cx="2000250" cy="247650"/>
            </a:xfrm>
            <a:prstGeom prst="rect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6750" y="1528953"/>
              <a:ext cx="1343870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996 养犬可行性评分卡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800844" y="1514475"/>
              <a:ext cx="18672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975" dirty="0">
                  <a:solidFill>
                    <a:srgbClr val="596574"/>
                  </a:solidFill>
                  <a:latin typeface="Microsoft YaHei"/>
                  <a:ea typeface="Microsoft YaHei"/>
                  <a:cs typeface="Microsoft YaHei"/>
                </a:rPr>
                <a:t>六项全部确认后，再进入犬种筛选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523875" y="1847850"/>
            <a:ext cx="11144250" cy="3524250"/>
            <a:chOff x="523875" y="1847850"/>
            <a:chExt cx="11144250" cy="3524250"/>
          </a:xfrm>
        </p:grpSpPr>
        <p:grpSp>
          <p:nvGrpSpPr>
            <p:cNvPr id="103" name="Group 103"/>
            <p:cNvGrpSpPr/>
            <p:nvPr/>
          </p:nvGrpSpPr>
          <p:grpSpPr>
            <a:xfrm>
              <a:off x="523875" y="1847850"/>
              <a:ext cx="3524250" cy="1657350"/>
              <a:chOff x="523875" y="1847850"/>
              <a:chExt cx="3524250" cy="16573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523875" y="18478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C76D8"/>
                </a:solidFill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523875" y="1847850"/>
                <a:ext cx="3524250" cy="76200"/>
              </a:xfrm>
              <a:prstGeom prst="rect">
                <a:avLst/>
              </a:prstGeom>
              <a:solidFill>
                <a:srgbClr val="5C76D8"/>
              </a:solidFill>
              <a:ln>
                <a:noFill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628650" y="2028825"/>
                <a:ext cx="361950" cy="361950"/>
              </a:xfrm>
              <a:prstGeom prst="ellipse">
                <a:avLst/>
              </a:prstGeom>
              <a:solidFill>
                <a:srgbClr val="5C76D8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19673" y="21212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01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085850" y="2064830"/>
                <a:ext cx="1216152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连续独处时间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695325" y="2447925"/>
                <a:ext cx="742950" cy="428625"/>
              </a:xfrm>
              <a:prstGeom prst="rect">
                <a:avLst/>
              </a:prstGeom>
              <a:solidFill>
                <a:srgbClr val="6DD8C8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85900" y="2447925"/>
                <a:ext cx="742950" cy="428625"/>
              </a:xfrm>
              <a:prstGeom prst="rect">
                <a:avLst/>
              </a:prstGeom>
              <a:solidFill>
                <a:srgbClr val="E7C126">
                  <a:alpha val="26000"/>
                </a:srgbClr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2276475" y="2447925"/>
                <a:ext cx="742950" cy="428625"/>
              </a:xfrm>
              <a:prstGeom prst="rect">
                <a:avLst/>
              </a:prstGeom>
              <a:solidFill>
                <a:srgbClr val="FA5041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3067050" y="2447925"/>
                <a:ext cx="809625" cy="428625"/>
              </a:xfrm>
              <a:prstGeom prst="rect">
                <a:avLst/>
              </a:prstGeom>
              <a:solidFill>
                <a:srgbClr val="FA5041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834280" y="2490978"/>
                <a:ext cx="465040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&lt;6 小时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52488" y="2667000"/>
                <a:ext cx="42862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2E6A61"/>
                    </a:solidFill>
                    <a:latin typeface="Microsoft YaHei"/>
                    <a:ea typeface="Microsoft YaHei"/>
                    <a:cs typeface="Microsoft YaHei"/>
                  </a:rPr>
                  <a:t>相对理想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588615" y="2490978"/>
                <a:ext cx="537520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6–8 小时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695450" y="2667000"/>
                <a:ext cx="32385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7A6410"/>
                    </a:solidFill>
                    <a:latin typeface="Microsoft YaHei"/>
                    <a:ea typeface="Microsoft YaHei"/>
                    <a:cs typeface="Microsoft YaHei"/>
                  </a:rPr>
                  <a:t>需训练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2339825" y="2490978"/>
                <a:ext cx="616250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8–10 小时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2433638" y="2667000"/>
                <a:ext cx="42862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A83A31"/>
                    </a:solidFill>
                    <a:latin typeface="Microsoft YaHei"/>
                    <a:ea typeface="Microsoft YaHei"/>
                    <a:cs typeface="Microsoft YaHei"/>
                  </a:rPr>
                  <a:t>必须照护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3195215" y="2490978"/>
                <a:ext cx="543770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&gt;10 小时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3200400" y="2667000"/>
                <a:ext cx="533400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无照护不养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695325" y="2962275"/>
                <a:ext cx="2140232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成年犬也不宜长期规律独处 10–12 小时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695325" y="3162300"/>
                <a:ext cx="1304413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体型小 ≠ 更能忍受孤独</a:t>
                </a: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4333875" y="1847850"/>
              <a:ext cx="3524250" cy="1657350"/>
              <a:chOff x="4333875" y="1847850"/>
              <a:chExt cx="3524250" cy="1657350"/>
            </a:xfrm>
          </p:grpSpPr>
          <p:sp>
            <p:nvSpPr>
              <p:cNvPr id="104" name="Rectangle 104"/>
              <p:cNvSpPr/>
              <p:nvPr/>
            </p:nvSpPr>
            <p:spPr>
              <a:xfrm>
                <a:off x="4333875" y="18478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DD8C8"/>
                </a:solidFill>
              </a:ln>
            </p:spPr>
          </p:sp>
          <p:sp>
            <p:nvSpPr>
              <p:cNvPr id="105" name="Rectangle 105"/>
              <p:cNvSpPr/>
              <p:nvPr/>
            </p:nvSpPr>
            <p:spPr>
              <a:xfrm>
                <a:off x="4333875" y="1847850"/>
                <a:ext cx="3524250" cy="76200"/>
              </a:xfrm>
              <a:prstGeom prst="rect">
                <a:avLst/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106" name="Ellipse 106"/>
              <p:cNvSpPr/>
              <p:nvPr/>
            </p:nvSpPr>
            <p:spPr>
              <a:xfrm>
                <a:off x="4438650" y="2028825"/>
                <a:ext cx="361950" cy="361950"/>
              </a:xfrm>
              <a:prstGeom prst="ellipse">
                <a:avLst/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4529673" y="21212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02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4895850" y="2064830"/>
                <a:ext cx="1216152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每日时间投入</a:t>
                </a:r>
              </a:p>
            </p:txBody>
          </p:sp>
          <p:sp>
            <p:nvSpPr>
              <p:cNvPr id="109" name="Rectangle 109"/>
              <p:cNvSpPr/>
              <p:nvPr/>
            </p:nvSpPr>
            <p:spPr>
              <a:xfrm>
                <a:off x="4505325" y="2438400"/>
                <a:ext cx="1504950" cy="542925"/>
              </a:xfrm>
              <a:prstGeom prst="rect">
                <a:avLst/>
              </a:prstGeom>
              <a:solidFill>
                <a:srgbClr val="6DD8C8">
                  <a:alpha val="18000"/>
                </a:srgbClr>
              </a:solidFill>
              <a:ln>
                <a:noFill/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6115050" y="2438400"/>
                <a:ext cx="1571625" cy="542925"/>
              </a:xfrm>
              <a:prstGeom prst="rect">
                <a:avLst/>
              </a:prstGeom>
              <a:solidFill>
                <a:srgbClr val="5C76D8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4687136" y="2430208"/>
                <a:ext cx="1141327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725" b="1" dirty="0">
                    <a:solidFill>
                      <a:srgbClr val="2E6A61"/>
                    </a:solidFill>
                    <a:latin typeface="Microsoft YaHei"/>
                    <a:ea typeface="Microsoft YaHei"/>
                    <a:cs typeface="Microsoft YaHei"/>
                  </a:rPr>
                  <a:t>60–90 分钟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4910138" y="2724150"/>
                <a:ext cx="69532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每日互动底线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6325436" y="2430208"/>
                <a:ext cx="1141327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725" b="1" dirty="0">
                    <a:solidFill>
                      <a:srgbClr val="5C76D8"/>
                    </a:solidFill>
                    <a:latin typeface="Microsoft YaHei"/>
                    <a:ea typeface="Microsoft YaHei"/>
                    <a:cs typeface="Microsoft YaHei"/>
                  </a:rPr>
                  <a:t>30–90 分钟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6434138" y="2724150"/>
                <a:ext cx="92392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候选犬种运动需求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4505325" y="3038475"/>
                <a:ext cx="23625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散步之外，还包含喂食、梳理、训练与益智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4505325" y="3228975"/>
                <a:ext cx="2125944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每晚无法稳定投入 60 分钟 → 建议缓养</a:t>
                </a:r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8143875" y="1847850"/>
              <a:ext cx="3524250" cy="1657350"/>
              <a:chOff x="8143875" y="1847850"/>
              <a:chExt cx="3524250" cy="1657350"/>
            </a:xfrm>
          </p:grpSpPr>
          <p:sp>
            <p:nvSpPr>
              <p:cNvPr id="118" name="Rectangle 118"/>
              <p:cNvSpPr/>
              <p:nvPr/>
            </p:nvSpPr>
            <p:spPr>
              <a:xfrm>
                <a:off x="8143875" y="18478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E7C126"/>
                </a:solidFill>
              </a:ln>
            </p:spPr>
          </p:sp>
          <p:sp>
            <p:nvSpPr>
              <p:cNvPr id="119" name="Rectangle 119"/>
              <p:cNvSpPr/>
              <p:nvPr/>
            </p:nvSpPr>
            <p:spPr>
              <a:xfrm>
                <a:off x="8143875" y="1847850"/>
                <a:ext cx="3524250" cy="76200"/>
              </a:xfrm>
              <a:prstGeom prst="rect">
                <a:avLst/>
              </a:prstGeom>
              <a:solidFill>
                <a:srgbClr val="E7C126"/>
              </a:solidFill>
              <a:ln>
                <a:noFill/>
              </a:ln>
            </p:spPr>
          </p:sp>
          <p:sp>
            <p:nvSpPr>
              <p:cNvPr id="120" name="Ellipse 120"/>
              <p:cNvSpPr/>
              <p:nvPr/>
            </p:nvSpPr>
            <p:spPr>
              <a:xfrm>
                <a:off x="8248650" y="2028825"/>
                <a:ext cx="361950" cy="361950"/>
              </a:xfrm>
              <a:prstGeom prst="ellipse">
                <a:avLst/>
              </a:prstGeom>
              <a:solidFill>
                <a:srgbClr val="E7C126"/>
              </a:solidFill>
              <a:ln>
                <a:noFill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8339673" y="21212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03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8705850" y="2064830"/>
                <a:ext cx="1216152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午间照护能力</a:t>
                </a:r>
              </a:p>
            </p:txBody>
          </p:sp>
          <p:sp>
            <p:nvSpPr>
              <p:cNvPr id="123" name="Ellipse 123"/>
              <p:cNvSpPr/>
              <p:nvPr/>
            </p:nvSpPr>
            <p:spPr>
              <a:xfrm>
                <a:off x="8391525" y="2447925"/>
                <a:ext cx="514350" cy="514350"/>
              </a:xfrm>
              <a:prstGeom prst="ellipse">
                <a:avLst/>
              </a:prstGeom>
              <a:solidFill>
                <a:srgbClr val="E7C126">
                  <a:alpha val="22000"/>
                </a:srgbClr>
              </a:solidFill>
              <a:ln>
                <a:noFill/>
              </a:ln>
            </p:spPr>
          </p:sp>
          <p:sp>
            <p:nvSpPr>
              <p:cNvPr id="124" name="Ellipse 124"/>
              <p:cNvSpPr/>
              <p:nvPr/>
            </p:nvSpPr>
            <p:spPr>
              <a:xfrm>
                <a:off x="8477250" y="253365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rgbClr val="021324"/>
                </a:solidFill>
              </a:ln>
            </p:spPr>
          </p:sp>
          <p:sp>
            <p:nvSpPr>
              <p:cNvPr id="125" name="Line 125"/>
              <p:cNvSpPr/>
              <p:nvPr/>
            </p:nvSpPr>
            <p:spPr>
              <a:xfrm>
                <a:off x="8648700" y="26003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021324"/>
                </a:solidFill>
              </a:ln>
            </p:spPr>
          </p:sp>
          <p:sp>
            <p:nvSpPr>
              <p:cNvPr id="126" name="Line 126"/>
              <p:cNvSpPr/>
              <p:nvPr/>
            </p:nvSpPr>
            <p:spPr>
              <a:xfrm>
                <a:off x="8648700" y="2705100"/>
                <a:ext cx="1047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7150">
                    <a:moveTo>
                      <a:pt x="0" y="0"/>
                    </a:moveTo>
                    <a:lnTo>
                      <a:pt x="104775" y="57150"/>
                    </a:lnTo>
                  </a:path>
                </a:pathLst>
              </a:custGeom>
              <a:noFill/>
              <a:ln w="19050" cap="rnd">
                <a:solidFill>
                  <a:srgbClr val="021324"/>
                </a:solidFill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9048750" y="2458784"/>
                <a:ext cx="1560576" cy="341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7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每个工作日 1 次</a:t>
                </a:r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9048750" y="2735961"/>
                <a:ext cx="1209550" cy="270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350" b="1" dirty="0">
                    <a:solidFill>
                      <a:srgbClr val="E0A700"/>
                    </a:solidFill>
                    <a:latin typeface="Microsoft YaHei"/>
                    <a:ea typeface="Microsoft YaHei"/>
                    <a:cs typeface="Microsoft YaHei"/>
                  </a:rPr>
                  <a:t>20–40 分钟 / 次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8315325" y="3038475"/>
                <a:ext cx="211493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排泄＋饮水检查＋短时活动＋真人互动</a:t>
                </a: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8315325" y="3228975"/>
                <a:ext cx="18672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摄像头、喂食器不能替代真人照护</a:t>
                </a: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523875" y="3714750"/>
              <a:ext cx="3524250" cy="1657350"/>
              <a:chOff x="523875" y="3714750"/>
              <a:chExt cx="3524250" cy="1657350"/>
            </a:xfrm>
          </p:grpSpPr>
          <p:sp>
            <p:nvSpPr>
              <p:cNvPr id="132" name="Rectangle 132"/>
              <p:cNvSpPr/>
              <p:nvPr/>
            </p:nvSpPr>
            <p:spPr>
              <a:xfrm>
                <a:off x="523875" y="37147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9D6FC7"/>
                </a:solidFill>
              </a:ln>
            </p:spPr>
          </p:sp>
          <p:sp>
            <p:nvSpPr>
              <p:cNvPr id="133" name="Rectangle 133"/>
              <p:cNvSpPr/>
              <p:nvPr/>
            </p:nvSpPr>
            <p:spPr>
              <a:xfrm>
                <a:off x="523875" y="3714750"/>
                <a:ext cx="3524250" cy="76200"/>
              </a:xfrm>
              <a:prstGeom prst="rect">
                <a:avLst/>
              </a:prstGeom>
              <a:solidFill>
                <a:srgbClr val="9D6FC7"/>
              </a:solidFill>
              <a:ln>
                <a:noFill/>
              </a:ln>
            </p:spPr>
          </p:sp>
          <p:sp>
            <p:nvSpPr>
              <p:cNvPr id="134" name="Ellipse 134"/>
              <p:cNvSpPr/>
              <p:nvPr/>
            </p:nvSpPr>
            <p:spPr>
              <a:xfrm>
                <a:off x="628650" y="3895725"/>
                <a:ext cx="361950" cy="361950"/>
              </a:xfrm>
              <a:prstGeom prst="ellipse">
                <a:avLst/>
              </a:prstGeom>
              <a:solidFill>
                <a:srgbClr val="9D6FC7"/>
              </a:solidFill>
              <a:ln>
                <a:noFill/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19673" y="39881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04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1085850" y="3931729"/>
                <a:ext cx="1416177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预算与医疗保障</a:t>
                </a:r>
              </a:p>
            </p:txBody>
          </p:sp>
          <p:sp>
            <p:nvSpPr>
              <p:cNvPr id="137" name="Rectangle 137"/>
              <p:cNvSpPr/>
              <p:nvPr/>
            </p:nvSpPr>
            <p:spPr>
              <a:xfrm>
                <a:off x="695325" y="4295775"/>
                <a:ext cx="3181350" cy="495300"/>
              </a:xfrm>
              <a:prstGeom prst="rect">
                <a:avLst/>
              </a:prstGeom>
              <a:solidFill>
                <a:srgbClr val="9D6FC7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1397487" y="4292727"/>
                <a:ext cx="1777026" cy="391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950" b="1" dirty="0">
                    <a:solidFill>
                      <a:srgbClr val="9D6FC7"/>
                    </a:solidFill>
                    <a:latin typeface="Microsoft YaHei"/>
                    <a:ea typeface="Microsoft YaHei"/>
                    <a:cs typeface="Microsoft YaHei"/>
                  </a:rPr>
                  <a:t>¥5,000–20,000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1366838" y="4591050"/>
                <a:ext cx="183832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医疗应急金，或配置合适的宠物保险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695325" y="4857750"/>
                <a:ext cx="22387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别漏算：美容、牙科、训练、遛狗、日托</a:t>
                </a:r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695325" y="5067300"/>
                <a:ext cx="17434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“吃得少”不代表长期总成本低</a:t>
                </a: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4333875" y="3714750"/>
              <a:ext cx="3524250" cy="1657350"/>
              <a:chOff x="4333875" y="3714750"/>
              <a:chExt cx="3524250" cy="1657350"/>
            </a:xfrm>
          </p:grpSpPr>
          <p:sp>
            <p:nvSpPr>
              <p:cNvPr id="143" name="Rectangle 143"/>
              <p:cNvSpPr/>
              <p:nvPr/>
            </p:nvSpPr>
            <p:spPr>
              <a:xfrm>
                <a:off x="4333875" y="37147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A5041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4333875" y="3714750"/>
                <a:ext cx="3524250" cy="76200"/>
              </a:xfrm>
              <a:prstGeom prst="rect">
                <a:avLst/>
              </a:prstGeom>
              <a:solidFill>
                <a:srgbClr val="FA5041"/>
              </a:solidFill>
              <a:ln>
                <a:noFill/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4438650" y="3895725"/>
                <a:ext cx="361950" cy="361950"/>
              </a:xfrm>
              <a:prstGeom prst="ellipse">
                <a:avLst/>
              </a:prstGeom>
              <a:solidFill>
                <a:srgbClr val="FA5041"/>
              </a:solidFill>
              <a:ln>
                <a:noFill/>
              </a:ln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4529673" y="39881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05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4895850" y="3931729"/>
                <a:ext cx="1216152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特殊犬只风险</a:t>
                </a:r>
              </a:p>
            </p:txBody>
          </p:sp>
          <p:sp>
            <p:nvSpPr>
              <p:cNvPr id="148" name="Rectangle 148"/>
              <p:cNvSpPr/>
              <p:nvPr/>
            </p:nvSpPr>
            <p:spPr>
              <a:xfrm>
                <a:off x="4505325" y="4295775"/>
                <a:ext cx="942975" cy="561975"/>
              </a:xfrm>
              <a:prstGeom prst="rect">
                <a:avLst/>
              </a:prstGeom>
              <a:solidFill>
                <a:srgbClr val="FA5041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9" name="Rectangle 149"/>
              <p:cNvSpPr/>
              <p:nvPr/>
            </p:nvSpPr>
            <p:spPr>
              <a:xfrm>
                <a:off x="5543550" y="4295775"/>
                <a:ext cx="942975" cy="561975"/>
              </a:xfrm>
              <a:prstGeom prst="rect">
                <a:avLst/>
              </a:prstGeom>
              <a:solidFill>
                <a:srgbClr val="FA5041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6581775" y="4295775"/>
                <a:ext cx="1104900" cy="561975"/>
              </a:xfrm>
              <a:prstGeom prst="rect">
                <a:avLst/>
              </a:prstGeom>
              <a:solidFill>
                <a:srgbClr val="FA5041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4803648" y="4372546"/>
                <a:ext cx="336804" cy="251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2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幼犬</a:t>
                </a:r>
              </a:p>
            </p:txBody>
          </p:sp>
          <p:sp>
            <p:nvSpPr>
              <p:cNvPr id="152" name="TextBox 152"/>
              <p:cNvSpPr txBox="1"/>
              <p:nvPr/>
            </p:nvSpPr>
            <p:spPr>
              <a:xfrm>
                <a:off x="4652962" y="4610100"/>
                <a:ext cx="6381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高频排泄喂食</a:t>
                </a: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5760911" y="4372546"/>
                <a:ext cx="498729" cy="251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2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老年犬</a:t>
                </a:r>
              </a:p>
            </p:txBody>
          </p:sp>
          <p:sp>
            <p:nvSpPr>
              <p:cNvPr id="154" name="TextBox 154"/>
              <p:cNvSpPr txBox="1"/>
              <p:nvPr/>
            </p:nvSpPr>
            <p:spPr>
              <a:xfrm>
                <a:off x="5691188" y="4610100"/>
                <a:ext cx="6381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服药健康观察</a:t>
                </a:r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6722936" y="4372546"/>
                <a:ext cx="822579" cy="251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2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分离焦虑犬</a:t>
                </a:r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6815138" y="4610100"/>
                <a:ext cx="6381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82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吠叫破坏压力</a:t>
                </a:r>
              </a:p>
            </p:txBody>
          </p:sp>
          <p:sp>
            <p:nvSpPr>
              <p:cNvPr id="157" name="TextBox 157"/>
              <p:cNvSpPr txBox="1"/>
              <p:nvPr/>
            </p:nvSpPr>
            <p:spPr>
              <a:xfrm>
                <a:off x="4505325" y="4905375"/>
                <a:ext cx="236258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品种只是倾向，还要看年龄、健康与社会化</a:t>
                </a:r>
              </a:p>
            </p:txBody>
          </p:sp>
          <p:sp>
            <p:nvSpPr>
              <p:cNvPr id="158" name="TextBox 158"/>
              <p:cNvSpPr txBox="1"/>
              <p:nvPr/>
            </p:nvSpPr>
            <p:spPr>
              <a:xfrm>
                <a:off x="4505325" y="5095875"/>
                <a:ext cx="161963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以上三类都不适合长时间独处</a:t>
                </a:r>
              </a:p>
            </p:txBody>
          </p:sp>
        </p:grpSp>
        <p:grpSp>
          <p:nvGrpSpPr>
            <p:cNvPr id="173" name="Group 173"/>
            <p:cNvGrpSpPr/>
            <p:nvPr/>
          </p:nvGrpSpPr>
          <p:grpSpPr>
            <a:xfrm>
              <a:off x="8143875" y="3714750"/>
              <a:ext cx="3524250" cy="1657350"/>
              <a:chOff x="8143875" y="3714750"/>
              <a:chExt cx="3524250" cy="1657350"/>
            </a:xfrm>
          </p:grpSpPr>
          <p:sp>
            <p:nvSpPr>
              <p:cNvPr id="160" name="Rectangle 160"/>
              <p:cNvSpPr/>
              <p:nvPr/>
            </p:nvSpPr>
            <p:spPr>
              <a:xfrm>
                <a:off x="8143875" y="3714750"/>
                <a:ext cx="3524250" cy="16573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8C1DD"/>
                </a:solidFill>
              </a:ln>
            </p:spPr>
          </p:sp>
          <p:sp>
            <p:nvSpPr>
              <p:cNvPr id="161" name="Rectangle 161"/>
              <p:cNvSpPr/>
              <p:nvPr/>
            </p:nvSpPr>
            <p:spPr>
              <a:xfrm>
                <a:off x="8143875" y="3714750"/>
                <a:ext cx="3524250" cy="76200"/>
              </a:xfrm>
              <a:prstGeom prst="rect">
                <a:avLst/>
              </a:prstGeom>
              <a:solidFill>
                <a:srgbClr val="58C1DD"/>
              </a:solidFill>
              <a:ln>
                <a:noFill/>
              </a:ln>
            </p:spPr>
          </p:sp>
          <p:sp>
            <p:nvSpPr>
              <p:cNvPr id="162" name="Ellipse 162"/>
              <p:cNvSpPr/>
              <p:nvPr/>
            </p:nvSpPr>
            <p:spPr>
              <a:xfrm>
                <a:off x="8248650" y="3895725"/>
                <a:ext cx="361950" cy="361950"/>
              </a:xfrm>
              <a:prstGeom prst="ellipse">
                <a:avLst/>
              </a:prstGeom>
              <a:solidFill>
                <a:srgbClr val="58C1DD"/>
              </a:solidFill>
              <a:ln>
                <a:noFill/>
              </a:ln>
            </p:spPr>
          </p:sp>
          <p:sp>
            <p:nvSpPr>
              <p:cNvPr id="163" name="TextBox 163"/>
              <p:cNvSpPr txBox="1"/>
              <p:nvPr/>
            </p:nvSpPr>
            <p:spPr>
              <a:xfrm>
                <a:off x="8339673" y="3988118"/>
                <a:ext cx="179903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06</a:t>
                </a:r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8705850" y="3931729"/>
                <a:ext cx="1216152" cy="320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统一评分口径</a:t>
                </a:r>
              </a:p>
            </p:txBody>
          </p:sp>
          <p:sp>
            <p:nvSpPr>
              <p:cNvPr id="165" name="Rectangle 165"/>
              <p:cNvSpPr/>
              <p:nvPr/>
            </p:nvSpPr>
            <p:spPr>
              <a:xfrm>
                <a:off x="8315325" y="4295775"/>
                <a:ext cx="1495425" cy="523875"/>
              </a:xfrm>
              <a:prstGeom prst="rect">
                <a:avLst/>
              </a:prstGeom>
              <a:solidFill>
                <a:srgbClr val="6DD8C8">
                  <a:alpha val="18000"/>
                </a:srgbClr>
              </a:solidFill>
              <a:ln>
                <a:noFill/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9906000" y="4295775"/>
                <a:ext cx="1590675" cy="523875"/>
              </a:xfrm>
              <a:prstGeom prst="rect">
                <a:avLst/>
              </a:prstGeom>
              <a:solidFill>
                <a:srgbClr val="FA5041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8679150" y="4369118"/>
                <a:ext cx="75825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2E6A61"/>
                    </a:solidFill>
                    <a:latin typeface="Microsoft YaHei"/>
                    <a:ea typeface="Microsoft YaHei"/>
                    <a:cs typeface="Microsoft YaHei"/>
                  </a:rPr>
                  <a:t>越高越好 ↑</a:t>
                </a:r>
              </a:p>
            </p:txBody>
          </p:sp>
          <p:sp>
            <p:nvSpPr>
              <p:cNvPr id="168" name="TextBox 168"/>
              <p:cNvSpPr txBox="1"/>
              <p:nvPr/>
            </p:nvSpPr>
            <p:spPr>
              <a:xfrm>
                <a:off x="8596312" y="4581525"/>
                <a:ext cx="92392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独处适应・易训度</a:t>
                </a:r>
              </a:p>
            </p:txBody>
          </p:sp>
          <p:sp>
            <p:nvSpPr>
              <p:cNvPr id="169" name="TextBox 169"/>
              <p:cNvSpPr txBox="1"/>
              <p:nvPr/>
            </p:nvSpPr>
            <p:spPr>
              <a:xfrm>
                <a:off x="10317450" y="4369118"/>
                <a:ext cx="75825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越低越好 ↓</a:t>
                </a:r>
              </a:p>
            </p:txBody>
          </p:sp>
          <p:sp>
            <p:nvSpPr>
              <p:cNvPr id="170" name="TextBox 170"/>
              <p:cNvSpPr txBox="1"/>
              <p:nvPr/>
            </p:nvSpPr>
            <p:spPr>
              <a:xfrm>
                <a:off x="10063162" y="4581525"/>
                <a:ext cx="1266825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吠叫・掉毛・美容・健康</a:t>
                </a: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8315325" y="4895850"/>
                <a:ext cx="249801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596574"/>
                    </a:solidFill>
                    <a:latin typeface="Microsoft YaHei"/>
                    <a:ea typeface="Microsoft YaHei"/>
                    <a:cs typeface="Microsoft YaHei"/>
                  </a:rPr>
                  <a:t>独处适应度为 1–5 分相对比较，不对应小时数</a:t>
                </a: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8315325" y="5095875"/>
                <a:ext cx="22387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所有推荐均以“每日有午间照护”为前提</a:t>
                </a:r>
              </a:p>
            </p:txBody>
          </p:sp>
        </p:grpSp>
      </p:grpSp>
      <p:grpSp>
        <p:nvGrpSpPr>
          <p:cNvPr id="181" name="Group 181"/>
          <p:cNvGrpSpPr/>
          <p:nvPr/>
        </p:nvGrpSpPr>
        <p:grpSpPr>
          <a:xfrm>
            <a:off x="523875" y="5600700"/>
            <a:ext cx="11144250" cy="666750"/>
            <a:chOff x="523875" y="5600700"/>
            <a:chExt cx="11144250" cy="666750"/>
          </a:xfrm>
        </p:grpSpPr>
        <p:sp>
          <p:nvSpPr>
            <p:cNvPr id="175" name="Rectangle 175"/>
            <p:cNvSpPr/>
            <p:nvPr/>
          </p:nvSpPr>
          <p:spPr>
            <a:xfrm>
              <a:off x="523875" y="5600700"/>
              <a:ext cx="11144250" cy="666750"/>
            </a:xfrm>
            <a:prstGeom prst="rect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523875" y="5600700"/>
              <a:ext cx="114300" cy="66675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762000" y="5734050"/>
              <a:ext cx="400050" cy="400050"/>
            </a:xfrm>
            <a:prstGeom prst="ellipse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78" name="Freeform 178"/>
            <p:cNvSpPr/>
            <p:nvPr/>
          </p:nvSpPr>
          <p:spPr>
            <a:xfrm>
              <a:off x="866775" y="5848350"/>
              <a:ext cx="200025" cy="152400"/>
            </a:xfrm>
            <a:custGeom>
              <a:avLst/>
              <a:gdLst/>
              <a:ahLst/>
              <a:cxnLst/>
              <a:rect l="l" t="t" r="r" b="b"/>
              <a:pathLst>
                <a:path w="200025" h="152400">
                  <a:moveTo>
                    <a:pt x="0" y="85725"/>
                  </a:moveTo>
                  <a:lnTo>
                    <a:pt x="66675" y="152400"/>
                  </a:lnTo>
                  <a:lnTo>
                    <a:pt x="200025" y="0"/>
                  </a:lnTo>
                </a:path>
              </a:pathLst>
            </a:custGeom>
            <a:noFill/>
            <a:ln w="38100" cap="rnd">
              <a:solidFill>
                <a:srgbClr val="021324"/>
              </a:solidFill>
              <a:round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304925" y="5682615"/>
              <a:ext cx="53492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先解决独处、时间、照护、预算与特殊风险，再谈“养哪只”。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1304925" y="5977128"/>
              <a:ext cx="516577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D7DEE6"/>
                  </a:solidFill>
                  <a:latin typeface="Microsoft YaHei"/>
                  <a:ea typeface="Microsoft YaHei"/>
                  <a:cs typeface="Microsoft YaHei"/>
                </a:rPr>
                <a:t>若每天离家 10–12 小时且无午间照护，8 个候选犬种都不直接推荐——暂缓养犬更负责。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4"/>
          <p:cNvGrpSpPr/>
          <p:nvPr/>
        </p:nvGrpSpPr>
        <p:grpSpPr>
          <a:xfrm>
            <a:off x="-635210" y="228755"/>
            <a:ext cx="12826090" cy="6630608"/>
            <a:chOff x="-635210" y="228755"/>
            <a:chExt cx="12826090" cy="6630608"/>
          </a:xfrm>
        </p:grpSpPr>
        <p:grpSp>
          <p:nvGrpSpPr>
            <p:cNvPr id="57" name="Group 57"/>
            <p:cNvGrpSpPr/>
            <p:nvPr/>
          </p:nvGrpSpPr>
          <p:grpSpPr>
            <a:xfrm>
              <a:off x="272390" y="228755"/>
              <a:ext cx="2456328" cy="2431852"/>
              <a:chOff x="272390" y="228755"/>
              <a:chExt cx="2456328" cy="243185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89640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0493" y="22875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362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62215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53068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43920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34773" y="22875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23" y="94196"/>
                      <a:pt x="93945" y="73114"/>
                      <a:pt x="93945" y="47089"/>
                    </a:cubicBezTo>
                    <a:cubicBezTo>
                      <a:pt x="93945" y="21082"/>
                      <a:pt x="72923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633214" y="2566411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33214" y="2174448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33214" y="178248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633214" y="1390522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33214" y="998542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633214" y="606579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239746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39746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39746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39746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39746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39746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846278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846278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846278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846278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46278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46278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52827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452827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52827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52827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452827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2827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59393" y="2566411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59393" y="2174448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9393" y="178248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9393" y="1390522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9393" y="998542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59393" y="606579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892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5892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892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892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5892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892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72390" y="2566411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72390" y="2174448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72390" y="1782485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72390" y="1390522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089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089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272390" y="998542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72390" y="606579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987328" y="6169838"/>
              <a:ext cx="1372886" cy="674012"/>
              <a:chOff x="4987328" y="6169838"/>
              <a:chExt cx="1372886" cy="6740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987328" y="6169838"/>
                <a:ext cx="1372877" cy="674012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4012">
                    <a:moveTo>
                      <a:pt x="1372877" y="674012"/>
                    </a:moveTo>
                    <a:cubicBezTo>
                      <a:pt x="1366525" y="300885"/>
                      <a:pt x="1062141" y="0"/>
                      <a:pt x="686657" y="0"/>
                    </a:cubicBezTo>
                    <a:cubicBezTo>
                      <a:pt x="311165" y="0"/>
                      <a:pt x="6352" y="300885"/>
                      <a:pt x="0" y="674012"/>
                    </a:cubicBezTo>
                    <a:lnTo>
                      <a:pt x="348815" y="674012"/>
                    </a:lnTo>
                    <a:cubicBezTo>
                      <a:pt x="355167" y="492858"/>
                      <a:pt x="503583" y="347569"/>
                      <a:pt x="686657" y="347569"/>
                    </a:cubicBezTo>
                    <a:cubicBezTo>
                      <a:pt x="869792" y="347569"/>
                      <a:pt x="1017993" y="492858"/>
                      <a:pt x="1024345" y="674012"/>
                    </a:cubicBezTo>
                    <a:lnTo>
                      <a:pt x="1372877" y="674012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5336770" y="5820406"/>
                <a:ext cx="674012" cy="1372877"/>
                <a:chOff x="5336015" y="5821926"/>
                <a:chExt cx="675513" cy="1369826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 flipH="1" flipV="1">
                  <a:off x="5336015" y="5821926"/>
                  <a:ext cx="675513" cy="136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7" name="Group 67"/>
            <p:cNvGrpSpPr/>
            <p:nvPr/>
          </p:nvGrpSpPr>
          <p:grpSpPr>
            <a:xfrm>
              <a:off x="7946510" y="6283262"/>
              <a:ext cx="3900333" cy="576100"/>
              <a:chOff x="7946510" y="6283262"/>
              <a:chExt cx="3900333" cy="5761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886844" y="6283279"/>
                <a:ext cx="1959999" cy="576083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083">
                    <a:moveTo>
                      <a:pt x="1959999" y="0"/>
                    </a:moveTo>
                    <a:lnTo>
                      <a:pt x="0" y="0"/>
                    </a:lnTo>
                    <a:lnTo>
                      <a:pt x="0" y="576083"/>
                    </a:lnTo>
                    <a:lnTo>
                      <a:pt x="1959999" y="576083"/>
                    </a:lnTo>
                    <a:lnTo>
                      <a:pt x="1959999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912442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946510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 rot="-5400000">
                <a:off x="9608626" y="4621146"/>
                <a:ext cx="576100" cy="3900333"/>
                <a:chOff x="9608307" y="4623312"/>
                <a:chExt cx="576741" cy="3895999"/>
              </a:xfrm>
            </p:grpSpPr>
            <p:pic>
              <p:nvPicPr>
                <p:cNvPr id="65" name="Image 65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 flipH="1">
                  <a:off x="9608307" y="4623312"/>
                  <a:ext cx="576741" cy="3895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-635210" y="5164700"/>
              <a:ext cx="1859469" cy="1694663"/>
              <a:chOff x="-635210" y="5164700"/>
              <a:chExt cx="1859469" cy="169466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-635210" y="5164700"/>
                <a:ext cx="1859469" cy="1694662"/>
              </a:xfrm>
              <a:custGeom>
                <a:avLst/>
                <a:gdLst/>
                <a:ahLst/>
                <a:cxnLst/>
                <a:rect l="l" t="t" r="r" b="b"/>
                <a:pathLst>
                  <a:path w="1859469" h="1694662">
                    <a:moveTo>
                      <a:pt x="929735" y="0"/>
                    </a:moveTo>
                    <a:cubicBezTo>
                      <a:pt x="1443162" y="0"/>
                      <a:pt x="1859469" y="416846"/>
                      <a:pt x="1859469" y="931016"/>
                    </a:cubicBezTo>
                    <a:lnTo>
                      <a:pt x="1859469" y="1694662"/>
                    </a:lnTo>
                    <a:lnTo>
                      <a:pt x="1387404" y="1694662"/>
                    </a:lnTo>
                    <a:lnTo>
                      <a:pt x="1387404" y="947391"/>
                    </a:lnTo>
                    <a:cubicBezTo>
                      <a:pt x="1387404" y="686936"/>
                      <a:pt x="1176662" y="475743"/>
                      <a:pt x="916590" y="475743"/>
                    </a:cubicBezTo>
                    <a:cubicBezTo>
                      <a:pt x="656464" y="475743"/>
                      <a:pt x="445612" y="686936"/>
                      <a:pt x="445612" y="947391"/>
                    </a:cubicBezTo>
                    <a:lnTo>
                      <a:pt x="445612" y="1694662"/>
                    </a:lnTo>
                    <a:lnTo>
                      <a:pt x="0" y="1694662"/>
                    </a:lnTo>
                    <a:lnTo>
                      <a:pt x="0" y="931016"/>
                    </a:lnTo>
                    <a:cubicBezTo>
                      <a:pt x="0" y="416846"/>
                      <a:pt x="416307" y="0"/>
                      <a:pt x="929735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-5400000">
                <a:off x="-552806" y="5082298"/>
                <a:ext cx="1694662" cy="1859469"/>
                <a:chOff x="-551625" y="5081005"/>
                <a:chExt cx="1692305" cy="1862059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 flipH="1">
                  <a:off x="-551625" y="5081005"/>
                  <a:ext cx="1692305" cy="1862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2170365" y="6093237"/>
              <a:ext cx="1720197" cy="373445"/>
              <a:chOff x="2170365" y="6093237"/>
              <a:chExt cx="1720197" cy="373445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2170365" y="6094176"/>
                <a:ext cx="1719203" cy="372506"/>
                <a:chOff x="2170365" y="6094176"/>
                <a:chExt cx="1719203" cy="372506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3437322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3015015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2592709" y="6094176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01009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28" y="372506"/>
                      </a:lnTo>
                      <a:lnTo>
                        <a:pt x="201009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2170365" y="6094176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01046" y="0"/>
                      </a:moveTo>
                      <a:lnTo>
                        <a:pt x="0" y="0"/>
                      </a:lnTo>
                      <a:lnTo>
                        <a:pt x="251256" y="372506"/>
                      </a:lnTo>
                      <a:lnTo>
                        <a:pt x="452265" y="372506"/>
                      </a:lnTo>
                      <a:lnTo>
                        <a:pt x="201046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78" name="Group 78"/>
              <p:cNvGrpSpPr/>
              <p:nvPr/>
            </p:nvGrpSpPr>
            <p:grpSpPr>
              <a:xfrm rot="-5400000">
                <a:off x="2844874" y="5419996"/>
                <a:ext cx="372447" cy="1718929"/>
                <a:chOff x="2844870" y="5420001"/>
                <a:chExt cx="372447" cy="1718929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 flipH="1">
                  <a:off x="2844870" y="5420001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 rot="5400000">
              <a:off x="11167432" y="3272650"/>
              <a:ext cx="1372885" cy="674012"/>
              <a:chOff x="7673626" y="189976"/>
              <a:chExt cx="1525428" cy="75057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81" name="Image 81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8" name="Group 88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85" name="Rectangle 85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86" name="Image 86"/>
              <p:cNvPicPr>
                <a:picLocks noChangeAspect="1"/>
              </p:cNvPicPr>
              <p:nvPr/>
            </p:nvPicPr>
            <p:blipFill>
              <a:blip r:embed="rId6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91" name="Group 91"/>
          <p:cNvGrpSpPr/>
          <p:nvPr/>
        </p:nvGrpSpPr>
        <p:grpSpPr>
          <a:xfrm>
            <a:off x="551850" y="396154"/>
            <a:ext cx="11088300" cy="987904"/>
            <a:chOff x="551850" y="396154"/>
            <a:chExt cx="11088300" cy="987904"/>
          </a:xfrm>
        </p:grpSpPr>
        <p:sp>
          <p:nvSpPr>
            <p:cNvPr id="89" name="Rectangle 89"/>
            <p:cNvSpPr/>
            <p:nvPr/>
          </p:nvSpPr>
          <p:spPr>
            <a:xfrm>
              <a:off x="551850" y="396154"/>
              <a:ext cx="11088300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152529" y="468516"/>
              <a:ext cx="74752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短鼻萌犬：省运动，不省医疗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47700" y="1619250"/>
            <a:ext cx="10896600" cy="1657350"/>
            <a:chOff x="647700" y="1619250"/>
            <a:chExt cx="10896600" cy="1657350"/>
          </a:xfrm>
        </p:grpSpPr>
        <p:sp>
          <p:nvSpPr>
            <p:cNvPr id="92" name="Rectangle 92"/>
            <p:cNvSpPr/>
            <p:nvPr/>
          </p:nvSpPr>
          <p:spPr>
            <a:xfrm>
              <a:off x="647700" y="1619250"/>
              <a:ext cx="3543300" cy="16573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93" name="Image 93"/>
            <p:cNvPicPr>
              <a:picLocks noChangeAspect="1"/>
            </p:cNvPicPr>
            <p:nvPr/>
          </p:nvPicPr>
          <p:blipFill>
            <a:blip r:embed="rId7"/>
            <a:srcRect t="12553" b="12553"/>
            <a:stretch>
              <a:fillRect/>
            </a:stretch>
          </p:blipFill>
          <p:spPr>
            <a:xfrm>
              <a:off x="647700" y="1619250"/>
              <a:ext cx="3543300" cy="1657350"/>
            </a:xfrm>
            <a:prstGeom prst="roundRect">
              <a:avLst>
                <a:gd name="adj" fmla="val 10344"/>
              </a:avLst>
            </a:prstGeom>
          </p:spPr>
        </p:pic>
        <p:sp>
          <p:nvSpPr>
            <p:cNvPr id="94" name="Rectangle 94"/>
            <p:cNvSpPr/>
            <p:nvPr/>
          </p:nvSpPr>
          <p:spPr>
            <a:xfrm>
              <a:off x="800100" y="1771650"/>
              <a:ext cx="990600" cy="285750"/>
            </a:xfrm>
            <a:prstGeom prst="roundRect">
              <a:avLst>
                <a:gd name="adj" fmla="val 50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56691" y="1833753"/>
              <a:ext cx="6774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短鼻犬组合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381500" y="1619250"/>
              <a:ext cx="7162800" cy="1657350"/>
            </a:xfrm>
            <a:prstGeom prst="roundRect">
              <a:avLst>
                <a:gd name="adj" fmla="val 1034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4381500" y="1619250"/>
              <a:ext cx="114300" cy="165735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705350" y="1810322"/>
              <a:ext cx="660654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共同画像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705350" y="2111692"/>
              <a:ext cx="35833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公寓友好、运动需求较低，但怕热与医疗风险是核心代价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705350" y="2457450"/>
              <a:ext cx="1790700" cy="609600"/>
            </a:xfrm>
            <a:prstGeom prst="roundRect">
              <a:avLst>
                <a:gd name="adj" fmla="val 18750"/>
              </a:avLst>
            </a:prstGeom>
            <a:solidFill>
              <a:srgbClr val="58C1DD">
                <a:alpha val="14000"/>
              </a:srgbClr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876800" y="25241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876800" y="2717673"/>
              <a:ext cx="1191202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30–45 分钟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629400" y="2457450"/>
              <a:ext cx="1790700" cy="609600"/>
            </a:xfrm>
            <a:prstGeom prst="roundRect">
              <a:avLst>
                <a:gd name="adj" fmla="val 18750"/>
              </a:avLst>
            </a:prstGeom>
            <a:solidFill>
              <a:srgbClr val="6DD8C8">
                <a:alpha val="18000"/>
              </a:srgbClr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800850" y="25241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吠叫倾向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00850" y="2717673"/>
              <a:ext cx="989392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均为 2 / 5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8553450" y="2457450"/>
              <a:ext cx="2686050" cy="609600"/>
            </a:xfrm>
            <a:prstGeom prst="roundRect">
              <a:avLst>
                <a:gd name="adj" fmla="val 18750"/>
              </a:avLst>
            </a:prstGeom>
            <a:solidFill>
              <a:srgbClr val="FA5041">
                <a:alpha val="12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724900" y="25241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健康风险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724900" y="2717673"/>
              <a:ext cx="989392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均为 5 / 5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647700" y="3448050"/>
            <a:ext cx="5334000" cy="2171700"/>
            <a:chOff x="647700" y="3448050"/>
            <a:chExt cx="5334000" cy="2171700"/>
          </a:xfrm>
        </p:grpSpPr>
        <p:sp>
          <p:nvSpPr>
            <p:cNvPr id="110" name="Rectangle 110"/>
            <p:cNvSpPr/>
            <p:nvPr/>
          </p:nvSpPr>
          <p:spPr>
            <a:xfrm>
              <a:off x="647700" y="3448050"/>
              <a:ext cx="5334000" cy="217170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47700" y="3448050"/>
              <a:ext cx="5334000" cy="495300"/>
            </a:xfrm>
            <a:prstGeom prst="roundRect">
              <a:avLst>
                <a:gd name="adj" fmla="val 38462"/>
              </a:avLst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7700" y="3752850"/>
              <a:ext cx="5334000" cy="190500"/>
            </a:xfrm>
            <a:prstGeom prst="rect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790575" y="353377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65060" y="3591496"/>
              <a:ext cx="174879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b="1" dirty="0">
                  <a:solidFill>
                    <a:srgbClr val="58C1DD"/>
                  </a:solidFill>
                  <a:latin typeface="Microsoft YaHei"/>
                  <a:ea typeface="Microsoft YaHei"/>
                  <a:cs typeface="Microsoft YaHei"/>
                </a:rPr>
                <a:t>法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238250" y="3544634"/>
              <a:ext cx="1112901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法国斗牛犬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4885182" y="3605403"/>
              <a:ext cx="8107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公寓适应较好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7630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成年体重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76300" y="4293680"/>
              <a:ext cx="762077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8–14 kg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11455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预期寿命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2114550" y="4293680"/>
              <a:ext cx="842296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10–12 年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335280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基础月费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3352800" y="4293680"/>
              <a:ext cx="1133999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¥700–1,400</a:t>
              </a:r>
            </a:p>
          </p:txBody>
        </p:sp>
        <p:sp>
          <p:nvSpPr>
            <p:cNvPr id="123" name="Line 123"/>
            <p:cNvSpPr/>
            <p:nvPr/>
          </p:nvSpPr>
          <p:spPr>
            <a:xfrm>
              <a:off x="876300" y="46672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DEE4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8763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独处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2382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 / 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9431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掉毛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3050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 / 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30099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吠叫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3718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2 / 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0767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易训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44386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 / 5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51435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风险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55054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5 / 5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876300" y="5124450"/>
              <a:ext cx="4876800" cy="323850"/>
            </a:xfrm>
            <a:prstGeom prst="roundRect">
              <a:avLst>
                <a:gd name="adj" fmla="val 26471"/>
              </a:avLst>
            </a:prstGeom>
            <a:solidFill>
              <a:srgbClr val="FA5041">
                <a:alpha val="10000"/>
              </a:srgbClr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1028700" y="5196078"/>
              <a:ext cx="21442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9E3028"/>
                  </a:solidFill>
                  <a:latin typeface="Microsoft YaHei"/>
                  <a:ea typeface="Microsoft YaHei"/>
                  <a:cs typeface="Microsoft YaHei"/>
                </a:rPr>
                <a:t>重点防范：呼吸道、皮肤与脊椎疾病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210300" y="3448050"/>
            <a:ext cx="5334000" cy="2171700"/>
            <a:chOff x="6210300" y="3448050"/>
            <a:chExt cx="5334000" cy="2171700"/>
          </a:xfrm>
        </p:grpSpPr>
        <p:sp>
          <p:nvSpPr>
            <p:cNvPr id="137" name="Rectangle 137"/>
            <p:cNvSpPr/>
            <p:nvPr/>
          </p:nvSpPr>
          <p:spPr>
            <a:xfrm>
              <a:off x="6210300" y="3448050"/>
              <a:ext cx="5334000" cy="217170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6210300" y="3448050"/>
              <a:ext cx="5334000" cy="495300"/>
            </a:xfrm>
            <a:prstGeom prst="roundRect">
              <a:avLst>
                <a:gd name="adj" fmla="val 38462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6210300" y="3752850"/>
              <a:ext cx="5334000" cy="19050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6353175" y="353377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6427661" y="3591496"/>
              <a:ext cx="174879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b="1" dirty="0">
                  <a:solidFill>
                    <a:srgbClr val="B18D00"/>
                  </a:solidFill>
                  <a:latin typeface="Microsoft YaHei"/>
                  <a:ea typeface="Microsoft YaHei"/>
                  <a:cs typeface="Microsoft YaHei"/>
                </a:rPr>
                <a:t>巴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6800850" y="3544634"/>
              <a:ext cx="674751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巴哥犬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0447782" y="3605403"/>
              <a:ext cx="8107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亲人但更黏人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43890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成年体重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6438900" y="4293680"/>
              <a:ext cx="644057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6–8 kg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67715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预期寿命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7677150" y="4293680"/>
              <a:ext cx="842296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12–15 年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8915400" y="41052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基础月费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915400" y="4293680"/>
              <a:ext cx="1133999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¥600–1,200</a:t>
              </a:r>
            </a:p>
          </p:txBody>
        </p:sp>
        <p:sp>
          <p:nvSpPr>
            <p:cNvPr id="150" name="Line 150"/>
            <p:cNvSpPr/>
            <p:nvPr/>
          </p:nvSpPr>
          <p:spPr>
            <a:xfrm>
              <a:off x="6438900" y="46672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DEE4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64389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独处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68008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2 / 5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75057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掉毛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78676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4 / 5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85725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吠叫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89344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2 / 5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96393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易训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00012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 / 5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0706100" y="4762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2606D"/>
                  </a:solidFill>
                  <a:latin typeface="Microsoft YaHei"/>
                  <a:ea typeface="Microsoft YaHei"/>
                  <a:cs typeface="Microsoft YaHei"/>
                </a:rPr>
                <a:t>风险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068050" y="4769168"/>
              <a:ext cx="30015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5 / 5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6438900" y="5124450"/>
              <a:ext cx="4876800" cy="323850"/>
            </a:xfrm>
            <a:prstGeom prst="roundRect">
              <a:avLst>
                <a:gd name="adj" fmla="val 26471"/>
              </a:avLst>
            </a:prstGeom>
            <a:solidFill>
              <a:srgbClr val="FA5041">
                <a:alpha val="10000"/>
              </a:srgbClr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6591300" y="5196078"/>
              <a:ext cx="21442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9E3028"/>
                  </a:solidFill>
                  <a:latin typeface="Microsoft YaHei"/>
                  <a:ea typeface="Microsoft YaHei"/>
                  <a:cs typeface="Microsoft YaHei"/>
                </a:rPr>
                <a:t>重点防范：眼部、呼吸道疾病与肥胖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647700" y="5772150"/>
            <a:ext cx="10896600" cy="552450"/>
            <a:chOff x="647700" y="5772150"/>
            <a:chExt cx="10896600" cy="552450"/>
          </a:xfrm>
        </p:grpSpPr>
        <p:sp>
          <p:nvSpPr>
            <p:cNvPr id="164" name="Rectangle 164"/>
            <p:cNvSpPr/>
            <p:nvPr/>
          </p:nvSpPr>
          <p:spPr>
            <a:xfrm>
              <a:off x="647700" y="5772150"/>
              <a:ext cx="5305425" cy="552450"/>
            </a:xfrm>
            <a:prstGeom prst="roundRect">
              <a:avLst>
                <a:gd name="adj" fmla="val 27586"/>
              </a:avLst>
            </a:prstGeom>
            <a:solidFill>
              <a:srgbClr val="6DD8C8">
                <a:alpha val="24000"/>
              </a:srgbClr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781050" y="5886450"/>
              <a:ext cx="323850" cy="323850"/>
            </a:xfrm>
            <a:prstGeom prst="ellipse">
              <a:avLst/>
            </a:prstGeom>
            <a:solidFill>
              <a:srgbClr val="20A795"/>
            </a:solidFill>
            <a:ln>
              <a:noFill/>
            </a:ln>
          </p:spPr>
        </p:sp>
        <p:sp>
          <p:nvSpPr>
            <p:cNvPr id="166" name="Freeform 166"/>
            <p:cNvSpPr/>
            <p:nvPr/>
          </p:nvSpPr>
          <p:spPr>
            <a:xfrm>
              <a:off x="866775" y="5981700"/>
              <a:ext cx="161925" cy="123825"/>
            </a:xfrm>
            <a:custGeom>
              <a:avLst/>
              <a:gdLst/>
              <a:ahLst/>
              <a:cxnLst/>
              <a:rect l="l" t="t" r="r" b="b"/>
              <a:pathLst>
                <a:path w="161925" h="123825">
                  <a:moveTo>
                    <a:pt x="0" y="66675"/>
                  </a:moveTo>
                  <a:lnTo>
                    <a:pt x="57150" y="123825"/>
                  </a:lnTo>
                  <a:lnTo>
                    <a:pt x="161925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1219200" y="5855018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适合谁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219200" y="6062853"/>
              <a:ext cx="28110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334653"/>
                  </a:solidFill>
                  <a:latin typeface="Microsoft YaHei"/>
                  <a:ea typeface="Microsoft YaHei"/>
                  <a:cs typeface="Microsoft YaHei"/>
                </a:rPr>
                <a:t>有空调、可短时多次活动、能承担较高医疗预算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6086475" y="5772150"/>
              <a:ext cx="5457825" cy="552450"/>
            </a:xfrm>
            <a:prstGeom prst="roundRect">
              <a:avLst>
                <a:gd name="adj" fmla="val 27586"/>
              </a:avLst>
            </a:prstGeom>
            <a:solidFill>
              <a:srgbClr val="FA5041">
                <a:alpha val="13000"/>
              </a:srgbClr>
            </a:solidFill>
            <a:ln>
              <a:noFill/>
            </a:ln>
          </p:spPr>
        </p:sp>
        <p:sp>
          <p:nvSpPr>
            <p:cNvPr id="170" name="Polygon 170"/>
            <p:cNvSpPr/>
            <p:nvPr/>
          </p:nvSpPr>
          <p:spPr>
            <a:xfrm>
              <a:off x="6200775" y="5905500"/>
              <a:ext cx="342900" cy="285750"/>
            </a:xfrm>
            <a:custGeom>
              <a:avLst/>
              <a:gdLst/>
              <a:ahLst/>
              <a:cxnLst/>
              <a:rect l="l" t="t" r="r" b="b"/>
              <a:pathLst>
                <a:path w="342900" h="285750">
                  <a:moveTo>
                    <a:pt x="171450" y="0"/>
                  </a:moveTo>
                  <a:lnTo>
                    <a:pt x="3429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A5041"/>
            </a:solidFill>
            <a:ln>
              <a:noFill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6335759" y="5982271"/>
              <a:ext cx="72932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6724650" y="5855018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9E3028"/>
                  </a:solidFill>
                  <a:latin typeface="Microsoft YaHei"/>
                  <a:ea typeface="Microsoft YaHei"/>
                  <a:cs typeface="Microsoft YaHei"/>
                </a:rPr>
                <a:t>最大坑点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6724650" y="6062853"/>
              <a:ext cx="3211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C3431"/>
                  </a:solidFill>
                  <a:latin typeface="Microsoft YaHei"/>
                  <a:ea typeface="Microsoft YaHei"/>
                  <a:cs typeface="Microsoft YaHei"/>
                </a:rPr>
                <a:t>怕热、不耐剧烈运动；“看起来懒”不等于能整天独处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4"/>
          <p:cNvGrpSpPr/>
          <p:nvPr/>
        </p:nvGrpSpPr>
        <p:grpSpPr>
          <a:xfrm>
            <a:off x="-635210" y="228755"/>
            <a:ext cx="12826090" cy="6630608"/>
            <a:chOff x="-635210" y="228755"/>
            <a:chExt cx="12826090" cy="6630608"/>
          </a:xfrm>
        </p:grpSpPr>
        <p:grpSp>
          <p:nvGrpSpPr>
            <p:cNvPr id="57" name="Group 57"/>
            <p:cNvGrpSpPr/>
            <p:nvPr/>
          </p:nvGrpSpPr>
          <p:grpSpPr>
            <a:xfrm>
              <a:off x="272390" y="228755"/>
              <a:ext cx="2456328" cy="2431852"/>
              <a:chOff x="272390" y="228755"/>
              <a:chExt cx="2456328" cy="243185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89640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0493" y="22875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362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62215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53068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43920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34773" y="22875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23" y="94196"/>
                      <a:pt x="93945" y="73114"/>
                      <a:pt x="93945" y="47089"/>
                    </a:cubicBezTo>
                    <a:cubicBezTo>
                      <a:pt x="93945" y="21082"/>
                      <a:pt x="72923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633214" y="2566411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33214" y="2174448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33214" y="178248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633214" y="1390522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33214" y="998542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633214" y="606579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239746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39746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39746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39746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39746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39746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846278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846278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846278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846278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46278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46278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52827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452827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52827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52827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452827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2827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59393" y="2566411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59393" y="2174448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9393" y="178248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9393" y="1390522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9393" y="998542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59393" y="606579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892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5892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892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892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5892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892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72390" y="2566411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72390" y="2174448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72390" y="1782485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72390" y="1390522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089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089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272390" y="998542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72390" y="606579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987328" y="6169838"/>
              <a:ext cx="1372886" cy="674012"/>
              <a:chOff x="4987328" y="6169838"/>
              <a:chExt cx="1372886" cy="6740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987328" y="6169838"/>
                <a:ext cx="1372877" cy="674012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4012">
                    <a:moveTo>
                      <a:pt x="1372877" y="674012"/>
                    </a:moveTo>
                    <a:cubicBezTo>
                      <a:pt x="1366525" y="300885"/>
                      <a:pt x="1062141" y="0"/>
                      <a:pt x="686657" y="0"/>
                    </a:cubicBezTo>
                    <a:cubicBezTo>
                      <a:pt x="311165" y="0"/>
                      <a:pt x="6352" y="300885"/>
                      <a:pt x="0" y="674012"/>
                    </a:cubicBezTo>
                    <a:lnTo>
                      <a:pt x="348815" y="674012"/>
                    </a:lnTo>
                    <a:cubicBezTo>
                      <a:pt x="355167" y="492858"/>
                      <a:pt x="503583" y="347569"/>
                      <a:pt x="686657" y="347569"/>
                    </a:cubicBezTo>
                    <a:cubicBezTo>
                      <a:pt x="869792" y="347569"/>
                      <a:pt x="1017993" y="492858"/>
                      <a:pt x="1024345" y="674012"/>
                    </a:cubicBezTo>
                    <a:lnTo>
                      <a:pt x="1372877" y="674012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5336770" y="5820406"/>
                <a:ext cx="674012" cy="1372877"/>
                <a:chOff x="5336015" y="5821926"/>
                <a:chExt cx="675513" cy="1369826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 flipH="1" flipV="1">
                  <a:off x="5336015" y="5821926"/>
                  <a:ext cx="675513" cy="136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7" name="Group 67"/>
            <p:cNvGrpSpPr/>
            <p:nvPr/>
          </p:nvGrpSpPr>
          <p:grpSpPr>
            <a:xfrm>
              <a:off x="7946510" y="6283262"/>
              <a:ext cx="3900333" cy="576100"/>
              <a:chOff x="7946510" y="6283262"/>
              <a:chExt cx="3900333" cy="5761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886844" y="6283279"/>
                <a:ext cx="1959999" cy="576083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083">
                    <a:moveTo>
                      <a:pt x="1959999" y="0"/>
                    </a:moveTo>
                    <a:lnTo>
                      <a:pt x="0" y="0"/>
                    </a:lnTo>
                    <a:lnTo>
                      <a:pt x="0" y="576083"/>
                    </a:lnTo>
                    <a:lnTo>
                      <a:pt x="1959999" y="576083"/>
                    </a:lnTo>
                    <a:lnTo>
                      <a:pt x="1959999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912442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946510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 rot="-5400000">
                <a:off x="9608626" y="4621146"/>
                <a:ext cx="576100" cy="3900333"/>
                <a:chOff x="9608307" y="4623312"/>
                <a:chExt cx="576741" cy="3895999"/>
              </a:xfrm>
            </p:grpSpPr>
            <p:pic>
              <p:nvPicPr>
                <p:cNvPr id="65" name="Image 65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 flipH="1">
                  <a:off x="9608307" y="4623312"/>
                  <a:ext cx="576741" cy="3895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-635210" y="5164700"/>
              <a:ext cx="1859469" cy="1694663"/>
              <a:chOff x="-635210" y="5164700"/>
              <a:chExt cx="1859469" cy="169466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-635210" y="5164700"/>
                <a:ext cx="1859469" cy="1694662"/>
              </a:xfrm>
              <a:custGeom>
                <a:avLst/>
                <a:gdLst/>
                <a:ahLst/>
                <a:cxnLst/>
                <a:rect l="l" t="t" r="r" b="b"/>
                <a:pathLst>
                  <a:path w="1859469" h="1694662">
                    <a:moveTo>
                      <a:pt x="929735" y="0"/>
                    </a:moveTo>
                    <a:cubicBezTo>
                      <a:pt x="1443162" y="0"/>
                      <a:pt x="1859469" y="416846"/>
                      <a:pt x="1859469" y="931016"/>
                    </a:cubicBezTo>
                    <a:lnTo>
                      <a:pt x="1859469" y="1694662"/>
                    </a:lnTo>
                    <a:lnTo>
                      <a:pt x="1387404" y="1694662"/>
                    </a:lnTo>
                    <a:lnTo>
                      <a:pt x="1387404" y="947391"/>
                    </a:lnTo>
                    <a:cubicBezTo>
                      <a:pt x="1387404" y="686936"/>
                      <a:pt x="1176662" y="475743"/>
                      <a:pt x="916590" y="475743"/>
                    </a:cubicBezTo>
                    <a:cubicBezTo>
                      <a:pt x="656464" y="475743"/>
                      <a:pt x="445612" y="686936"/>
                      <a:pt x="445612" y="947391"/>
                    </a:cubicBezTo>
                    <a:lnTo>
                      <a:pt x="445612" y="1694662"/>
                    </a:lnTo>
                    <a:lnTo>
                      <a:pt x="0" y="1694662"/>
                    </a:lnTo>
                    <a:lnTo>
                      <a:pt x="0" y="931016"/>
                    </a:lnTo>
                    <a:cubicBezTo>
                      <a:pt x="0" y="416846"/>
                      <a:pt x="416307" y="0"/>
                      <a:pt x="929735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-5400000">
                <a:off x="-552806" y="5082298"/>
                <a:ext cx="1694662" cy="1859469"/>
                <a:chOff x="-551625" y="5081005"/>
                <a:chExt cx="1692305" cy="1862059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 flipH="1">
                  <a:off x="-551625" y="5081005"/>
                  <a:ext cx="1692305" cy="1862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2170365" y="6093237"/>
              <a:ext cx="1720197" cy="373445"/>
              <a:chOff x="2170365" y="6093237"/>
              <a:chExt cx="1720197" cy="373445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2170365" y="6094176"/>
                <a:ext cx="1719203" cy="372506"/>
                <a:chOff x="2170365" y="6094176"/>
                <a:chExt cx="1719203" cy="372506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3437322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3015015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2592709" y="6094176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01009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28" y="372506"/>
                      </a:lnTo>
                      <a:lnTo>
                        <a:pt x="201009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2170365" y="6094176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01046" y="0"/>
                      </a:moveTo>
                      <a:lnTo>
                        <a:pt x="0" y="0"/>
                      </a:lnTo>
                      <a:lnTo>
                        <a:pt x="251256" y="372506"/>
                      </a:lnTo>
                      <a:lnTo>
                        <a:pt x="452265" y="372506"/>
                      </a:lnTo>
                      <a:lnTo>
                        <a:pt x="201046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78" name="Group 78"/>
              <p:cNvGrpSpPr/>
              <p:nvPr/>
            </p:nvGrpSpPr>
            <p:grpSpPr>
              <a:xfrm rot="-5400000">
                <a:off x="2844874" y="5419996"/>
                <a:ext cx="372447" cy="1718929"/>
                <a:chOff x="2844870" y="5420001"/>
                <a:chExt cx="372447" cy="1718929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 flipH="1">
                  <a:off x="2844870" y="5420001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 rot="5400000">
              <a:off x="11167432" y="3272650"/>
              <a:ext cx="1372885" cy="674012"/>
              <a:chOff x="7673626" y="189976"/>
              <a:chExt cx="1525428" cy="75057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81" name="Image 81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8" name="Group 88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85" name="Rectangle 85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86" name="Image 86"/>
              <p:cNvPicPr>
                <a:picLocks noChangeAspect="1"/>
              </p:cNvPicPr>
              <p:nvPr/>
            </p:nvPicPr>
            <p:blipFill>
              <a:blip r:embed="rId6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91" name="Group 91"/>
          <p:cNvGrpSpPr/>
          <p:nvPr/>
        </p:nvGrpSpPr>
        <p:grpSpPr>
          <a:xfrm>
            <a:off x="551850" y="396154"/>
            <a:ext cx="11647399" cy="987904"/>
            <a:chOff x="551850" y="396154"/>
            <a:chExt cx="11647399" cy="987904"/>
          </a:xfrm>
        </p:grpSpPr>
        <p:sp>
          <p:nvSpPr>
            <p:cNvPr id="89" name="Rectangle 89"/>
            <p:cNvSpPr/>
            <p:nvPr/>
          </p:nvSpPr>
          <p:spPr>
            <a:xfrm>
              <a:off x="551850" y="396154"/>
              <a:ext cx="11088300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152529" y="468516"/>
              <a:ext cx="80467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迷你警报器：占地小，存在感大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571500" y="1695450"/>
            <a:ext cx="5410200" cy="3505200"/>
            <a:chOff x="571500" y="1695450"/>
            <a:chExt cx="5410200" cy="3505200"/>
          </a:xfrm>
        </p:grpSpPr>
        <p:sp>
          <p:nvSpPr>
            <p:cNvPr id="92" name="Rectangle 92"/>
            <p:cNvSpPr/>
            <p:nvPr/>
          </p:nvSpPr>
          <p:spPr>
            <a:xfrm>
              <a:off x="571500" y="1695450"/>
              <a:ext cx="5410200" cy="35052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571500" y="1695450"/>
              <a:ext cx="5410200" cy="142875"/>
            </a:xfrm>
            <a:custGeom>
              <a:avLst/>
              <a:gdLst/>
              <a:ahLst/>
              <a:cxnLst/>
              <a:rect l="0" t="0" r="5410200" b="142875"/>
              <a:pathLst>
                <a:path w="5410200" h="142875">
                  <a:moveTo>
                    <a:pt x="76200" y="0"/>
                  </a:moveTo>
                  <a:lnTo>
                    <a:pt x="5334000" y="0"/>
                  </a:lnTo>
                  <a:cubicBezTo>
                    <a:pt x="5376084" y="0"/>
                    <a:pt x="5410200" y="31984"/>
                    <a:pt x="5410200" y="71438"/>
                  </a:cubicBezTo>
                  <a:lnTo>
                    <a:pt x="5410200" y="71437"/>
                  </a:lnTo>
                  <a:cubicBezTo>
                    <a:pt x="5410200" y="110891"/>
                    <a:pt x="5376084" y="142875"/>
                    <a:pt x="5334000" y="142875"/>
                  </a:cubicBezTo>
                  <a:lnTo>
                    <a:pt x="76200" y="142875"/>
                  </a:lnTo>
                  <a:cubicBezTo>
                    <a:pt x="34116" y="142875"/>
                    <a:pt x="0" y="110891"/>
                    <a:pt x="0" y="71437"/>
                  </a:cubicBezTo>
                  <a:lnTo>
                    <a:pt x="0" y="71438"/>
                  </a:lnTo>
                  <a:cubicBezTo>
                    <a:pt x="0" y="31984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A5041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81050" y="1952625"/>
              <a:ext cx="1752600" cy="1504950"/>
            </a:xfrm>
            <a:prstGeom prst="roundRect">
              <a:avLst>
                <a:gd name="adj" fmla="val 11392"/>
              </a:avLst>
            </a:prstGeom>
            <a:solidFill>
              <a:srgbClr val="E8DDD2"/>
            </a:solidFill>
            <a:ln>
              <a:noFill/>
            </a:ln>
          </p:spPr>
        </p:sp>
        <p:pic>
          <p:nvPicPr>
            <p:cNvPr id="95" name="Image 95"/>
            <p:cNvPicPr>
              <a:picLocks noChangeAspect="1"/>
            </p:cNvPicPr>
            <p:nvPr/>
          </p:nvPicPr>
          <p:blipFill>
            <a:blip r:embed="rId7"/>
            <a:srcRect l="15020" r="15020"/>
            <a:stretch>
              <a:fillRect/>
            </a:stretch>
          </p:blipFill>
          <p:spPr>
            <a:xfrm>
              <a:off x="781050" y="1952625"/>
              <a:ext cx="1752600" cy="1504950"/>
            </a:xfrm>
            <a:prstGeom prst="roundRect">
              <a:avLst>
                <a:gd name="adj" fmla="val 11392"/>
              </a:avLst>
            </a:prstGeom>
          </p:spPr>
        </p:pic>
        <p:sp>
          <p:nvSpPr>
            <p:cNvPr id="96" name="Rectangle 96"/>
            <p:cNvSpPr/>
            <p:nvPr/>
          </p:nvSpPr>
          <p:spPr>
            <a:xfrm>
              <a:off x="876300" y="2057400"/>
              <a:ext cx="685800" cy="25717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60858" y="2100453"/>
              <a:ext cx="516684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吠叫 5/5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743200" y="1870710"/>
              <a:ext cx="88011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2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吉娃娃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743200" y="2273618"/>
              <a:ext cx="193280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B6570"/>
                  </a:solidFill>
                  <a:latin typeface="Microsoft YaHei"/>
                  <a:ea typeface="Microsoft YaHei"/>
                  <a:cs typeface="Microsoft YaHei"/>
                </a:rPr>
                <a:t>超迷你体型 · 灵活碎片化运动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2743200" y="2619375"/>
              <a:ext cx="1409700" cy="533400"/>
            </a:xfrm>
            <a:prstGeom prst="roundRect">
              <a:avLst>
                <a:gd name="adj" fmla="val 21429"/>
              </a:avLst>
            </a:prstGeom>
            <a:solidFill>
              <a:srgbClr val="FA5041">
                <a:alpha val="10000"/>
              </a:srgbClr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2895600" y="26670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37C"/>
                  </a:solidFill>
                  <a:latin typeface="Microsoft YaHei"/>
                  <a:ea typeface="Microsoft YaHei"/>
                  <a:cs typeface="Microsoft YaHei"/>
                </a:rPr>
                <a:t>成年体重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2895600" y="2838069"/>
              <a:ext cx="866721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1.5–3 kg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286250" y="2619375"/>
              <a:ext cx="1428750" cy="533400"/>
            </a:xfrm>
            <a:prstGeom prst="roundRect">
              <a:avLst>
                <a:gd name="adj" fmla="val 21429"/>
              </a:avLst>
            </a:prstGeom>
            <a:solidFill>
              <a:srgbClr val="E7C126">
                <a:alpha val="16000"/>
              </a:srgbClr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438650" y="26670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37C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438650" y="2845879"/>
              <a:ext cx="1042321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30–45 分钟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81050" y="3614928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6002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80975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20193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222885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24384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2724150" y="36149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133725" y="3614928"/>
              <a:ext cx="2773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掉毛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35718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378142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39909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6DD8C8">
                <a:alpha val="55000"/>
              </a:srgbClr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420052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44100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695825" y="3614928"/>
              <a:ext cx="370981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2–3/5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81050" y="3957828"/>
              <a:ext cx="4107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16002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180975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20193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222885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24384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2724150" y="39578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3133725" y="3957828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健康风险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38766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408622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42957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450532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47148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5000625" y="39578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34" name="Line 134"/>
            <p:cNvSpPr/>
            <p:nvPr/>
          </p:nvSpPr>
          <p:spPr>
            <a:xfrm>
              <a:off x="781050" y="43243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9D2CA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81050" y="4426268"/>
              <a:ext cx="9195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寿命 14–16 年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2428875" y="4426268"/>
              <a:ext cx="99697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月费 ¥350–700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81050" y="4729353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重点注意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438275" y="4729353"/>
              <a:ext cx="17442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D5963"/>
                  </a:solidFill>
                  <a:latin typeface="Microsoft YaHei"/>
                  <a:ea typeface="Microsoft YaHei"/>
                  <a:cs typeface="Microsoft YaHei"/>
                </a:rPr>
                <a:t>牙病、髌骨、怕冷与脆弱骨骼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4486275" y="4686300"/>
              <a:ext cx="1285875" cy="276225"/>
            </a:xfrm>
            <a:prstGeom prst="roundRect">
              <a:avLst>
                <a:gd name="adj" fmla="val 50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4690872" y="4724400"/>
              <a:ext cx="8766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需强化安静训练</a:t>
              </a: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6210300" y="1695450"/>
            <a:ext cx="5410200" cy="3505200"/>
            <a:chOff x="6210300" y="1695450"/>
            <a:chExt cx="5410200" cy="3505200"/>
          </a:xfrm>
        </p:grpSpPr>
        <p:sp>
          <p:nvSpPr>
            <p:cNvPr id="142" name="Rectangle 142"/>
            <p:cNvSpPr/>
            <p:nvPr/>
          </p:nvSpPr>
          <p:spPr>
            <a:xfrm>
              <a:off x="6210300" y="1695450"/>
              <a:ext cx="5410200" cy="35052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6210300" y="1695450"/>
              <a:ext cx="5410200" cy="142875"/>
            </a:xfrm>
            <a:custGeom>
              <a:avLst/>
              <a:gdLst/>
              <a:ahLst/>
              <a:cxnLst/>
              <a:rect l="0" t="0" r="5410200" b="142875"/>
              <a:pathLst>
                <a:path w="5410200" h="142875">
                  <a:moveTo>
                    <a:pt x="76200" y="0"/>
                  </a:moveTo>
                  <a:lnTo>
                    <a:pt x="5334000" y="0"/>
                  </a:lnTo>
                  <a:cubicBezTo>
                    <a:pt x="5376084" y="0"/>
                    <a:pt x="5410200" y="31984"/>
                    <a:pt x="5410200" y="71438"/>
                  </a:cubicBezTo>
                  <a:lnTo>
                    <a:pt x="5410200" y="71437"/>
                  </a:lnTo>
                  <a:cubicBezTo>
                    <a:pt x="5410200" y="110891"/>
                    <a:pt x="5376084" y="142875"/>
                    <a:pt x="5334000" y="142875"/>
                  </a:cubicBezTo>
                  <a:lnTo>
                    <a:pt x="76200" y="142875"/>
                  </a:lnTo>
                  <a:cubicBezTo>
                    <a:pt x="34116" y="142875"/>
                    <a:pt x="0" y="110891"/>
                    <a:pt x="0" y="71437"/>
                  </a:cubicBezTo>
                  <a:lnTo>
                    <a:pt x="0" y="71438"/>
                  </a:lnTo>
                  <a:cubicBezTo>
                    <a:pt x="0" y="31984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9D6FC7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6419850" y="1952625"/>
              <a:ext cx="1752600" cy="1504950"/>
            </a:xfrm>
            <a:prstGeom prst="roundRect">
              <a:avLst>
                <a:gd name="adj" fmla="val 11392"/>
              </a:avLst>
            </a:prstGeom>
            <a:solidFill>
              <a:srgbClr val="E8DDD2"/>
            </a:solidFill>
            <a:ln>
              <a:noFill/>
            </a:ln>
          </p:spPr>
        </p:sp>
        <p:pic>
          <p:nvPicPr>
            <p:cNvPr id="145" name="Image 145"/>
            <p:cNvPicPr>
              <a:picLocks noChangeAspect="1"/>
            </p:cNvPicPr>
            <p:nvPr/>
          </p:nvPicPr>
          <p:blipFill>
            <a:blip r:embed="rId8"/>
            <a:srcRect l="4509" r="4509"/>
            <a:stretch>
              <a:fillRect/>
            </a:stretch>
          </p:blipFill>
          <p:spPr>
            <a:xfrm>
              <a:off x="6419850" y="1952625"/>
              <a:ext cx="1752600" cy="1504950"/>
            </a:xfrm>
            <a:prstGeom prst="roundRect">
              <a:avLst>
                <a:gd name="adj" fmla="val 11392"/>
              </a:avLst>
            </a:prstGeom>
          </p:spPr>
        </p:pic>
        <p:sp>
          <p:nvSpPr>
            <p:cNvPr id="146" name="Rectangle 146"/>
            <p:cNvSpPr/>
            <p:nvPr/>
          </p:nvSpPr>
          <p:spPr>
            <a:xfrm>
              <a:off x="6515100" y="2057400"/>
              <a:ext cx="685800" cy="257175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6599658" y="2100453"/>
              <a:ext cx="516684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掉毛 1/5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8382000" y="1870710"/>
              <a:ext cx="880110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2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约克夏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382000" y="2273618"/>
              <a:ext cx="164705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B6570"/>
                  </a:solidFill>
                  <a:latin typeface="Microsoft YaHei"/>
                  <a:ea typeface="Microsoft YaHei"/>
                  <a:cs typeface="Microsoft YaHei"/>
                </a:rPr>
                <a:t>低掉毛优势 · 高美容投入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8382000" y="2619375"/>
              <a:ext cx="1409700" cy="533400"/>
            </a:xfrm>
            <a:prstGeom prst="roundRect">
              <a:avLst>
                <a:gd name="adj" fmla="val 21429"/>
              </a:avLst>
            </a:prstGeom>
            <a:solidFill>
              <a:srgbClr val="9D6FC7">
                <a:alpha val="11000"/>
              </a:srgbClr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8534400" y="26670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37C"/>
                  </a:solidFill>
                  <a:latin typeface="Microsoft YaHei"/>
                  <a:ea typeface="Microsoft YaHei"/>
                  <a:cs typeface="Microsoft YaHei"/>
                </a:rPr>
                <a:t>成年体重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8534400" y="2838069"/>
              <a:ext cx="866721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6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2–3.5 kg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9925050" y="2619375"/>
              <a:ext cx="1428750" cy="533400"/>
            </a:xfrm>
            <a:prstGeom prst="roundRect">
              <a:avLst>
                <a:gd name="adj" fmla="val 21429"/>
              </a:avLst>
            </a:prstGeom>
            <a:solidFill>
              <a:srgbClr val="6DD8C8">
                <a:alpha val="18000"/>
              </a:srgbClr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077450" y="26670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B737C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077450" y="2845879"/>
              <a:ext cx="1042321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40–60 分钟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6419850" y="3614928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72390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744855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59" name="Rectangle 159"/>
            <p:cNvSpPr/>
            <p:nvPr/>
          </p:nvSpPr>
          <p:spPr>
            <a:xfrm>
              <a:off x="76581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786765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8077200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8362950" y="36149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772525" y="3614928"/>
              <a:ext cx="2773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吠叫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92106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942022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6297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983932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8" name="Rectangle 168"/>
            <p:cNvSpPr/>
            <p:nvPr/>
          </p:nvSpPr>
          <p:spPr>
            <a:xfrm>
              <a:off x="10048875" y="36385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0334625" y="36149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419850" y="3957828"/>
              <a:ext cx="4107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72390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744855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76581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74" name="Rectangle 174"/>
            <p:cNvSpPr/>
            <p:nvPr/>
          </p:nvSpPr>
          <p:spPr>
            <a:xfrm>
              <a:off x="786765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8077200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8362950" y="39578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8772525" y="3957828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59636D"/>
                  </a:solidFill>
                  <a:latin typeface="Microsoft YaHei"/>
                  <a:ea typeface="Microsoft YaHei"/>
                  <a:cs typeface="Microsoft YaHei"/>
                </a:rPr>
                <a:t>美容需求</a:t>
              </a:r>
            </a:p>
          </p:txBody>
        </p:sp>
        <p:sp>
          <p:nvSpPr>
            <p:cNvPr id="178" name="Rectangle 178"/>
            <p:cNvSpPr/>
            <p:nvPr/>
          </p:nvSpPr>
          <p:spPr>
            <a:xfrm>
              <a:off x="95154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972502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80" name="Rectangle 180"/>
            <p:cNvSpPr/>
            <p:nvPr/>
          </p:nvSpPr>
          <p:spPr>
            <a:xfrm>
              <a:off x="99345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1014412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10353675" y="3981450"/>
              <a:ext cx="171450" cy="114300"/>
            </a:xfrm>
            <a:prstGeom prst="roundRect">
              <a:avLst>
                <a:gd name="adj" fmla="val 50000"/>
              </a:avLst>
            </a:prstGeom>
            <a:solidFill>
              <a:srgbClr val="D9DDE2"/>
            </a:solidFill>
            <a:ln>
              <a:noFill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10639425" y="39578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84" name="Line 184"/>
            <p:cNvSpPr/>
            <p:nvPr/>
          </p:nvSpPr>
          <p:spPr>
            <a:xfrm>
              <a:off x="6419850" y="43243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D9D2CA"/>
              </a:solidFill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6419850" y="4426268"/>
              <a:ext cx="9195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寿命 11–15 年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8067675" y="4426268"/>
              <a:ext cx="112764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月费 ¥500–1,000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6419850" y="4729353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9D6FC7"/>
                  </a:solidFill>
                  <a:latin typeface="Microsoft YaHei"/>
                  <a:ea typeface="Microsoft YaHei"/>
                  <a:cs typeface="Microsoft YaHei"/>
                </a:rPr>
                <a:t>重点注意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7077075" y="4729353"/>
              <a:ext cx="16108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D5963"/>
                  </a:solidFill>
                  <a:latin typeface="Microsoft YaHei"/>
                  <a:ea typeface="Microsoft YaHei"/>
                  <a:cs typeface="Microsoft YaHei"/>
                </a:rPr>
                <a:t>长毛护理、牙科与脆弱骨骼</a:t>
              </a:r>
            </a:p>
          </p:txBody>
        </p:sp>
        <p:sp>
          <p:nvSpPr>
            <p:cNvPr id="189" name="Rectangle 189"/>
            <p:cNvSpPr/>
            <p:nvPr/>
          </p:nvSpPr>
          <p:spPr>
            <a:xfrm>
              <a:off x="10077450" y="4686300"/>
              <a:ext cx="1333500" cy="276225"/>
            </a:xfrm>
            <a:prstGeom prst="roundRect">
              <a:avLst>
                <a:gd name="adj" fmla="val 50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90" name="TextBox 190"/>
            <p:cNvSpPr txBox="1"/>
            <p:nvPr/>
          </p:nvSpPr>
          <p:spPr>
            <a:xfrm>
              <a:off x="10356684" y="4724400"/>
              <a:ext cx="7750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每 4–8 周美容</a:t>
              </a:r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571500" y="5391150"/>
            <a:ext cx="5410200" cy="800100"/>
            <a:chOff x="571500" y="5391150"/>
            <a:chExt cx="5410200" cy="800100"/>
          </a:xfrm>
        </p:grpSpPr>
        <p:sp>
          <p:nvSpPr>
            <p:cNvPr id="192" name="Rectangle 192"/>
            <p:cNvSpPr/>
            <p:nvPr/>
          </p:nvSpPr>
          <p:spPr>
            <a:xfrm>
              <a:off x="571500" y="5391150"/>
              <a:ext cx="5410200" cy="800100"/>
            </a:xfrm>
            <a:prstGeom prst="roundRect">
              <a:avLst>
                <a:gd name="adj" fmla="val 23810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733425" y="5581650"/>
              <a:ext cx="419100" cy="419100"/>
            </a:xfrm>
            <a:prstGeom prst="ellipse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94" name="Freeform 194"/>
            <p:cNvSpPr/>
            <p:nvPr/>
          </p:nvSpPr>
          <p:spPr>
            <a:xfrm>
              <a:off x="847725" y="5705475"/>
              <a:ext cx="200025" cy="161925"/>
            </a:xfrm>
            <a:custGeom>
              <a:avLst/>
              <a:gdLst/>
              <a:ahLst/>
              <a:cxnLst/>
              <a:rect l="l" t="t" r="r" b="b"/>
              <a:pathLst>
                <a:path w="200025" h="161925">
                  <a:moveTo>
                    <a:pt x="0" y="95250"/>
                  </a:moveTo>
                  <a:lnTo>
                    <a:pt x="66675" y="161925"/>
                  </a:lnTo>
                  <a:lnTo>
                    <a:pt x="200025" y="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1285875" y="5515546"/>
              <a:ext cx="498729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适合谁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1285875" y="5788342"/>
              <a:ext cx="24403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小户型、愿意长期脱敏与安静训练的人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1285875" y="5981700"/>
              <a:ext cx="167499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2505A"/>
                  </a:solidFill>
                  <a:latin typeface="Microsoft YaHei"/>
                  <a:ea typeface="Microsoft YaHei"/>
                  <a:cs typeface="Microsoft YaHei"/>
                </a:rPr>
                <a:t>对掉毛敏感 → 优先考察约克夏</a:t>
              </a:r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6210300" y="5391150"/>
            <a:ext cx="5410200" cy="800100"/>
            <a:chOff x="6210300" y="5391150"/>
            <a:chExt cx="5410200" cy="800100"/>
          </a:xfrm>
        </p:grpSpPr>
        <p:sp>
          <p:nvSpPr>
            <p:cNvPr id="199" name="Rectangle 199"/>
            <p:cNvSpPr/>
            <p:nvPr/>
          </p:nvSpPr>
          <p:spPr>
            <a:xfrm>
              <a:off x="6210300" y="5391150"/>
              <a:ext cx="5410200" cy="800100"/>
            </a:xfrm>
            <a:prstGeom prst="roundRect">
              <a:avLst>
                <a:gd name="adj" fmla="val 2381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200" name="Polygon 200"/>
            <p:cNvSpPr/>
            <p:nvPr/>
          </p:nvSpPr>
          <p:spPr>
            <a:xfrm>
              <a:off x="6343650" y="5581650"/>
              <a:ext cx="476250" cy="419100"/>
            </a:xfrm>
            <a:custGeom>
              <a:avLst/>
              <a:gdLst/>
              <a:ahLst/>
              <a:cxnLst/>
              <a:rect l="l" t="t" r="r" b="b"/>
              <a:pathLst>
                <a:path w="476250" h="419100">
                  <a:moveTo>
                    <a:pt x="238125" y="0"/>
                  </a:moveTo>
                  <a:lnTo>
                    <a:pt x="47625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1" name="TextBox 201"/>
            <p:cNvSpPr txBox="1"/>
            <p:nvPr/>
          </p:nvSpPr>
          <p:spPr>
            <a:xfrm>
              <a:off x="6534623" y="5695569"/>
              <a:ext cx="94303" cy="331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650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7000875" y="5515546"/>
              <a:ext cx="660654" cy="2510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最大坑点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7000875" y="5788342"/>
              <a:ext cx="2504301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吃得少 ≠ 总成本低，更不等于安静省心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7000875" y="5981700"/>
              <a:ext cx="19911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>
                      <a:alpha val="88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有儿童、大型犬或粗放互动者需谨慎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84" name="Group 84"/>
          <p:cNvGrpSpPr/>
          <p:nvPr/>
        </p:nvGrpSpPr>
        <p:grpSpPr>
          <a:xfrm>
            <a:off x="-635210" y="228755"/>
            <a:ext cx="12826090" cy="6630608"/>
            <a:chOff x="-635210" y="228755"/>
            <a:chExt cx="12826090" cy="6630608"/>
          </a:xfrm>
        </p:grpSpPr>
        <p:grpSp>
          <p:nvGrpSpPr>
            <p:cNvPr id="57" name="Group 57"/>
            <p:cNvGrpSpPr/>
            <p:nvPr/>
          </p:nvGrpSpPr>
          <p:grpSpPr>
            <a:xfrm>
              <a:off x="272390" y="228755"/>
              <a:ext cx="2456328" cy="2431852"/>
              <a:chOff x="272390" y="228755"/>
              <a:chExt cx="2456328" cy="243185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89640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0493" y="22875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362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62215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53068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43920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34773" y="22875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23" y="94196"/>
                      <a:pt x="93945" y="73114"/>
                      <a:pt x="93945" y="47089"/>
                    </a:cubicBezTo>
                    <a:cubicBezTo>
                      <a:pt x="93945" y="21082"/>
                      <a:pt x="72923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633214" y="2566411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33214" y="2174448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33214" y="178248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633214" y="1390522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33214" y="998542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633214" y="606579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239746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39746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39746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39746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39746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39746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846278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846278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846278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846278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46278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46278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52827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452827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52827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52827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452827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2827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59393" y="2566411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59393" y="2174448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9393" y="178248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9393" y="1390522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9393" y="998542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59393" y="606579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892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5892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892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892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5892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892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72390" y="2566411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72390" y="2174448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72390" y="1782485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72390" y="1390522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089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089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272390" y="998542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72390" y="606579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987328" y="6169838"/>
              <a:ext cx="1372886" cy="674012"/>
              <a:chOff x="4987328" y="6169838"/>
              <a:chExt cx="1372886" cy="6740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987328" y="6169838"/>
                <a:ext cx="1372877" cy="674012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4012">
                    <a:moveTo>
                      <a:pt x="1372877" y="674012"/>
                    </a:moveTo>
                    <a:cubicBezTo>
                      <a:pt x="1366525" y="300885"/>
                      <a:pt x="1062141" y="0"/>
                      <a:pt x="686657" y="0"/>
                    </a:cubicBezTo>
                    <a:cubicBezTo>
                      <a:pt x="311165" y="0"/>
                      <a:pt x="6352" y="300885"/>
                      <a:pt x="0" y="674012"/>
                    </a:cubicBezTo>
                    <a:lnTo>
                      <a:pt x="348815" y="674012"/>
                    </a:lnTo>
                    <a:cubicBezTo>
                      <a:pt x="355167" y="492858"/>
                      <a:pt x="503583" y="347569"/>
                      <a:pt x="686657" y="347569"/>
                    </a:cubicBezTo>
                    <a:cubicBezTo>
                      <a:pt x="869792" y="347569"/>
                      <a:pt x="1017993" y="492858"/>
                      <a:pt x="1024345" y="674012"/>
                    </a:cubicBezTo>
                    <a:lnTo>
                      <a:pt x="1372877" y="674012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5336770" y="5820406"/>
                <a:ext cx="674012" cy="1372877"/>
                <a:chOff x="5336015" y="5821926"/>
                <a:chExt cx="675513" cy="1369826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 flipH="1" flipV="1">
                  <a:off x="5336015" y="5821926"/>
                  <a:ext cx="675513" cy="136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7" name="Group 67"/>
            <p:cNvGrpSpPr/>
            <p:nvPr/>
          </p:nvGrpSpPr>
          <p:grpSpPr>
            <a:xfrm>
              <a:off x="7946510" y="6283262"/>
              <a:ext cx="3900333" cy="576100"/>
              <a:chOff x="7946510" y="6283262"/>
              <a:chExt cx="3900333" cy="5761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886844" y="6283279"/>
                <a:ext cx="1959999" cy="576083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083">
                    <a:moveTo>
                      <a:pt x="1959999" y="0"/>
                    </a:moveTo>
                    <a:lnTo>
                      <a:pt x="0" y="0"/>
                    </a:lnTo>
                    <a:lnTo>
                      <a:pt x="0" y="576083"/>
                    </a:lnTo>
                    <a:lnTo>
                      <a:pt x="1959999" y="576083"/>
                    </a:lnTo>
                    <a:lnTo>
                      <a:pt x="1959999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912442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946510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 rot="-5400000">
                <a:off x="9608626" y="4621146"/>
                <a:ext cx="576100" cy="3900333"/>
                <a:chOff x="9608307" y="4623312"/>
                <a:chExt cx="576741" cy="3895999"/>
              </a:xfrm>
            </p:grpSpPr>
            <p:pic>
              <p:nvPicPr>
                <p:cNvPr id="65" name="Image 65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 flipH="1">
                  <a:off x="9608307" y="4623312"/>
                  <a:ext cx="576741" cy="3895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-635210" y="5164700"/>
              <a:ext cx="1859469" cy="1694663"/>
              <a:chOff x="-635210" y="5164700"/>
              <a:chExt cx="1859469" cy="169466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-635210" y="5164700"/>
                <a:ext cx="1859469" cy="1694662"/>
              </a:xfrm>
              <a:custGeom>
                <a:avLst/>
                <a:gdLst/>
                <a:ahLst/>
                <a:cxnLst/>
                <a:rect l="l" t="t" r="r" b="b"/>
                <a:pathLst>
                  <a:path w="1859469" h="1694662">
                    <a:moveTo>
                      <a:pt x="929735" y="0"/>
                    </a:moveTo>
                    <a:cubicBezTo>
                      <a:pt x="1443162" y="0"/>
                      <a:pt x="1859469" y="416846"/>
                      <a:pt x="1859469" y="931016"/>
                    </a:cubicBezTo>
                    <a:lnTo>
                      <a:pt x="1859469" y="1694662"/>
                    </a:lnTo>
                    <a:lnTo>
                      <a:pt x="1387404" y="1694662"/>
                    </a:lnTo>
                    <a:lnTo>
                      <a:pt x="1387404" y="947391"/>
                    </a:lnTo>
                    <a:cubicBezTo>
                      <a:pt x="1387404" y="686936"/>
                      <a:pt x="1176662" y="475743"/>
                      <a:pt x="916590" y="475743"/>
                    </a:cubicBezTo>
                    <a:cubicBezTo>
                      <a:pt x="656464" y="475743"/>
                      <a:pt x="445612" y="686936"/>
                      <a:pt x="445612" y="947391"/>
                    </a:cubicBezTo>
                    <a:lnTo>
                      <a:pt x="445612" y="1694662"/>
                    </a:lnTo>
                    <a:lnTo>
                      <a:pt x="0" y="1694662"/>
                    </a:lnTo>
                    <a:lnTo>
                      <a:pt x="0" y="931016"/>
                    </a:lnTo>
                    <a:cubicBezTo>
                      <a:pt x="0" y="416846"/>
                      <a:pt x="416307" y="0"/>
                      <a:pt x="929735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-5400000">
                <a:off x="-552806" y="5082298"/>
                <a:ext cx="1694662" cy="1859469"/>
                <a:chOff x="-551625" y="5081005"/>
                <a:chExt cx="1692305" cy="1862059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 flipH="1">
                  <a:off x="-551625" y="5081005"/>
                  <a:ext cx="1692305" cy="1862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2170365" y="6093237"/>
              <a:ext cx="1720197" cy="373445"/>
              <a:chOff x="2170365" y="6093237"/>
              <a:chExt cx="1720197" cy="373445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2170365" y="6094176"/>
                <a:ext cx="1719203" cy="372506"/>
                <a:chOff x="2170365" y="6094176"/>
                <a:chExt cx="1719203" cy="372506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3437322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3015015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2592709" y="6094176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01009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28" y="372506"/>
                      </a:lnTo>
                      <a:lnTo>
                        <a:pt x="201009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2170365" y="6094176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01046" y="0"/>
                      </a:moveTo>
                      <a:lnTo>
                        <a:pt x="0" y="0"/>
                      </a:lnTo>
                      <a:lnTo>
                        <a:pt x="251256" y="372506"/>
                      </a:lnTo>
                      <a:lnTo>
                        <a:pt x="452265" y="372506"/>
                      </a:lnTo>
                      <a:lnTo>
                        <a:pt x="201046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78" name="Group 78"/>
              <p:cNvGrpSpPr/>
              <p:nvPr/>
            </p:nvGrpSpPr>
            <p:grpSpPr>
              <a:xfrm rot="-5400000">
                <a:off x="2844874" y="5419996"/>
                <a:ext cx="372447" cy="1718929"/>
                <a:chOff x="2844870" y="5420001"/>
                <a:chExt cx="372447" cy="1718929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6">
                  <a:alphaModFix amt="20000"/>
                </a:blip>
                <a:stretch>
                  <a:fillRect/>
                </a:stretch>
              </p:blipFill>
              <p:spPr>
                <a:xfrm flipH="1">
                  <a:off x="2844870" y="5420001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 rot="5400000">
              <a:off x="11167432" y="3272650"/>
              <a:ext cx="1372885" cy="674012"/>
              <a:chOff x="7673626" y="189976"/>
              <a:chExt cx="1525428" cy="75057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81" name="Image 81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8" name="Group 88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85" name="Rectangle 85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86" name="Image 86"/>
              <p:cNvPicPr>
                <a:picLocks noChangeAspect="1"/>
              </p:cNvPicPr>
              <p:nvPr/>
            </p:nvPicPr>
            <p:blipFill>
              <a:blip r:embed="rId7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91" name="Group 91"/>
          <p:cNvGrpSpPr/>
          <p:nvPr/>
        </p:nvGrpSpPr>
        <p:grpSpPr>
          <a:xfrm>
            <a:off x="551850" y="396154"/>
            <a:ext cx="11088300" cy="987904"/>
            <a:chOff x="551850" y="396154"/>
            <a:chExt cx="11088300" cy="987904"/>
          </a:xfrm>
        </p:grpSpPr>
        <p:sp>
          <p:nvSpPr>
            <p:cNvPr id="89" name="Rectangle 89"/>
            <p:cNvSpPr/>
            <p:nvPr/>
          </p:nvSpPr>
          <p:spPr>
            <a:xfrm>
              <a:off x="551850" y="396154"/>
              <a:ext cx="11088300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152529" y="468516"/>
              <a:ext cx="74752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白色陪伴犬：低掉毛，高维护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85800" y="1657350"/>
            <a:ext cx="5257800" cy="3676650"/>
            <a:chOff x="685800" y="1657350"/>
            <a:chExt cx="5257800" cy="3676650"/>
          </a:xfrm>
        </p:grpSpPr>
        <p:sp>
          <p:nvSpPr>
            <p:cNvPr id="92" name="Rectangle 92"/>
            <p:cNvSpPr/>
            <p:nvPr/>
          </p:nvSpPr>
          <p:spPr>
            <a:xfrm>
              <a:off x="685800" y="1657350"/>
              <a:ext cx="52578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85800" y="1657350"/>
              <a:ext cx="133350" cy="3676650"/>
            </a:xfrm>
            <a:prstGeom prst="rect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895350" y="1847850"/>
              <a:ext cx="1809750" cy="1447800"/>
            </a:xfrm>
            <a:prstGeom prst="rect">
              <a:avLst/>
            </a:prstGeom>
            <a:solidFill>
              <a:srgbClr val="DDF5F8"/>
            </a:solidFill>
            <a:ln>
              <a:noFill/>
            </a:ln>
          </p:spPr>
        </p:sp>
        <p:pic>
          <p:nvPicPr>
            <p:cNvPr id="95" name="Image 95"/>
            <p:cNvPicPr>
              <a:picLocks noChangeAspect="1"/>
            </p:cNvPicPr>
            <p:nvPr/>
          </p:nvPicPr>
          <p:blipFill>
            <a:blip r:embed="rId8"/>
            <a:srcRect l="8333" r="8333"/>
            <a:stretch>
              <a:fillRect/>
            </a:stretch>
          </p:blipFill>
          <p:spPr>
            <a:xfrm>
              <a:off x="895350" y="1847850"/>
              <a:ext cx="1809750" cy="1447800"/>
            </a:xfrm>
            <a:prstGeom prst="rect">
              <a:avLst/>
            </a:prstGeom>
          </p:spPr>
        </p:pic>
        <p:sp>
          <p:nvSpPr>
            <p:cNvPr id="96" name="Rectangle 96"/>
            <p:cNvSpPr/>
            <p:nvPr/>
          </p:nvSpPr>
          <p:spPr>
            <a:xfrm>
              <a:off x="895350" y="3086100"/>
              <a:ext cx="1809750" cy="209550"/>
            </a:xfrm>
            <a:prstGeom prst="rect">
              <a:avLst/>
            </a:prstGeom>
            <a:solidFill>
              <a:srgbClr val="021324">
                <a:alpha val="82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181802" y="3086100"/>
              <a:ext cx="123684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轻巧 · 温柔 · 低掉毛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914650" y="1811846"/>
              <a:ext cx="1126998" cy="4316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1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马尔济斯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2914650" y="2209800"/>
              <a:ext cx="876300" cy="266700"/>
            </a:xfrm>
            <a:prstGeom prst="rect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122875" y="2254568"/>
              <a:ext cx="45984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2–4 kg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886200" y="2209800"/>
              <a:ext cx="1219200" cy="26670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4036010" y="2254568"/>
              <a:ext cx="9195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寿命 12–15 年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914650" y="2559368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4021163" y="2535936"/>
              <a:ext cx="893737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30–60 分钟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2914650" y="280987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8D2CB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914650" y="2911792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基础月费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4133082" y="2888361"/>
              <a:ext cx="972318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350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¥500–1,000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895350" y="34861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rgbClr val="021324">
                  <a:alpha val="18000"/>
                </a:srgbClr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9535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9519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26743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209550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239534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掉毛程度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246758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58C1DD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29565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59549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吠叫倾向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366773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9D6FC7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495800" y="3657600"/>
              <a:ext cx="123825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924234" y="3705225"/>
              <a:ext cx="3813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4934563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6DD8C8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895350" y="4400550"/>
              <a:ext cx="4838700" cy="742950"/>
            </a:xfrm>
            <a:prstGeom prst="rect">
              <a:avLst/>
            </a:prstGeom>
            <a:solidFill>
              <a:srgbClr val="58C1DD">
                <a:alpha val="12000"/>
              </a:srgbClr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95350" y="4400550"/>
              <a:ext cx="76200" cy="742950"/>
            </a:xfrm>
            <a:prstGeom prst="rect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1104900" y="4492942"/>
              <a:ext cx="155358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护理账单｜美容需求 5/5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04900" y="4738878"/>
              <a:ext cx="21442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A5662"/>
                  </a:solidFill>
                  <a:latin typeface="Microsoft YaHei"/>
                  <a:ea typeface="Microsoft YaHei"/>
                  <a:cs typeface="Microsoft YaHei"/>
                </a:rPr>
                <a:t>长毛、泪痕与口腔护理需要持续投入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04900" y="4938903"/>
              <a:ext cx="21442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A5662"/>
                  </a:solidFill>
                  <a:latin typeface="Microsoft YaHei"/>
                  <a:ea typeface="Microsoft YaHei"/>
                  <a:cs typeface="Microsoft YaHei"/>
                </a:rPr>
                <a:t>陪伴需求较强，午间真人照护不能省</a:t>
              </a:r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6248400" y="1657350"/>
            <a:ext cx="5257800" cy="3676650"/>
            <a:chOff x="6248400" y="1657350"/>
            <a:chExt cx="5257800" cy="3676650"/>
          </a:xfrm>
        </p:grpSpPr>
        <p:sp>
          <p:nvSpPr>
            <p:cNvPr id="127" name="Rectangle 127"/>
            <p:cNvSpPr/>
            <p:nvPr/>
          </p:nvSpPr>
          <p:spPr>
            <a:xfrm>
              <a:off x="6248400" y="1657350"/>
              <a:ext cx="52578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11372850" y="1657350"/>
              <a:ext cx="133350" cy="3676650"/>
            </a:xfrm>
            <a:prstGeom prst="rect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6457950" y="1847850"/>
              <a:ext cx="1809750" cy="1447800"/>
            </a:xfrm>
            <a:prstGeom prst="rect">
              <a:avLst/>
            </a:prstGeom>
            <a:solidFill>
              <a:srgbClr val="EEE4F5"/>
            </a:solidFill>
            <a:ln>
              <a:noFill/>
            </a:ln>
          </p:spPr>
        </p:sp>
        <p:pic>
          <p:nvPicPr>
            <p:cNvPr id="130" name="Image 130"/>
            <p:cNvPicPr>
              <a:picLocks noChangeAspect="1"/>
            </p:cNvPicPr>
            <p:nvPr/>
          </p:nvPicPr>
          <p:blipFill>
            <a:blip r:embed="rId9"/>
            <a:srcRect t="10000" b="10000"/>
            <a:stretch>
              <a:fillRect/>
            </a:stretch>
          </p:blipFill>
          <p:spPr>
            <a:xfrm>
              <a:off x="6457950" y="1847850"/>
              <a:ext cx="1809750" cy="1447800"/>
            </a:xfrm>
            <a:prstGeom prst="rect">
              <a:avLst/>
            </a:prstGeom>
          </p:spPr>
        </p:pic>
        <p:sp>
          <p:nvSpPr>
            <p:cNvPr id="131" name="Rectangle 131"/>
            <p:cNvSpPr/>
            <p:nvPr/>
          </p:nvSpPr>
          <p:spPr>
            <a:xfrm>
              <a:off x="6457950" y="3086100"/>
              <a:ext cx="1809750" cy="209550"/>
            </a:xfrm>
            <a:prstGeom prst="rect">
              <a:avLst/>
            </a:prstGeom>
            <a:solidFill>
              <a:srgbClr val="021324">
                <a:alpha val="82000"/>
              </a:srgbClr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744402" y="3086100"/>
              <a:ext cx="1236845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活泼 · 亲人 · 低掉毛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477250" y="1811846"/>
              <a:ext cx="850773" cy="4316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21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比熊犬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8477250" y="2209800"/>
              <a:ext cx="876300" cy="266700"/>
            </a:xfrm>
            <a:prstGeom prst="rect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8685475" y="2254568"/>
              <a:ext cx="45984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5–8 kg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9448800" y="2209800"/>
              <a:ext cx="1219200" cy="26670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598610" y="2254568"/>
              <a:ext cx="9195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寿命 14–15 年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8477250" y="2559368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9774263" y="2535936"/>
              <a:ext cx="893737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45–60 分钟</a:t>
              </a:r>
            </a:p>
          </p:txBody>
        </p:sp>
        <p:sp>
          <p:nvSpPr>
            <p:cNvPr id="140" name="Line 140"/>
            <p:cNvSpPr/>
            <p:nvPr/>
          </p:nvSpPr>
          <p:spPr>
            <a:xfrm>
              <a:off x="8477250" y="2809875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8D2CB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8477250" y="2911792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基础月费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9695682" y="2888361"/>
              <a:ext cx="972318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350" b="1" dirty="0">
                  <a:solidFill>
                    <a:srgbClr val="FA5041"/>
                  </a:solidFill>
                  <a:latin typeface="Microsoft YaHei"/>
                  <a:ea typeface="Microsoft YaHei"/>
                  <a:cs typeface="Microsoft YaHei"/>
                </a:rPr>
                <a:t>¥600–1,200</a:t>
              </a:r>
            </a:p>
          </p:txBody>
        </p:sp>
        <p:sp>
          <p:nvSpPr>
            <p:cNvPr id="143" name="Line 143"/>
            <p:cNvSpPr/>
            <p:nvPr/>
          </p:nvSpPr>
          <p:spPr>
            <a:xfrm>
              <a:off x="6457950" y="34861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rgbClr val="021324">
                  <a:alpha val="18000"/>
                </a:srgbClr>
              </a:solidFill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645795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675779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683003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765810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95794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掉毛程度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03018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58C1DD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8858250" y="3657600"/>
              <a:ext cx="110490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158097" y="37052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吠叫倾向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230338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9D6FC7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10058400" y="3657600"/>
              <a:ext cx="1238250" cy="590550"/>
            </a:xfrm>
            <a:prstGeom prst="rect">
              <a:avLst/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486834" y="3705225"/>
              <a:ext cx="3813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5A6672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497163" y="3906584"/>
              <a:ext cx="360724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725" b="1" dirty="0">
                  <a:solidFill>
                    <a:srgbClr val="6DD8C8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6457950" y="4400550"/>
              <a:ext cx="4838700" cy="742950"/>
            </a:xfrm>
            <a:prstGeom prst="rect">
              <a:avLst/>
            </a:prstGeom>
            <a:solidFill>
              <a:srgbClr val="9D6FC7">
                <a:alpha val="12000"/>
              </a:srgbClr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11220450" y="4400550"/>
              <a:ext cx="76200" cy="742950"/>
            </a:xfrm>
            <a:prstGeom prst="rect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667500" y="4492942"/>
              <a:ext cx="1553587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护理账单｜美容需求 5/5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667500" y="4738878"/>
              <a:ext cx="2023420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A5662"/>
                  </a:solidFill>
                  <a:latin typeface="Microsoft YaHei"/>
                  <a:ea typeface="Microsoft YaHei"/>
                  <a:cs typeface="Microsoft YaHei"/>
                </a:rPr>
                <a:t>建议每日梳毛，每 4–6 周专业美容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6667500" y="4938903"/>
              <a:ext cx="22776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4A5662"/>
                  </a:solidFill>
                  <a:latin typeface="Microsoft YaHei"/>
                  <a:ea typeface="Microsoft YaHei"/>
                  <a:cs typeface="Microsoft YaHei"/>
                </a:rPr>
                <a:t>长期独处易焦虑、吠叫或出现破坏行为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85800" y="5514975"/>
            <a:ext cx="10820400" cy="647700"/>
            <a:chOff x="685800" y="5514975"/>
            <a:chExt cx="10820400" cy="647700"/>
          </a:xfrm>
        </p:grpSpPr>
        <p:sp>
          <p:nvSpPr>
            <p:cNvPr id="162" name="Rectangle 162"/>
            <p:cNvSpPr/>
            <p:nvPr/>
          </p:nvSpPr>
          <p:spPr>
            <a:xfrm>
              <a:off x="685800" y="5514975"/>
              <a:ext cx="10820400" cy="647700"/>
            </a:xfrm>
            <a:prstGeom prst="rect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685800" y="5514975"/>
              <a:ext cx="1657350" cy="64770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1051179" y="5628132"/>
              <a:ext cx="92659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共同适配前提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952161" y="5848350"/>
              <a:ext cx="112462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午间照护 + 稳定陪伴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2571750" y="5602986"/>
              <a:ext cx="129185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低掉毛 ≠ 低维护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2571750" y="5872353"/>
              <a:ext cx="5068443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dirty="0">
                  <a:solidFill>
                    <a:srgbClr val="DCE4EA"/>
                  </a:solidFill>
                  <a:latin typeface="Microsoft YaHei"/>
                  <a:ea typeface="Microsoft YaHei"/>
                  <a:cs typeface="Microsoft YaHei"/>
                </a:rPr>
                <a:t>两者美容均为 5/5；散步不能完全替代互动，连续离家 10–12 小时必须安排真人照护。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10191750" y="5638800"/>
              <a:ext cx="1104900" cy="381000"/>
            </a:xfrm>
            <a:prstGeom prst="rect">
              <a:avLst/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0491746" y="5648325"/>
              <a:ext cx="50490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996 结论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0429684" y="5819775"/>
              <a:ext cx="6290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有条件适合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84" name="Group 84"/>
          <p:cNvGrpSpPr/>
          <p:nvPr/>
        </p:nvGrpSpPr>
        <p:grpSpPr>
          <a:xfrm>
            <a:off x="-635210" y="228755"/>
            <a:ext cx="12826090" cy="6630608"/>
            <a:chOff x="-635210" y="228755"/>
            <a:chExt cx="12826090" cy="6630608"/>
          </a:xfrm>
        </p:grpSpPr>
        <p:grpSp>
          <p:nvGrpSpPr>
            <p:cNvPr id="57" name="Group 57"/>
            <p:cNvGrpSpPr/>
            <p:nvPr/>
          </p:nvGrpSpPr>
          <p:grpSpPr>
            <a:xfrm>
              <a:off x="272390" y="228755"/>
              <a:ext cx="2456328" cy="2431852"/>
              <a:chOff x="272390" y="228755"/>
              <a:chExt cx="2456328" cy="243185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89640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0493" y="22875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1362" y="22875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56" y="94196"/>
                    </a:cubicBez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62215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22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22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53068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43920" y="22875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634773" y="22875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0" y="47089"/>
                    </a:moveTo>
                    <a:cubicBezTo>
                      <a:pt x="0" y="73114"/>
                      <a:pt x="21039" y="94196"/>
                      <a:pt x="46973" y="94196"/>
                    </a:cubicBezTo>
                    <a:cubicBezTo>
                      <a:pt x="72923" y="94196"/>
                      <a:pt x="93945" y="73114"/>
                      <a:pt x="93945" y="47089"/>
                    </a:cubicBezTo>
                    <a:cubicBezTo>
                      <a:pt x="93945" y="21082"/>
                      <a:pt x="72923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633214" y="2566411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33214" y="2174448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633214" y="1782485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106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633214" y="1390522"/>
                <a:ext cx="9392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196">
                    <a:moveTo>
                      <a:pt x="46973" y="94196"/>
                    </a:moveTo>
                    <a:cubicBezTo>
                      <a:pt x="72907" y="94196"/>
                      <a:pt x="93929" y="73114"/>
                      <a:pt x="93929" y="47089"/>
                    </a:cubicBezTo>
                    <a:cubicBezTo>
                      <a:pt x="93929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633214" y="998542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633214" y="606579"/>
                <a:ext cx="9392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4212">
                    <a:moveTo>
                      <a:pt x="46973" y="94212"/>
                    </a:moveTo>
                    <a:cubicBezTo>
                      <a:pt x="72907" y="94212"/>
                      <a:pt x="93929" y="73114"/>
                      <a:pt x="93929" y="47106"/>
                    </a:cubicBezTo>
                    <a:cubicBezTo>
                      <a:pt x="93929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239746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39746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39746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39746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39746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39746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846278" y="2566411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846278" y="2174448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846278" y="1782485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106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106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846278" y="1390522"/>
                <a:ext cx="9394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196">
                    <a:moveTo>
                      <a:pt x="46973" y="94196"/>
                    </a:moveTo>
                    <a:cubicBezTo>
                      <a:pt x="72907" y="94196"/>
                      <a:pt x="93945" y="73114"/>
                      <a:pt x="93945" y="47089"/>
                    </a:cubicBezTo>
                    <a:cubicBezTo>
                      <a:pt x="93945" y="21082"/>
                      <a:pt x="72907" y="0"/>
                      <a:pt x="46973" y="0"/>
                    </a:cubicBezTo>
                    <a:cubicBezTo>
                      <a:pt x="21039" y="0"/>
                      <a:pt x="0" y="21082"/>
                      <a:pt x="0" y="47089"/>
                    </a:cubicBezTo>
                    <a:cubicBezTo>
                      <a:pt x="0" y="73114"/>
                      <a:pt x="21039" y="94196"/>
                      <a:pt x="4697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46278" y="998542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46278" y="606579"/>
                <a:ext cx="9394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4212">
                    <a:moveTo>
                      <a:pt x="46973" y="94212"/>
                    </a:moveTo>
                    <a:cubicBezTo>
                      <a:pt x="72907" y="94212"/>
                      <a:pt x="93945" y="73114"/>
                      <a:pt x="93945" y="47106"/>
                    </a:cubicBezTo>
                    <a:cubicBezTo>
                      <a:pt x="93945" y="21099"/>
                      <a:pt x="72907" y="0"/>
                      <a:pt x="46973" y="0"/>
                    </a:cubicBezTo>
                    <a:cubicBezTo>
                      <a:pt x="21039" y="0"/>
                      <a:pt x="0" y="21099"/>
                      <a:pt x="0" y="47106"/>
                    </a:cubicBezTo>
                    <a:cubicBezTo>
                      <a:pt x="0" y="73114"/>
                      <a:pt x="21039" y="94212"/>
                      <a:pt x="4697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452827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452827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452827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452827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452827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452827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59393" y="2566411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59393" y="2174448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59393" y="1782485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106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9393" y="1390522"/>
                <a:ext cx="93895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196">
                    <a:moveTo>
                      <a:pt x="46956" y="94196"/>
                    </a:moveTo>
                    <a:cubicBezTo>
                      <a:pt x="72890" y="94196"/>
                      <a:pt x="93895" y="73114"/>
                      <a:pt x="93895" y="47089"/>
                    </a:cubicBezTo>
                    <a:cubicBezTo>
                      <a:pt x="93895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59393" y="998542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59393" y="606579"/>
                <a:ext cx="93895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4212">
                    <a:moveTo>
                      <a:pt x="46956" y="94212"/>
                    </a:moveTo>
                    <a:cubicBezTo>
                      <a:pt x="72890" y="94212"/>
                      <a:pt x="93895" y="73114"/>
                      <a:pt x="93895" y="47106"/>
                    </a:cubicBezTo>
                    <a:cubicBezTo>
                      <a:pt x="93895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5892" y="2566411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5892" y="2174448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892" y="1782485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106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106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5892" y="1390522"/>
                <a:ext cx="93912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196">
                    <a:moveTo>
                      <a:pt x="46956" y="94196"/>
                    </a:moveTo>
                    <a:cubicBezTo>
                      <a:pt x="72890" y="94196"/>
                      <a:pt x="93912" y="73114"/>
                      <a:pt x="93912" y="47089"/>
                    </a:cubicBezTo>
                    <a:cubicBezTo>
                      <a:pt x="93912" y="21082"/>
                      <a:pt x="72890" y="0"/>
                      <a:pt x="46956" y="0"/>
                    </a:cubicBezTo>
                    <a:cubicBezTo>
                      <a:pt x="21022" y="0"/>
                      <a:pt x="0" y="21082"/>
                      <a:pt x="0" y="47089"/>
                    </a:cubicBezTo>
                    <a:cubicBezTo>
                      <a:pt x="0" y="73114"/>
                      <a:pt x="21022" y="94196"/>
                      <a:pt x="46956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5892" y="998542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892" y="606579"/>
                <a:ext cx="93912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4212">
                    <a:moveTo>
                      <a:pt x="46956" y="94212"/>
                    </a:moveTo>
                    <a:cubicBezTo>
                      <a:pt x="72890" y="94212"/>
                      <a:pt x="93912" y="73114"/>
                      <a:pt x="93912" y="47106"/>
                    </a:cubicBezTo>
                    <a:cubicBezTo>
                      <a:pt x="93912" y="21099"/>
                      <a:pt x="72890" y="0"/>
                      <a:pt x="46956" y="0"/>
                    </a:cubicBezTo>
                    <a:cubicBezTo>
                      <a:pt x="21022" y="0"/>
                      <a:pt x="0" y="21099"/>
                      <a:pt x="0" y="47106"/>
                    </a:cubicBezTo>
                    <a:cubicBezTo>
                      <a:pt x="0" y="73114"/>
                      <a:pt x="21022" y="94212"/>
                      <a:pt x="46956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72390" y="2566411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72390" y="2174448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72390" y="1782485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106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106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72390" y="1390522"/>
                <a:ext cx="93979" cy="94196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196">
                    <a:moveTo>
                      <a:pt x="47023" y="94196"/>
                    </a:moveTo>
                    <a:cubicBezTo>
                      <a:pt x="72957" y="94196"/>
                      <a:pt x="93979" y="73114"/>
                      <a:pt x="93979" y="47089"/>
                    </a:cubicBezTo>
                    <a:cubicBezTo>
                      <a:pt x="93979" y="21082"/>
                      <a:pt x="72957" y="0"/>
                      <a:pt x="47023" y="0"/>
                    </a:cubicBezTo>
                    <a:cubicBezTo>
                      <a:pt x="21089" y="0"/>
                      <a:pt x="0" y="21082"/>
                      <a:pt x="0" y="47089"/>
                    </a:cubicBezTo>
                    <a:cubicBezTo>
                      <a:pt x="0" y="73114"/>
                      <a:pt x="21089" y="94196"/>
                      <a:pt x="47023" y="941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272390" y="998542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72390" y="606579"/>
                <a:ext cx="93979" cy="94212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4212">
                    <a:moveTo>
                      <a:pt x="47023" y="94212"/>
                    </a:moveTo>
                    <a:cubicBezTo>
                      <a:pt x="72957" y="94212"/>
                      <a:pt x="93979" y="73114"/>
                      <a:pt x="93979" y="47106"/>
                    </a:cubicBezTo>
                    <a:cubicBezTo>
                      <a:pt x="93979" y="21099"/>
                      <a:pt x="72957" y="0"/>
                      <a:pt x="47023" y="0"/>
                    </a:cubicBezTo>
                    <a:cubicBezTo>
                      <a:pt x="21089" y="0"/>
                      <a:pt x="0" y="21099"/>
                      <a:pt x="0" y="47106"/>
                    </a:cubicBezTo>
                    <a:cubicBezTo>
                      <a:pt x="0" y="73114"/>
                      <a:pt x="21089" y="94212"/>
                      <a:pt x="47023" y="942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987328" y="6169838"/>
              <a:ext cx="1372886" cy="674012"/>
              <a:chOff x="4987328" y="6169838"/>
              <a:chExt cx="1372886" cy="67401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4987328" y="6169838"/>
                <a:ext cx="1372877" cy="674012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4012">
                    <a:moveTo>
                      <a:pt x="1372877" y="674012"/>
                    </a:moveTo>
                    <a:cubicBezTo>
                      <a:pt x="1366525" y="300885"/>
                      <a:pt x="1062141" y="0"/>
                      <a:pt x="686657" y="0"/>
                    </a:cubicBezTo>
                    <a:cubicBezTo>
                      <a:pt x="311165" y="0"/>
                      <a:pt x="6352" y="300885"/>
                      <a:pt x="0" y="674012"/>
                    </a:cubicBezTo>
                    <a:lnTo>
                      <a:pt x="348815" y="674012"/>
                    </a:lnTo>
                    <a:cubicBezTo>
                      <a:pt x="355167" y="492858"/>
                      <a:pt x="503583" y="347569"/>
                      <a:pt x="686657" y="347569"/>
                    </a:cubicBezTo>
                    <a:cubicBezTo>
                      <a:pt x="869792" y="347569"/>
                      <a:pt x="1017993" y="492858"/>
                      <a:pt x="1024345" y="674012"/>
                    </a:cubicBezTo>
                    <a:lnTo>
                      <a:pt x="1372877" y="674012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5336770" y="5820406"/>
                <a:ext cx="674012" cy="1372877"/>
                <a:chOff x="5336015" y="5821926"/>
                <a:chExt cx="675513" cy="1369826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 flipH="1" flipV="1">
                  <a:off x="5336015" y="5821926"/>
                  <a:ext cx="675513" cy="136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7" name="Group 67"/>
            <p:cNvGrpSpPr/>
            <p:nvPr/>
          </p:nvGrpSpPr>
          <p:grpSpPr>
            <a:xfrm>
              <a:off x="7946510" y="6283262"/>
              <a:ext cx="3900333" cy="576100"/>
              <a:chOff x="7946510" y="6283262"/>
              <a:chExt cx="3900333" cy="5761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9886844" y="6283279"/>
                <a:ext cx="1959999" cy="576083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083">
                    <a:moveTo>
                      <a:pt x="1959999" y="0"/>
                    </a:moveTo>
                    <a:lnTo>
                      <a:pt x="0" y="0"/>
                    </a:lnTo>
                    <a:lnTo>
                      <a:pt x="0" y="576083"/>
                    </a:lnTo>
                    <a:lnTo>
                      <a:pt x="1959999" y="576083"/>
                    </a:lnTo>
                    <a:lnTo>
                      <a:pt x="1959999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912442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946510" y="6283262"/>
                <a:ext cx="666143" cy="576100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100">
                    <a:moveTo>
                      <a:pt x="666143" y="0"/>
                    </a:moveTo>
                    <a:lnTo>
                      <a:pt x="0" y="0"/>
                    </a:lnTo>
                    <a:lnTo>
                      <a:pt x="0" y="576100"/>
                    </a:lnTo>
                    <a:lnTo>
                      <a:pt x="666143" y="576100"/>
                    </a:lnTo>
                    <a:lnTo>
                      <a:pt x="666143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 rot="-5400000">
                <a:off x="9608626" y="4621146"/>
                <a:ext cx="576100" cy="3900333"/>
                <a:chOff x="9608307" y="4623312"/>
                <a:chExt cx="576741" cy="3895999"/>
              </a:xfrm>
            </p:grpSpPr>
            <p:pic>
              <p:nvPicPr>
                <p:cNvPr id="65" name="Image 65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 flipH="1">
                  <a:off x="9608307" y="4623312"/>
                  <a:ext cx="576741" cy="3895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-635210" y="5164700"/>
              <a:ext cx="1859469" cy="1694663"/>
              <a:chOff x="-635210" y="5164700"/>
              <a:chExt cx="1859469" cy="169466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-635210" y="5164700"/>
                <a:ext cx="1859469" cy="1694662"/>
              </a:xfrm>
              <a:custGeom>
                <a:avLst/>
                <a:gdLst/>
                <a:ahLst/>
                <a:cxnLst/>
                <a:rect l="l" t="t" r="r" b="b"/>
                <a:pathLst>
                  <a:path w="1859469" h="1694662">
                    <a:moveTo>
                      <a:pt x="929735" y="0"/>
                    </a:moveTo>
                    <a:cubicBezTo>
                      <a:pt x="1443162" y="0"/>
                      <a:pt x="1859469" y="416846"/>
                      <a:pt x="1859469" y="931016"/>
                    </a:cubicBezTo>
                    <a:lnTo>
                      <a:pt x="1859469" y="1694662"/>
                    </a:lnTo>
                    <a:lnTo>
                      <a:pt x="1387404" y="1694662"/>
                    </a:lnTo>
                    <a:lnTo>
                      <a:pt x="1387404" y="947391"/>
                    </a:lnTo>
                    <a:cubicBezTo>
                      <a:pt x="1387404" y="686936"/>
                      <a:pt x="1176662" y="475743"/>
                      <a:pt x="916590" y="475743"/>
                    </a:cubicBezTo>
                    <a:cubicBezTo>
                      <a:pt x="656464" y="475743"/>
                      <a:pt x="445612" y="686936"/>
                      <a:pt x="445612" y="947391"/>
                    </a:cubicBezTo>
                    <a:lnTo>
                      <a:pt x="445612" y="1694662"/>
                    </a:lnTo>
                    <a:lnTo>
                      <a:pt x="0" y="1694662"/>
                    </a:lnTo>
                    <a:lnTo>
                      <a:pt x="0" y="931016"/>
                    </a:lnTo>
                    <a:cubicBezTo>
                      <a:pt x="0" y="416846"/>
                      <a:pt x="416307" y="0"/>
                      <a:pt x="929735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-5400000">
                <a:off x="-552806" y="5082298"/>
                <a:ext cx="1694662" cy="1859469"/>
                <a:chOff x="-551625" y="5081005"/>
                <a:chExt cx="1692305" cy="1862059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 flipH="1">
                  <a:off x="-551625" y="5081005"/>
                  <a:ext cx="1692305" cy="1862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2170365" y="6093237"/>
              <a:ext cx="1720197" cy="373445"/>
              <a:chOff x="2170365" y="6093237"/>
              <a:chExt cx="1720197" cy="373445"/>
            </a:xfrm>
          </p:grpSpPr>
          <p:grpSp>
            <p:nvGrpSpPr>
              <p:cNvPr id="76" name="Group 76"/>
              <p:cNvGrpSpPr/>
              <p:nvPr/>
            </p:nvGrpSpPr>
            <p:grpSpPr>
              <a:xfrm>
                <a:off x="2170365" y="6094176"/>
                <a:ext cx="1719203" cy="372506"/>
                <a:chOff x="2170365" y="6094176"/>
                <a:chExt cx="1719203" cy="372506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3437322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3015015" y="6094176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01027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46" y="372506"/>
                      </a:lnTo>
                      <a:lnTo>
                        <a:pt x="20102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2592709" y="6094176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01009" y="0"/>
                      </a:moveTo>
                      <a:lnTo>
                        <a:pt x="0" y="0"/>
                      </a:lnTo>
                      <a:lnTo>
                        <a:pt x="251219" y="372506"/>
                      </a:lnTo>
                      <a:lnTo>
                        <a:pt x="452228" y="372506"/>
                      </a:lnTo>
                      <a:lnTo>
                        <a:pt x="201009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2170365" y="6094176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01046" y="0"/>
                      </a:moveTo>
                      <a:lnTo>
                        <a:pt x="0" y="0"/>
                      </a:lnTo>
                      <a:lnTo>
                        <a:pt x="251256" y="372506"/>
                      </a:lnTo>
                      <a:lnTo>
                        <a:pt x="452265" y="372506"/>
                      </a:lnTo>
                      <a:lnTo>
                        <a:pt x="201046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78" name="Group 78"/>
              <p:cNvGrpSpPr/>
              <p:nvPr/>
            </p:nvGrpSpPr>
            <p:grpSpPr>
              <a:xfrm rot="-5400000">
                <a:off x="2844874" y="5419996"/>
                <a:ext cx="372447" cy="1718929"/>
                <a:chOff x="2844870" y="5420001"/>
                <a:chExt cx="372447" cy="1718929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6">
                  <a:alphaModFix amt="20000"/>
                </a:blip>
                <a:stretch>
                  <a:fillRect/>
                </a:stretch>
              </p:blipFill>
              <p:spPr>
                <a:xfrm flipH="1">
                  <a:off x="2844870" y="5420001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 rot="5400000">
              <a:off x="11167432" y="3272650"/>
              <a:ext cx="1372885" cy="674012"/>
              <a:chOff x="7673626" y="189976"/>
              <a:chExt cx="1525428" cy="75057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81" name="Image 81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8" name="Group 88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85" name="Rectangle 85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86" name="Image 86"/>
              <p:cNvPicPr>
                <a:picLocks noChangeAspect="1"/>
              </p:cNvPicPr>
              <p:nvPr/>
            </p:nvPicPr>
            <p:blipFill>
              <a:blip r:embed="rId7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91" name="Group 91"/>
          <p:cNvGrpSpPr/>
          <p:nvPr/>
        </p:nvGrpSpPr>
        <p:grpSpPr>
          <a:xfrm>
            <a:off x="551850" y="396154"/>
            <a:ext cx="12218899" cy="987904"/>
            <a:chOff x="551850" y="396154"/>
            <a:chExt cx="12218899" cy="987904"/>
          </a:xfrm>
        </p:grpSpPr>
        <p:sp>
          <p:nvSpPr>
            <p:cNvPr id="89" name="Rectangle 89"/>
            <p:cNvSpPr/>
            <p:nvPr/>
          </p:nvSpPr>
          <p:spPr>
            <a:xfrm>
              <a:off x="551850" y="396154"/>
              <a:ext cx="11088300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152529" y="468516"/>
              <a:ext cx="86182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聪明训练组：好教，但不会自动乖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666750" y="1714500"/>
            <a:ext cx="5286375" cy="3581400"/>
            <a:chOff x="666750" y="1714500"/>
            <a:chExt cx="5286375" cy="3581400"/>
          </a:xfrm>
        </p:grpSpPr>
        <p:sp>
          <p:nvSpPr>
            <p:cNvPr id="92" name="Rectangle 92"/>
            <p:cNvSpPr/>
            <p:nvPr/>
          </p:nvSpPr>
          <p:spPr>
            <a:xfrm>
              <a:off x="666750" y="1714500"/>
              <a:ext cx="5286375" cy="3581400"/>
            </a:xfrm>
            <a:prstGeom prst="roundRect">
              <a:avLst>
                <a:gd name="adj" fmla="val 5851"/>
              </a:avLst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66750" y="1714500"/>
              <a:ext cx="5286375" cy="400050"/>
            </a:xfrm>
            <a:custGeom>
              <a:avLst/>
              <a:gdLst/>
              <a:ahLst/>
              <a:cxnLst/>
              <a:rect l="0" t="0" r="5286375" b="400050"/>
              <a:pathLst>
                <a:path w="5286375" h="400050">
                  <a:moveTo>
                    <a:pt x="209550" y="0"/>
                  </a:moveTo>
                  <a:lnTo>
                    <a:pt x="5076825" y="0"/>
                  </a:lnTo>
                  <a:cubicBezTo>
                    <a:pt x="5192556" y="0"/>
                    <a:pt x="5286375" y="89554"/>
                    <a:pt x="5286375" y="200025"/>
                  </a:cubicBezTo>
                  <a:lnTo>
                    <a:pt x="5286375" y="200025"/>
                  </a:lnTo>
                  <a:cubicBezTo>
                    <a:pt x="5286375" y="310496"/>
                    <a:pt x="5192556" y="400050"/>
                    <a:pt x="5076825" y="400050"/>
                  </a:cubicBezTo>
                  <a:lnTo>
                    <a:pt x="209550" y="400050"/>
                  </a:lnTo>
                  <a:cubicBezTo>
                    <a:pt x="93819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6DD8C8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66750" y="1924050"/>
              <a:ext cx="5286375" cy="190500"/>
            </a:xfrm>
            <a:prstGeom prst="rect">
              <a:avLst/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857250" y="1809750"/>
              <a:ext cx="209550" cy="209550"/>
            </a:xfrm>
            <a:prstGeom prst="ellipse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13977" y="1824228"/>
              <a:ext cx="96095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62050" y="1755648"/>
              <a:ext cx="1161288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迷你雪纳瑞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572000" y="1833753"/>
              <a:ext cx="73784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结实 · 警觉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8200" y="2190750"/>
              <a:ext cx="1504950" cy="1428750"/>
            </a:xfrm>
            <a:prstGeom prst="roundRect">
              <a:avLst>
                <a:gd name="adj" fmla="val 12000"/>
              </a:avLst>
            </a:prstGeom>
            <a:solidFill>
              <a:srgbClr val="E8E2DB"/>
            </a:solidFill>
            <a:ln>
              <a:noFill/>
            </a:ln>
          </p:spPr>
        </p:sp>
        <p:pic>
          <p:nvPicPr>
            <p:cNvPr id="100" name="Image 100"/>
            <p:cNvPicPr>
              <a:picLocks noChangeAspect="1"/>
            </p:cNvPicPr>
            <p:nvPr/>
          </p:nvPicPr>
          <p:blipFill>
            <a:blip r:embed="rId8"/>
            <a:srcRect t="2532" b="2532"/>
            <a:stretch>
              <a:fillRect/>
            </a:stretch>
          </p:blipFill>
          <p:spPr>
            <a:xfrm>
              <a:off x="838200" y="2190750"/>
              <a:ext cx="1504950" cy="1428750"/>
            </a:xfrm>
            <a:prstGeom prst="roundRect">
              <a:avLst>
                <a:gd name="adj" fmla="val 12000"/>
              </a:avLst>
            </a:prstGeom>
          </p:spPr>
        </p:pic>
        <p:sp>
          <p:nvSpPr>
            <p:cNvPr id="101" name="Rectangle 101"/>
            <p:cNvSpPr/>
            <p:nvPr/>
          </p:nvSpPr>
          <p:spPr>
            <a:xfrm>
              <a:off x="962025" y="3276600"/>
              <a:ext cx="1257300" cy="238125"/>
            </a:xfrm>
            <a:prstGeom prst="roundRect">
              <a:avLst>
                <a:gd name="adj" fmla="val 48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73456" y="3295650"/>
              <a:ext cx="103443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5–9 kg｜12–15 年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571750" y="22288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571750" y="2395538"/>
              <a:ext cx="710505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60–90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333750" y="2476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分钟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3876675" y="2276475"/>
              <a:ext cx="895350" cy="428625"/>
            </a:xfrm>
            <a:prstGeom prst="roundRect">
              <a:avLst>
                <a:gd name="adj" fmla="val 26667"/>
              </a:avLst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090988" y="2314575"/>
              <a:ext cx="4667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月均基础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919627" y="2483168"/>
              <a:ext cx="809446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¥600–1,100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571750" y="28384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3295650" y="28765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3355586" y="28670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876675" y="2838450"/>
              <a:ext cx="3813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4448175" y="28765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4508111" y="28670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2571750" y="31813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掉毛程度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3295650" y="32194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355586" y="32099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3876675" y="31813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吠叫倾向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448175" y="32194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508111" y="32099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21" name="Line 121"/>
            <p:cNvSpPr/>
            <p:nvPr/>
          </p:nvSpPr>
          <p:spPr>
            <a:xfrm>
              <a:off x="838200" y="3781425"/>
              <a:ext cx="4943475" cy="9525"/>
            </a:xfrm>
            <a:custGeom>
              <a:avLst/>
              <a:gdLst/>
              <a:ahLst/>
              <a:cxnLst/>
              <a:rect l="l" t="t" r="r" b="b"/>
              <a:pathLst>
                <a:path w="4943475" h="9525">
                  <a:moveTo>
                    <a:pt x="0" y="0"/>
                  </a:moveTo>
                  <a:lnTo>
                    <a:pt x="4943475" y="0"/>
                  </a:lnTo>
                </a:path>
              </a:pathLst>
            </a:custGeom>
            <a:noFill/>
            <a:ln w="9525">
              <a:solidFill>
                <a:srgbClr val="D9D2CA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38200" y="39433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1052322" y="39624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657350" y="3969068"/>
              <a:ext cx="21545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低掉毛、体格较结实、训练反馈快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838200" y="43243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052322" y="43434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注意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657350" y="4350068"/>
              <a:ext cx="21545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警觉吠叫偏高，需要持续安静训练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838200" y="4724400"/>
              <a:ext cx="4943475" cy="400050"/>
            </a:xfrm>
            <a:prstGeom prst="roundRect">
              <a:avLst>
                <a:gd name="adj" fmla="val 28571"/>
              </a:avLst>
            </a:prstGeom>
            <a:solidFill>
              <a:srgbClr val="6DD8C8">
                <a:alpha val="18000"/>
              </a:srgbClr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990600" y="47434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健康重点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90600" y="4905375"/>
              <a:ext cx="257629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关注胰腺、泌尿系统与皮肤问题｜健康风险 3/5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6238875" y="1714500"/>
            <a:ext cx="5286375" cy="3581400"/>
            <a:chOff x="6238875" y="1714500"/>
            <a:chExt cx="5286375" cy="3581400"/>
          </a:xfrm>
        </p:grpSpPr>
        <p:sp>
          <p:nvSpPr>
            <p:cNvPr id="132" name="Rectangle 132"/>
            <p:cNvSpPr/>
            <p:nvPr/>
          </p:nvSpPr>
          <p:spPr>
            <a:xfrm>
              <a:off x="6238875" y="1714500"/>
              <a:ext cx="5286375" cy="3581400"/>
            </a:xfrm>
            <a:prstGeom prst="roundRect">
              <a:avLst>
                <a:gd name="adj" fmla="val 5851"/>
              </a:avLst>
            </a:prstGeom>
            <a:solidFill>
              <a:srgbClr val="FFFFFF"/>
            </a:solidFill>
            <a:ln w="19050">
              <a:solidFill>
                <a:srgbClr val="021324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6238875" y="1714500"/>
              <a:ext cx="5286375" cy="400050"/>
            </a:xfrm>
            <a:custGeom>
              <a:avLst/>
              <a:gdLst/>
              <a:ahLst/>
              <a:cxnLst/>
              <a:rect l="0" t="0" r="5286375" b="400050"/>
              <a:pathLst>
                <a:path w="5286375" h="400050">
                  <a:moveTo>
                    <a:pt x="209550" y="0"/>
                  </a:moveTo>
                  <a:lnTo>
                    <a:pt x="5076825" y="0"/>
                  </a:lnTo>
                  <a:cubicBezTo>
                    <a:pt x="5192556" y="0"/>
                    <a:pt x="5286375" y="89554"/>
                    <a:pt x="5286375" y="200025"/>
                  </a:cubicBezTo>
                  <a:lnTo>
                    <a:pt x="5286375" y="200025"/>
                  </a:lnTo>
                  <a:cubicBezTo>
                    <a:pt x="5286375" y="310496"/>
                    <a:pt x="5192556" y="400050"/>
                    <a:pt x="5076825" y="400050"/>
                  </a:cubicBezTo>
                  <a:lnTo>
                    <a:pt x="209550" y="400050"/>
                  </a:lnTo>
                  <a:cubicBezTo>
                    <a:pt x="93819" y="400050"/>
                    <a:pt x="0" y="310496"/>
                    <a:pt x="0" y="200025"/>
                  </a:cubicBezTo>
                  <a:lnTo>
                    <a:pt x="0" y="200025"/>
                  </a:lnTo>
                  <a:cubicBezTo>
                    <a:pt x="0" y="89554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9D6FC7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238875" y="1924050"/>
              <a:ext cx="5286375" cy="190500"/>
            </a:xfrm>
            <a:prstGeom prst="rect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6429375" y="1809750"/>
              <a:ext cx="209550" cy="2095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6483423" y="1824228"/>
              <a:ext cx="101453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5A367C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734175" y="1755648"/>
              <a:ext cx="1161288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玩具贵宾犬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134600" y="1833753"/>
              <a:ext cx="73784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聪明 · 灵活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6419850" y="2190750"/>
              <a:ext cx="1504950" cy="1428750"/>
            </a:xfrm>
            <a:prstGeom prst="roundRect">
              <a:avLst>
                <a:gd name="adj" fmla="val 12000"/>
              </a:avLst>
            </a:prstGeom>
            <a:solidFill>
              <a:srgbClr val="E8E2DB"/>
            </a:solidFill>
            <a:ln>
              <a:noFill/>
            </a:ln>
          </p:spPr>
        </p:sp>
        <p:pic>
          <p:nvPicPr>
            <p:cNvPr id="140" name="Image 140"/>
            <p:cNvPicPr>
              <a:picLocks noChangeAspect="1"/>
            </p:cNvPicPr>
            <p:nvPr/>
          </p:nvPicPr>
          <p:blipFill>
            <a:blip r:embed="rId9"/>
            <a:srcRect t="2532" b="2532"/>
            <a:stretch>
              <a:fillRect/>
            </a:stretch>
          </p:blipFill>
          <p:spPr>
            <a:xfrm>
              <a:off x="6419850" y="2190750"/>
              <a:ext cx="1504950" cy="1428750"/>
            </a:xfrm>
            <a:prstGeom prst="roundRect">
              <a:avLst>
                <a:gd name="adj" fmla="val 12000"/>
              </a:avLst>
            </a:prstGeom>
          </p:spPr>
        </p:pic>
        <p:sp>
          <p:nvSpPr>
            <p:cNvPr id="141" name="Rectangle 141"/>
            <p:cNvSpPr/>
            <p:nvPr/>
          </p:nvSpPr>
          <p:spPr>
            <a:xfrm>
              <a:off x="6543675" y="3276600"/>
              <a:ext cx="1257300" cy="238125"/>
            </a:xfrm>
            <a:prstGeom prst="roundRect">
              <a:avLst>
                <a:gd name="adj" fmla="val 48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655106" y="3295650"/>
              <a:ext cx="103443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2–4 kg｜12–15 年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153400" y="22288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每日运动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153400" y="2395538"/>
              <a:ext cx="710505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45–75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8915400" y="24765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分钟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9458325" y="2276475"/>
              <a:ext cx="1000125" cy="428625"/>
            </a:xfrm>
            <a:prstGeom prst="roundRect">
              <a:avLst>
                <a:gd name="adj" fmla="val 26667"/>
              </a:avLst>
            </a:prstGeom>
            <a:solidFill>
              <a:srgbClr val="F5F0EA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9720262" y="2314575"/>
              <a:ext cx="4667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月均基础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9548902" y="2483168"/>
              <a:ext cx="809446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¥600–1,200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153400" y="28384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8877300" y="28765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8937236" y="28670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458325" y="2838450"/>
              <a:ext cx="3813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10029825" y="28765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10089761" y="28670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8153400" y="31813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掉毛程度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8877300" y="32194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8937236" y="32099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458325" y="31813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美容需求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10029825" y="3219450"/>
              <a:ext cx="323850" cy="200025"/>
            </a:xfrm>
            <a:prstGeom prst="roundRect">
              <a:avLst>
                <a:gd name="adj" fmla="val 47619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0089761" y="3209925"/>
              <a:ext cx="20397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61" name="Line 161"/>
            <p:cNvSpPr/>
            <p:nvPr/>
          </p:nvSpPr>
          <p:spPr>
            <a:xfrm>
              <a:off x="6419850" y="3781425"/>
              <a:ext cx="4933950" cy="9525"/>
            </a:xfrm>
            <a:custGeom>
              <a:avLst/>
              <a:gdLst/>
              <a:ahLst/>
              <a:cxnLst/>
              <a:rect l="l" t="t" r="r" b="b"/>
              <a:pathLst>
                <a:path w="4933950" h="9525">
                  <a:moveTo>
                    <a:pt x="0" y="0"/>
                  </a:moveTo>
                  <a:lnTo>
                    <a:pt x="4933950" y="0"/>
                  </a:lnTo>
                </a:path>
              </a:pathLst>
            </a:custGeom>
            <a:noFill/>
            <a:ln w="9525">
              <a:solidFill>
                <a:srgbClr val="D9D2C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6419850" y="39433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6633972" y="39624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优势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7239000" y="3969068"/>
              <a:ext cx="2115413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易训度 5/5，适合定点与互动游戏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6419850" y="43243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633972" y="43434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注意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7239000" y="4350068"/>
              <a:ext cx="21545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运动、脑力刺激和美容一样不能省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6419850" y="4724400"/>
              <a:ext cx="4933950" cy="400050"/>
            </a:xfrm>
            <a:prstGeom prst="roundRect">
              <a:avLst>
                <a:gd name="adj" fmla="val 28571"/>
              </a:avLst>
            </a:prstGeom>
            <a:solidFill>
              <a:srgbClr val="9D6FC7">
                <a:alpha val="15000"/>
              </a:srgbClr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6572250" y="47434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5A367C"/>
                  </a:solidFill>
                  <a:latin typeface="Microsoft YaHei"/>
                  <a:ea typeface="Microsoft YaHei"/>
                  <a:cs typeface="Microsoft YaHei"/>
                </a:rPr>
                <a:t>名称说明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572250" y="4905375"/>
              <a:ext cx="23625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56616B"/>
                  </a:solidFill>
                  <a:latin typeface="Microsoft YaHei"/>
                  <a:ea typeface="Microsoft YaHei"/>
                  <a:cs typeface="Microsoft YaHei"/>
                </a:rPr>
                <a:t>“泰迪”是贵宾犬造型名称，并非独立犬种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66750" y="5467350"/>
            <a:ext cx="7086600" cy="704850"/>
            <a:chOff x="666750" y="5467350"/>
            <a:chExt cx="7086600" cy="704850"/>
          </a:xfrm>
        </p:grpSpPr>
        <p:sp>
          <p:nvSpPr>
            <p:cNvPr id="172" name="Rectangle 172"/>
            <p:cNvSpPr/>
            <p:nvPr/>
          </p:nvSpPr>
          <p:spPr>
            <a:xfrm>
              <a:off x="666750" y="5467350"/>
              <a:ext cx="7086600" cy="704850"/>
            </a:xfrm>
            <a:prstGeom prst="roundRect">
              <a:avLst>
                <a:gd name="adj" fmla="val 24324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819150" y="5629275"/>
              <a:ext cx="381000" cy="381000"/>
            </a:xfrm>
            <a:prstGeom prst="ellipse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74" name="Freeform 174"/>
            <p:cNvSpPr/>
            <p:nvPr/>
          </p:nvSpPr>
          <p:spPr>
            <a:xfrm>
              <a:off x="933450" y="5753100"/>
              <a:ext cx="161925" cy="123825"/>
            </a:xfrm>
            <a:custGeom>
              <a:avLst/>
              <a:gdLst/>
              <a:ahLst/>
              <a:cxnLst/>
              <a:rect l="l" t="t" r="r" b="b"/>
              <a:pathLst>
                <a:path w="161925" h="123825">
                  <a:moveTo>
                    <a:pt x="0" y="66675"/>
                  </a:moveTo>
                  <a:lnTo>
                    <a:pt x="57150" y="123825"/>
                  </a:lnTo>
                  <a:lnTo>
                    <a:pt x="161925" y="0"/>
                  </a:lnTo>
                </a:path>
              </a:pathLst>
            </a:custGeom>
            <a:noFill/>
            <a:ln w="38100" cap="rnd">
              <a:solidFill>
                <a:srgbClr val="021324"/>
              </a:solidFill>
              <a:round/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1333500" y="5578792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E7C126"/>
                  </a:solidFill>
                  <a:latin typeface="Microsoft YaHei"/>
                  <a:ea typeface="Microsoft YaHei"/>
                  <a:cs typeface="Microsoft YaHei"/>
                </a:rPr>
                <a:t>适合谁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333500" y="5793486"/>
              <a:ext cx="3675930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每天愿意安排 10–20 分钟嗅闻、益智或服从训练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7943850" y="5467350"/>
            <a:ext cx="3581400" cy="705231"/>
            <a:chOff x="7943850" y="5467350"/>
            <a:chExt cx="3581400" cy="705231"/>
          </a:xfrm>
        </p:grpSpPr>
        <p:sp>
          <p:nvSpPr>
            <p:cNvPr id="178" name="Rectangle 178"/>
            <p:cNvSpPr/>
            <p:nvPr/>
          </p:nvSpPr>
          <p:spPr>
            <a:xfrm>
              <a:off x="7943850" y="5467350"/>
              <a:ext cx="3581400" cy="704850"/>
            </a:xfrm>
            <a:prstGeom prst="roundRect">
              <a:avLst>
                <a:gd name="adj" fmla="val 24324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8153400" y="5569268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最大坑点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8153400" y="5790057"/>
              <a:ext cx="1300448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高智商 ≠ 自动听话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8153400" y="5972175"/>
              <a:ext cx="22387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无聊时会用吠叫、拆家和焦虑“找工作”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80" name="Group 80"/>
          <p:cNvGrpSpPr/>
          <p:nvPr/>
        </p:nvGrpSpPr>
        <p:grpSpPr>
          <a:xfrm>
            <a:off x="6" y="189133"/>
            <a:ext cx="12192007" cy="6669874"/>
            <a:chOff x="6" y="189133"/>
            <a:chExt cx="12192007" cy="6669874"/>
          </a:xfrm>
        </p:grpSpPr>
        <p:grpSp>
          <p:nvGrpSpPr>
            <p:cNvPr id="57" name="Group 57"/>
            <p:cNvGrpSpPr/>
            <p:nvPr/>
          </p:nvGrpSpPr>
          <p:grpSpPr>
            <a:xfrm>
              <a:off x="254655" y="189133"/>
              <a:ext cx="2026472" cy="2000595"/>
              <a:chOff x="254655" y="189133"/>
              <a:chExt cx="2026472" cy="20005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18943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866964" y="18913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77477" y="38739"/>
                    </a:moveTo>
                    <a:cubicBezTo>
                      <a:pt x="77477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54451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22030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48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48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9576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7123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54655" y="18913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77505" y="38739"/>
                    </a:moveTo>
                    <a:cubicBezTo>
                      <a:pt x="77505" y="60148"/>
                      <a:pt x="60148" y="77491"/>
                      <a:pt x="38753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55955" y="2112237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55955" y="178978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55955" y="1467330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55955" y="1144876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55955" y="822409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55955" y="499955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80553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80553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80553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80553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80553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0553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5164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05164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05164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5164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5164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05164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29788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29788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229788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229788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229788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29788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554385" y="2112237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554385" y="178978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554385" y="1467330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554385" y="1144876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554385" y="822409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554385" y="499955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879010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879010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879010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879010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879010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879010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203594" y="2112237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203594" y="1789783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203594" y="1467330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2203594" y="1144876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39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2203594" y="822409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203594" y="499955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 rot="-5400000" flipV="1">
              <a:off x="11168564" y="3033372"/>
              <a:ext cx="1372885" cy="674012"/>
              <a:chOff x="7673626" y="189976"/>
              <a:chExt cx="1525428" cy="75057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9" name="Group 69"/>
            <p:cNvGrpSpPr/>
            <p:nvPr/>
          </p:nvGrpSpPr>
          <p:grpSpPr>
            <a:xfrm>
              <a:off x="9369991" y="6485563"/>
              <a:ext cx="1720197" cy="373444"/>
              <a:chOff x="9369991" y="6485563"/>
              <a:chExt cx="1720197" cy="373444"/>
            </a:xfrm>
          </p:grpSpPr>
          <p:grpSp>
            <p:nvGrpSpPr>
              <p:cNvPr id="66" name="Group 66"/>
              <p:cNvGrpSpPr/>
              <p:nvPr/>
            </p:nvGrpSpPr>
            <p:grpSpPr>
              <a:xfrm>
                <a:off x="9370984" y="6486501"/>
                <a:ext cx="1719204" cy="372506"/>
                <a:chOff x="9370984" y="6486501"/>
                <a:chExt cx="1719204" cy="372506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9370984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793291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10215616" y="6486501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51219" y="0"/>
                      </a:moveTo>
                      <a:lnTo>
                        <a:pt x="452228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10637923" y="6486501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51219" y="0"/>
                      </a:moveTo>
                      <a:lnTo>
                        <a:pt x="452265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68" name="Group 68"/>
              <p:cNvGrpSpPr/>
              <p:nvPr/>
            </p:nvGrpSpPr>
            <p:grpSpPr>
              <a:xfrm rot="5400000">
                <a:off x="10043232" y="5812322"/>
                <a:ext cx="372447" cy="1718929"/>
                <a:chOff x="10043236" y="5812326"/>
                <a:chExt cx="372447" cy="1718929"/>
              </a:xfrm>
            </p:grpSpPr>
            <p:pic>
              <p:nvPicPr>
                <p:cNvPr id="67" name="Image 67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>
                  <a:off x="10043236" y="5812326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3" name="Group 73"/>
            <p:cNvGrpSpPr/>
            <p:nvPr/>
          </p:nvGrpSpPr>
          <p:grpSpPr>
            <a:xfrm rot="-5400000">
              <a:off x="-349430" y="4558620"/>
              <a:ext cx="1372885" cy="674012"/>
              <a:chOff x="7673626" y="189976"/>
              <a:chExt cx="1525428" cy="75057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673635" y="189976"/>
                <a:ext cx="1525419" cy="750570"/>
              </a:xfrm>
              <a:custGeom>
                <a:avLst/>
                <a:gdLst/>
                <a:ahLst/>
                <a:cxnLst/>
                <a:rect l="l" t="t" r="r" b="b"/>
                <a:pathLst>
                  <a:path w="1525419" h="750570">
                    <a:moveTo>
                      <a:pt x="0" y="0"/>
                    </a:moveTo>
                    <a:cubicBezTo>
                      <a:pt x="7058" y="415509"/>
                      <a:pt x="345262" y="750570"/>
                      <a:pt x="762467" y="750570"/>
                    </a:cubicBezTo>
                    <a:cubicBezTo>
                      <a:pt x="1179681" y="750570"/>
                      <a:pt x="1518361" y="415509"/>
                      <a:pt x="1525419" y="0"/>
                    </a:cubicBezTo>
                    <a:lnTo>
                      <a:pt x="1137847" y="0"/>
                    </a:lnTo>
                    <a:cubicBezTo>
                      <a:pt x="1130789" y="201730"/>
                      <a:pt x="965883" y="363522"/>
                      <a:pt x="762467" y="363522"/>
                    </a:cubicBezTo>
                    <a:cubicBezTo>
                      <a:pt x="558984" y="363522"/>
                      <a:pt x="394316" y="201730"/>
                      <a:pt x="3872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 rot="5400000">
                <a:off x="8061051" y="-197448"/>
                <a:ext cx="750570" cy="1525419"/>
                <a:chOff x="8061055" y="-197444"/>
                <a:chExt cx="750570" cy="1525419"/>
              </a:xfrm>
            </p:grpSpPr>
            <p:pic>
              <p:nvPicPr>
                <p:cNvPr id="71" name="Image 71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8061055" y="-197444"/>
                  <a:ext cx="750570" cy="152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415759" y="6388241"/>
              <a:ext cx="3193940" cy="469083"/>
              <a:chOff x="415759" y="6388241"/>
              <a:chExt cx="3193940" cy="46908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415759" y="6388255"/>
                <a:ext cx="1605022" cy="469068"/>
              </a:xfrm>
              <a:custGeom>
                <a:avLst/>
                <a:gdLst/>
                <a:ahLst/>
                <a:cxnLst/>
                <a:rect l="l" t="t" r="r" b="b"/>
                <a:pathLst>
                  <a:path w="1605022" h="469068">
                    <a:moveTo>
                      <a:pt x="0" y="0"/>
                    </a:moveTo>
                    <a:lnTo>
                      <a:pt x="1605022" y="0"/>
                    </a:lnTo>
                    <a:lnTo>
                      <a:pt x="1605022" y="469068"/>
                    </a:lnTo>
                    <a:lnTo>
                      <a:pt x="0" y="469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2273211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3064202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 rot="5400000">
                <a:off x="1778188" y="5025813"/>
                <a:ext cx="469083" cy="3193940"/>
                <a:chOff x="1776586" y="5036647"/>
                <a:chExt cx="472287" cy="3172271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>
                  <a:off x="1776586" y="5036647"/>
                  <a:ext cx="472287" cy="3172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84" name="Group 84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81" name="Rectangle 81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83" name="Group 83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82" name="Image 82"/>
              <p:cNvPicPr>
                <a:picLocks noChangeAspect="1"/>
              </p:cNvPicPr>
              <p:nvPr/>
            </p:nvPicPr>
            <p:blipFill>
              <a:blip r:embed="rId6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7" name="Group 87"/>
          <p:cNvGrpSpPr/>
          <p:nvPr/>
        </p:nvGrpSpPr>
        <p:grpSpPr>
          <a:xfrm>
            <a:off x="415604" y="396154"/>
            <a:ext cx="11360696" cy="960901"/>
            <a:chOff x="415604" y="396154"/>
            <a:chExt cx="11360696" cy="960901"/>
          </a:xfrm>
        </p:grpSpPr>
        <p:sp>
          <p:nvSpPr>
            <p:cNvPr id="85" name="Rectangle 85"/>
            <p:cNvSpPr/>
            <p:nvPr/>
          </p:nvSpPr>
          <p:spPr>
            <a:xfrm>
              <a:off x="415604" y="396154"/>
              <a:ext cx="11360696" cy="96090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683643" y="468516"/>
              <a:ext cx="696816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 种小型犬，30 秒完成初筛</a:t>
              </a:r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419100" y="1562100"/>
            <a:ext cx="8172450" cy="4171950"/>
            <a:chOff x="419100" y="1562100"/>
            <a:chExt cx="8172450" cy="4171950"/>
          </a:xfrm>
        </p:grpSpPr>
        <p:sp>
          <p:nvSpPr>
            <p:cNvPr id="88" name="Rectangle 88"/>
            <p:cNvSpPr/>
            <p:nvPr/>
          </p:nvSpPr>
          <p:spPr>
            <a:xfrm>
              <a:off x="419100" y="1562100"/>
              <a:ext cx="8172450" cy="4171950"/>
            </a:xfrm>
            <a:prstGeom prst="roundRect">
              <a:avLst>
                <a:gd name="adj" fmla="val 2283"/>
              </a:avLst>
            </a:prstGeom>
            <a:solidFill>
              <a:srgbClr val="FFFFFF"/>
            </a:solidFill>
            <a:ln w="9525">
              <a:solidFill>
                <a:srgbClr val="021324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19100" y="1562100"/>
              <a:ext cx="8172450" cy="457200"/>
            </a:xfrm>
            <a:prstGeom prst="roundRect">
              <a:avLst>
                <a:gd name="adj" fmla="val 20833"/>
              </a:avLst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419100" y="1924050"/>
              <a:ext cx="8172450" cy="95250"/>
            </a:xfrm>
            <a:prstGeom prst="rect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8650" y="1711642"/>
              <a:ext cx="29718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犬种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985772" y="16383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独处适应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959769" y="1819275"/>
              <a:ext cx="55721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255A47"/>
                  </a:solidFill>
                  <a:latin typeface="Microsoft YaHei"/>
                  <a:ea typeface="Microsoft YaHei"/>
                  <a:cs typeface="Microsoft YaHei"/>
                </a:rPr>
                <a:t>越高越好 ↑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966847" y="1638300"/>
              <a:ext cx="2575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吠叫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817019" y="1819275"/>
              <a:ext cx="55721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825" b="1" dirty="0">
                  <a:solidFill>
                    <a:srgbClr val="A83B32"/>
                  </a:solidFill>
                  <a:latin typeface="Microsoft YaHei"/>
                  <a:ea typeface="Microsoft YaHei"/>
                  <a:cs typeface="Microsoft YaHei"/>
                </a:rPr>
                <a:t>越低越好 ↓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652870" y="1638300"/>
              <a:ext cx="40951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掉毛 ↓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414870" y="1638300"/>
              <a:ext cx="40951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美容 ↓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176870" y="1638300"/>
              <a:ext cx="40951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易训 ↑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815045" y="1638300"/>
              <a:ext cx="657160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健康风险 ↓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281440" y="1719453"/>
              <a:ext cx="677120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996 适配度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428625" y="2019300"/>
              <a:ext cx="8153400" cy="409575"/>
            </a:xfrm>
            <a:prstGeom prst="rect">
              <a:avLst/>
            </a:prstGeom>
            <a:solidFill>
              <a:srgbClr val="EAF8F5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428625" y="2428875"/>
              <a:ext cx="8153400" cy="409575"/>
            </a:xfrm>
            <a:prstGeom prst="rect">
              <a:avLst/>
            </a:prstGeom>
            <a:solidFill>
              <a:srgbClr val="F1EEF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428625" y="2838450"/>
              <a:ext cx="81534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428625" y="3248025"/>
              <a:ext cx="8153400" cy="409575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428625" y="3657600"/>
              <a:ext cx="81534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428625" y="4067175"/>
              <a:ext cx="8153400" cy="409575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428625" y="4476750"/>
              <a:ext cx="81534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428625" y="4886325"/>
              <a:ext cx="8153400" cy="409575"/>
            </a:xfrm>
            <a:prstGeom prst="rect">
              <a:avLst/>
            </a:prstGeom>
            <a:solidFill>
              <a:srgbClr val="FAF8F3"/>
            </a:solidFill>
            <a:ln>
              <a:noFill/>
            </a:ln>
          </p:spPr>
        </p:sp>
        <p:sp>
          <p:nvSpPr>
            <p:cNvPr id="109" name="Line 109"/>
            <p:cNvSpPr/>
            <p:nvPr/>
          </p:nvSpPr>
          <p:spPr>
            <a:xfrm>
              <a:off x="419100" y="2428875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419100" y="2838450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419100" y="3248025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419100" y="3657600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419100" y="4067175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419100" y="4476750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419100" y="4886325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419100" y="5295900"/>
              <a:ext cx="8172450" cy="9525"/>
            </a:xfrm>
            <a:custGeom>
              <a:avLst/>
              <a:gdLst/>
              <a:ahLst/>
              <a:cxnLst/>
              <a:rect l="l" t="t" r="r" b="b"/>
              <a:pathLst>
                <a:path w="8172450" h="9525">
                  <a:moveTo>
                    <a:pt x="0" y="0"/>
                  </a:moveTo>
                  <a:lnTo>
                    <a:pt x="8172450" y="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1809750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8" name="Line 118"/>
            <p:cNvSpPr/>
            <p:nvPr/>
          </p:nvSpPr>
          <p:spPr>
            <a:xfrm>
              <a:off x="2667000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19" name="Line 119"/>
            <p:cNvSpPr/>
            <p:nvPr/>
          </p:nvSpPr>
          <p:spPr>
            <a:xfrm>
              <a:off x="3524250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4238625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5000625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22" name="Line 122"/>
            <p:cNvSpPr/>
            <p:nvPr/>
          </p:nvSpPr>
          <p:spPr>
            <a:xfrm>
              <a:off x="5762625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23" name="Line 123"/>
            <p:cNvSpPr/>
            <p:nvPr/>
          </p:nvSpPr>
          <p:spPr>
            <a:xfrm>
              <a:off x="6572250" y="156210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021324">
                  <a:alpha val="16000"/>
                </a:srgbClr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504825" y="2109788"/>
              <a:ext cx="228600" cy="228600"/>
            </a:xfrm>
            <a:prstGeom prst="ellipse">
              <a:avLst/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574426" y="2138553"/>
              <a:ext cx="8939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19150" y="2130742"/>
              <a:ext cx="725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玩具贵宾犬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125355" y="21307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2982605" y="21307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739991" y="2130742"/>
              <a:ext cx="235268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4501991" y="2130742"/>
              <a:ext cx="235268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5263991" y="2130742"/>
              <a:ext cx="235268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030605" y="21307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6791325" y="2143125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791325" y="2143125"/>
              <a:ext cx="990600" cy="161925"/>
            </a:xfrm>
            <a:prstGeom prst="roundRect">
              <a:avLst>
                <a:gd name="adj" fmla="val 50000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8017508" y="2116836"/>
              <a:ext cx="271784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4.2</a:t>
              </a:r>
            </a:p>
          </p:txBody>
        </p:sp>
        <p:sp>
          <p:nvSpPr>
            <p:cNvPr id="136" name="Ellipse 136"/>
            <p:cNvSpPr/>
            <p:nvPr/>
          </p:nvSpPr>
          <p:spPr>
            <a:xfrm>
              <a:off x="504825" y="2519362"/>
              <a:ext cx="228600" cy="228600"/>
            </a:xfrm>
            <a:prstGeom prst="ellipse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574426" y="2548128"/>
              <a:ext cx="8939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819150" y="2540318"/>
              <a:ext cx="725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迷你雪纳瑞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2125355" y="25403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2982605" y="25403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3739991" y="2540318"/>
              <a:ext cx="235268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4506605" y="25403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5268605" y="25403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030605" y="25403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6791325" y="2552700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6791325" y="2552700"/>
              <a:ext cx="895350" cy="161925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8017508" y="2526411"/>
              <a:ext cx="271784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3.8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628650" y="2949892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约克夏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2125355" y="29498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2982605" y="29498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3744605" y="29498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4506605" y="29498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5268605" y="29498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6074063" y="2949892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6791325" y="2962275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6791325" y="2962275"/>
              <a:ext cx="828675" cy="161925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7893933" y="2959418"/>
              <a:ext cx="51893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3.4–3.6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628650" y="3359468"/>
              <a:ext cx="5829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马尔济斯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125355" y="33594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982605" y="33594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3744605" y="33594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4506605" y="33594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5268605" y="33594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6074063" y="3359468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6791325" y="3371850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6791325" y="3371850"/>
              <a:ext cx="828675" cy="161925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893933" y="3368992"/>
              <a:ext cx="51893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3.4–3.6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628650" y="3769042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比熊犬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2125355" y="37690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2982605" y="37690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3744605" y="37690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1/5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4506605" y="37690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268605" y="376904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6074063" y="3769042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6791325" y="3781425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6791325" y="3781425"/>
              <a:ext cx="828675" cy="161925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77" name="TextBox 177"/>
            <p:cNvSpPr txBox="1"/>
            <p:nvPr/>
          </p:nvSpPr>
          <p:spPr>
            <a:xfrm>
              <a:off x="7893933" y="3778568"/>
              <a:ext cx="51893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3.4–3.6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628650" y="4178618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吉娃娃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2125355" y="41786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80" name="Rectangle 180"/>
            <p:cNvSpPr/>
            <p:nvPr/>
          </p:nvSpPr>
          <p:spPr>
            <a:xfrm>
              <a:off x="2876550" y="4171950"/>
              <a:ext cx="438150" cy="23812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81" name="TextBox 181"/>
            <p:cNvSpPr txBox="1"/>
            <p:nvPr/>
          </p:nvSpPr>
          <p:spPr>
            <a:xfrm>
              <a:off x="2985739" y="420547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3679502" y="4186428"/>
              <a:ext cx="35624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2–3/5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4550063" y="4178618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5268605" y="41786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6030605" y="417861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86" name="Rectangle 186"/>
            <p:cNvSpPr/>
            <p:nvPr/>
          </p:nvSpPr>
          <p:spPr>
            <a:xfrm>
              <a:off x="6791325" y="4191000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6791325" y="4191000"/>
              <a:ext cx="800100" cy="161925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8032632" y="4180332"/>
              <a:ext cx="241536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3.4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628650" y="4588192"/>
              <a:ext cx="725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法国斗牛犬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2125355" y="45881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2982605" y="45881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3744605" y="45881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4550063" y="4588192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5268605" y="4588192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5924550" y="4581525"/>
              <a:ext cx="438150" cy="23812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6033739" y="4615053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197" name="Rectangle 197"/>
            <p:cNvSpPr/>
            <p:nvPr/>
          </p:nvSpPr>
          <p:spPr>
            <a:xfrm>
              <a:off x="6791325" y="4600575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198" name="Rectangle 198"/>
            <p:cNvSpPr/>
            <p:nvPr/>
          </p:nvSpPr>
          <p:spPr>
            <a:xfrm>
              <a:off x="6791325" y="4600575"/>
              <a:ext cx="752475" cy="16192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8032632" y="4589907"/>
              <a:ext cx="241536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3.2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628650" y="4997768"/>
              <a:ext cx="4400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巴哥犬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2125355" y="49977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2982605" y="49977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255A47"/>
                  </a:solidFill>
                  <a:latin typeface="Arial"/>
                  <a:ea typeface="Microsoft YaHei"/>
                  <a:cs typeface="Arial"/>
                </a:rPr>
                <a:t>2/5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3744605" y="49977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A83B32"/>
                  </a:solidFill>
                  <a:latin typeface="Arial"/>
                  <a:ea typeface="Microsoft YaHei"/>
                  <a:cs typeface="Arial"/>
                </a:rPr>
                <a:t>4/5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4550063" y="4997768"/>
              <a:ext cx="139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—</a:t>
              </a:r>
            </a:p>
          </p:txBody>
        </p:sp>
        <p:sp>
          <p:nvSpPr>
            <p:cNvPr id="205" name="TextBox 205"/>
            <p:cNvSpPr txBox="1"/>
            <p:nvPr/>
          </p:nvSpPr>
          <p:spPr>
            <a:xfrm>
              <a:off x="5268605" y="4997768"/>
              <a:ext cx="2260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3/5</a:t>
              </a:r>
            </a:p>
          </p:txBody>
        </p:sp>
        <p:sp>
          <p:nvSpPr>
            <p:cNvPr id="206" name="Rectangle 206"/>
            <p:cNvSpPr/>
            <p:nvPr/>
          </p:nvSpPr>
          <p:spPr>
            <a:xfrm>
              <a:off x="5924550" y="4991100"/>
              <a:ext cx="438150" cy="23812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207" name="TextBox 207"/>
            <p:cNvSpPr txBox="1"/>
            <p:nvPr/>
          </p:nvSpPr>
          <p:spPr>
            <a:xfrm>
              <a:off x="6033739" y="5024628"/>
              <a:ext cx="219772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5/5</a:t>
              </a:r>
            </a:p>
          </p:txBody>
        </p:sp>
        <p:sp>
          <p:nvSpPr>
            <p:cNvPr id="208" name="Rectangle 208"/>
            <p:cNvSpPr/>
            <p:nvPr/>
          </p:nvSpPr>
          <p:spPr>
            <a:xfrm>
              <a:off x="6791325" y="5010150"/>
              <a:ext cx="1181100" cy="161925"/>
            </a:xfrm>
            <a:prstGeom prst="roundRect">
              <a:avLst>
                <a:gd name="adj" fmla="val 50000"/>
              </a:avLst>
            </a:prstGeom>
            <a:solidFill>
              <a:srgbClr val="DCE4E8"/>
            </a:solidFill>
            <a:ln>
              <a:noFill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791325" y="5010150"/>
              <a:ext cx="733425" cy="161925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8032632" y="4999482"/>
              <a:ext cx="241536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3.1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628650" y="5410200"/>
              <a:ext cx="3411587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697582"/>
                  </a:solidFill>
                  <a:latin typeface="Microsoft YaHei"/>
                  <a:ea typeface="Microsoft YaHei"/>
                  <a:cs typeface="Microsoft YaHei"/>
                </a:rPr>
                <a:t>评分范围 1–5；“—”表示现有资料未提供明确评分，不自行补值。</a:t>
              </a:r>
            </a:p>
          </p:txBody>
        </p:sp>
      </p:grpSp>
      <p:grpSp>
        <p:nvGrpSpPr>
          <p:cNvPr id="247" name="Group 247"/>
          <p:cNvGrpSpPr/>
          <p:nvPr/>
        </p:nvGrpSpPr>
        <p:grpSpPr>
          <a:xfrm>
            <a:off x="8801100" y="1562100"/>
            <a:ext cx="2971800" cy="4171950"/>
            <a:chOff x="8801100" y="1562100"/>
            <a:chExt cx="2971800" cy="4171950"/>
          </a:xfrm>
        </p:grpSpPr>
        <p:sp>
          <p:nvSpPr>
            <p:cNvPr id="213" name="Rectangle 213"/>
            <p:cNvSpPr/>
            <p:nvPr/>
          </p:nvSpPr>
          <p:spPr>
            <a:xfrm>
              <a:off x="8801100" y="1562100"/>
              <a:ext cx="2971800" cy="4171950"/>
            </a:xfrm>
            <a:prstGeom prst="roundRect">
              <a:avLst>
                <a:gd name="adj" fmla="val 3205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9048750" y="1691640"/>
              <a:ext cx="7772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综合权重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9048750" y="1971675"/>
              <a:ext cx="19526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dirty="0">
                  <a:solidFill>
                    <a:srgbClr val="B9C5CF"/>
                  </a:solidFill>
                  <a:latin typeface="Microsoft YaHei"/>
                  <a:ea typeface="Microsoft YaHei"/>
                  <a:cs typeface="Microsoft YaHei"/>
                </a:rPr>
                <a:t>先看能否稳定独处，再看“省不省事”</a:t>
              </a:r>
            </a:p>
          </p:txBody>
        </p:sp>
        <p:sp>
          <p:nvSpPr>
            <p:cNvPr id="216" name="Rectangle 216"/>
            <p:cNvSpPr/>
            <p:nvPr/>
          </p:nvSpPr>
          <p:spPr>
            <a:xfrm>
              <a:off x="9048750" y="2324100"/>
              <a:ext cx="2476500" cy="1905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048750" y="2324100"/>
              <a:ext cx="619125" cy="190500"/>
            </a:xfrm>
            <a:prstGeom prst="roundRect">
              <a:avLst>
                <a:gd name="adj" fmla="val 50000"/>
              </a:avLst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048750" y="2586228"/>
              <a:ext cx="94411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独处与情绪稳定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11167479" y="2570607"/>
              <a:ext cx="338721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200" b="1" dirty="0">
                  <a:solidFill>
                    <a:srgbClr val="6DD8C8"/>
                  </a:solidFill>
                  <a:latin typeface="Arial"/>
                  <a:ea typeface="Microsoft YaHei"/>
                  <a:cs typeface="Arial"/>
                </a:rPr>
                <a:t>25%</a:t>
              </a:r>
            </a:p>
          </p:txBody>
        </p:sp>
        <p:sp>
          <p:nvSpPr>
            <p:cNvPr id="220" name="Rectangle 220"/>
            <p:cNvSpPr/>
            <p:nvPr/>
          </p:nvSpPr>
          <p:spPr>
            <a:xfrm>
              <a:off x="9048750" y="2838450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9048750" y="2838450"/>
              <a:ext cx="1981200" cy="76200"/>
            </a:xfrm>
            <a:prstGeom prst="roundRect">
              <a:avLst>
                <a:gd name="adj" fmla="val 50000"/>
              </a:avLst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9048750" y="2981325"/>
              <a:ext cx="8766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运动及互动需求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1209633" y="2995803"/>
              <a:ext cx="29656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58C1DD"/>
                  </a:solidFill>
                  <a:latin typeface="Arial"/>
                  <a:ea typeface="Microsoft YaHei"/>
                  <a:cs typeface="Arial"/>
                </a:rPr>
                <a:t>20%</a:t>
              </a:r>
            </a:p>
          </p:txBody>
        </p:sp>
        <p:sp>
          <p:nvSpPr>
            <p:cNvPr id="224" name="Rectangle 224"/>
            <p:cNvSpPr/>
            <p:nvPr/>
          </p:nvSpPr>
          <p:spPr>
            <a:xfrm>
              <a:off x="9048750" y="3248025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25" name="Rectangle 225"/>
            <p:cNvSpPr/>
            <p:nvPr/>
          </p:nvSpPr>
          <p:spPr>
            <a:xfrm>
              <a:off x="9048750" y="3248025"/>
              <a:ext cx="1485900" cy="76200"/>
            </a:xfrm>
            <a:prstGeom prst="roundRect">
              <a:avLst>
                <a:gd name="adj" fmla="val 50000"/>
              </a:avLst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226" name="TextBox 226"/>
            <p:cNvSpPr txBox="1"/>
            <p:nvPr/>
          </p:nvSpPr>
          <p:spPr>
            <a:xfrm>
              <a:off x="9048750" y="3390900"/>
              <a:ext cx="10005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吠叫与公寓友好度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11209633" y="3405378"/>
              <a:ext cx="29656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BFA2DA"/>
                  </a:solidFill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228" name="Rectangle 228"/>
            <p:cNvSpPr/>
            <p:nvPr/>
          </p:nvSpPr>
          <p:spPr>
            <a:xfrm>
              <a:off x="9048750" y="3657600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9048750" y="3657600"/>
              <a:ext cx="1485900" cy="7620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230" name="TextBox 230"/>
            <p:cNvSpPr txBox="1"/>
            <p:nvPr/>
          </p:nvSpPr>
          <p:spPr>
            <a:xfrm>
              <a:off x="9048750" y="380047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健康风险</a:t>
              </a:r>
            </a:p>
          </p:txBody>
        </p:sp>
        <p:sp>
          <p:nvSpPr>
            <p:cNvPr id="231" name="TextBox 231"/>
            <p:cNvSpPr txBox="1"/>
            <p:nvPr/>
          </p:nvSpPr>
          <p:spPr>
            <a:xfrm>
              <a:off x="11209633" y="3814953"/>
              <a:ext cx="29656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FF8A80"/>
                  </a:solidFill>
                  <a:latin typeface="Arial"/>
                  <a:ea typeface="Microsoft YaHei"/>
                  <a:cs typeface="Arial"/>
                </a:rPr>
                <a:t>15%</a:t>
              </a:r>
            </a:p>
          </p:txBody>
        </p:sp>
        <p:sp>
          <p:nvSpPr>
            <p:cNvPr id="232" name="Rectangle 232"/>
            <p:cNvSpPr/>
            <p:nvPr/>
          </p:nvSpPr>
          <p:spPr>
            <a:xfrm>
              <a:off x="9048750" y="4067175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33" name="Rectangle 233"/>
            <p:cNvSpPr/>
            <p:nvPr/>
          </p:nvSpPr>
          <p:spPr>
            <a:xfrm>
              <a:off x="9048750" y="4067175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9048750" y="4210050"/>
              <a:ext cx="6290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美容与掉毛</a:t>
              </a:r>
            </a:p>
          </p:txBody>
        </p:sp>
        <p:sp>
          <p:nvSpPr>
            <p:cNvPr id="235" name="TextBox 235"/>
            <p:cNvSpPr txBox="1"/>
            <p:nvPr/>
          </p:nvSpPr>
          <p:spPr>
            <a:xfrm>
              <a:off x="11209633" y="4224528"/>
              <a:ext cx="29656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F3DB72"/>
                  </a:solidFill>
                  <a:latin typeface="Arial"/>
                  <a:ea typeface="Microsoft YaHei"/>
                  <a:cs typeface="Arial"/>
                </a:rPr>
                <a:t>10%</a:t>
              </a:r>
            </a:p>
          </p:txBody>
        </p:sp>
        <p:sp>
          <p:nvSpPr>
            <p:cNvPr id="236" name="Rectangle 236"/>
            <p:cNvSpPr/>
            <p:nvPr/>
          </p:nvSpPr>
          <p:spPr>
            <a:xfrm>
              <a:off x="9048750" y="4476750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37" name="Rectangle 237"/>
            <p:cNvSpPr/>
            <p:nvPr/>
          </p:nvSpPr>
          <p:spPr>
            <a:xfrm>
              <a:off x="9048750" y="4476750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238" name="TextBox 238"/>
            <p:cNvSpPr txBox="1"/>
            <p:nvPr/>
          </p:nvSpPr>
          <p:spPr>
            <a:xfrm>
              <a:off x="9048750" y="4619625"/>
              <a:ext cx="3813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易训度</a:t>
              </a:r>
            </a:p>
          </p:txBody>
        </p:sp>
        <p:sp>
          <p:nvSpPr>
            <p:cNvPr id="239" name="TextBox 239"/>
            <p:cNvSpPr txBox="1"/>
            <p:nvPr/>
          </p:nvSpPr>
          <p:spPr>
            <a:xfrm>
              <a:off x="11209633" y="4634103"/>
              <a:ext cx="29656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91A4EE"/>
                  </a:solidFill>
                  <a:latin typeface="Arial"/>
                  <a:ea typeface="Microsoft YaHei"/>
                  <a:cs typeface="Arial"/>
                </a:rPr>
                <a:t>10%</a:t>
              </a:r>
            </a:p>
          </p:txBody>
        </p:sp>
        <p:sp>
          <p:nvSpPr>
            <p:cNvPr id="240" name="Rectangle 240"/>
            <p:cNvSpPr/>
            <p:nvPr/>
          </p:nvSpPr>
          <p:spPr>
            <a:xfrm>
              <a:off x="9048750" y="4886325"/>
              <a:ext cx="2476500" cy="76200"/>
            </a:xfrm>
            <a:prstGeom prst="roundRect">
              <a:avLst>
                <a:gd name="adj" fmla="val 50000"/>
              </a:avLst>
            </a:prstGeom>
            <a:solidFill>
              <a:srgbClr val="314151"/>
            </a:solidFill>
            <a:ln>
              <a:noFill/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9048750" y="4886325"/>
              <a:ext cx="49530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2" name="TextBox 242"/>
            <p:cNvSpPr txBox="1"/>
            <p:nvPr/>
          </p:nvSpPr>
          <p:spPr>
            <a:xfrm>
              <a:off x="9048750" y="5029200"/>
              <a:ext cx="6290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体型与空间</a:t>
              </a:r>
            </a:p>
          </p:txBody>
        </p:sp>
        <p:sp>
          <p:nvSpPr>
            <p:cNvPr id="243" name="TextBox 243"/>
            <p:cNvSpPr txBox="1"/>
            <p:nvPr/>
          </p:nvSpPr>
          <p:spPr>
            <a:xfrm>
              <a:off x="11288363" y="5043678"/>
              <a:ext cx="217837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5%</a:t>
              </a:r>
            </a:p>
          </p:txBody>
        </p:sp>
        <p:sp>
          <p:nvSpPr>
            <p:cNvPr id="244" name="Line 244"/>
            <p:cNvSpPr/>
            <p:nvPr/>
          </p:nvSpPr>
          <p:spPr>
            <a:xfrm>
              <a:off x="9048750" y="5334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22000"/>
                </a:srgbClr>
              </a:solidFill>
            </a:ln>
          </p:spPr>
        </p:sp>
        <p:sp>
          <p:nvSpPr>
            <p:cNvPr id="245" name="TextBox 245"/>
            <p:cNvSpPr txBox="1"/>
            <p:nvPr/>
          </p:nvSpPr>
          <p:spPr>
            <a:xfrm>
              <a:off x="9048750" y="54102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b="1" dirty="0">
                  <a:solidFill>
                    <a:srgbClr val="6DD8C8"/>
                  </a:solidFill>
                  <a:latin typeface="Microsoft YaHei"/>
                  <a:ea typeface="Microsoft YaHei"/>
                  <a:cs typeface="Microsoft YaHei"/>
                </a:rPr>
                <a:t>快速结论</a:t>
              </a:r>
            </a:p>
          </p:txBody>
        </p:sp>
        <p:sp>
          <p:nvSpPr>
            <p:cNvPr id="246" name="TextBox 246"/>
            <p:cNvSpPr txBox="1"/>
            <p:nvPr/>
          </p:nvSpPr>
          <p:spPr>
            <a:xfrm>
              <a:off x="9753600" y="5410200"/>
              <a:ext cx="17434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贵宾胜在好教；雪纳瑞胜在均衡</a:t>
              </a:r>
            </a:p>
          </p:txBody>
        </p:sp>
      </p:grpSp>
      <p:grpSp>
        <p:nvGrpSpPr>
          <p:cNvPr id="253" name="Group 253"/>
          <p:cNvGrpSpPr/>
          <p:nvPr/>
        </p:nvGrpSpPr>
        <p:grpSpPr>
          <a:xfrm>
            <a:off x="419100" y="5886450"/>
            <a:ext cx="11353800" cy="552450"/>
            <a:chOff x="419100" y="5886450"/>
            <a:chExt cx="11353800" cy="552450"/>
          </a:xfrm>
        </p:grpSpPr>
        <p:sp>
          <p:nvSpPr>
            <p:cNvPr id="248" name="Rectangle 248"/>
            <p:cNvSpPr/>
            <p:nvPr/>
          </p:nvSpPr>
          <p:spPr>
            <a:xfrm>
              <a:off x="419100" y="5886450"/>
              <a:ext cx="11353800" cy="552450"/>
            </a:xfrm>
            <a:prstGeom prst="roundRect">
              <a:avLst>
                <a:gd name="adj" fmla="val 13793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571500" y="6010275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0" name="TextBox 250"/>
            <p:cNvSpPr txBox="1"/>
            <p:nvPr/>
          </p:nvSpPr>
          <p:spPr>
            <a:xfrm>
              <a:off x="681008" y="6025515"/>
              <a:ext cx="85785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500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1009650" y="5961507"/>
              <a:ext cx="366979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适配分成立的硬前提：每天安排午间遛狗或真人照护。</a:t>
              </a:r>
            </a:p>
          </p:txBody>
        </p:sp>
        <p:sp>
          <p:nvSpPr>
            <p:cNvPr id="252" name="TextBox 252"/>
            <p:cNvSpPr txBox="1"/>
            <p:nvPr/>
          </p:nvSpPr>
          <p:spPr>
            <a:xfrm>
              <a:off x="1009650" y="6162675"/>
              <a:ext cx="519716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若连续离家 &gt;10 小时且无照护，8 种犬均不直接推荐；品种得分也不代表具体犬只的实际表现。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>
            <a:off x="415759" y="189133"/>
            <a:ext cx="11618968" cy="6669874"/>
            <a:chOff x="415759" y="189133"/>
            <a:chExt cx="11618968" cy="6669874"/>
          </a:xfrm>
        </p:grpSpPr>
        <p:grpSp>
          <p:nvGrpSpPr>
            <p:cNvPr id="57" name="Group 57"/>
            <p:cNvGrpSpPr/>
            <p:nvPr/>
          </p:nvGrpSpPr>
          <p:grpSpPr>
            <a:xfrm>
              <a:off x="10008255" y="189133"/>
              <a:ext cx="2026472" cy="2000595"/>
              <a:chOff x="10008255" y="189133"/>
              <a:chExt cx="2026472" cy="20005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94303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20564" y="18913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77477" y="38739"/>
                    </a:moveTo>
                    <a:cubicBezTo>
                      <a:pt x="77477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9811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75630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48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48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53176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30723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8255" y="18913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77505" y="38739"/>
                    </a:moveTo>
                    <a:cubicBezTo>
                      <a:pt x="77505" y="60148"/>
                      <a:pt x="60148" y="77491"/>
                      <a:pt x="38753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09555" y="2112237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09555" y="178978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09555" y="1467330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009555" y="1144876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9555" y="822409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09555" y="499955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334153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334153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334153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334153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34153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334153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658764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58764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658764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58764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58764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658764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3388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983388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83388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983388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83388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83388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307985" y="2112237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307985" y="178978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07985" y="1467330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307985" y="1144876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307985" y="822409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307985" y="499955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32610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632610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632610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632610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632610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632610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57194" y="2112237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957194" y="1789783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957194" y="1467330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957194" y="1144876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39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57194" y="822409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957194" y="499955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9369991" y="6485563"/>
              <a:ext cx="1720197" cy="373444"/>
              <a:chOff x="9369991" y="6485563"/>
              <a:chExt cx="1720197" cy="373444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9370984" y="6486501"/>
                <a:ext cx="1719204" cy="372506"/>
                <a:chOff x="9370984" y="6486501"/>
                <a:chExt cx="1719204" cy="372506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370984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793291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15616" y="6486501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51219" y="0"/>
                      </a:moveTo>
                      <a:lnTo>
                        <a:pt x="452228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637923" y="6486501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51219" y="0"/>
                      </a:moveTo>
                      <a:lnTo>
                        <a:pt x="452265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 rot="5400000">
                <a:off x="10043232" y="5812322"/>
                <a:ext cx="372447" cy="1718929"/>
                <a:chOff x="10043236" y="5812326"/>
                <a:chExt cx="372447" cy="1718929"/>
              </a:xfrm>
            </p:grpSpPr>
            <p:pic>
              <p:nvPicPr>
                <p:cNvPr id="63" name="Image 63"/>
                <p:cNvPicPr>
                  <a:picLocks noChangeAspect="1"/>
                </p:cNvPicPr>
                <p:nvPr/>
              </p:nvPicPr>
              <p:blipFill>
                <a:blip r:embed="rId2">
                  <a:alphaModFix amt="20000"/>
                </a:blip>
                <a:stretch>
                  <a:fillRect/>
                </a:stretch>
              </p:blipFill>
              <p:spPr>
                <a:xfrm>
                  <a:off x="10043236" y="5812326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415759" y="6388241"/>
              <a:ext cx="3193940" cy="469083"/>
              <a:chOff x="415759" y="6388241"/>
              <a:chExt cx="3193940" cy="46908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415759" y="6388255"/>
                <a:ext cx="1605022" cy="469068"/>
              </a:xfrm>
              <a:custGeom>
                <a:avLst/>
                <a:gdLst/>
                <a:ahLst/>
                <a:cxnLst/>
                <a:rect l="l" t="t" r="r" b="b"/>
                <a:pathLst>
                  <a:path w="1605022" h="469068">
                    <a:moveTo>
                      <a:pt x="0" y="0"/>
                    </a:moveTo>
                    <a:lnTo>
                      <a:pt x="1605022" y="0"/>
                    </a:lnTo>
                    <a:lnTo>
                      <a:pt x="1605022" y="469068"/>
                    </a:lnTo>
                    <a:lnTo>
                      <a:pt x="0" y="469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273211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064202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5400000">
                <a:off x="1778188" y="5025813"/>
                <a:ext cx="469083" cy="3193940"/>
                <a:chOff x="1776586" y="5036647"/>
                <a:chExt cx="472287" cy="3172271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1776586" y="5036647"/>
                  <a:ext cx="472287" cy="3172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76" name="Group 76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73" name="Rectangle 73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74" name="Image 74"/>
              <p:cNvPicPr>
                <a:picLocks noChangeAspect="1"/>
              </p:cNvPicPr>
              <p:nvPr/>
            </p:nvPicPr>
            <p:blipFill>
              <a:blip r:embed="rId4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9" name="Group 79"/>
          <p:cNvGrpSpPr/>
          <p:nvPr/>
        </p:nvGrpSpPr>
        <p:grpSpPr>
          <a:xfrm>
            <a:off x="507749" y="396154"/>
            <a:ext cx="11176502" cy="987904"/>
            <a:chOff x="507749" y="396154"/>
            <a:chExt cx="11176502" cy="987904"/>
          </a:xfrm>
        </p:grpSpPr>
        <p:sp>
          <p:nvSpPr>
            <p:cNvPr id="77" name="Rectangle 77"/>
            <p:cNvSpPr/>
            <p:nvPr/>
          </p:nvSpPr>
          <p:spPr>
            <a:xfrm>
              <a:off x="507749" y="396154"/>
              <a:ext cx="11176502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92884" y="468516"/>
              <a:ext cx="747522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按场景抄答案，没有万能冠军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476250" y="1562100"/>
            <a:ext cx="11239500" cy="3733800"/>
            <a:chOff x="476250" y="1562100"/>
            <a:chExt cx="11239500" cy="3733800"/>
          </a:xfrm>
        </p:grpSpPr>
        <p:grpSp>
          <p:nvGrpSpPr>
            <p:cNvPr id="99" name="Group 99"/>
            <p:cNvGrpSpPr/>
            <p:nvPr/>
          </p:nvGrpSpPr>
          <p:grpSpPr>
            <a:xfrm>
              <a:off x="476250" y="1562100"/>
              <a:ext cx="2095500" cy="3733800"/>
              <a:chOff x="476250" y="1562100"/>
              <a:chExt cx="2095500" cy="373380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476250" y="1562100"/>
                <a:ext cx="2095500" cy="37338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D7D0C8"/>
                </a:solidFill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476250" y="1562100"/>
                <a:ext cx="209550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5C76D8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76250" y="2686050"/>
                <a:ext cx="2095500" cy="76200"/>
              </a:xfrm>
              <a:prstGeom prst="rect">
                <a:avLst/>
              </a:prstGeom>
              <a:solidFill>
                <a:srgbClr val="5C76D8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6775" y="1905000"/>
                <a:ext cx="23812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476250">
                    <a:moveTo>
                      <a:pt x="0" y="123825"/>
                    </a:moveTo>
                    <a:lnTo>
                      <a:pt x="95250" y="123825"/>
                    </a:lnTo>
                    <a:lnTo>
                      <a:pt x="238125" y="0"/>
                    </a:lnTo>
                    <a:lnTo>
                      <a:pt x="238125" y="476250"/>
                    </a:lnTo>
                    <a:lnTo>
                      <a:pt x="95250" y="352425"/>
                    </a:lnTo>
                    <a:lnTo>
                      <a:pt x="0" y="35242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181100" y="2028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0"/>
                    </a:moveTo>
                    <a:cubicBezTo>
                      <a:pt x="85725" y="76200"/>
                      <a:pt x="85725" y="152400"/>
                      <a:pt x="0" y="228600"/>
                    </a:cubicBezTo>
                  </a:path>
                </a:pathLst>
              </a:custGeom>
              <a:noFill/>
              <a:ln w="38100" cap="rnd">
                <a:solidFill>
                  <a:srgbClr val="FFFFFF"/>
                </a:solidFill>
              </a:ln>
            </p:spPr>
          </p:sp>
          <p:sp>
            <p:nvSpPr>
              <p:cNvPr id="85" name="Line 85"/>
              <p:cNvSpPr/>
              <p:nvPr/>
            </p:nvSpPr>
            <p:spPr>
              <a:xfrm>
                <a:off x="819150" y="1876425"/>
                <a:ext cx="485775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504825">
                    <a:moveTo>
                      <a:pt x="0" y="0"/>
                    </a:moveTo>
                    <a:lnTo>
                      <a:pt x="485775" y="504825"/>
                    </a:lnTo>
                  </a:path>
                </a:pathLst>
              </a:custGeom>
              <a:noFill/>
              <a:ln w="47625" cap="rnd">
                <a:solidFill>
                  <a:srgbClr val="FA5041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438275" y="1890903"/>
                <a:ext cx="63291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SCENE 01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438275" y="2069973"/>
                <a:ext cx="932688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怕吵公寓</a:t>
                </a: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647700" y="2914650"/>
                <a:ext cx="876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71334" y="2943225"/>
                <a:ext cx="62903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有条件适合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47700" y="3286696"/>
                <a:ext cx="896100" cy="2510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2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法斗 · 巴哥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47700" y="3567303"/>
                <a:ext cx="134416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或吠叫少、情绪稳定的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647700" y="3776853"/>
                <a:ext cx="54406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成年个体</a:t>
                </a:r>
              </a:p>
            </p:txBody>
          </p:sp>
          <p:sp>
            <p:nvSpPr>
              <p:cNvPr id="93" name="Line 93"/>
              <p:cNvSpPr/>
              <p:nvPr/>
            </p:nvSpPr>
            <p:spPr>
              <a:xfrm>
                <a:off x="647700" y="40957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9525">
                <a:solidFill>
                  <a:srgbClr val="E5E0DA"/>
                </a:solidFill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647700" y="4200525"/>
                <a:ext cx="2575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谨慎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066800" y="4200525"/>
                <a:ext cx="133209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吉娃娃 / 约克夏 / 雪纳瑞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647700" y="4495800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筛选重点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647700" y="4724400"/>
                <a:ext cx="112433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实测吠叫与独处表现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647700" y="4972050"/>
                <a:ext cx="74711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b="1" dirty="0">
                    <a:solidFill>
                      <a:srgbClr val="5C76D8"/>
                    </a:solidFill>
                    <a:latin typeface="Microsoft YaHei"/>
                    <a:ea typeface="Microsoft YaHei"/>
                    <a:cs typeface="Microsoft YaHei"/>
                  </a:rPr>
                  <a:t>安静 ≠ 耐独处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2762250" y="1562100"/>
              <a:ext cx="2123313" cy="3733800"/>
              <a:chOff x="2762250" y="1562100"/>
              <a:chExt cx="2123313" cy="373380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2762250" y="1562100"/>
                <a:ext cx="2095500" cy="37338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D7D0C8"/>
                </a:solidFill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2762250" y="1562100"/>
                <a:ext cx="209550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2762250" y="2686050"/>
                <a:ext cx="2095500" cy="76200"/>
              </a:xfrm>
              <a:prstGeom prst="rect">
                <a:avLst/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3076575" y="1895475"/>
                <a:ext cx="276225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485775">
                    <a:moveTo>
                      <a:pt x="85725" y="0"/>
                    </a:moveTo>
                    <a:cubicBezTo>
                      <a:pt x="257175" y="114300"/>
                      <a:pt x="276225" y="285750"/>
                      <a:pt x="142875" y="485775"/>
                    </a:cubicBezTo>
                    <a:cubicBezTo>
                      <a:pt x="38100" y="361950"/>
                      <a:pt x="0" y="200025"/>
                      <a:pt x="857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3238500" y="1943100"/>
                <a:ext cx="29527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361950">
                    <a:moveTo>
                      <a:pt x="0" y="361950"/>
                    </a:moveTo>
                    <a:cubicBezTo>
                      <a:pt x="133350" y="276225"/>
                      <a:pt x="238125" y="152400"/>
                      <a:pt x="295275" y="0"/>
                    </a:cubicBezTo>
                  </a:path>
                </a:pathLst>
              </a:custGeom>
              <a:noFill/>
              <a:ln w="38100" cap="rnd">
                <a:solidFill>
                  <a:srgbClr val="FFFFFF"/>
                </a:solidFill>
              </a:ln>
            </p:spPr>
          </p:sp>
          <p:sp>
            <p:nvSpPr>
              <p:cNvPr id="105" name="Line 105"/>
              <p:cNvSpPr/>
              <p:nvPr/>
            </p:nvSpPr>
            <p:spPr>
              <a:xfrm>
                <a:off x="3429000" y="187642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 cap="rnd">
                <a:solidFill>
                  <a:srgbClr val="E7C126"/>
                </a:solidFill>
              </a:ln>
            </p:spPr>
          </p:sp>
          <p:sp>
            <p:nvSpPr>
              <p:cNvPr id="106" name="Line 106"/>
              <p:cNvSpPr/>
              <p:nvPr/>
            </p:nvSpPr>
            <p:spPr>
              <a:xfrm>
                <a:off x="3505200" y="1933575"/>
                <a:ext cx="571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4775">
                    <a:moveTo>
                      <a:pt x="57150" y="0"/>
                    </a:moveTo>
                    <a:lnTo>
                      <a:pt x="0" y="104775"/>
                    </a:lnTo>
                  </a:path>
                </a:pathLst>
              </a:custGeom>
              <a:noFill/>
              <a:ln w="28575" cap="rnd">
                <a:solidFill>
                  <a:srgbClr val="E7C126"/>
                </a:solidFill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3724275" y="1890903"/>
                <a:ext cx="63291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SCENE 02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3724275" y="2069973"/>
                <a:ext cx="1161288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对掉毛敏感</a:t>
                </a:r>
              </a:p>
            </p:txBody>
          </p:sp>
          <p:sp>
            <p:nvSpPr>
              <p:cNvPr id="109" name="Rectangle 109"/>
              <p:cNvSpPr/>
              <p:nvPr/>
            </p:nvSpPr>
            <p:spPr>
              <a:xfrm>
                <a:off x="2933700" y="2914650"/>
                <a:ext cx="876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5C76D8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3119247" y="2943225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优先考察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2933700" y="3292792"/>
                <a:ext cx="1569958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贵宾 · 比熊 · 马尔济斯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2933700" y="3521392"/>
                <a:ext cx="1362194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约克夏 · 迷你雪纳瑞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2933700" y="384810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9525">
                <a:solidFill>
                  <a:srgbClr val="E5E0DA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2933700" y="3890010"/>
                <a:ext cx="866120" cy="441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2250" b="1" dirty="0">
                    <a:solidFill>
                      <a:srgbClr val="5C76D8"/>
                    </a:solidFill>
                    <a:latin typeface="Microsoft YaHei"/>
                    <a:ea typeface="Microsoft YaHei"/>
                    <a:cs typeface="Microsoft YaHei"/>
                  </a:rPr>
                  <a:t>4–8 周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2933700" y="4248150"/>
                <a:ext cx="7528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一次专业美容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2933700" y="4552950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必要投入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2933700" y="4781550"/>
                <a:ext cx="14958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日常梳毛、泪痕与口腔护理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2933700" y="5010150"/>
                <a:ext cx="86141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低掉毛 ≠ 低维护</a:t>
                </a: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5048250" y="1562100"/>
              <a:ext cx="2123313" cy="3733800"/>
              <a:chOff x="5048250" y="1562100"/>
              <a:chExt cx="2123313" cy="3733800"/>
            </a:xfrm>
          </p:grpSpPr>
          <p:sp>
            <p:nvSpPr>
              <p:cNvPr id="120" name="Rectangle 120"/>
              <p:cNvSpPr/>
              <p:nvPr/>
            </p:nvSpPr>
            <p:spPr>
              <a:xfrm>
                <a:off x="5048250" y="1562100"/>
                <a:ext cx="2095500" cy="37338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D7D0C8"/>
                </a:solidFill>
              </a:ln>
            </p:spPr>
          </p:sp>
          <p:sp>
            <p:nvSpPr>
              <p:cNvPr id="121" name="Rectangle 121"/>
              <p:cNvSpPr/>
              <p:nvPr/>
            </p:nvSpPr>
            <p:spPr>
              <a:xfrm>
                <a:off x="5048250" y="1562100"/>
                <a:ext cx="209550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E7C126"/>
              </a:solidFill>
              <a:ln>
                <a:noFill/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5048250" y="2686050"/>
                <a:ext cx="2095500" cy="76200"/>
              </a:xfrm>
              <a:prstGeom prst="rect">
                <a:avLst/>
              </a:prstGeom>
              <a:solidFill>
                <a:srgbClr val="E7C126"/>
              </a:solidFill>
              <a:ln>
                <a:noFill/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200650" y="187642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5314950" y="2019300"/>
                <a:ext cx="285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0">
                    <a:moveTo>
                      <a:pt x="0" y="104775"/>
                    </a:moveTo>
                    <a:lnTo>
                      <a:pt x="104775" y="209550"/>
                    </a:lnTo>
                    <a:lnTo>
                      <a:pt x="285750" y="0"/>
                    </a:lnTo>
                  </a:path>
                </a:pathLst>
              </a:custGeom>
              <a:noFill/>
              <a:ln w="57150" cap="rnd">
                <a:solidFill>
                  <a:srgbClr val="E7C126"/>
                </a:solidFill>
                <a:round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6010275" y="1890903"/>
                <a:ext cx="63291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SCENE 03</a:t>
                </a:r>
              </a:p>
            </p:txBody>
          </p:sp>
          <p:sp>
            <p:nvSpPr>
              <p:cNvPr id="126" name="TextBox 126"/>
              <p:cNvSpPr txBox="1"/>
              <p:nvPr/>
            </p:nvSpPr>
            <p:spPr>
              <a:xfrm>
                <a:off x="6010275" y="2069973"/>
                <a:ext cx="1161288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新手愿训练</a:t>
                </a:r>
              </a:p>
            </p:txBody>
          </p:sp>
          <p:sp>
            <p:nvSpPr>
              <p:cNvPr id="127" name="Rectangle 127"/>
              <p:cNvSpPr/>
              <p:nvPr/>
            </p:nvSpPr>
            <p:spPr>
              <a:xfrm>
                <a:off x="5219700" y="2914650"/>
                <a:ext cx="876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6DD8C8"/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5405247" y="2943225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相对优先</a:t>
                </a:r>
              </a:p>
            </p:txBody>
          </p:sp>
          <p:sp>
            <p:nvSpPr>
              <p:cNvPr id="129" name="TextBox 129"/>
              <p:cNvSpPr txBox="1"/>
              <p:nvPr/>
            </p:nvSpPr>
            <p:spPr>
              <a:xfrm>
                <a:off x="5219700" y="3263265"/>
                <a:ext cx="967740" cy="3009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500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玩具贵宾犬</a:t>
                </a:r>
              </a:p>
            </p:txBody>
          </p:sp>
          <p:sp>
            <p:nvSpPr>
              <p:cNvPr id="130" name="TextBox 130"/>
              <p:cNvSpPr txBox="1"/>
              <p:nvPr/>
            </p:nvSpPr>
            <p:spPr>
              <a:xfrm>
                <a:off x="5219700" y="3510724"/>
                <a:ext cx="1439275" cy="4522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2325" b="1" dirty="0">
                    <a:solidFill>
                      <a:srgbClr val="E7A900"/>
                    </a:solidFill>
                    <a:latin typeface="Microsoft YaHei"/>
                    <a:ea typeface="Microsoft YaHei"/>
                    <a:cs typeface="Microsoft YaHei"/>
                  </a:rPr>
                  <a:t>易训度 5/5</a:t>
                </a:r>
              </a:p>
            </p:txBody>
          </p:sp>
          <p:sp>
            <p:nvSpPr>
              <p:cNvPr id="131" name="TextBox 131"/>
              <p:cNvSpPr txBox="1"/>
              <p:nvPr/>
            </p:nvSpPr>
            <p:spPr>
              <a:xfrm>
                <a:off x="5219700" y="3905250"/>
                <a:ext cx="14958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适合定点、服从与互动游戏</a:t>
                </a:r>
              </a:p>
            </p:txBody>
          </p:sp>
          <p:sp>
            <p:nvSpPr>
              <p:cNvPr id="132" name="Line 132"/>
              <p:cNvSpPr/>
              <p:nvPr/>
            </p:nvSpPr>
            <p:spPr>
              <a:xfrm>
                <a:off x="5219700" y="42481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9525">
                <a:solidFill>
                  <a:srgbClr val="E5E0DA"/>
                </a:solidFill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5219700" y="4391025"/>
                <a:ext cx="75285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每日脑力训练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5219700" y="4613148"/>
                <a:ext cx="1191202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5C76D8"/>
                    </a:solidFill>
                    <a:latin typeface="Microsoft YaHei"/>
                    <a:ea typeface="Microsoft YaHei"/>
                    <a:cs typeface="Microsoft YaHei"/>
                  </a:rPr>
                  <a:t>10–20 分钟</a:t>
                </a:r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5219700" y="4991100"/>
                <a:ext cx="86141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聪明 ≠ 自动听话</a:t>
                </a:r>
              </a:p>
            </p:txBody>
          </p:sp>
        </p:grpSp>
        <p:grpSp>
          <p:nvGrpSpPr>
            <p:cNvPr id="155" name="Group 155"/>
            <p:cNvGrpSpPr/>
            <p:nvPr/>
          </p:nvGrpSpPr>
          <p:grpSpPr>
            <a:xfrm>
              <a:off x="7334250" y="1562100"/>
              <a:ext cx="2351913" cy="3733800"/>
              <a:chOff x="7334250" y="1562100"/>
              <a:chExt cx="2351913" cy="3733800"/>
            </a:xfrm>
          </p:grpSpPr>
          <p:sp>
            <p:nvSpPr>
              <p:cNvPr id="137" name="Rectangle 137"/>
              <p:cNvSpPr/>
              <p:nvPr/>
            </p:nvSpPr>
            <p:spPr>
              <a:xfrm>
                <a:off x="7334250" y="1562100"/>
                <a:ext cx="2095500" cy="37338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D7D0C8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7334250" y="1562100"/>
                <a:ext cx="209550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9D6FC7"/>
              </a:solidFill>
              <a:ln>
                <a:noFill/>
              </a:ln>
            </p:spPr>
          </p:sp>
          <p:sp>
            <p:nvSpPr>
              <p:cNvPr id="139" name="Rectangle 139"/>
              <p:cNvSpPr/>
              <p:nvPr/>
            </p:nvSpPr>
            <p:spPr>
              <a:xfrm>
                <a:off x="7334250" y="2686050"/>
                <a:ext cx="2095500" cy="76200"/>
              </a:xfrm>
              <a:prstGeom prst="rect">
                <a:avLst/>
              </a:prstGeom>
              <a:solidFill>
                <a:srgbClr val="9D6FC7"/>
              </a:solidFill>
              <a:ln>
                <a:noFill/>
              </a:ln>
            </p:spPr>
          </p:sp>
          <p:sp>
            <p:nvSpPr>
              <p:cNvPr id="140" name="Ellipse 140"/>
              <p:cNvSpPr/>
              <p:nvPr/>
            </p:nvSpPr>
            <p:spPr>
              <a:xfrm>
                <a:off x="7486650" y="187642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7581900" y="1971675"/>
                <a:ext cx="3333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42900">
                    <a:moveTo>
                      <a:pt x="9525" y="219075"/>
                    </a:moveTo>
                    <a:cubicBezTo>
                      <a:pt x="57150" y="47625"/>
                      <a:pt x="266700" y="0"/>
                      <a:pt x="333375" y="161925"/>
                    </a:cubicBezTo>
                    <a:cubicBezTo>
                      <a:pt x="333375" y="285750"/>
                      <a:pt x="219075" y="342900"/>
                      <a:pt x="104775" y="333375"/>
                    </a:cubicBezTo>
                    <a:cubicBezTo>
                      <a:pt x="38100" y="314325"/>
                      <a:pt x="0" y="276225"/>
                      <a:pt x="9525" y="219075"/>
                    </a:cubicBezTo>
                    <a:close/>
                  </a:path>
                </a:pathLst>
              </a:custGeom>
              <a:solidFill>
                <a:srgbClr val="9D6FC7"/>
              </a:solidFill>
              <a:ln>
                <a:noFill/>
              </a:ln>
            </p:spPr>
          </p:sp>
          <p:sp>
            <p:nvSpPr>
              <p:cNvPr id="142" name="Ellipse 142"/>
              <p:cNvSpPr/>
              <p:nvPr/>
            </p:nvSpPr>
            <p:spPr>
              <a:xfrm>
                <a:off x="7643812" y="2090738"/>
                <a:ext cx="47625" cy="476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7815262" y="2090738"/>
                <a:ext cx="47625" cy="476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8296275" y="1890903"/>
                <a:ext cx="63291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SCENE 04</a:t>
                </a:r>
              </a:p>
            </p:txBody>
          </p:sp>
          <p:sp>
            <p:nvSpPr>
              <p:cNvPr id="145" name="TextBox 145"/>
              <p:cNvSpPr txBox="1"/>
              <p:nvPr/>
            </p:nvSpPr>
            <p:spPr>
              <a:xfrm>
                <a:off x="8296275" y="2069973"/>
                <a:ext cx="1389888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运动能力有限</a:t>
                </a:r>
              </a:p>
            </p:txBody>
          </p:sp>
          <p:sp>
            <p:nvSpPr>
              <p:cNvPr id="146" name="Rectangle 146"/>
              <p:cNvSpPr/>
              <p:nvPr/>
            </p:nvSpPr>
            <p:spPr>
              <a:xfrm>
                <a:off x="7505700" y="2914650"/>
                <a:ext cx="876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7C126"/>
              </a:solidFill>
              <a:ln>
                <a:noFill/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91247" y="2943225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条件推荐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7505700" y="3261550"/>
                <a:ext cx="1001506" cy="2907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4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法斗 · 巴哥</a:t>
                </a: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7505700" y="3543681"/>
                <a:ext cx="1389662" cy="421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2100" b="1" dirty="0">
                    <a:solidFill>
                      <a:srgbClr val="9D6FC7"/>
                    </a:solidFill>
                    <a:latin typeface="Microsoft YaHei"/>
                    <a:ea typeface="Microsoft YaHei"/>
                    <a:cs typeface="Microsoft YaHei"/>
                  </a:rPr>
                  <a:t>30–45 分钟</a:t>
                </a: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7505700" y="3895725"/>
                <a:ext cx="1124331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每日短时、多次活动</a:t>
                </a:r>
              </a:p>
            </p:txBody>
          </p:sp>
          <p:sp>
            <p:nvSpPr>
              <p:cNvPr id="151" name="Line 151"/>
              <p:cNvSpPr/>
              <p:nvPr/>
            </p:nvSpPr>
            <p:spPr>
              <a:xfrm>
                <a:off x="7505700" y="4238625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9525">
                <a:solidFill>
                  <a:srgbClr val="E5E0DA"/>
                </a:solidFill>
              </a:ln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505700" y="4381500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必要条件</a:t>
                </a:r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7505700" y="4610100"/>
                <a:ext cx="1854184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空调 · 控重 · 避免高温剧烈运动</a:t>
                </a:r>
              </a:p>
            </p:txBody>
          </p:sp>
          <p:sp>
            <p:nvSpPr>
              <p:cNvPr id="154" name="TextBox 154"/>
              <p:cNvSpPr txBox="1"/>
              <p:nvPr/>
            </p:nvSpPr>
            <p:spPr>
              <a:xfrm>
                <a:off x="7505700" y="4905375"/>
                <a:ext cx="7274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健康风险 5/5</a:t>
                </a:r>
              </a:p>
            </p:txBody>
          </p:sp>
        </p:grpSp>
        <p:grpSp>
          <p:nvGrpSpPr>
            <p:cNvPr id="173" name="Group 173"/>
            <p:cNvGrpSpPr/>
            <p:nvPr/>
          </p:nvGrpSpPr>
          <p:grpSpPr>
            <a:xfrm>
              <a:off x="9620250" y="1562100"/>
              <a:ext cx="2095500" cy="3733800"/>
              <a:chOff x="9620250" y="1562100"/>
              <a:chExt cx="2095500" cy="3733800"/>
            </a:xfrm>
          </p:grpSpPr>
          <p:sp>
            <p:nvSpPr>
              <p:cNvPr id="156" name="Rectangle 156"/>
              <p:cNvSpPr/>
              <p:nvPr/>
            </p:nvSpPr>
            <p:spPr>
              <a:xfrm>
                <a:off x="9620250" y="1562100"/>
                <a:ext cx="2095500" cy="3733800"/>
              </a:xfrm>
              <a:prstGeom prst="roundRect">
                <a:avLst>
                  <a:gd name="adj" fmla="val 3636"/>
                </a:avLst>
              </a:prstGeom>
              <a:solidFill>
                <a:srgbClr val="FFFFFF"/>
              </a:solidFill>
              <a:ln w="9525">
                <a:solidFill>
                  <a:srgbClr val="D7D0C8"/>
                </a:solidFill>
              </a:ln>
            </p:spPr>
          </p:sp>
          <p:sp>
            <p:nvSpPr>
              <p:cNvPr id="157" name="Rectangle 157"/>
              <p:cNvSpPr/>
              <p:nvPr/>
            </p:nvSpPr>
            <p:spPr>
              <a:xfrm>
                <a:off x="9620250" y="1562100"/>
                <a:ext cx="209550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FA5041"/>
              </a:solidFill>
              <a:ln>
                <a:noFill/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9620250" y="2686050"/>
                <a:ext cx="2095500" cy="76200"/>
              </a:xfrm>
              <a:prstGeom prst="rect">
                <a:avLst/>
              </a:prstGeom>
              <a:solidFill>
                <a:srgbClr val="FA5041"/>
              </a:solidFill>
              <a:ln>
                <a:noFill/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9772650" y="1876425"/>
                <a:ext cx="514350" cy="514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0" name="TextBox 160"/>
              <p:cNvSpPr txBox="1"/>
              <p:nvPr/>
            </p:nvSpPr>
            <p:spPr>
              <a:xfrm>
                <a:off x="9937293" y="1945196"/>
                <a:ext cx="185065" cy="431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2175" b="1" dirty="0">
                    <a:solidFill>
                      <a:srgbClr val="FA5041"/>
                    </a:solidFill>
                    <a:latin typeface="Arial"/>
                    <a:ea typeface="Microsoft YaHei"/>
                    <a:cs typeface="Arial"/>
                  </a:rPr>
                  <a:t>¥</a:t>
                </a: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10582275" y="1890903"/>
                <a:ext cx="632918" cy="220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SCENE 05</a:t>
                </a:r>
              </a:p>
            </p:txBody>
          </p:sp>
          <p:sp>
            <p:nvSpPr>
              <p:cNvPr id="162" name="TextBox 162"/>
              <p:cNvSpPr txBox="1"/>
              <p:nvPr/>
            </p:nvSpPr>
            <p:spPr>
              <a:xfrm>
                <a:off x="10582275" y="2069973"/>
                <a:ext cx="932688" cy="351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预算有限</a:t>
                </a:r>
              </a:p>
            </p:txBody>
          </p:sp>
          <p:sp>
            <p:nvSpPr>
              <p:cNvPr id="163" name="Rectangle 163"/>
              <p:cNvSpPr/>
              <p:nvPr/>
            </p:nvSpPr>
            <p:spPr>
              <a:xfrm>
                <a:off x="9791700" y="2914650"/>
                <a:ext cx="8763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AD9D5"/>
              </a:solidFill>
              <a:ln>
                <a:noFill/>
              </a:ln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9977247" y="2943225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B5281D"/>
                    </a:solidFill>
                    <a:latin typeface="Microsoft YaHei"/>
                    <a:ea typeface="Microsoft YaHei"/>
                    <a:cs typeface="Microsoft YaHei"/>
                  </a:rPr>
                  <a:t>谨慎选择</a:t>
                </a:r>
              </a:p>
            </p:txBody>
          </p:sp>
          <p:sp>
            <p:nvSpPr>
              <p:cNvPr id="165" name="TextBox 165"/>
              <p:cNvSpPr txBox="1"/>
              <p:nvPr/>
            </p:nvSpPr>
            <p:spPr>
              <a:xfrm>
                <a:off x="9791700" y="3311842"/>
                <a:ext cx="1154430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12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别只看体型与粮食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9791700" y="3590925"/>
                <a:ext cx="117969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短鼻犬 → 医疗成本高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9791700" y="3819525"/>
                <a:ext cx="1179695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长毛犬 → 持续美容贵</a:t>
                </a:r>
              </a:p>
            </p:txBody>
          </p:sp>
          <p:sp>
            <p:nvSpPr>
              <p:cNvPr id="168" name="Line 168"/>
              <p:cNvSpPr/>
              <p:nvPr/>
            </p:nvSpPr>
            <p:spPr>
              <a:xfrm>
                <a:off x="9791700" y="4171950"/>
                <a:ext cx="1752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52600" h="9525">
                    <a:moveTo>
                      <a:pt x="0" y="0"/>
                    </a:moveTo>
                    <a:lnTo>
                      <a:pt x="1752600" y="0"/>
                    </a:lnTo>
                  </a:path>
                </a:pathLst>
              </a:custGeom>
              <a:noFill/>
              <a:ln w="9525">
                <a:solidFill>
                  <a:srgbClr val="E5E0DA"/>
                </a:solidFill>
              </a:ln>
            </p:spPr>
          </p:sp>
          <p:sp>
            <p:nvSpPr>
              <p:cNvPr id="169" name="TextBox 169"/>
              <p:cNvSpPr txBox="1"/>
              <p:nvPr/>
            </p:nvSpPr>
            <p:spPr>
              <a:xfrm>
                <a:off x="9791700" y="4314825"/>
                <a:ext cx="505206" cy="200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75" b="1" dirty="0">
                    <a:solidFill>
                      <a:srgbClr val="021324"/>
                    </a:solidFill>
                    <a:latin typeface="Microsoft YaHei"/>
                    <a:ea typeface="Microsoft YaHei"/>
                    <a:cs typeface="Microsoft YaHei"/>
                  </a:rPr>
                  <a:t>午间遛狗</a:t>
                </a:r>
              </a:p>
            </p:txBody>
          </p:sp>
          <p:sp>
            <p:nvSpPr>
              <p:cNvPr id="170" name="TextBox 170"/>
              <p:cNvSpPr txBox="1"/>
              <p:nvPr/>
            </p:nvSpPr>
            <p:spPr>
              <a:xfrm>
                <a:off x="9791700" y="4529138"/>
                <a:ext cx="1473398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1875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30–100 元/次</a:t>
                </a: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9791700" y="4876800"/>
                <a:ext cx="1397794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dirty="0">
                    <a:solidFill>
                      <a:srgbClr val="394655"/>
                    </a:solidFill>
                    <a:latin typeface="Microsoft YaHei"/>
                    <a:ea typeface="Microsoft YaHei"/>
                    <a:cs typeface="Microsoft YaHei"/>
                  </a:rPr>
                  <a:t>月支出或增加 600–2,600 元</a:t>
                </a: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9791700" y="5067300"/>
                <a:ext cx="975717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00" b="1" dirty="0">
                    <a:solidFill>
                      <a:srgbClr val="FA5041"/>
                    </a:solidFill>
                    <a:latin typeface="Microsoft YaHei"/>
                    <a:ea typeface="Microsoft YaHei"/>
                    <a:cs typeface="Microsoft YaHei"/>
                  </a:rPr>
                  <a:t>吃得少 ≠ 养得便宜</a:t>
                </a:r>
              </a:p>
            </p:txBody>
          </p:sp>
        </p:grpSp>
      </p:grpSp>
      <p:grpSp>
        <p:nvGrpSpPr>
          <p:cNvPr id="191" name="Group 191"/>
          <p:cNvGrpSpPr/>
          <p:nvPr/>
        </p:nvGrpSpPr>
        <p:grpSpPr>
          <a:xfrm>
            <a:off x="476250" y="5524500"/>
            <a:ext cx="11239500" cy="781050"/>
            <a:chOff x="476250" y="5524500"/>
            <a:chExt cx="11239500" cy="781050"/>
          </a:xfrm>
        </p:grpSpPr>
        <p:sp>
          <p:nvSpPr>
            <p:cNvPr id="175" name="Rectangle 175"/>
            <p:cNvSpPr/>
            <p:nvPr/>
          </p:nvSpPr>
          <p:spPr>
            <a:xfrm>
              <a:off x="476250" y="5524500"/>
              <a:ext cx="11239500" cy="781050"/>
            </a:xfrm>
            <a:prstGeom prst="roundRect">
              <a:avLst>
                <a:gd name="adj" fmla="val 9756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476250" y="5524500"/>
              <a:ext cx="1790700" cy="781050"/>
            </a:xfrm>
            <a:prstGeom prst="roundRect">
              <a:avLst>
                <a:gd name="adj" fmla="val 9756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77" name="Freeform 177"/>
            <p:cNvSpPr/>
            <p:nvPr/>
          </p:nvSpPr>
          <p:spPr>
            <a:xfrm>
              <a:off x="619125" y="5762625"/>
              <a:ext cx="400050" cy="342900"/>
            </a:xfrm>
            <a:custGeom>
              <a:avLst/>
              <a:gdLst/>
              <a:ahLst/>
              <a:cxnLst/>
              <a:rect l="l" t="t" r="r" b="b"/>
              <a:pathLst>
                <a:path w="400050" h="342900">
                  <a:moveTo>
                    <a:pt x="200025" y="0"/>
                  </a:moveTo>
                  <a:lnTo>
                    <a:pt x="40005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8" name="Line 178"/>
            <p:cNvSpPr/>
            <p:nvPr/>
          </p:nvSpPr>
          <p:spPr>
            <a:xfrm>
              <a:off x="819150" y="58578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38100" cap="rnd">
              <a:solidFill>
                <a:srgbClr val="FA5041"/>
              </a:solidFill>
            </a:ln>
          </p:spPr>
        </p:sp>
        <p:sp>
          <p:nvSpPr>
            <p:cNvPr id="179" name="Ellipse 179"/>
            <p:cNvSpPr/>
            <p:nvPr/>
          </p:nvSpPr>
          <p:spPr>
            <a:xfrm>
              <a:off x="795338" y="6024562"/>
              <a:ext cx="47625" cy="47625"/>
            </a:xfrm>
            <a:prstGeom prst="ellipse">
              <a:avLst/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1152525" y="5712142"/>
              <a:ext cx="725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无推荐场景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152525" y="5962650"/>
              <a:ext cx="97312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 个犬种都不硬选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2533650" y="5674042"/>
              <a:ext cx="90052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离家 &gt;10 小时</a:t>
              </a:r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3848100" y="5625465"/>
              <a:ext cx="2057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b="1" dirty="0">
                  <a:solidFill>
                    <a:srgbClr val="6DD8C8"/>
                  </a:solidFill>
                  <a:latin typeface="Microsoft YaHei"/>
                  <a:ea typeface="Microsoft YaHei"/>
                  <a:cs typeface="Microsoft YaHei"/>
                </a:rPr>
                <a:t>＋</a:t>
              </a:r>
            </a:p>
          </p:txBody>
        </p:sp>
        <p:sp>
          <p:nvSpPr>
            <p:cNvPr id="184" name="TextBox 184"/>
            <p:cNvSpPr txBox="1"/>
            <p:nvPr/>
          </p:nvSpPr>
          <p:spPr>
            <a:xfrm>
              <a:off x="4191000" y="5674042"/>
              <a:ext cx="10115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无午间真人照护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5715000" y="5625465"/>
              <a:ext cx="205740" cy="300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00" b="1" dirty="0">
                  <a:solidFill>
                    <a:srgbClr val="6DD8C8"/>
                  </a:solidFill>
                  <a:latin typeface="Microsoft YaHei"/>
                  <a:ea typeface="Microsoft YaHei"/>
                  <a:cs typeface="Microsoft YaHei"/>
                </a:rPr>
                <a:t>＋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6057900" y="5674042"/>
              <a:ext cx="1186279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晚间投入 &lt;60 分钟</a:t>
              </a:r>
            </a:p>
          </p:txBody>
        </p:sp>
        <p:sp>
          <p:nvSpPr>
            <p:cNvPr id="187" name="Freeform 187"/>
            <p:cNvSpPr/>
            <p:nvPr/>
          </p:nvSpPr>
          <p:spPr>
            <a:xfrm>
              <a:off x="7886700" y="581025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8575" cap="rnd">
              <a:solidFill>
                <a:srgbClr val="E7C126"/>
              </a:solidFill>
            </a:ln>
          </p:spPr>
        </p:sp>
        <p:sp>
          <p:nvSpPr>
            <p:cNvPr id="188" name="Freeform 188"/>
            <p:cNvSpPr/>
            <p:nvPr/>
          </p:nvSpPr>
          <p:spPr>
            <a:xfrm>
              <a:off x="8258175" y="573405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0" y="0"/>
                  </a:moveTo>
                  <a:lnTo>
                    <a:pt x="95250" y="76200"/>
                  </a:lnTo>
                  <a:lnTo>
                    <a:pt x="0" y="152400"/>
                  </a:lnTo>
                </a:path>
              </a:pathLst>
            </a:custGeom>
            <a:noFill/>
            <a:ln w="28575" cap="rnd">
              <a:solidFill>
                <a:srgbClr val="E7C126"/>
              </a:solidFill>
              <a:round/>
            </a:ln>
          </p:spPr>
        </p:sp>
        <p:sp>
          <p:nvSpPr>
            <p:cNvPr id="189" name="TextBox 189"/>
            <p:cNvSpPr txBox="1"/>
            <p:nvPr/>
          </p:nvSpPr>
          <p:spPr>
            <a:xfrm>
              <a:off x="8572500" y="5650611"/>
              <a:ext cx="1042416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350" b="1" dirty="0">
                  <a:solidFill>
                    <a:srgbClr val="E7C126"/>
                  </a:solidFill>
                  <a:latin typeface="Microsoft YaHei"/>
                  <a:ea typeface="Microsoft YaHei"/>
                  <a:cs typeface="Microsoft YaHei"/>
                </a:rPr>
                <a:t>建议暂缓养犬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2533650" y="5962650"/>
              <a:ext cx="471525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C9D0D8"/>
                  </a:solidFill>
                  <a:latin typeface="Microsoft YaHei"/>
                  <a:ea typeface="Microsoft YaHei"/>
                  <a:cs typeface="Microsoft YaHei"/>
                </a:rPr>
                <a:t>可先参与周末陪伴、寄养或志愿活动；所有适配结论均以“每天有午间照护”为前提。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72" name="Group 72"/>
          <p:cNvGrpSpPr/>
          <p:nvPr/>
        </p:nvGrpSpPr>
        <p:grpSpPr>
          <a:xfrm>
            <a:off x="415759" y="189133"/>
            <a:ext cx="11618968" cy="6669874"/>
            <a:chOff x="415759" y="189133"/>
            <a:chExt cx="11618968" cy="6669874"/>
          </a:xfrm>
        </p:grpSpPr>
        <p:grpSp>
          <p:nvGrpSpPr>
            <p:cNvPr id="57" name="Group 57"/>
            <p:cNvGrpSpPr/>
            <p:nvPr/>
          </p:nvGrpSpPr>
          <p:grpSpPr>
            <a:xfrm>
              <a:off x="10008255" y="189133"/>
              <a:ext cx="2026472" cy="2000595"/>
              <a:chOff x="10008255" y="189133"/>
              <a:chExt cx="2026472" cy="20005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94303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20564" y="18913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77477" y="38739"/>
                    </a:moveTo>
                    <a:cubicBezTo>
                      <a:pt x="77477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298111" y="18913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77464" y="38739"/>
                    </a:moveTo>
                    <a:cubicBezTo>
                      <a:pt x="77464" y="60148"/>
                      <a:pt x="60120" y="77491"/>
                      <a:pt x="38725" y="77491"/>
                    </a:cubicBez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75630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48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48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53176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30723" y="18913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77491" y="38739"/>
                    </a:moveTo>
                    <a:cubicBezTo>
                      <a:pt x="77491" y="60148"/>
                      <a:pt x="60134" y="77491"/>
                      <a:pt x="38739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8255" y="18913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77505" y="38739"/>
                    </a:moveTo>
                    <a:cubicBezTo>
                      <a:pt x="77505" y="60148"/>
                      <a:pt x="60148" y="77491"/>
                      <a:pt x="38753" y="77491"/>
                    </a:cubicBez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09555" y="2112237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09555" y="1789783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09555" y="1467330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53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009555" y="1144876"/>
                <a:ext cx="77491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91" y="17343"/>
                      <a:pt x="77491" y="38739"/>
                    </a:cubicBezTo>
                    <a:cubicBezTo>
                      <a:pt x="77491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009555" y="822409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009555" y="499955"/>
                <a:ext cx="77491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91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91" y="17357"/>
                      <a:pt x="77491" y="38753"/>
                    </a:cubicBezTo>
                    <a:cubicBezTo>
                      <a:pt x="77491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334153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334153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334153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334153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334153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334153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658764" y="2112237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58764" y="1789783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658764" y="1467330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53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53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58764" y="1144876"/>
                <a:ext cx="77505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491">
                    <a:moveTo>
                      <a:pt x="38753" y="77491"/>
                    </a:moveTo>
                    <a:cubicBezTo>
                      <a:pt x="17357" y="77491"/>
                      <a:pt x="0" y="60148"/>
                      <a:pt x="0" y="38739"/>
                    </a:cubicBezTo>
                    <a:cubicBezTo>
                      <a:pt x="0" y="17343"/>
                      <a:pt x="17357" y="0"/>
                      <a:pt x="38753" y="0"/>
                    </a:cubicBezTo>
                    <a:cubicBezTo>
                      <a:pt x="60148" y="0"/>
                      <a:pt x="77505" y="17343"/>
                      <a:pt x="77505" y="38739"/>
                    </a:cubicBezTo>
                    <a:cubicBezTo>
                      <a:pt x="77505" y="60148"/>
                      <a:pt x="60148" y="77491"/>
                      <a:pt x="38753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658764" y="822409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658764" y="499955"/>
                <a:ext cx="77505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77505">
                    <a:moveTo>
                      <a:pt x="38753" y="77505"/>
                    </a:moveTo>
                    <a:cubicBezTo>
                      <a:pt x="17357" y="77505"/>
                      <a:pt x="0" y="60148"/>
                      <a:pt x="0" y="38753"/>
                    </a:cubicBezTo>
                    <a:cubicBezTo>
                      <a:pt x="0" y="17357"/>
                      <a:pt x="17357" y="0"/>
                      <a:pt x="38753" y="0"/>
                    </a:cubicBezTo>
                    <a:cubicBezTo>
                      <a:pt x="60148" y="0"/>
                      <a:pt x="77505" y="17357"/>
                      <a:pt x="77505" y="38753"/>
                    </a:cubicBezTo>
                    <a:cubicBezTo>
                      <a:pt x="77505" y="60148"/>
                      <a:pt x="60148" y="77505"/>
                      <a:pt x="38753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3388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983388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83388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983388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83388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83388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307985" y="2112237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307985" y="1789783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07985" y="1467330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53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53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307985" y="1144876"/>
                <a:ext cx="77464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491">
                    <a:moveTo>
                      <a:pt x="38725" y="77491"/>
                    </a:moveTo>
                    <a:cubicBezTo>
                      <a:pt x="17329" y="77491"/>
                      <a:pt x="0" y="60148"/>
                      <a:pt x="0" y="38739"/>
                    </a:cubicBezTo>
                    <a:cubicBezTo>
                      <a:pt x="0" y="17343"/>
                      <a:pt x="17329" y="0"/>
                      <a:pt x="38725" y="0"/>
                    </a:cubicBezTo>
                    <a:cubicBezTo>
                      <a:pt x="60120" y="0"/>
                      <a:pt x="77464" y="17343"/>
                      <a:pt x="77464" y="38739"/>
                    </a:cubicBezTo>
                    <a:cubicBezTo>
                      <a:pt x="77464" y="60148"/>
                      <a:pt x="60120" y="77491"/>
                      <a:pt x="38725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307985" y="822409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307985" y="499955"/>
                <a:ext cx="77464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64" h="77505">
                    <a:moveTo>
                      <a:pt x="38725" y="77505"/>
                    </a:moveTo>
                    <a:cubicBezTo>
                      <a:pt x="17329" y="77505"/>
                      <a:pt x="0" y="60148"/>
                      <a:pt x="0" y="38753"/>
                    </a:cubicBezTo>
                    <a:cubicBezTo>
                      <a:pt x="0" y="17357"/>
                      <a:pt x="17329" y="0"/>
                      <a:pt x="38725" y="0"/>
                    </a:cubicBezTo>
                    <a:cubicBezTo>
                      <a:pt x="60120" y="0"/>
                      <a:pt x="77464" y="17357"/>
                      <a:pt x="77464" y="38753"/>
                    </a:cubicBezTo>
                    <a:cubicBezTo>
                      <a:pt x="77464" y="60148"/>
                      <a:pt x="60120" y="77505"/>
                      <a:pt x="38725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32610" y="2112237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632610" y="1789783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632610" y="1467330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53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632610" y="1144876"/>
                <a:ext cx="77477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477" y="17343"/>
                      <a:pt x="77477" y="38739"/>
                    </a:cubicBezTo>
                    <a:cubicBezTo>
                      <a:pt x="77477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632610" y="822409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632610" y="499955"/>
                <a:ext cx="77477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477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477" y="17357"/>
                      <a:pt x="77477" y="38753"/>
                    </a:cubicBezTo>
                    <a:cubicBezTo>
                      <a:pt x="77477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57194" y="2112237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957194" y="1789783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957194" y="1467330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53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53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957194" y="1144876"/>
                <a:ext cx="77533" cy="77491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491">
                    <a:moveTo>
                      <a:pt x="38739" y="77491"/>
                    </a:moveTo>
                    <a:cubicBezTo>
                      <a:pt x="17343" y="77491"/>
                      <a:pt x="0" y="60148"/>
                      <a:pt x="0" y="38739"/>
                    </a:cubicBezTo>
                    <a:cubicBezTo>
                      <a:pt x="0" y="17343"/>
                      <a:pt x="17343" y="0"/>
                      <a:pt x="38739" y="0"/>
                    </a:cubicBezTo>
                    <a:cubicBezTo>
                      <a:pt x="60134" y="0"/>
                      <a:pt x="77533" y="17343"/>
                      <a:pt x="77533" y="38739"/>
                    </a:cubicBezTo>
                    <a:cubicBezTo>
                      <a:pt x="77533" y="60148"/>
                      <a:pt x="60134" y="77491"/>
                      <a:pt x="38739" y="774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57194" y="822409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957194" y="499955"/>
                <a:ext cx="77533" cy="77505"/>
              </a:xfrm>
              <a:custGeom>
                <a:avLst/>
                <a:gdLst/>
                <a:ahLst/>
                <a:cxnLst/>
                <a:rect l="l" t="t" r="r" b="b"/>
                <a:pathLst>
                  <a:path w="77533" h="77505">
                    <a:moveTo>
                      <a:pt x="38739" y="77505"/>
                    </a:moveTo>
                    <a:cubicBezTo>
                      <a:pt x="17343" y="77505"/>
                      <a:pt x="0" y="60148"/>
                      <a:pt x="0" y="38753"/>
                    </a:cubicBezTo>
                    <a:cubicBezTo>
                      <a:pt x="0" y="17357"/>
                      <a:pt x="17343" y="0"/>
                      <a:pt x="38739" y="0"/>
                    </a:cubicBezTo>
                    <a:cubicBezTo>
                      <a:pt x="60134" y="0"/>
                      <a:pt x="77533" y="17357"/>
                      <a:pt x="77533" y="38753"/>
                    </a:cubicBezTo>
                    <a:cubicBezTo>
                      <a:pt x="77533" y="60148"/>
                      <a:pt x="60134" y="77505"/>
                      <a:pt x="38739" y="775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9369991" y="6485563"/>
              <a:ext cx="1720197" cy="373444"/>
              <a:chOff x="9369991" y="6485563"/>
              <a:chExt cx="1720197" cy="373444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9370984" y="6486501"/>
                <a:ext cx="1719204" cy="372506"/>
                <a:chOff x="9370984" y="6486501"/>
                <a:chExt cx="1719204" cy="372506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370984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793291" y="6486501"/>
                  <a:ext cx="452246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372506">
                      <a:moveTo>
                        <a:pt x="251219" y="0"/>
                      </a:moveTo>
                      <a:lnTo>
                        <a:pt x="452246" y="0"/>
                      </a:lnTo>
                      <a:lnTo>
                        <a:pt x="201027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15616" y="6486501"/>
                  <a:ext cx="452228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28" h="372506">
                      <a:moveTo>
                        <a:pt x="251219" y="0"/>
                      </a:moveTo>
                      <a:lnTo>
                        <a:pt x="452228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637923" y="6486501"/>
                  <a:ext cx="452265" cy="372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65" h="372506">
                      <a:moveTo>
                        <a:pt x="251219" y="0"/>
                      </a:moveTo>
                      <a:lnTo>
                        <a:pt x="452265" y="0"/>
                      </a:lnTo>
                      <a:lnTo>
                        <a:pt x="201009" y="372506"/>
                      </a:lnTo>
                      <a:lnTo>
                        <a:pt x="0" y="372506"/>
                      </a:lnTo>
                      <a:lnTo>
                        <a:pt x="251219" y="0"/>
                      </a:lnTo>
                      <a:close/>
                    </a:path>
                  </a:pathLst>
                </a:custGeom>
                <a:solidFill>
                  <a:srgbClr val="5C76D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 rot="5400000">
                <a:off x="10043232" y="5812322"/>
                <a:ext cx="372447" cy="1718929"/>
                <a:chOff x="10043236" y="5812326"/>
                <a:chExt cx="372447" cy="1718929"/>
              </a:xfrm>
            </p:grpSpPr>
            <p:pic>
              <p:nvPicPr>
                <p:cNvPr id="63" name="Image 63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10043236" y="5812326"/>
                  <a:ext cx="372447" cy="17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415759" y="6388241"/>
              <a:ext cx="3193940" cy="469083"/>
              <a:chOff x="415759" y="6388241"/>
              <a:chExt cx="3193940" cy="46908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415759" y="6388255"/>
                <a:ext cx="1605022" cy="469068"/>
              </a:xfrm>
              <a:custGeom>
                <a:avLst/>
                <a:gdLst/>
                <a:ahLst/>
                <a:cxnLst/>
                <a:rect l="l" t="t" r="r" b="b"/>
                <a:pathLst>
                  <a:path w="1605022" h="469068">
                    <a:moveTo>
                      <a:pt x="0" y="0"/>
                    </a:moveTo>
                    <a:lnTo>
                      <a:pt x="1605022" y="0"/>
                    </a:lnTo>
                    <a:lnTo>
                      <a:pt x="1605022" y="469068"/>
                    </a:lnTo>
                    <a:lnTo>
                      <a:pt x="0" y="4690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273211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064202" y="6388241"/>
                <a:ext cx="545497" cy="469082"/>
              </a:xfrm>
              <a:custGeom>
                <a:avLst/>
                <a:gdLst/>
                <a:ahLst/>
                <a:cxnLst/>
                <a:rect l="l" t="t" r="r" b="b"/>
                <a:pathLst>
                  <a:path w="545497" h="469082">
                    <a:moveTo>
                      <a:pt x="0" y="0"/>
                    </a:moveTo>
                    <a:lnTo>
                      <a:pt x="545497" y="0"/>
                    </a:lnTo>
                    <a:lnTo>
                      <a:pt x="545497" y="469082"/>
                    </a:lnTo>
                    <a:lnTo>
                      <a:pt x="0" y="4690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5400000">
                <a:off x="1778188" y="5025813"/>
                <a:ext cx="469083" cy="3193940"/>
                <a:chOff x="1776586" y="5036647"/>
                <a:chExt cx="472287" cy="3172271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>
                  <a:off x="1776586" y="5036647"/>
                  <a:ext cx="472287" cy="3172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76" name="Group 76"/>
          <p:cNvGrpSpPr/>
          <p:nvPr/>
        </p:nvGrpSpPr>
        <p:grpSpPr>
          <a:xfrm>
            <a:off x="415721" y="396144"/>
            <a:ext cx="11362177" cy="987759"/>
            <a:chOff x="415721" y="396144"/>
            <a:chExt cx="11362177" cy="987759"/>
          </a:xfrm>
        </p:grpSpPr>
        <p:sp>
          <p:nvSpPr>
            <p:cNvPr id="73" name="Rectangle 73"/>
            <p:cNvSpPr/>
            <p:nvPr/>
          </p:nvSpPr>
          <p:spPr>
            <a:xfrm>
              <a:off x="417300" y="396144"/>
              <a:ext cx="11360598" cy="987759"/>
            </a:xfrm>
            <a:prstGeom prst="rect">
              <a:avLst/>
            </a:prstGeom>
            <a:solidFill>
              <a:srgbClr val="58C1DD"/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 rot="5400000">
              <a:off x="5603578" y="-4791714"/>
              <a:ext cx="980163" cy="11355877"/>
              <a:chOff x="5191608" y="-2198527"/>
              <a:chExt cx="1804133" cy="6169504"/>
            </a:xfrm>
          </p:grpSpPr>
          <p:pic>
            <p:nvPicPr>
              <p:cNvPr id="74" name="Image 74"/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5191608" y="-2198527"/>
                <a:ext cx="1804133" cy="6169504"/>
              </a:xfrm>
              <a:custGeom>
                <a:avLst/>
                <a:gdLst/>
                <a:ahLst/>
                <a:cxnLst/>
                <a:rect l="l" t="t" r="r" b="b"/>
                <a:pathLst>
                  <a:path w="1131827" h="7124138">
                    <a:moveTo>
                      <a:pt x="0" y="7124138"/>
                    </a:moveTo>
                    <a:lnTo>
                      <a:pt x="0" y="0"/>
                    </a:lnTo>
                    <a:lnTo>
                      <a:pt x="1131827" y="0"/>
                    </a:lnTo>
                    <a:lnTo>
                      <a:pt x="1131827" y="7124138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9" name="Group 79"/>
          <p:cNvGrpSpPr/>
          <p:nvPr/>
        </p:nvGrpSpPr>
        <p:grpSpPr>
          <a:xfrm>
            <a:off x="507749" y="396154"/>
            <a:ext cx="11176502" cy="987904"/>
            <a:chOff x="507749" y="396154"/>
            <a:chExt cx="11176502" cy="987904"/>
          </a:xfrm>
        </p:grpSpPr>
        <p:sp>
          <p:nvSpPr>
            <p:cNvPr id="77" name="Rectangle 77"/>
            <p:cNvSpPr/>
            <p:nvPr/>
          </p:nvSpPr>
          <p:spPr>
            <a:xfrm>
              <a:off x="507749" y="396154"/>
              <a:ext cx="11176502" cy="987904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92884" y="468516"/>
              <a:ext cx="779401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4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先解决 12 小时，再迎接那只狗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504825" y="1543050"/>
            <a:ext cx="5410200" cy="2324100"/>
            <a:chOff x="504825" y="1543050"/>
            <a:chExt cx="5410200" cy="2324100"/>
          </a:xfrm>
        </p:grpSpPr>
        <p:sp>
          <p:nvSpPr>
            <p:cNvPr id="80" name="Rectangle 80"/>
            <p:cNvSpPr/>
            <p:nvPr/>
          </p:nvSpPr>
          <p:spPr>
            <a:xfrm>
              <a:off x="504825" y="1543050"/>
              <a:ext cx="54102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04825" y="1543050"/>
              <a:ext cx="5410200" cy="457200"/>
            </a:xfrm>
            <a:prstGeom prst="roundRect">
              <a:avLst>
                <a:gd name="adj" fmla="val 16667"/>
              </a:avLst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04825" y="1924050"/>
              <a:ext cx="5410200" cy="76200"/>
            </a:xfrm>
            <a:prstGeom prst="rect">
              <a:avLst/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14375" y="1630108"/>
              <a:ext cx="3303651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先算清账：买狗可能只是最小一笔</a:t>
              </a:r>
            </a:p>
          </p:txBody>
        </p:sp>
        <p:pic>
          <p:nvPicPr>
            <p:cNvPr id="84" name="Image 8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5325" y="2171700"/>
              <a:ext cx="1257300" cy="1257300"/>
            </a:xfrm>
            <a:prstGeom prst="rect">
              <a:avLst/>
            </a:prstGeom>
          </p:spPr>
        </p:pic>
        <p:sp>
          <p:nvSpPr>
            <p:cNvPr id="85" name="Rectangle 85"/>
            <p:cNvSpPr/>
            <p:nvPr/>
          </p:nvSpPr>
          <p:spPr>
            <a:xfrm>
              <a:off x="695325" y="2171700"/>
              <a:ext cx="12573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9050">
              <a:solidFill>
                <a:srgbClr val="021324">
                  <a:alpha val="12000"/>
                </a:srgbClr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95325" y="3486150"/>
              <a:ext cx="1257300" cy="228600"/>
            </a:xfrm>
            <a:prstGeom prst="rect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54579" y="3505200"/>
              <a:ext cx="1338792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首月装备 ¥1,000–3,000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143125" y="2121218"/>
              <a:ext cx="101155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装备按优先级买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2152650" y="2438400"/>
              <a:ext cx="76200" cy="76200"/>
            </a:xfrm>
            <a:prstGeom prst="ellipse">
              <a:avLst/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295525" y="2371725"/>
              <a:ext cx="110438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安全：围栏 / 航空箱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2152650" y="2676525"/>
              <a:ext cx="76200" cy="76200"/>
            </a:xfrm>
            <a:prstGeom prst="ellipse">
              <a:avLst/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295525" y="2609850"/>
              <a:ext cx="14958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外出：胸背、牵引、身份牌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2152650" y="2914650"/>
              <a:ext cx="76200" cy="76200"/>
            </a:xfrm>
            <a:prstGeom prst="ellipse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295525" y="2847975"/>
              <a:ext cx="13719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饮食：犬粮、食盆、水盆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2152650" y="3152775"/>
              <a:ext cx="76200" cy="76200"/>
            </a:xfrm>
            <a:prstGeom prst="ellipse">
              <a:avLst/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2295525" y="3086100"/>
              <a:ext cx="14958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护理：尿垫、牙刷、指甲剪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2152650" y="3390900"/>
              <a:ext cx="76200" cy="76200"/>
            </a:xfrm>
            <a:prstGeom prst="ellipse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295525" y="3324225"/>
              <a:ext cx="186728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独处：摄像头、漏食玩具、饮水器</a:t>
              </a:r>
            </a:p>
          </p:txBody>
        </p:sp>
        <p:sp>
          <p:nvSpPr>
            <p:cNvPr id="99" name="Line 99"/>
            <p:cNvSpPr/>
            <p:nvPr/>
          </p:nvSpPr>
          <p:spPr>
            <a:xfrm>
              <a:off x="4010025" y="2171700"/>
              <a:ext cx="9525" cy="1504950"/>
            </a:xfrm>
            <a:custGeom>
              <a:avLst/>
              <a:gdLst/>
              <a:ahLst/>
              <a:cxnLst/>
              <a:rect l="l" t="t" r="r" b="b"/>
              <a:pathLst>
                <a:path w="9525" h="1504950">
                  <a:moveTo>
                    <a:pt x="0" y="0"/>
                  </a:moveTo>
                  <a:lnTo>
                    <a:pt x="0" y="1504950"/>
                  </a:lnTo>
                </a:path>
              </a:pathLst>
            </a:custGeom>
            <a:noFill/>
            <a:ln w="19050">
              <a:solidFill>
                <a:srgbClr val="D9DEE4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4219575" y="2121218"/>
              <a:ext cx="115383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996 真实月度支出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219575" y="238125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基础饲养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582728" y="2380107"/>
              <a:ext cx="107512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200" b="1" dirty="0">
                  <a:solidFill>
                    <a:srgbClr val="5C76D8"/>
                  </a:solidFill>
                  <a:latin typeface="Arial"/>
                  <a:ea typeface="Microsoft YaHei"/>
                  <a:cs typeface="Arial"/>
                </a:rPr>
                <a:t>¥350–1,400/月</a:t>
              </a:r>
            </a:p>
          </p:txBody>
        </p:sp>
        <p:sp>
          <p:nvSpPr>
            <p:cNvPr id="103" name="Line 103"/>
            <p:cNvSpPr/>
            <p:nvPr/>
          </p:nvSpPr>
          <p:spPr>
            <a:xfrm>
              <a:off x="4219575" y="2628900"/>
              <a:ext cx="1438275" cy="9525"/>
            </a:xfrm>
            <a:custGeom>
              <a:avLst/>
              <a:gdLst/>
              <a:ahLst/>
              <a:cxnLst/>
              <a:rect l="l" t="t" r="r" b="b"/>
              <a:pathLst>
                <a:path w="1438275" h="9525">
                  <a:moveTo>
                    <a:pt x="0" y="0"/>
                  </a:moveTo>
                  <a:lnTo>
                    <a:pt x="1438275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219575" y="2676525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专业美容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722179" y="2675382"/>
              <a:ext cx="935671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200" b="1" dirty="0">
                  <a:solidFill>
                    <a:srgbClr val="9D6FC7"/>
                  </a:solidFill>
                  <a:latin typeface="Arial"/>
                  <a:ea typeface="Microsoft YaHei"/>
                  <a:cs typeface="Arial"/>
                </a:rPr>
                <a:t>¥150–500/次</a:t>
              </a:r>
            </a:p>
          </p:txBody>
        </p:sp>
        <p:sp>
          <p:nvSpPr>
            <p:cNvPr id="106" name="Line 106"/>
            <p:cNvSpPr/>
            <p:nvPr/>
          </p:nvSpPr>
          <p:spPr>
            <a:xfrm>
              <a:off x="4219575" y="2924175"/>
              <a:ext cx="1438275" cy="9525"/>
            </a:xfrm>
            <a:custGeom>
              <a:avLst/>
              <a:gdLst/>
              <a:ahLst/>
              <a:cxnLst/>
              <a:rect l="l" t="t" r="r" b="b"/>
              <a:pathLst>
                <a:path w="1438275" h="9525">
                  <a:moveTo>
                    <a:pt x="0" y="0"/>
                  </a:moveTo>
                  <a:lnTo>
                    <a:pt x="1438275" y="0"/>
                  </a:lnTo>
                </a:path>
              </a:pathLst>
            </a:custGeom>
            <a:noFill/>
            <a:ln w="9525">
              <a:solidFill>
                <a:srgbClr val="D9DEE4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4219575" y="2971800"/>
              <a:ext cx="505206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334353"/>
                  </a:solidFill>
                  <a:latin typeface="Microsoft YaHei"/>
                  <a:ea typeface="Microsoft YaHei"/>
                  <a:cs typeface="Microsoft YaHei"/>
                </a:rPr>
                <a:t>午间照护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812072" y="2970657"/>
              <a:ext cx="845778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sz="1200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¥30–100/次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4162425" y="3267075"/>
              <a:ext cx="1552575" cy="409575"/>
            </a:xfrm>
            <a:prstGeom prst="roundRect">
              <a:avLst>
                <a:gd name="adj" fmla="val 11628"/>
              </a:avLst>
            </a:prstGeom>
            <a:solidFill>
              <a:srgbClr val="FA5041">
                <a:alpha val="12000"/>
              </a:srgbClr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276725" y="3295650"/>
              <a:ext cx="6953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00" b="1" dirty="0">
                  <a:solidFill>
                    <a:srgbClr val="7E2A23"/>
                  </a:solidFill>
                  <a:latin typeface="Microsoft YaHei"/>
                  <a:ea typeface="Microsoft YaHei"/>
                  <a:cs typeface="Microsoft YaHei"/>
                </a:rPr>
                <a:t>午间服务新增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276725" y="3423476"/>
              <a:ext cx="1358694" cy="2907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425" b="1" dirty="0">
                  <a:solidFill>
                    <a:srgbClr val="FA5041"/>
                  </a:solidFill>
                  <a:latin typeface="Arial"/>
                  <a:ea typeface="Microsoft YaHei"/>
                  <a:cs typeface="Arial"/>
                </a:rPr>
                <a:t>¥600–2,600 / 月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6096000" y="1543050"/>
            <a:ext cx="5689592" cy="2324100"/>
            <a:chOff x="6096000" y="1543050"/>
            <a:chExt cx="5689592" cy="2324100"/>
          </a:xfrm>
        </p:grpSpPr>
        <p:sp>
          <p:nvSpPr>
            <p:cNvPr id="113" name="Rectangle 113"/>
            <p:cNvSpPr/>
            <p:nvPr/>
          </p:nvSpPr>
          <p:spPr>
            <a:xfrm>
              <a:off x="6096000" y="1543050"/>
              <a:ext cx="5591175" cy="2324100"/>
            </a:xfrm>
            <a:prstGeom prst="roundRect">
              <a:avLst>
                <a:gd name="adj" fmla="val 3279"/>
              </a:avLst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324600" y="1630108"/>
              <a:ext cx="3741801" cy="341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725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工作日时间表：把陪伴拆进早、中、晚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0058400" y="1657350"/>
              <a:ext cx="1400175" cy="238125"/>
            </a:xfrm>
            <a:prstGeom prst="roundRect">
              <a:avLst>
                <a:gd name="adj" fmla="val 48000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0031420" y="1676400"/>
              <a:ext cx="1444609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每日总投入 ≥ 60–90 分钟</a:t>
              </a:r>
            </a:p>
          </p:txBody>
        </p:sp>
        <p:sp>
          <p:nvSpPr>
            <p:cNvPr id="117" name="Line 117"/>
            <p:cNvSpPr/>
            <p:nvPr/>
          </p:nvSpPr>
          <p:spPr>
            <a:xfrm>
              <a:off x="6648450" y="2695575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2857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6467475" y="2457450"/>
              <a:ext cx="476250" cy="476250"/>
            </a:xfrm>
            <a:prstGeom prst="ellipse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6562725" y="2552700"/>
              <a:ext cx="285750" cy="285750"/>
            </a:xfrm>
            <a:prstGeom prst="ellipse">
              <a:avLst/>
            </a:prstGeom>
            <a:solidFill>
              <a:srgbClr val="021324"/>
            </a:solidFill>
            <a:ln w="19050">
              <a:solidFill>
                <a:srgbClr val="FFFFFF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6705600" y="26003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6705600" y="2695575"/>
              <a:ext cx="85725" cy="47625"/>
            </a:xfrm>
            <a:custGeom>
              <a:avLst/>
              <a:gdLst/>
              <a:ahLst/>
              <a:cxnLst/>
              <a:rect l="l" t="t" r="r" b="b"/>
              <a:pathLst>
                <a:path w="85725" h="47625">
                  <a:moveTo>
                    <a:pt x="0" y="0"/>
                  </a:moveTo>
                  <a:lnTo>
                    <a:pt x="85725" y="47625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468505" y="2097786"/>
              <a:ext cx="474190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58C1DD"/>
                  </a:solidFill>
                  <a:latin typeface="Arial"/>
                  <a:ea typeface="Microsoft YaHei"/>
                  <a:cs typeface="Arial"/>
                </a:rPr>
                <a:t>07:30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138943" y="2970657"/>
              <a:ext cx="113331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早晨 30–45 分钟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6149983" y="3190875"/>
              <a:ext cx="111123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C7D0DA"/>
                  </a:solidFill>
                  <a:latin typeface="Microsoft YaHei"/>
                  <a:ea typeface="Microsoft YaHei"/>
                  <a:cs typeface="Microsoft YaHei"/>
                </a:rPr>
                <a:t>散步 · 排泄 · 喂食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7934325" y="2457450"/>
              <a:ext cx="476250" cy="476250"/>
            </a:xfrm>
            <a:prstGeom prst="ellipse">
              <a:avLst/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8029575" y="2552700"/>
              <a:ext cx="285750" cy="285750"/>
            </a:xfrm>
            <a:prstGeom prst="ellipse">
              <a:avLst/>
            </a:prstGeom>
            <a:solidFill>
              <a:srgbClr val="021324"/>
            </a:solidFill>
            <a:ln w="19050">
              <a:solidFill>
                <a:srgbClr val="FFFFFF"/>
              </a:solidFill>
            </a:ln>
          </p:spPr>
        </p:sp>
        <p:sp>
          <p:nvSpPr>
            <p:cNvPr id="127" name="Line 127"/>
            <p:cNvSpPr/>
            <p:nvPr/>
          </p:nvSpPr>
          <p:spPr>
            <a:xfrm>
              <a:off x="8172450" y="2609850"/>
              <a:ext cx="76200" cy="85725"/>
            </a:xfrm>
            <a:custGeom>
              <a:avLst/>
              <a:gdLst/>
              <a:ahLst/>
              <a:cxnLst/>
              <a:rect l="l" t="t" r="r" b="b"/>
              <a:pathLst>
                <a:path w="76200" h="85725">
                  <a:moveTo>
                    <a:pt x="0" y="85725"/>
                  </a:moveTo>
                  <a:lnTo>
                    <a:pt x="7620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28" name="Line 128"/>
            <p:cNvSpPr/>
            <p:nvPr/>
          </p:nvSpPr>
          <p:spPr>
            <a:xfrm>
              <a:off x="8096250" y="2695575"/>
              <a:ext cx="76200" cy="47625"/>
            </a:xfrm>
            <a:custGeom>
              <a:avLst/>
              <a:gdLst/>
              <a:ahLst/>
              <a:cxnLst/>
              <a:rect l="l" t="t" r="r" b="b"/>
              <a:pathLst>
                <a:path w="76200" h="47625">
                  <a:moveTo>
                    <a:pt x="76200" y="0"/>
                  </a:moveTo>
                  <a:lnTo>
                    <a:pt x="0" y="47625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7935355" y="2097786"/>
              <a:ext cx="474190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6DD8C8"/>
                  </a:solidFill>
                  <a:latin typeface="Arial"/>
                  <a:ea typeface="Microsoft YaHei"/>
                  <a:cs typeface="Arial"/>
                </a:rPr>
                <a:t>13:00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605793" y="2970657"/>
              <a:ext cx="113331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午间 20–40 分钟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620256" y="3190875"/>
              <a:ext cx="1104388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C7D0DA"/>
                  </a:solidFill>
                  <a:latin typeface="Microsoft YaHei"/>
                  <a:ea typeface="Microsoft YaHei"/>
                  <a:cs typeface="Microsoft YaHei"/>
                </a:rPr>
                <a:t>真人遛狗 / 上门照护</a:t>
              </a:r>
            </a:p>
          </p:txBody>
        </p:sp>
        <p:sp>
          <p:nvSpPr>
            <p:cNvPr id="132" name="Ellipse 132"/>
            <p:cNvSpPr/>
            <p:nvPr/>
          </p:nvSpPr>
          <p:spPr>
            <a:xfrm>
              <a:off x="9401175" y="2457450"/>
              <a:ext cx="476250" cy="476250"/>
            </a:xfrm>
            <a:prstGeom prst="ellipse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9496425" y="2552700"/>
              <a:ext cx="285750" cy="285750"/>
            </a:xfrm>
            <a:prstGeom prst="ellipse">
              <a:avLst/>
            </a:prstGeom>
            <a:solidFill>
              <a:srgbClr val="021324"/>
            </a:solidFill>
            <a:ln w="19050">
              <a:solidFill>
                <a:srgbClr val="FFFFFF"/>
              </a:solidFill>
            </a:ln>
          </p:spPr>
        </p:sp>
        <p:sp>
          <p:nvSpPr>
            <p:cNvPr id="134" name="Line 134"/>
            <p:cNvSpPr/>
            <p:nvPr/>
          </p:nvSpPr>
          <p:spPr>
            <a:xfrm>
              <a:off x="9572625" y="2609850"/>
              <a:ext cx="66675" cy="85725"/>
            </a:xfrm>
            <a:custGeom>
              <a:avLst/>
              <a:gdLst/>
              <a:ahLst/>
              <a:cxnLst/>
              <a:rect l="l" t="t" r="r" b="b"/>
              <a:pathLst>
                <a:path w="66675" h="85725">
                  <a:moveTo>
                    <a:pt x="66675" y="85725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9639300" y="2695575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9402205" y="2097786"/>
              <a:ext cx="474190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E7C126"/>
                  </a:solidFill>
                  <a:latin typeface="Arial"/>
                  <a:ea typeface="Microsoft YaHei"/>
                  <a:cs typeface="Arial"/>
                </a:rPr>
                <a:t>21:30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072643" y="2970657"/>
              <a:ext cx="1133314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晚间 30–60 分钟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083683" y="3190875"/>
              <a:ext cx="111123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C7D0DA"/>
                  </a:solidFill>
                  <a:latin typeface="Microsoft YaHei"/>
                  <a:ea typeface="Microsoft YaHei"/>
                  <a:cs typeface="Microsoft YaHei"/>
                </a:rPr>
                <a:t>运动 · 训练 · 互动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10868025" y="2457450"/>
              <a:ext cx="476250" cy="476250"/>
            </a:xfrm>
            <a:prstGeom prst="ellipse">
              <a:avLst/>
            </a:prstGeom>
            <a:solidFill>
              <a:srgbClr val="9D6FC7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10963275" y="2552700"/>
              <a:ext cx="285750" cy="285750"/>
            </a:xfrm>
            <a:prstGeom prst="ellipse">
              <a:avLst/>
            </a:prstGeom>
            <a:solidFill>
              <a:srgbClr val="021324"/>
            </a:solidFill>
            <a:ln w="19050">
              <a:solidFill>
                <a:srgbClr val="FFFFFF"/>
              </a:solidFill>
            </a:ln>
          </p:spPr>
        </p:sp>
        <p:sp>
          <p:nvSpPr>
            <p:cNvPr id="141" name="Line 141"/>
            <p:cNvSpPr/>
            <p:nvPr/>
          </p:nvSpPr>
          <p:spPr>
            <a:xfrm>
              <a:off x="11106150" y="2590800"/>
              <a:ext cx="9525" cy="104775"/>
            </a:xfrm>
            <a:custGeom>
              <a:avLst/>
              <a:gdLst/>
              <a:ahLst/>
              <a:cxnLst/>
              <a:rect l="l" t="t" r="r" b="b"/>
              <a:pathLst>
                <a:path w="9525" h="104775">
                  <a:moveTo>
                    <a:pt x="0" y="104775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42" name="Line 142"/>
            <p:cNvSpPr/>
            <p:nvPr/>
          </p:nvSpPr>
          <p:spPr>
            <a:xfrm>
              <a:off x="11029950" y="2695575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76200" y="0"/>
                  </a:moveTo>
                  <a:lnTo>
                    <a:pt x="0" y="5715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10869055" y="2097786"/>
              <a:ext cx="474190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B999D7"/>
                  </a:solidFill>
                  <a:latin typeface="Arial"/>
                  <a:ea typeface="Microsoft YaHei"/>
                  <a:cs typeface="Arial"/>
                </a:rPr>
                <a:t>23:30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0584439" y="2970657"/>
              <a:ext cx="1043422" cy="240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睡前 5–10 分钟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0426708" y="3190875"/>
              <a:ext cx="1358884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75" dirty="0">
                  <a:solidFill>
                    <a:srgbClr val="C7D0DA"/>
                  </a:solidFill>
                  <a:latin typeface="Microsoft YaHei"/>
                  <a:ea typeface="Microsoft YaHei"/>
                  <a:cs typeface="Microsoft YaHei"/>
                </a:rPr>
                <a:t>排泄 · 饮水 · 状态检查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6324600" y="3533775"/>
              <a:ext cx="5133975" cy="200025"/>
            </a:xfrm>
            <a:prstGeom prst="roundRect">
              <a:avLst>
                <a:gd name="adj" fmla="val 19048"/>
              </a:avLst>
            </a:prstGeom>
            <a:solidFill>
              <a:srgbClr val="FFFFFF">
                <a:alpha val="9000"/>
              </a:srgbClr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281862" y="3543300"/>
              <a:ext cx="32099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摄像头与自动喂食器只能辅助，不能替代排泄、遛狗和真人陪伴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504825" y="4017454"/>
            <a:ext cx="10391775" cy="1421321"/>
            <a:chOff x="504825" y="4017454"/>
            <a:chExt cx="10391775" cy="1421321"/>
          </a:xfrm>
        </p:grpSpPr>
        <p:sp>
          <p:nvSpPr>
            <p:cNvPr id="149" name="TextBox 149"/>
            <p:cNvSpPr txBox="1"/>
            <p:nvPr/>
          </p:nvSpPr>
          <p:spPr>
            <a:xfrm>
              <a:off x="504825" y="4017454"/>
              <a:ext cx="1216152" cy="320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5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最终决策顺序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2085975" y="4067175"/>
              <a:ext cx="2610231" cy="2004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975" dirty="0">
                  <a:solidFill>
                    <a:srgbClr val="66727E"/>
                  </a:solidFill>
                  <a:latin typeface="Microsoft YaHei"/>
                  <a:ea typeface="Microsoft YaHei"/>
                  <a:cs typeface="Microsoft YaHei"/>
                </a:rPr>
                <a:t>任何一步无法稳定做到，都应先暂停购买或领养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1266825" y="4743450"/>
              <a:ext cx="9629775" cy="9525"/>
            </a:xfrm>
            <a:custGeom>
              <a:avLst/>
              <a:gdLst/>
              <a:ahLst/>
              <a:cxnLst/>
              <a:rect l="l" t="t" r="r" b="b"/>
              <a:pathLst>
                <a:path w="9629775" h="9525">
                  <a:moveTo>
                    <a:pt x="0" y="0"/>
                  </a:moveTo>
                  <a:lnTo>
                    <a:pt x="9629775" y="0"/>
                  </a:lnTo>
                </a:path>
              </a:pathLst>
            </a:custGeom>
            <a:noFill/>
            <a:ln w="28575">
              <a:solidFill>
                <a:srgbClr val="021324"/>
              </a:solidFill>
            </a:ln>
          </p:spPr>
        </p:sp>
        <p:sp>
          <p:nvSpPr>
            <p:cNvPr id="152" name="Ellipse 152"/>
            <p:cNvSpPr/>
            <p:nvPr/>
          </p:nvSpPr>
          <p:spPr>
            <a:xfrm>
              <a:off x="971550" y="4448175"/>
              <a:ext cx="590550" cy="590550"/>
            </a:xfrm>
            <a:prstGeom prst="ellipse">
              <a:avLst/>
            </a:prstGeom>
            <a:solidFill>
              <a:srgbClr val="5C76D8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1158764" y="4526661"/>
              <a:ext cx="21612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147762" y="4762500"/>
              <a:ext cx="2381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照护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903922" y="5064442"/>
              <a:ext cx="72580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有午间照护</a:t>
              </a:r>
            </a:p>
          </p:txBody>
        </p:sp>
        <p:sp>
          <p:nvSpPr>
            <p:cNvPr id="156" name="Polygon 156"/>
            <p:cNvSpPr/>
            <p:nvPr/>
          </p:nvSpPr>
          <p:spPr>
            <a:xfrm>
              <a:off x="3105150" y="46672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21324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3114675" y="4448175"/>
              <a:ext cx="590550" cy="590550"/>
            </a:xfrm>
            <a:prstGeom prst="ellipse">
              <a:avLst/>
            </a:prstGeom>
            <a:solidFill>
              <a:srgbClr val="58C1DD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3301889" y="4526661"/>
              <a:ext cx="21612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3290888" y="4762500"/>
              <a:ext cx="2381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878723" y="5064442"/>
              <a:ext cx="1062454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投入 60–90 分钟</a:t>
              </a:r>
            </a:p>
          </p:txBody>
        </p:sp>
        <p:sp>
          <p:nvSpPr>
            <p:cNvPr id="161" name="Polygon 161"/>
            <p:cNvSpPr/>
            <p:nvPr/>
          </p:nvSpPr>
          <p:spPr>
            <a:xfrm>
              <a:off x="5238750" y="46672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21324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5257800" y="4448175"/>
              <a:ext cx="590550" cy="590550"/>
            </a:xfrm>
            <a:prstGeom prst="ellipse">
              <a:avLst/>
            </a:prstGeom>
            <a:solidFill>
              <a:srgbClr val="6DD8C8"/>
            </a:solidFill>
            <a:ln>
              <a:noFill/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5445014" y="4526661"/>
              <a:ext cx="21612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5434012" y="4762500"/>
              <a:ext cx="2381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预算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5044172" y="5064442"/>
              <a:ext cx="1017806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固定费 + 医疗金</a:t>
              </a:r>
            </a:p>
          </p:txBody>
        </p:sp>
        <p:sp>
          <p:nvSpPr>
            <p:cNvPr id="166" name="Polygon 166"/>
            <p:cNvSpPr/>
            <p:nvPr/>
          </p:nvSpPr>
          <p:spPr>
            <a:xfrm>
              <a:off x="7381875" y="46672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21324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7400925" y="4448175"/>
              <a:ext cx="590550" cy="590550"/>
            </a:xfrm>
            <a:prstGeom prst="ellipse">
              <a:avLst/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7588139" y="4526661"/>
              <a:ext cx="21612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021324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7577138" y="4762500"/>
              <a:ext cx="2381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筛选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118985" y="5064442"/>
              <a:ext cx="115443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按真实需求选犬种</a:t>
              </a:r>
            </a:p>
          </p:txBody>
        </p:sp>
        <p:sp>
          <p:nvSpPr>
            <p:cNvPr id="171" name="Polygon 171"/>
            <p:cNvSpPr/>
            <p:nvPr/>
          </p:nvSpPr>
          <p:spPr>
            <a:xfrm>
              <a:off x="9525000" y="46672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1143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21324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9544050" y="4448175"/>
              <a:ext cx="590550" cy="590550"/>
            </a:xfrm>
            <a:prstGeom prst="ellipse">
              <a:avLst/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9731264" y="4526661"/>
              <a:ext cx="216122" cy="2708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9720262" y="4762500"/>
              <a:ext cx="238125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相处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9404985" y="5064442"/>
              <a:ext cx="86868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112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评估具体犬只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9326166" y="5257800"/>
              <a:ext cx="1026319" cy="180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sz="900" dirty="0">
                  <a:solidFill>
                    <a:srgbClr val="66727E"/>
                  </a:solidFill>
                  <a:latin typeface="Microsoft YaHei"/>
                  <a:ea typeface="Microsoft YaHei"/>
                  <a:cs typeface="Microsoft YaHei"/>
                </a:rPr>
                <a:t>年龄 · 健康 · 性格</a:t>
              </a:r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504825" y="5610225"/>
            <a:ext cx="11182350" cy="652462"/>
            <a:chOff x="504825" y="5610225"/>
            <a:chExt cx="11182350" cy="652462"/>
          </a:xfrm>
        </p:grpSpPr>
        <p:sp>
          <p:nvSpPr>
            <p:cNvPr id="178" name="Rectangle 178"/>
            <p:cNvSpPr/>
            <p:nvPr/>
          </p:nvSpPr>
          <p:spPr>
            <a:xfrm>
              <a:off x="504825" y="5610225"/>
              <a:ext cx="11182350" cy="628650"/>
            </a:xfrm>
            <a:prstGeom prst="roundRect">
              <a:avLst>
                <a:gd name="adj" fmla="val 10606"/>
              </a:avLst>
            </a:prstGeom>
            <a:solidFill>
              <a:srgbClr val="E7C126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504825" y="5610225"/>
              <a:ext cx="114300" cy="628650"/>
            </a:xfrm>
            <a:prstGeom prst="roundRect">
              <a:avLst>
                <a:gd name="adj" fmla="val 50000"/>
              </a:avLst>
            </a:prstGeom>
            <a:solidFill>
              <a:srgbClr val="FA5041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866775" y="5729478"/>
              <a:ext cx="544068" cy="220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050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最终原则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866775" y="5891212"/>
              <a:ext cx="7930455" cy="371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sz="1875" b="1" dirty="0">
                  <a:solidFill>
                    <a:srgbClr val="021324"/>
                  </a:solidFill>
                  <a:latin typeface="Microsoft YaHei"/>
                  <a:ea typeface="Microsoft YaHei"/>
                  <a:cs typeface="Microsoft YaHei"/>
                </a:rPr>
                <a:t>最适合 996 的，不是最省事的小狗，而是你真正能为它留出时间的那一只。</a:t>
              </a:r>
            </a:p>
          </p:txBody>
        </p:sp>
        <p:sp>
          <p:nvSpPr>
            <p:cNvPr id="182" name="Ellipse 182"/>
            <p:cNvSpPr/>
            <p:nvPr/>
          </p:nvSpPr>
          <p:spPr>
            <a:xfrm>
              <a:off x="11029950" y="5715000"/>
              <a:ext cx="419100" cy="419100"/>
            </a:xfrm>
            <a:prstGeom prst="ellipse">
              <a:avLst/>
            </a:prstGeom>
            <a:solidFill>
              <a:srgbClr val="021324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11087100" y="5791200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11191875" y="5743575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11296650" y="5791200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11125200" y="5895975"/>
              <a:ext cx="22860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5400000">
            <a:off x="2649774" y="-2662823"/>
            <a:ext cx="6892452" cy="12218098"/>
            <a:chOff x="2649779" y="-2662828"/>
            <a:chExt cx="6892452" cy="12218098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2649779" y="-2662828"/>
              <a:ext cx="6892452" cy="12218098"/>
            </a:xfrm>
            <a:prstGeom prst="rect">
              <a:avLst/>
            </a:prstGeom>
          </p:spPr>
        </p:pic>
      </p:grpSp>
      <p:grpSp>
        <p:nvGrpSpPr>
          <p:cNvPr id="96" name="Group 96"/>
          <p:cNvGrpSpPr/>
          <p:nvPr/>
        </p:nvGrpSpPr>
        <p:grpSpPr>
          <a:xfrm>
            <a:off x="-1051797" y="-316798"/>
            <a:ext cx="12928554" cy="7174798"/>
            <a:chOff x="-1051797" y="-316798"/>
            <a:chExt cx="12928554" cy="7174798"/>
          </a:xfrm>
        </p:grpSpPr>
        <p:grpSp>
          <p:nvGrpSpPr>
            <p:cNvPr id="57" name="Group 57"/>
            <p:cNvGrpSpPr/>
            <p:nvPr/>
          </p:nvGrpSpPr>
          <p:grpSpPr>
            <a:xfrm>
              <a:off x="1879524" y="633851"/>
              <a:ext cx="2456328" cy="2424964"/>
              <a:chOff x="1879524" y="633851"/>
              <a:chExt cx="2456328" cy="242496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4224707" y="633851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93895" y="46956"/>
                    </a:moveTo>
                    <a:cubicBezTo>
                      <a:pt x="93895" y="72907"/>
                      <a:pt x="72873" y="93929"/>
                      <a:pt x="46939" y="93929"/>
                    </a:cubicBezTo>
                    <a:cubicBezTo>
                      <a:pt x="21005" y="93929"/>
                      <a:pt x="0" y="72907"/>
                      <a:pt x="0" y="46956"/>
                    </a:cubicBezTo>
                    <a:cubicBezTo>
                      <a:pt x="0" y="21022"/>
                      <a:pt x="21005" y="0"/>
                      <a:pt x="46939" y="0"/>
                    </a:cubicBezTo>
                    <a:cubicBezTo>
                      <a:pt x="72873" y="0"/>
                      <a:pt x="93895" y="21022"/>
                      <a:pt x="93895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833838" y="633851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93912" y="46956"/>
                    </a:moveTo>
                    <a:cubicBezTo>
                      <a:pt x="93912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442985" y="633851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93895" y="46956"/>
                    </a:moveTo>
                    <a:cubicBezTo>
                      <a:pt x="93895" y="72907"/>
                      <a:pt x="72873" y="93929"/>
                      <a:pt x="46939" y="93929"/>
                    </a:cubicBezTo>
                    <a:cubicBezTo>
                      <a:pt x="21005" y="93929"/>
                      <a:pt x="0" y="72907"/>
                      <a:pt x="0" y="46956"/>
                    </a:cubicBezTo>
                    <a:cubicBezTo>
                      <a:pt x="0" y="21022"/>
                      <a:pt x="21005" y="0"/>
                      <a:pt x="46939" y="0"/>
                    </a:cubicBezTo>
                    <a:cubicBezTo>
                      <a:pt x="72873" y="0"/>
                      <a:pt x="93895" y="21022"/>
                      <a:pt x="93895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052099" y="63385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907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907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661246" y="63385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70393" y="633851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93929" y="46956"/>
                    </a:moveTo>
                    <a:cubicBezTo>
                      <a:pt x="93929" y="72907"/>
                      <a:pt x="72890" y="93929"/>
                      <a:pt x="46956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879524" y="633851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93945" y="46956"/>
                    </a:moveTo>
                    <a:cubicBezTo>
                      <a:pt x="93945" y="72907"/>
                      <a:pt x="72907" y="93929"/>
                      <a:pt x="46973" y="93929"/>
                    </a:cubicBez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73" y="0"/>
                    </a:cubicBezTo>
                    <a:cubicBezTo>
                      <a:pt x="72907" y="0"/>
                      <a:pt x="93945" y="21022"/>
                      <a:pt x="93945" y="469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881100" y="2964886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29" y="21039"/>
                      <a:pt x="93929" y="46973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881100" y="2574033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73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1100" y="2183180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73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881100" y="1792328"/>
                <a:ext cx="9392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29" y="21022"/>
                      <a:pt x="93929" y="46956"/>
                    </a:cubicBezTo>
                    <a:cubicBezTo>
                      <a:pt x="9392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881100" y="1401458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29" y="21039"/>
                      <a:pt x="93929" y="46973"/>
                    </a:cubicBezTo>
                    <a:cubicBezTo>
                      <a:pt x="9392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881100" y="1010606"/>
                <a:ext cx="9392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2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29" y="21039"/>
                      <a:pt x="93929" y="46973"/>
                    </a:cubicBezTo>
                    <a:cubicBezTo>
                      <a:pt x="9392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274551" y="2964886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74551" y="2574033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74551" y="2183180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274551" y="1792328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56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274551" y="1401458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74551" y="1010606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68019" y="2964886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668019" y="2574033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668019" y="2183180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73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73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668019" y="1792328"/>
                <a:ext cx="9394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29">
                    <a:moveTo>
                      <a:pt x="46973" y="93929"/>
                    </a:moveTo>
                    <a:cubicBezTo>
                      <a:pt x="21039" y="93929"/>
                      <a:pt x="0" y="72907"/>
                      <a:pt x="0" y="46956"/>
                    </a:cubicBezTo>
                    <a:cubicBezTo>
                      <a:pt x="0" y="21022"/>
                      <a:pt x="21039" y="0"/>
                      <a:pt x="46973" y="0"/>
                    </a:cubicBezTo>
                    <a:cubicBezTo>
                      <a:pt x="72907" y="0"/>
                      <a:pt x="93945" y="21022"/>
                      <a:pt x="93945" y="46956"/>
                    </a:cubicBezTo>
                    <a:cubicBezTo>
                      <a:pt x="93945" y="72907"/>
                      <a:pt x="72907" y="93929"/>
                      <a:pt x="46973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668019" y="1401458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668019" y="1010606"/>
                <a:ext cx="9394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45" h="93945">
                    <a:moveTo>
                      <a:pt x="46973" y="93945"/>
                    </a:moveTo>
                    <a:cubicBezTo>
                      <a:pt x="21039" y="93945"/>
                      <a:pt x="0" y="72907"/>
                      <a:pt x="0" y="46973"/>
                    </a:cubicBezTo>
                    <a:cubicBezTo>
                      <a:pt x="0" y="21039"/>
                      <a:pt x="21039" y="0"/>
                      <a:pt x="46973" y="0"/>
                    </a:cubicBezTo>
                    <a:cubicBezTo>
                      <a:pt x="72907" y="0"/>
                      <a:pt x="93945" y="21039"/>
                      <a:pt x="93945" y="46973"/>
                    </a:cubicBezTo>
                    <a:cubicBezTo>
                      <a:pt x="93945" y="72907"/>
                      <a:pt x="72907" y="93945"/>
                      <a:pt x="46973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061503" y="2964886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061503" y="2574033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061503" y="2183180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061503" y="1792328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56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061503" y="1401458"/>
                <a:ext cx="93912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061503" y="1010606"/>
                <a:ext cx="93912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454954" y="2964886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46939" y="93929"/>
                    </a:moveTo>
                    <a:cubicBezTo>
                      <a:pt x="21005" y="93929"/>
                      <a:pt x="0" y="72907"/>
                      <a:pt x="0" y="46973"/>
                    </a:cubicBezTo>
                    <a:cubicBezTo>
                      <a:pt x="0" y="21039"/>
                      <a:pt x="21005" y="0"/>
                      <a:pt x="46939" y="0"/>
                    </a:cubicBezTo>
                    <a:cubicBezTo>
                      <a:pt x="72873" y="0"/>
                      <a:pt x="93895" y="21039"/>
                      <a:pt x="93895" y="46973"/>
                    </a:cubicBezTo>
                    <a:cubicBezTo>
                      <a:pt x="93895" y="72907"/>
                      <a:pt x="72873" y="93929"/>
                      <a:pt x="46939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454954" y="2574033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46939" y="93929"/>
                    </a:moveTo>
                    <a:cubicBezTo>
                      <a:pt x="21005" y="93929"/>
                      <a:pt x="0" y="72907"/>
                      <a:pt x="0" y="46973"/>
                    </a:cubicBezTo>
                    <a:cubicBezTo>
                      <a:pt x="0" y="21022"/>
                      <a:pt x="21005" y="0"/>
                      <a:pt x="46939" y="0"/>
                    </a:cubicBezTo>
                    <a:cubicBezTo>
                      <a:pt x="72873" y="0"/>
                      <a:pt x="93895" y="21022"/>
                      <a:pt x="93895" y="46973"/>
                    </a:cubicBezTo>
                    <a:cubicBezTo>
                      <a:pt x="93895" y="72907"/>
                      <a:pt x="72873" y="93929"/>
                      <a:pt x="46939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454954" y="2183180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46939" y="93929"/>
                    </a:moveTo>
                    <a:cubicBezTo>
                      <a:pt x="21005" y="93929"/>
                      <a:pt x="0" y="72907"/>
                      <a:pt x="0" y="46973"/>
                    </a:cubicBezTo>
                    <a:cubicBezTo>
                      <a:pt x="0" y="21022"/>
                      <a:pt x="21005" y="0"/>
                      <a:pt x="46939" y="0"/>
                    </a:cubicBezTo>
                    <a:cubicBezTo>
                      <a:pt x="72873" y="0"/>
                      <a:pt x="93895" y="21022"/>
                      <a:pt x="93895" y="46973"/>
                    </a:cubicBezTo>
                    <a:cubicBezTo>
                      <a:pt x="93895" y="72907"/>
                      <a:pt x="72873" y="93929"/>
                      <a:pt x="46939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454954" y="1792328"/>
                <a:ext cx="93895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29">
                    <a:moveTo>
                      <a:pt x="46939" y="93929"/>
                    </a:moveTo>
                    <a:cubicBezTo>
                      <a:pt x="21005" y="93929"/>
                      <a:pt x="0" y="72907"/>
                      <a:pt x="0" y="46956"/>
                    </a:cubicBezTo>
                    <a:cubicBezTo>
                      <a:pt x="0" y="21022"/>
                      <a:pt x="21005" y="0"/>
                      <a:pt x="46939" y="0"/>
                    </a:cubicBezTo>
                    <a:cubicBezTo>
                      <a:pt x="72873" y="0"/>
                      <a:pt x="93895" y="21022"/>
                      <a:pt x="93895" y="46956"/>
                    </a:cubicBezTo>
                    <a:cubicBezTo>
                      <a:pt x="93895" y="72907"/>
                      <a:pt x="72873" y="93929"/>
                      <a:pt x="46939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454954" y="1401458"/>
                <a:ext cx="9389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45">
                    <a:moveTo>
                      <a:pt x="46939" y="93945"/>
                    </a:moveTo>
                    <a:cubicBezTo>
                      <a:pt x="21005" y="93945"/>
                      <a:pt x="0" y="72907"/>
                      <a:pt x="0" y="46973"/>
                    </a:cubicBezTo>
                    <a:cubicBezTo>
                      <a:pt x="0" y="21039"/>
                      <a:pt x="21005" y="0"/>
                      <a:pt x="46939" y="0"/>
                    </a:cubicBezTo>
                    <a:cubicBezTo>
                      <a:pt x="72873" y="0"/>
                      <a:pt x="93895" y="21039"/>
                      <a:pt x="93895" y="46973"/>
                    </a:cubicBezTo>
                    <a:cubicBezTo>
                      <a:pt x="93895" y="72907"/>
                      <a:pt x="72873" y="93945"/>
                      <a:pt x="46939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454954" y="1010606"/>
                <a:ext cx="93895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895" h="93945">
                    <a:moveTo>
                      <a:pt x="46939" y="93945"/>
                    </a:moveTo>
                    <a:cubicBezTo>
                      <a:pt x="21005" y="93945"/>
                      <a:pt x="0" y="72907"/>
                      <a:pt x="0" y="46973"/>
                    </a:cubicBezTo>
                    <a:cubicBezTo>
                      <a:pt x="0" y="21039"/>
                      <a:pt x="21005" y="0"/>
                      <a:pt x="46939" y="0"/>
                    </a:cubicBezTo>
                    <a:cubicBezTo>
                      <a:pt x="72873" y="0"/>
                      <a:pt x="93895" y="21039"/>
                      <a:pt x="93895" y="46973"/>
                    </a:cubicBezTo>
                    <a:cubicBezTo>
                      <a:pt x="93895" y="72907"/>
                      <a:pt x="72873" y="93945"/>
                      <a:pt x="46939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3848439" y="2964886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848439" y="2574033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848439" y="2183180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73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848439" y="1792328"/>
                <a:ext cx="93912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12" y="21022"/>
                      <a:pt x="93912" y="46956"/>
                    </a:cubicBezTo>
                    <a:cubicBezTo>
                      <a:pt x="93912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848439" y="1401458"/>
                <a:ext cx="93912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848439" y="1010606"/>
                <a:ext cx="93912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12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12" y="21039"/>
                      <a:pt x="93912" y="46973"/>
                    </a:cubicBezTo>
                    <a:cubicBezTo>
                      <a:pt x="93912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241873" y="2964886"/>
                <a:ext cx="9397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79" y="21039"/>
                      <a:pt x="93979" y="46973"/>
                    </a:cubicBezTo>
                    <a:cubicBezTo>
                      <a:pt x="9397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241873" y="2574033"/>
                <a:ext cx="9397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79" y="21022"/>
                      <a:pt x="93979" y="46973"/>
                    </a:cubicBezTo>
                    <a:cubicBezTo>
                      <a:pt x="9397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873" y="2183180"/>
                <a:ext cx="9397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73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79" y="21022"/>
                      <a:pt x="93979" y="46973"/>
                    </a:cubicBezTo>
                    <a:cubicBezTo>
                      <a:pt x="9397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241873" y="1792328"/>
                <a:ext cx="93979" cy="93929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29">
                    <a:moveTo>
                      <a:pt x="46956" y="93929"/>
                    </a:moveTo>
                    <a:cubicBezTo>
                      <a:pt x="21022" y="93929"/>
                      <a:pt x="0" y="72907"/>
                      <a:pt x="0" y="46956"/>
                    </a:cubicBezTo>
                    <a:cubicBezTo>
                      <a:pt x="0" y="21022"/>
                      <a:pt x="21022" y="0"/>
                      <a:pt x="46956" y="0"/>
                    </a:cubicBezTo>
                    <a:cubicBezTo>
                      <a:pt x="72890" y="0"/>
                      <a:pt x="93979" y="21022"/>
                      <a:pt x="93979" y="46956"/>
                    </a:cubicBezTo>
                    <a:cubicBezTo>
                      <a:pt x="93979" y="72907"/>
                      <a:pt x="72890" y="93929"/>
                      <a:pt x="46956" y="93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241873" y="1401458"/>
                <a:ext cx="9397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79" y="21039"/>
                      <a:pt x="93979" y="46973"/>
                    </a:cubicBezTo>
                    <a:cubicBezTo>
                      <a:pt x="9397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241873" y="1010606"/>
                <a:ext cx="93979" cy="9394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93945">
                    <a:moveTo>
                      <a:pt x="46956" y="93945"/>
                    </a:moveTo>
                    <a:cubicBezTo>
                      <a:pt x="21022" y="93945"/>
                      <a:pt x="0" y="72907"/>
                      <a:pt x="0" y="46973"/>
                    </a:cubicBezTo>
                    <a:cubicBezTo>
                      <a:pt x="0" y="21039"/>
                      <a:pt x="21022" y="0"/>
                      <a:pt x="46956" y="0"/>
                    </a:cubicBezTo>
                    <a:cubicBezTo>
                      <a:pt x="72890" y="0"/>
                      <a:pt x="93979" y="21039"/>
                      <a:pt x="93979" y="46973"/>
                    </a:cubicBezTo>
                    <a:cubicBezTo>
                      <a:pt x="93979" y="72907"/>
                      <a:pt x="72890" y="93945"/>
                      <a:pt x="46956" y="939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 rot="5400000">
              <a:off x="2668936" y="862293"/>
              <a:ext cx="6854075" cy="5129680"/>
              <a:chOff x="0" y="1381925"/>
              <a:chExt cx="9312602" cy="3836709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0" y="1381925"/>
                <a:ext cx="9312602" cy="3836699"/>
              </a:xfrm>
              <a:prstGeom prst="rect">
                <a:avLst/>
              </a:prstGeom>
              <a:solidFill>
                <a:srgbClr val="58C1DD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 rot="5400000">
                <a:off x="2737952" y="-1356017"/>
                <a:ext cx="3836699" cy="9312602"/>
                <a:chOff x="2737952" y="-1356027"/>
                <a:chExt cx="3836699" cy="9312602"/>
              </a:xfrm>
            </p:grpSpPr>
            <p:pic>
              <p:nvPicPr>
                <p:cNvPr id="59" name="Image 59"/>
                <p:cNvPicPr>
                  <a:picLocks noChangeAspect="1"/>
                </p:cNvPicPr>
                <p:nvPr/>
              </p:nvPicPr>
              <p:blipFill>
                <a:blip r:embed="rId3">
                  <a:alphaModFix amt="20000"/>
                </a:blip>
                <a:stretch>
                  <a:fillRect/>
                </a:stretch>
              </p:blipFill>
              <p:spPr>
                <a:xfrm>
                  <a:off x="2737952" y="-1356027"/>
                  <a:ext cx="3836699" cy="9312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6699" h="9312602">
                      <a:moveTo>
                        <a:pt x="0" y="9312602"/>
                      </a:moveTo>
                      <a:lnTo>
                        <a:pt x="0" y="0"/>
                      </a:lnTo>
                      <a:lnTo>
                        <a:pt x="3836699" y="0"/>
                      </a:lnTo>
                      <a:lnTo>
                        <a:pt x="3836699" y="9312602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5" name="Group 65"/>
            <p:cNvGrpSpPr/>
            <p:nvPr/>
          </p:nvGrpSpPr>
          <p:grpSpPr>
            <a:xfrm>
              <a:off x="85163" y="-34"/>
              <a:ext cx="1372886" cy="675514"/>
              <a:chOff x="85163" y="-34"/>
              <a:chExt cx="1372886" cy="67551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5172" y="-33"/>
                <a:ext cx="1372877" cy="675513"/>
              </a:xfrm>
              <a:custGeom>
                <a:avLst/>
                <a:gdLst/>
                <a:ahLst/>
                <a:cxnLst/>
                <a:rect l="l" t="t" r="r" b="b"/>
                <a:pathLst>
                  <a:path w="1372877" h="675513">
                    <a:moveTo>
                      <a:pt x="0" y="0"/>
                    </a:moveTo>
                    <a:cubicBezTo>
                      <a:pt x="6352" y="373958"/>
                      <a:pt x="310736" y="675513"/>
                      <a:pt x="686220" y="675513"/>
                    </a:cubicBezTo>
                    <a:cubicBezTo>
                      <a:pt x="1061713" y="675513"/>
                      <a:pt x="1366525" y="373958"/>
                      <a:pt x="1372877" y="0"/>
                    </a:cubicBezTo>
                    <a:lnTo>
                      <a:pt x="1024062" y="0"/>
                    </a:lnTo>
                    <a:cubicBezTo>
                      <a:pt x="1017710" y="181557"/>
                      <a:pt x="869294" y="327169"/>
                      <a:pt x="686220" y="327169"/>
                    </a:cubicBezTo>
                    <a:cubicBezTo>
                      <a:pt x="503086" y="327169"/>
                      <a:pt x="354884" y="181557"/>
                      <a:pt x="34853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6FC7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 rot="5400000">
                <a:off x="433846" y="-348716"/>
                <a:ext cx="675513" cy="1372877"/>
                <a:chOff x="433849" y="-348711"/>
                <a:chExt cx="675513" cy="1372877"/>
              </a:xfrm>
            </p:grpSpPr>
            <p:pic>
              <p:nvPicPr>
                <p:cNvPr id="63" name="Image 63"/>
                <p:cNvPicPr>
                  <a:picLocks noChangeAspect="1"/>
                </p:cNvPicPr>
                <p:nvPr/>
              </p:nvPicPr>
              <p:blipFill>
                <a:blip r:embed="rId4">
                  <a:alphaModFix amt="20000"/>
                </a:blip>
                <a:stretch>
                  <a:fillRect/>
                </a:stretch>
              </p:blipFill>
              <p:spPr>
                <a:xfrm>
                  <a:off x="433849" y="-348711"/>
                  <a:ext cx="675513" cy="1372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570" h="1525419">
                      <a:moveTo>
                        <a:pt x="0" y="1525410"/>
                      </a:moveTo>
                      <a:lnTo>
                        <a:pt x="0" y="1138152"/>
                      </a:lnTo>
                      <a:cubicBezTo>
                        <a:pt x="201730" y="1131094"/>
                        <a:pt x="363522" y="966435"/>
                        <a:pt x="363522" y="762943"/>
                      </a:cubicBezTo>
                      <a:cubicBezTo>
                        <a:pt x="363522" y="559527"/>
                        <a:pt x="201730" y="394621"/>
                        <a:pt x="0" y="387572"/>
                      </a:cubicBezTo>
                      <a:lnTo>
                        <a:pt x="0" y="0"/>
                      </a:lnTo>
                      <a:cubicBezTo>
                        <a:pt x="415519" y="7048"/>
                        <a:pt x="750570" y="345729"/>
                        <a:pt x="750570" y="762943"/>
                      </a:cubicBezTo>
                      <a:cubicBezTo>
                        <a:pt x="750570" y="1180148"/>
                        <a:pt x="415519" y="1518352"/>
                        <a:pt x="0" y="1525410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1" name="Group 71"/>
            <p:cNvGrpSpPr/>
            <p:nvPr/>
          </p:nvGrpSpPr>
          <p:grpSpPr>
            <a:xfrm>
              <a:off x="7976424" y="6279783"/>
              <a:ext cx="3900333" cy="576741"/>
              <a:chOff x="7976424" y="6279783"/>
              <a:chExt cx="3900333" cy="576741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976425" y="6279800"/>
                <a:ext cx="1959999" cy="576724"/>
              </a:xfrm>
              <a:custGeom>
                <a:avLst/>
                <a:gdLst/>
                <a:ahLst/>
                <a:cxnLst/>
                <a:rect l="l" t="t" r="r" b="b"/>
                <a:pathLst>
                  <a:path w="1959999" h="576724">
                    <a:moveTo>
                      <a:pt x="0" y="0"/>
                    </a:moveTo>
                    <a:lnTo>
                      <a:pt x="1959999" y="0"/>
                    </a:lnTo>
                    <a:lnTo>
                      <a:pt x="1959999" y="576724"/>
                    </a:lnTo>
                    <a:lnTo>
                      <a:pt x="0" y="576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0244682" y="6279783"/>
                <a:ext cx="666143" cy="576741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741">
                    <a:moveTo>
                      <a:pt x="0" y="0"/>
                    </a:moveTo>
                    <a:lnTo>
                      <a:pt x="666143" y="0"/>
                    </a:lnTo>
                    <a:lnTo>
                      <a:pt x="666143" y="576741"/>
                    </a:lnTo>
                    <a:lnTo>
                      <a:pt x="0" y="5767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1210614" y="6279783"/>
                <a:ext cx="666143" cy="576741"/>
              </a:xfrm>
              <a:custGeom>
                <a:avLst/>
                <a:gdLst/>
                <a:ahLst/>
                <a:cxnLst/>
                <a:rect l="l" t="t" r="r" b="b"/>
                <a:pathLst>
                  <a:path w="666143" h="576741">
                    <a:moveTo>
                      <a:pt x="0" y="0"/>
                    </a:moveTo>
                    <a:lnTo>
                      <a:pt x="666143" y="0"/>
                    </a:lnTo>
                    <a:lnTo>
                      <a:pt x="666143" y="576741"/>
                    </a:lnTo>
                    <a:lnTo>
                      <a:pt x="0" y="5767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 rot="5400000">
                <a:off x="9638220" y="4617988"/>
                <a:ext cx="576741" cy="3900333"/>
                <a:chOff x="9638221" y="4617987"/>
                <a:chExt cx="576741" cy="3900333"/>
              </a:xfrm>
            </p:grpSpPr>
            <p:pic>
              <p:nvPicPr>
                <p:cNvPr id="69" name="Image 69"/>
                <p:cNvPicPr>
                  <a:picLocks noChangeAspect="1"/>
                </p:cNvPicPr>
                <p:nvPr/>
              </p:nvPicPr>
              <p:blipFill>
                <a:blip r:embed="rId5">
                  <a:alphaModFix amt="20000"/>
                </a:blip>
                <a:stretch>
                  <a:fillRect/>
                </a:stretch>
              </p:blipFill>
              <p:spPr>
                <a:xfrm>
                  <a:off x="9638221" y="4617987"/>
                  <a:ext cx="576741" cy="3900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0823" h="4333704">
                      <a:moveTo>
                        <a:pt x="19" y="4333704"/>
                      </a:moveTo>
                      <a:lnTo>
                        <a:pt x="19" y="2155927"/>
                      </a:lnTo>
                      <a:lnTo>
                        <a:pt x="640823" y="2155927"/>
                      </a:lnTo>
                      <a:lnTo>
                        <a:pt x="640823" y="4333704"/>
                      </a:lnTo>
                      <a:close/>
                      <a:moveTo>
                        <a:pt x="0" y="740159"/>
                      </a:moveTo>
                      <a:lnTo>
                        <a:pt x="0" y="0"/>
                      </a:lnTo>
                      <a:lnTo>
                        <a:pt x="640823" y="0"/>
                      </a:lnTo>
                      <a:lnTo>
                        <a:pt x="640823" y="740159"/>
                      </a:lnTo>
                      <a:close/>
                      <a:moveTo>
                        <a:pt x="0" y="1813417"/>
                      </a:moveTo>
                      <a:lnTo>
                        <a:pt x="0" y="1073248"/>
                      </a:lnTo>
                      <a:lnTo>
                        <a:pt x="640823" y="1073248"/>
                      </a:lnTo>
                      <a:lnTo>
                        <a:pt x="640823" y="1813417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5" name="Group 75"/>
            <p:cNvGrpSpPr/>
            <p:nvPr/>
          </p:nvGrpSpPr>
          <p:grpSpPr>
            <a:xfrm>
              <a:off x="11041643" y="4932721"/>
              <a:ext cx="835107" cy="835099"/>
              <a:chOff x="11041643" y="4932721"/>
              <a:chExt cx="835107" cy="835099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1041643" y="4932721"/>
                <a:ext cx="835107" cy="835099"/>
              </a:xfrm>
              <a:custGeom>
                <a:avLst/>
                <a:gdLst/>
                <a:ahLst/>
                <a:cxnLst/>
                <a:rect l="l" t="t" r="r" b="b"/>
                <a:pathLst>
                  <a:path w="835107" h="835099">
                    <a:moveTo>
                      <a:pt x="0" y="417549"/>
                    </a:moveTo>
                    <a:cubicBezTo>
                      <a:pt x="0" y="186949"/>
                      <a:pt x="186949" y="0"/>
                      <a:pt x="417558" y="0"/>
                    </a:cubicBezTo>
                    <a:cubicBezTo>
                      <a:pt x="648158" y="0"/>
                      <a:pt x="835107" y="186949"/>
                      <a:pt x="835107" y="417549"/>
                    </a:cubicBezTo>
                    <a:cubicBezTo>
                      <a:pt x="835107" y="648158"/>
                      <a:pt x="648158" y="835099"/>
                      <a:pt x="417558" y="835099"/>
                    </a:cubicBezTo>
                    <a:cubicBezTo>
                      <a:pt x="186949" y="835099"/>
                      <a:pt x="0" y="648158"/>
                      <a:pt x="0" y="417549"/>
                    </a:cubicBezTo>
                    <a:close/>
                  </a:path>
                </a:pathLst>
              </a:custGeom>
              <a:solidFill>
                <a:srgbClr val="5C76D8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 rot="5400000">
                <a:off x="11041642" y="4932722"/>
                <a:ext cx="835099" cy="835099"/>
                <a:chOff x="11041643" y="4932721"/>
                <a:chExt cx="835099" cy="835099"/>
              </a:xfrm>
            </p:grpSpPr>
            <p:pic>
              <p:nvPicPr>
                <p:cNvPr id="73" name="Image 73"/>
                <p:cNvPicPr>
                  <a:picLocks noChangeAspect="1"/>
                </p:cNvPicPr>
                <p:nvPr/>
              </p:nvPicPr>
              <p:blipFill>
                <a:blip r:embed="rId6">
                  <a:alphaModFix amt="20000"/>
                </a:blip>
                <a:stretch>
                  <a:fillRect/>
                </a:stretch>
              </p:blipFill>
              <p:spPr>
                <a:xfrm>
                  <a:off x="11041643" y="4932721"/>
                  <a:ext cx="835099" cy="83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887" h="927887">
                      <a:moveTo>
                        <a:pt x="0" y="463944"/>
                      </a:moveTo>
                      <a:cubicBezTo>
                        <a:pt x="0" y="207712"/>
                        <a:pt x="207721" y="0"/>
                        <a:pt x="463953" y="0"/>
                      </a:cubicBezTo>
                      <a:cubicBezTo>
                        <a:pt x="720176" y="0"/>
                        <a:pt x="927897" y="207712"/>
                        <a:pt x="927897" y="463944"/>
                      </a:cubicBezTo>
                      <a:cubicBezTo>
                        <a:pt x="927897" y="720176"/>
                        <a:pt x="720176" y="927887"/>
                        <a:pt x="463953" y="927887"/>
                      </a:cubicBezTo>
                      <a:cubicBezTo>
                        <a:pt x="207721" y="927887"/>
                        <a:pt x="0" y="720176"/>
                        <a:pt x="0" y="463944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79" name="Group 79"/>
            <p:cNvGrpSpPr/>
            <p:nvPr/>
          </p:nvGrpSpPr>
          <p:grpSpPr>
            <a:xfrm>
              <a:off x="3348534" y="887837"/>
              <a:ext cx="609059" cy="609009"/>
              <a:chOff x="3348534" y="887837"/>
              <a:chExt cx="609059" cy="609009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3348534" y="887838"/>
                <a:ext cx="609059" cy="609008"/>
              </a:xfrm>
              <a:custGeom>
                <a:avLst/>
                <a:gdLst/>
                <a:ahLst/>
                <a:cxnLst/>
                <a:rect l="l" t="t" r="r" b="b"/>
                <a:pathLst>
                  <a:path w="609059" h="609008">
                    <a:moveTo>
                      <a:pt x="0" y="304504"/>
                    </a:moveTo>
                    <a:cubicBezTo>
                      <a:pt x="0" y="136337"/>
                      <a:pt x="136363" y="0"/>
                      <a:pt x="304529" y="0"/>
                    </a:cubicBezTo>
                    <a:cubicBezTo>
                      <a:pt x="472696" y="0"/>
                      <a:pt x="609059" y="136337"/>
                      <a:pt x="609059" y="304504"/>
                    </a:cubicBezTo>
                    <a:cubicBezTo>
                      <a:pt x="609059" y="472679"/>
                      <a:pt x="472696" y="609008"/>
                      <a:pt x="304529" y="609008"/>
                    </a:cubicBezTo>
                    <a:cubicBezTo>
                      <a:pt x="136363" y="609008"/>
                      <a:pt x="0" y="472679"/>
                      <a:pt x="0" y="304504"/>
                    </a:cubicBezTo>
                    <a:close/>
                  </a:path>
                </a:pathLst>
              </a:custGeom>
              <a:solidFill>
                <a:srgbClr val="E7C126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 rot="5400000">
                <a:off x="3348564" y="887816"/>
                <a:ext cx="609008" cy="609050"/>
                <a:chOff x="3348559" y="887812"/>
                <a:chExt cx="609008" cy="609050"/>
              </a:xfrm>
            </p:grpSpPr>
            <p:pic>
              <p:nvPicPr>
                <p:cNvPr id="77" name="Image 77"/>
                <p:cNvPicPr>
                  <a:picLocks noChangeAspect="1"/>
                </p:cNvPicPr>
                <p:nvPr/>
              </p:nvPicPr>
              <p:blipFill>
                <a:blip r:embed="rId7">
                  <a:alphaModFix amt="20000"/>
                </a:blip>
                <a:stretch>
                  <a:fillRect/>
                </a:stretch>
              </p:blipFill>
              <p:spPr>
                <a:xfrm>
                  <a:off x="3348559" y="887812"/>
                  <a:ext cx="609008" cy="60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675" h="676723">
                      <a:moveTo>
                        <a:pt x="0" y="338366"/>
                      </a:moveTo>
                      <a:cubicBezTo>
                        <a:pt x="0" y="151514"/>
                        <a:pt x="151486" y="0"/>
                        <a:pt x="338338" y="0"/>
                      </a:cubicBezTo>
                      <a:cubicBezTo>
                        <a:pt x="525199" y="0"/>
                        <a:pt x="676675" y="151514"/>
                        <a:pt x="676675" y="338366"/>
                      </a:cubicBezTo>
                      <a:cubicBezTo>
                        <a:pt x="676675" y="525218"/>
                        <a:pt x="525199" y="676732"/>
                        <a:pt x="338338" y="676732"/>
                      </a:cubicBezTo>
                      <a:cubicBezTo>
                        <a:pt x="151486" y="676732"/>
                        <a:pt x="0" y="525218"/>
                        <a:pt x="0" y="338366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83" name="Group 83"/>
            <p:cNvGrpSpPr/>
            <p:nvPr/>
          </p:nvGrpSpPr>
          <p:grpSpPr>
            <a:xfrm>
              <a:off x="-1051797" y="4736726"/>
              <a:ext cx="2330811" cy="2121274"/>
              <a:chOff x="-1051797" y="4736726"/>
              <a:chExt cx="2330811" cy="2121274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-1051797" y="4736726"/>
                <a:ext cx="2330811" cy="2121274"/>
              </a:xfrm>
              <a:custGeom>
                <a:avLst/>
                <a:gdLst/>
                <a:ahLst/>
                <a:cxnLst/>
                <a:rect l="l" t="t" r="r" b="b"/>
                <a:pathLst>
                  <a:path w="2330811" h="2121274">
                    <a:moveTo>
                      <a:pt x="1165406" y="0"/>
                    </a:moveTo>
                    <a:cubicBezTo>
                      <a:pt x="521834" y="0"/>
                      <a:pt x="0" y="521782"/>
                      <a:pt x="0" y="1165389"/>
                    </a:cubicBezTo>
                    <a:lnTo>
                      <a:pt x="0" y="2121274"/>
                    </a:lnTo>
                    <a:lnTo>
                      <a:pt x="591725" y="2121274"/>
                    </a:lnTo>
                    <a:lnTo>
                      <a:pt x="591725" y="1185885"/>
                    </a:lnTo>
                    <a:cubicBezTo>
                      <a:pt x="591725" y="859865"/>
                      <a:pt x="855887" y="595506"/>
                      <a:pt x="1181882" y="595506"/>
                    </a:cubicBezTo>
                    <a:cubicBezTo>
                      <a:pt x="1507946" y="595506"/>
                      <a:pt x="1772244" y="859865"/>
                      <a:pt x="1772244" y="1185885"/>
                    </a:cubicBezTo>
                    <a:lnTo>
                      <a:pt x="1772244" y="2121274"/>
                    </a:lnTo>
                    <a:lnTo>
                      <a:pt x="2330811" y="2121274"/>
                    </a:lnTo>
                    <a:lnTo>
                      <a:pt x="2330811" y="1165389"/>
                    </a:lnTo>
                    <a:cubicBezTo>
                      <a:pt x="2330811" y="521782"/>
                      <a:pt x="1808978" y="0"/>
                      <a:pt x="1165406" y="0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82" name="Group 82"/>
              <p:cNvGrpSpPr/>
              <p:nvPr/>
            </p:nvGrpSpPr>
            <p:grpSpPr>
              <a:xfrm rot="5400000">
                <a:off x="-947029" y="4631958"/>
                <a:ext cx="2121274" cy="2330811"/>
                <a:chOff x="-947033" y="4631962"/>
                <a:chExt cx="2121274" cy="2330811"/>
              </a:xfrm>
            </p:grpSpPr>
            <p:pic>
              <p:nvPicPr>
                <p:cNvPr id="81" name="Image 81"/>
                <p:cNvPicPr>
                  <a:picLocks noChangeAspect="1"/>
                </p:cNvPicPr>
                <p:nvPr/>
              </p:nvPicPr>
              <p:blipFill>
                <a:blip r:embed="rId8">
                  <a:alphaModFix amt="20000"/>
                </a:blip>
                <a:stretch>
                  <a:fillRect/>
                </a:stretch>
              </p:blipFill>
              <p:spPr>
                <a:xfrm>
                  <a:off x="-947033" y="4631962"/>
                  <a:ext cx="2121274" cy="2330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6971" h="2589790">
                      <a:moveTo>
                        <a:pt x="0" y="1294895"/>
                      </a:moveTo>
                      <a:cubicBezTo>
                        <a:pt x="0" y="579815"/>
                        <a:pt x="579758" y="0"/>
                        <a:pt x="1294876" y="0"/>
                      </a:cubicBezTo>
                      <a:lnTo>
                        <a:pt x="2356971" y="0"/>
                      </a:lnTo>
                      <a:lnTo>
                        <a:pt x="2356971" y="620620"/>
                      </a:lnTo>
                      <a:lnTo>
                        <a:pt x="1317650" y="620620"/>
                      </a:lnTo>
                      <a:cubicBezTo>
                        <a:pt x="955405" y="620620"/>
                        <a:pt x="661673" y="914295"/>
                        <a:pt x="661673" y="1276588"/>
                      </a:cubicBezTo>
                      <a:cubicBezTo>
                        <a:pt x="661673" y="1638805"/>
                        <a:pt x="955405" y="1932318"/>
                        <a:pt x="1317650" y="1932318"/>
                      </a:cubicBezTo>
                      <a:lnTo>
                        <a:pt x="2356971" y="1932318"/>
                      </a:lnTo>
                      <a:lnTo>
                        <a:pt x="2356971" y="2589790"/>
                      </a:lnTo>
                      <a:lnTo>
                        <a:pt x="1294876" y="2589790"/>
                      </a:lnTo>
                      <a:cubicBezTo>
                        <a:pt x="579758" y="2589790"/>
                        <a:pt x="0" y="2009975"/>
                        <a:pt x="0" y="1294895"/>
                      </a:cubicBez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91" name="Group 91"/>
            <p:cNvGrpSpPr/>
            <p:nvPr/>
          </p:nvGrpSpPr>
          <p:grpSpPr>
            <a:xfrm>
              <a:off x="9754351" y="169221"/>
              <a:ext cx="1548178" cy="336101"/>
              <a:chOff x="9754351" y="169221"/>
              <a:chExt cx="1548178" cy="336101"/>
            </a:xfrm>
          </p:grpSpPr>
          <p:grpSp>
            <p:nvGrpSpPr>
              <p:cNvPr id="88" name="Group 88"/>
              <p:cNvGrpSpPr/>
              <p:nvPr/>
            </p:nvGrpSpPr>
            <p:grpSpPr>
              <a:xfrm>
                <a:off x="9755245" y="170066"/>
                <a:ext cx="1547284" cy="335256"/>
                <a:chOff x="9755245" y="170066"/>
                <a:chExt cx="1547284" cy="335256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9755245" y="170066"/>
                  <a:ext cx="407022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22" h="335256">
                      <a:moveTo>
                        <a:pt x="226097" y="0"/>
                      </a:moveTo>
                      <a:lnTo>
                        <a:pt x="407022" y="0"/>
                      </a:lnTo>
                      <a:lnTo>
                        <a:pt x="180925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10135321" y="170066"/>
                  <a:ext cx="407022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22" h="335256">
                      <a:moveTo>
                        <a:pt x="226097" y="0"/>
                      </a:moveTo>
                      <a:lnTo>
                        <a:pt x="407022" y="0"/>
                      </a:lnTo>
                      <a:lnTo>
                        <a:pt x="180925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86" name="Freeform 86"/>
                <p:cNvSpPr/>
                <p:nvPr/>
              </p:nvSpPr>
              <p:spPr>
                <a:xfrm>
                  <a:off x="10515414" y="170066"/>
                  <a:ext cx="407005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05" h="335256">
                      <a:moveTo>
                        <a:pt x="226097" y="0"/>
                      </a:moveTo>
                      <a:lnTo>
                        <a:pt x="407005" y="0"/>
                      </a:lnTo>
                      <a:lnTo>
                        <a:pt x="180908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10895490" y="170066"/>
                  <a:ext cx="407039" cy="335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039" h="335256">
                      <a:moveTo>
                        <a:pt x="226097" y="0"/>
                      </a:moveTo>
                      <a:lnTo>
                        <a:pt x="407039" y="0"/>
                      </a:lnTo>
                      <a:lnTo>
                        <a:pt x="180908" y="335256"/>
                      </a:lnTo>
                      <a:lnTo>
                        <a:pt x="0" y="335256"/>
                      </a:lnTo>
                      <a:lnTo>
                        <a:pt x="226097" y="0"/>
                      </a:lnTo>
                      <a:close/>
                    </a:path>
                  </a:pathLst>
                </a:custGeom>
                <a:solidFill>
                  <a:srgbClr val="6DD8C8"/>
                </a:solidFill>
                <a:ln w="0">
                  <a:solidFill>
                    <a:srgbClr val="000000">
                      <a:alpha val="0"/>
                    </a:srgbClr>
                  </a:solidFill>
                </a:ln>
              </p:spPr>
            </p:sp>
          </p:grpSp>
          <p:grpSp>
            <p:nvGrpSpPr>
              <p:cNvPr id="90" name="Group 90"/>
              <p:cNvGrpSpPr/>
              <p:nvPr/>
            </p:nvGrpSpPr>
            <p:grpSpPr>
              <a:xfrm rot="5400000">
                <a:off x="10360268" y="-436696"/>
                <a:ext cx="335202" cy="1547036"/>
                <a:chOff x="10360272" y="-436692"/>
                <a:chExt cx="335202" cy="1547036"/>
              </a:xfrm>
            </p:grpSpPr>
            <p:pic>
              <p:nvPicPr>
                <p:cNvPr id="89" name="Image 89"/>
                <p:cNvPicPr>
                  <a:picLocks noChangeAspect="1"/>
                </p:cNvPicPr>
                <p:nvPr/>
              </p:nvPicPr>
              <p:blipFill>
                <a:blip r:embed="rId9">
                  <a:alphaModFix amt="20000"/>
                </a:blip>
                <a:stretch>
                  <a:fillRect/>
                </a:stretch>
              </p:blipFill>
              <p:spPr>
                <a:xfrm>
                  <a:off x="10360272" y="-436692"/>
                  <a:ext cx="335202" cy="1547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447" h="1718929">
                      <a:moveTo>
                        <a:pt x="0" y="201006"/>
                      </a:moveTo>
                      <a:lnTo>
                        <a:pt x="0" y="0"/>
                      </a:lnTo>
                      <a:lnTo>
                        <a:pt x="372447" y="251212"/>
                      </a:lnTo>
                      <a:lnTo>
                        <a:pt x="372447" y="452190"/>
                      </a:lnTo>
                      <a:close/>
                      <a:moveTo>
                        <a:pt x="0" y="623259"/>
                      </a:moveTo>
                      <a:lnTo>
                        <a:pt x="0" y="422272"/>
                      </a:lnTo>
                      <a:lnTo>
                        <a:pt x="372447" y="673446"/>
                      </a:lnTo>
                      <a:lnTo>
                        <a:pt x="372447" y="874433"/>
                      </a:lnTo>
                      <a:close/>
                      <a:moveTo>
                        <a:pt x="0" y="1045502"/>
                      </a:moveTo>
                      <a:lnTo>
                        <a:pt x="0" y="844515"/>
                      </a:lnTo>
                      <a:lnTo>
                        <a:pt x="372447" y="1095699"/>
                      </a:lnTo>
                      <a:lnTo>
                        <a:pt x="372447" y="1296686"/>
                      </a:lnTo>
                      <a:close/>
                      <a:moveTo>
                        <a:pt x="0" y="1467745"/>
                      </a:moveTo>
                      <a:lnTo>
                        <a:pt x="0" y="1266758"/>
                      </a:lnTo>
                      <a:lnTo>
                        <a:pt x="372447" y="1517942"/>
                      </a:lnTo>
                      <a:lnTo>
                        <a:pt x="372447" y="17189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95" name="Group 95"/>
            <p:cNvGrpSpPr/>
            <p:nvPr/>
          </p:nvGrpSpPr>
          <p:grpSpPr>
            <a:xfrm>
              <a:off x="7834117" y="-316798"/>
              <a:ext cx="1470262" cy="1470484"/>
              <a:chOff x="7834117" y="-316798"/>
              <a:chExt cx="1470262" cy="1470484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834117" y="-316798"/>
                <a:ext cx="1470261" cy="1470475"/>
              </a:xfrm>
              <a:custGeom>
                <a:avLst/>
                <a:gdLst/>
                <a:ahLst/>
                <a:cxnLst/>
                <a:rect l="l" t="t" r="r" b="b"/>
                <a:pathLst>
                  <a:path w="1470261" h="1470475">
                    <a:moveTo>
                      <a:pt x="735015" y="0"/>
                    </a:moveTo>
                    <a:cubicBezTo>
                      <a:pt x="329013" y="0"/>
                      <a:pt x="0" y="329218"/>
                      <a:pt x="0" y="735238"/>
                    </a:cubicBezTo>
                    <a:cubicBezTo>
                      <a:pt x="0" y="1141248"/>
                      <a:pt x="329013" y="1470475"/>
                      <a:pt x="735015" y="1470475"/>
                    </a:cubicBezTo>
                    <a:cubicBezTo>
                      <a:pt x="1141025" y="1470475"/>
                      <a:pt x="1470261" y="1141248"/>
                      <a:pt x="1470261" y="735238"/>
                    </a:cubicBezTo>
                    <a:cubicBezTo>
                      <a:pt x="1470261" y="329218"/>
                      <a:pt x="1141025" y="0"/>
                      <a:pt x="735015" y="0"/>
                    </a:cubicBezTo>
                    <a:close/>
                    <a:moveTo>
                      <a:pt x="735015" y="372629"/>
                    </a:moveTo>
                    <a:cubicBezTo>
                      <a:pt x="935260" y="372629"/>
                      <a:pt x="1097623" y="534993"/>
                      <a:pt x="1097623" y="735238"/>
                    </a:cubicBezTo>
                    <a:cubicBezTo>
                      <a:pt x="1097623" y="935483"/>
                      <a:pt x="935260" y="1097846"/>
                      <a:pt x="735015" y="1097846"/>
                    </a:cubicBezTo>
                    <a:cubicBezTo>
                      <a:pt x="534778" y="1097846"/>
                      <a:pt x="372415" y="935483"/>
                      <a:pt x="372415" y="735238"/>
                    </a:cubicBezTo>
                    <a:cubicBezTo>
                      <a:pt x="372415" y="534993"/>
                      <a:pt x="534778" y="372629"/>
                      <a:pt x="735015" y="372629"/>
                    </a:cubicBezTo>
                    <a:close/>
                  </a:path>
                </a:pathLst>
              </a:custGeom>
              <a:solidFill>
                <a:srgbClr val="FA5041"/>
              </a:solidFill>
              <a:ln w="0">
                <a:solidFill>
                  <a:srgbClr val="000000">
                    <a:alpha val="0"/>
                  </a:srgbClr>
                </a:solidFill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 rot="5400000">
                <a:off x="7838348" y="-312344"/>
                <a:ext cx="1461800" cy="1470261"/>
                <a:chOff x="7838343" y="-312349"/>
                <a:chExt cx="1461800" cy="1470261"/>
              </a:xfrm>
            </p:grpSpPr>
            <p:pic>
              <p:nvPicPr>
                <p:cNvPr id="93" name="Image 93"/>
                <p:cNvPicPr>
                  <a:picLocks noChangeAspect="1"/>
                </p:cNvPicPr>
                <p:nvPr/>
              </p:nvPicPr>
              <p:blipFill>
                <a:blip r:embed="rId10">
                  <a:alphaModFix amt="20000"/>
                </a:blip>
                <a:stretch>
                  <a:fillRect/>
                </a:stretch>
              </p:blipFill>
              <p:spPr>
                <a:xfrm>
                  <a:off x="7838343" y="-312349"/>
                  <a:ext cx="1461800" cy="14702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4222" h="1633623">
                      <a:moveTo>
                        <a:pt x="404393" y="816940"/>
                      </a:moveTo>
                      <a:cubicBezTo>
                        <a:pt x="404393" y="1039425"/>
                        <a:pt x="584797" y="1219829"/>
                        <a:pt x="807282" y="1219829"/>
                      </a:cubicBezTo>
                      <a:cubicBezTo>
                        <a:pt x="1029786" y="1219829"/>
                        <a:pt x="1210180" y="1039425"/>
                        <a:pt x="1210180" y="816940"/>
                      </a:cubicBezTo>
                      <a:cubicBezTo>
                        <a:pt x="1210180" y="594446"/>
                        <a:pt x="1029786" y="414042"/>
                        <a:pt x="807282" y="414042"/>
                      </a:cubicBezTo>
                      <a:cubicBezTo>
                        <a:pt x="584797" y="414042"/>
                        <a:pt x="404393" y="594446"/>
                        <a:pt x="404393" y="816940"/>
                      </a:cubicBezTo>
                      <a:close/>
                      <a:moveTo>
                        <a:pt x="0" y="936022"/>
                      </a:moveTo>
                      <a:lnTo>
                        <a:pt x="0" y="697849"/>
                      </a:lnTo>
                      <a:lnTo>
                        <a:pt x="6953" y="652310"/>
                      </a:lnTo>
                      <a:cubicBezTo>
                        <a:pt x="83144" y="280073"/>
                        <a:pt x="412556" y="0"/>
                        <a:pt x="807282" y="0"/>
                      </a:cubicBezTo>
                      <a:cubicBezTo>
                        <a:pt x="1258414" y="0"/>
                        <a:pt x="1624222" y="365817"/>
                        <a:pt x="1624222" y="816940"/>
                      </a:cubicBezTo>
                      <a:cubicBezTo>
                        <a:pt x="1624222" y="1268054"/>
                        <a:pt x="1258414" y="1633623"/>
                        <a:pt x="807282" y="1633623"/>
                      </a:cubicBezTo>
                      <a:cubicBezTo>
                        <a:pt x="412547" y="1633623"/>
                        <a:pt x="83144" y="1353741"/>
                        <a:pt x="6953" y="981551"/>
                      </a:cubicBezTo>
                      <a:close/>
                    </a:path>
                  </a:pathLst>
                </a:custGeom>
              </p:spPr>
            </p:pic>
          </p:grpSp>
        </p:grpSp>
      </p:grpSp>
      <p:grpSp>
        <p:nvGrpSpPr>
          <p:cNvPr id="101" name="Group 101"/>
          <p:cNvGrpSpPr/>
          <p:nvPr/>
        </p:nvGrpSpPr>
        <p:grpSpPr>
          <a:xfrm>
            <a:off x="3581429" y="818255"/>
            <a:ext cx="5067005" cy="3351628"/>
            <a:chOff x="3581429" y="818255"/>
            <a:chExt cx="5067005" cy="3351628"/>
          </a:xfrm>
        </p:grpSpPr>
        <p:sp>
          <p:nvSpPr>
            <p:cNvPr id="97" name="Rectangle 97"/>
            <p:cNvSpPr/>
            <p:nvPr/>
          </p:nvSpPr>
          <p:spPr>
            <a:xfrm>
              <a:off x="3581429" y="818255"/>
              <a:ext cx="5067005" cy="312509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4191619" y="837657"/>
              <a:ext cx="3944150" cy="3332226"/>
              <a:chOff x="4191619" y="837657"/>
              <a:chExt cx="3944150" cy="3332226"/>
            </a:xfrm>
          </p:grpSpPr>
          <p:sp>
            <p:nvSpPr>
              <p:cNvPr id="98" name="TextBox 98"/>
              <p:cNvSpPr txBox="1"/>
              <p:nvPr/>
            </p:nvSpPr>
            <p:spPr>
              <a:xfrm>
                <a:off x="4191619" y="837657"/>
                <a:ext cx="3944150" cy="1869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6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Thank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4863427" y="2300697"/>
                <a:ext cx="2600525" cy="18691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sz="96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you!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3292</Words>
  <Application>Microsoft Office PowerPoint</Application>
  <PresentationFormat>宽屏</PresentationFormat>
  <Paragraphs>488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KP Z</cp:lastModifiedBy>
  <cp:revision>2</cp:revision>
  <dcterms:created xsi:type="dcterms:W3CDTF">2013-01-27T09:14:16Z</dcterms:created>
  <dcterms:modified xsi:type="dcterms:W3CDTF">2026-07-24T02:13:06Z</dcterms:modified>
  <cp:category/>
</cp:coreProperties>
</file>