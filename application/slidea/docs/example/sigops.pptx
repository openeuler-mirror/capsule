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204700" cy="6869113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10200" y="259560"/>
            <a:ext cx="10983240" cy="10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10200" y="1523160"/>
            <a:ext cx="10983240" cy="37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10200" y="259560"/>
            <a:ext cx="10983240" cy="10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10200" y="1523160"/>
            <a:ext cx="10983240" cy="37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5657760" y="1761840"/>
            <a:ext cx="876600" cy="876600"/>
          </a:xfrm>
          <a:custGeom>
            <a:avLst/>
            <a:gdLst/>
            <a:ahLst/>
            <a:rect l="0" t="0" r="r" b="b"/>
            <a:pathLst>
              <a:path w="2435" h="2435">
                <a:moveTo>
                  <a:pt x="2435" y="1218"/>
                </a:moveTo>
                <a:cubicBezTo>
                  <a:pt x="2435" y="1258"/>
                  <a:pt x="2433" y="1298"/>
                  <a:pt x="2429" y="1338"/>
                </a:cubicBezTo>
                <a:cubicBezTo>
                  <a:pt x="2425" y="1377"/>
                  <a:pt x="2419" y="1417"/>
                  <a:pt x="2412" y="1456"/>
                </a:cubicBezTo>
                <a:cubicBezTo>
                  <a:pt x="2404" y="1495"/>
                  <a:pt x="2394" y="1534"/>
                  <a:pt x="2383" y="1572"/>
                </a:cubicBezTo>
                <a:cubicBezTo>
                  <a:pt x="2371" y="1610"/>
                  <a:pt x="2358" y="1647"/>
                  <a:pt x="2342" y="1684"/>
                </a:cubicBezTo>
                <a:cubicBezTo>
                  <a:pt x="2327" y="1721"/>
                  <a:pt x="2310" y="1757"/>
                  <a:pt x="2291" y="1792"/>
                </a:cubicBezTo>
                <a:cubicBezTo>
                  <a:pt x="2272" y="1827"/>
                  <a:pt x="2252" y="1861"/>
                  <a:pt x="2230" y="1895"/>
                </a:cubicBezTo>
                <a:cubicBezTo>
                  <a:pt x="2208" y="1928"/>
                  <a:pt x="2184" y="1960"/>
                  <a:pt x="2159" y="1990"/>
                </a:cubicBezTo>
                <a:cubicBezTo>
                  <a:pt x="2133" y="2021"/>
                  <a:pt x="2107" y="2051"/>
                  <a:pt x="2078" y="2079"/>
                </a:cubicBezTo>
                <a:cubicBezTo>
                  <a:pt x="2050" y="2107"/>
                  <a:pt x="2021" y="2134"/>
                  <a:pt x="1990" y="2159"/>
                </a:cubicBezTo>
                <a:cubicBezTo>
                  <a:pt x="1959" y="2184"/>
                  <a:pt x="1927" y="2208"/>
                  <a:pt x="1894" y="2230"/>
                </a:cubicBezTo>
                <a:cubicBezTo>
                  <a:pt x="1861" y="2252"/>
                  <a:pt x="1827" y="2273"/>
                  <a:pt x="1792" y="2292"/>
                </a:cubicBezTo>
                <a:cubicBezTo>
                  <a:pt x="1756" y="2311"/>
                  <a:pt x="1720" y="2328"/>
                  <a:pt x="1684" y="2343"/>
                </a:cubicBezTo>
                <a:cubicBezTo>
                  <a:pt x="1647" y="2358"/>
                  <a:pt x="1609" y="2371"/>
                  <a:pt x="1571" y="2383"/>
                </a:cubicBezTo>
                <a:cubicBezTo>
                  <a:pt x="1533" y="2395"/>
                  <a:pt x="1494" y="2404"/>
                  <a:pt x="1455" y="2412"/>
                </a:cubicBezTo>
                <a:cubicBezTo>
                  <a:pt x="1416" y="2420"/>
                  <a:pt x="1377" y="2426"/>
                  <a:pt x="1337" y="2430"/>
                </a:cubicBezTo>
                <a:cubicBezTo>
                  <a:pt x="1297" y="2434"/>
                  <a:pt x="1258" y="2435"/>
                  <a:pt x="1218" y="2435"/>
                </a:cubicBezTo>
                <a:cubicBezTo>
                  <a:pt x="1178" y="2435"/>
                  <a:pt x="1138" y="2434"/>
                  <a:pt x="1099" y="2430"/>
                </a:cubicBezTo>
                <a:cubicBezTo>
                  <a:pt x="1059" y="2426"/>
                  <a:pt x="1019" y="2420"/>
                  <a:pt x="980" y="2412"/>
                </a:cubicBezTo>
                <a:cubicBezTo>
                  <a:pt x="941" y="2404"/>
                  <a:pt x="903" y="2395"/>
                  <a:pt x="865" y="2383"/>
                </a:cubicBezTo>
                <a:cubicBezTo>
                  <a:pt x="826" y="2371"/>
                  <a:pt x="789" y="2358"/>
                  <a:pt x="752" y="2343"/>
                </a:cubicBezTo>
                <a:cubicBezTo>
                  <a:pt x="715" y="2328"/>
                  <a:pt x="679" y="2311"/>
                  <a:pt x="644" y="2292"/>
                </a:cubicBezTo>
                <a:cubicBezTo>
                  <a:pt x="609" y="2273"/>
                  <a:pt x="575" y="2252"/>
                  <a:pt x="542" y="2230"/>
                </a:cubicBezTo>
                <a:cubicBezTo>
                  <a:pt x="509" y="2208"/>
                  <a:pt x="477" y="2184"/>
                  <a:pt x="446" y="2159"/>
                </a:cubicBezTo>
                <a:cubicBezTo>
                  <a:pt x="415" y="2134"/>
                  <a:pt x="385" y="2107"/>
                  <a:pt x="357" y="2079"/>
                </a:cubicBezTo>
                <a:cubicBezTo>
                  <a:pt x="329" y="2051"/>
                  <a:pt x="302" y="2021"/>
                  <a:pt x="277" y="1990"/>
                </a:cubicBezTo>
                <a:cubicBezTo>
                  <a:pt x="252" y="1960"/>
                  <a:pt x="228" y="1928"/>
                  <a:pt x="206" y="1895"/>
                </a:cubicBezTo>
                <a:cubicBezTo>
                  <a:pt x="184" y="1861"/>
                  <a:pt x="163" y="1827"/>
                  <a:pt x="144" y="1792"/>
                </a:cubicBezTo>
                <a:cubicBezTo>
                  <a:pt x="126" y="1757"/>
                  <a:pt x="109" y="1721"/>
                  <a:pt x="92" y="1684"/>
                </a:cubicBezTo>
                <a:cubicBezTo>
                  <a:pt x="77" y="1647"/>
                  <a:pt x="64" y="1610"/>
                  <a:pt x="52" y="1572"/>
                </a:cubicBezTo>
                <a:cubicBezTo>
                  <a:pt x="41" y="1534"/>
                  <a:pt x="31" y="1495"/>
                  <a:pt x="23" y="1456"/>
                </a:cubicBezTo>
                <a:cubicBezTo>
                  <a:pt x="15" y="1417"/>
                  <a:pt x="10" y="1377"/>
                  <a:pt x="6" y="1338"/>
                </a:cubicBezTo>
                <a:cubicBezTo>
                  <a:pt x="2" y="1298"/>
                  <a:pt x="0" y="1258"/>
                  <a:pt x="0" y="1218"/>
                </a:cubicBezTo>
                <a:cubicBezTo>
                  <a:pt x="0" y="1178"/>
                  <a:pt x="2" y="1138"/>
                  <a:pt x="6" y="1098"/>
                </a:cubicBezTo>
                <a:cubicBezTo>
                  <a:pt x="10" y="1058"/>
                  <a:pt x="15" y="1019"/>
                  <a:pt x="23" y="980"/>
                </a:cubicBezTo>
                <a:cubicBezTo>
                  <a:pt x="31" y="941"/>
                  <a:pt x="41" y="902"/>
                  <a:pt x="52" y="864"/>
                </a:cubicBezTo>
                <a:cubicBezTo>
                  <a:pt x="64" y="826"/>
                  <a:pt x="77" y="788"/>
                  <a:pt x="92" y="752"/>
                </a:cubicBezTo>
                <a:cubicBezTo>
                  <a:pt x="109" y="715"/>
                  <a:pt x="126" y="679"/>
                  <a:pt x="144" y="644"/>
                </a:cubicBezTo>
                <a:cubicBezTo>
                  <a:pt x="163" y="608"/>
                  <a:pt x="184" y="574"/>
                  <a:pt x="206" y="541"/>
                </a:cubicBezTo>
                <a:cubicBezTo>
                  <a:pt x="228" y="508"/>
                  <a:pt x="252" y="476"/>
                  <a:pt x="277" y="445"/>
                </a:cubicBezTo>
                <a:cubicBezTo>
                  <a:pt x="302" y="414"/>
                  <a:pt x="329" y="385"/>
                  <a:pt x="357" y="357"/>
                </a:cubicBezTo>
                <a:cubicBezTo>
                  <a:pt x="385" y="329"/>
                  <a:pt x="415" y="302"/>
                  <a:pt x="446" y="277"/>
                </a:cubicBezTo>
                <a:cubicBezTo>
                  <a:pt x="477" y="251"/>
                  <a:pt x="509" y="228"/>
                  <a:pt x="542" y="205"/>
                </a:cubicBezTo>
                <a:cubicBezTo>
                  <a:pt x="575" y="183"/>
                  <a:pt x="609" y="163"/>
                  <a:pt x="644" y="144"/>
                </a:cubicBezTo>
                <a:cubicBezTo>
                  <a:pt x="679" y="125"/>
                  <a:pt x="715" y="108"/>
                  <a:pt x="752" y="93"/>
                </a:cubicBezTo>
                <a:cubicBezTo>
                  <a:pt x="789" y="78"/>
                  <a:pt x="826" y="64"/>
                  <a:pt x="865" y="53"/>
                </a:cubicBezTo>
                <a:cubicBezTo>
                  <a:pt x="903" y="41"/>
                  <a:pt x="941" y="31"/>
                  <a:pt x="980" y="24"/>
                </a:cubicBezTo>
                <a:cubicBezTo>
                  <a:pt x="1019" y="16"/>
                  <a:pt x="1059" y="10"/>
                  <a:pt x="1099" y="6"/>
                </a:cubicBezTo>
                <a:cubicBezTo>
                  <a:pt x="1138" y="2"/>
                  <a:pt x="1178" y="0"/>
                  <a:pt x="1218" y="0"/>
                </a:cubicBezTo>
                <a:cubicBezTo>
                  <a:pt x="1258" y="0"/>
                  <a:pt x="1297" y="2"/>
                  <a:pt x="1337" y="6"/>
                </a:cubicBezTo>
                <a:cubicBezTo>
                  <a:pt x="1377" y="10"/>
                  <a:pt x="1416" y="16"/>
                  <a:pt x="1455" y="24"/>
                </a:cubicBezTo>
                <a:cubicBezTo>
                  <a:pt x="1494" y="31"/>
                  <a:pt x="1533" y="41"/>
                  <a:pt x="1571" y="53"/>
                </a:cubicBezTo>
                <a:cubicBezTo>
                  <a:pt x="1609" y="64"/>
                  <a:pt x="1647" y="78"/>
                  <a:pt x="1684" y="93"/>
                </a:cubicBezTo>
                <a:cubicBezTo>
                  <a:pt x="1720" y="108"/>
                  <a:pt x="1756" y="125"/>
                  <a:pt x="1792" y="144"/>
                </a:cubicBezTo>
                <a:cubicBezTo>
                  <a:pt x="1827" y="163"/>
                  <a:pt x="1861" y="183"/>
                  <a:pt x="1894" y="205"/>
                </a:cubicBezTo>
                <a:cubicBezTo>
                  <a:pt x="1927" y="228"/>
                  <a:pt x="1959" y="251"/>
                  <a:pt x="1990" y="277"/>
                </a:cubicBezTo>
                <a:cubicBezTo>
                  <a:pt x="2021" y="302"/>
                  <a:pt x="2050" y="329"/>
                  <a:pt x="2078" y="357"/>
                </a:cubicBezTo>
                <a:cubicBezTo>
                  <a:pt x="2107" y="385"/>
                  <a:pt x="2133" y="414"/>
                  <a:pt x="2159" y="445"/>
                </a:cubicBezTo>
                <a:cubicBezTo>
                  <a:pt x="2184" y="476"/>
                  <a:pt x="2208" y="508"/>
                  <a:pt x="2230" y="541"/>
                </a:cubicBezTo>
                <a:cubicBezTo>
                  <a:pt x="2252" y="574"/>
                  <a:pt x="2272" y="608"/>
                  <a:pt x="2291" y="644"/>
                </a:cubicBezTo>
                <a:cubicBezTo>
                  <a:pt x="2310" y="679"/>
                  <a:pt x="2327" y="715"/>
                  <a:pt x="2342" y="752"/>
                </a:cubicBezTo>
                <a:cubicBezTo>
                  <a:pt x="2358" y="788"/>
                  <a:pt x="2371" y="826"/>
                  <a:pt x="2383" y="864"/>
                </a:cubicBezTo>
                <a:cubicBezTo>
                  <a:pt x="2394" y="902"/>
                  <a:pt x="2404" y="941"/>
                  <a:pt x="2412" y="980"/>
                </a:cubicBezTo>
                <a:cubicBezTo>
                  <a:pt x="2419" y="1019"/>
                  <a:pt x="2425" y="1058"/>
                  <a:pt x="2429" y="1098"/>
                </a:cubicBezTo>
                <a:cubicBezTo>
                  <a:pt x="2433" y="1138"/>
                  <a:pt x="2435" y="1178"/>
                  <a:pt x="2435" y="121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5657760" y="1761840"/>
            <a:ext cx="876600" cy="876600"/>
          </a:xfrm>
          <a:custGeom>
            <a:avLst/>
            <a:gdLst/>
            <a:ahLst/>
            <a:rect l="0" t="0" r="r" b="b"/>
            <a:pathLst>
              <a:path fill="none" w="2435" h="2435">
                <a:moveTo>
                  <a:pt x="2435" y="1218"/>
                </a:moveTo>
                <a:cubicBezTo>
                  <a:pt x="2435" y="1258"/>
                  <a:pt x="2433" y="1298"/>
                  <a:pt x="2429" y="1338"/>
                </a:cubicBezTo>
                <a:cubicBezTo>
                  <a:pt x="2425" y="1377"/>
                  <a:pt x="2419" y="1417"/>
                  <a:pt x="2412" y="1456"/>
                </a:cubicBezTo>
                <a:cubicBezTo>
                  <a:pt x="2404" y="1495"/>
                  <a:pt x="2394" y="1534"/>
                  <a:pt x="2383" y="1572"/>
                </a:cubicBezTo>
                <a:cubicBezTo>
                  <a:pt x="2371" y="1610"/>
                  <a:pt x="2358" y="1647"/>
                  <a:pt x="2342" y="1684"/>
                </a:cubicBezTo>
                <a:cubicBezTo>
                  <a:pt x="2327" y="1721"/>
                  <a:pt x="2310" y="1757"/>
                  <a:pt x="2291" y="1792"/>
                </a:cubicBezTo>
                <a:cubicBezTo>
                  <a:pt x="2272" y="1827"/>
                  <a:pt x="2252" y="1861"/>
                  <a:pt x="2230" y="1895"/>
                </a:cubicBezTo>
                <a:cubicBezTo>
                  <a:pt x="2208" y="1928"/>
                  <a:pt x="2184" y="1960"/>
                  <a:pt x="2159" y="1990"/>
                </a:cubicBezTo>
                <a:cubicBezTo>
                  <a:pt x="2133" y="2021"/>
                  <a:pt x="2107" y="2051"/>
                  <a:pt x="2078" y="2079"/>
                </a:cubicBezTo>
                <a:cubicBezTo>
                  <a:pt x="2050" y="2107"/>
                  <a:pt x="2021" y="2134"/>
                  <a:pt x="1990" y="2159"/>
                </a:cubicBezTo>
                <a:cubicBezTo>
                  <a:pt x="1959" y="2184"/>
                  <a:pt x="1927" y="2208"/>
                  <a:pt x="1894" y="2230"/>
                </a:cubicBezTo>
                <a:cubicBezTo>
                  <a:pt x="1861" y="2252"/>
                  <a:pt x="1827" y="2273"/>
                  <a:pt x="1792" y="2292"/>
                </a:cubicBezTo>
                <a:cubicBezTo>
                  <a:pt x="1756" y="2311"/>
                  <a:pt x="1720" y="2328"/>
                  <a:pt x="1684" y="2343"/>
                </a:cubicBezTo>
                <a:cubicBezTo>
                  <a:pt x="1647" y="2358"/>
                  <a:pt x="1609" y="2371"/>
                  <a:pt x="1571" y="2383"/>
                </a:cubicBezTo>
                <a:cubicBezTo>
                  <a:pt x="1533" y="2395"/>
                  <a:pt x="1494" y="2404"/>
                  <a:pt x="1455" y="2412"/>
                </a:cubicBezTo>
                <a:cubicBezTo>
                  <a:pt x="1416" y="2420"/>
                  <a:pt x="1377" y="2426"/>
                  <a:pt x="1337" y="2430"/>
                </a:cubicBezTo>
                <a:cubicBezTo>
                  <a:pt x="1297" y="2434"/>
                  <a:pt x="1258" y="2435"/>
                  <a:pt x="1218" y="2435"/>
                </a:cubicBezTo>
                <a:cubicBezTo>
                  <a:pt x="1178" y="2435"/>
                  <a:pt x="1138" y="2434"/>
                  <a:pt x="1099" y="2430"/>
                </a:cubicBezTo>
                <a:cubicBezTo>
                  <a:pt x="1059" y="2426"/>
                  <a:pt x="1019" y="2420"/>
                  <a:pt x="980" y="2412"/>
                </a:cubicBezTo>
                <a:cubicBezTo>
                  <a:pt x="941" y="2404"/>
                  <a:pt x="903" y="2395"/>
                  <a:pt x="865" y="2383"/>
                </a:cubicBezTo>
                <a:cubicBezTo>
                  <a:pt x="826" y="2371"/>
                  <a:pt x="789" y="2358"/>
                  <a:pt x="752" y="2343"/>
                </a:cubicBezTo>
                <a:cubicBezTo>
                  <a:pt x="715" y="2328"/>
                  <a:pt x="679" y="2311"/>
                  <a:pt x="644" y="2292"/>
                </a:cubicBezTo>
                <a:cubicBezTo>
                  <a:pt x="609" y="2273"/>
                  <a:pt x="575" y="2252"/>
                  <a:pt x="542" y="2230"/>
                </a:cubicBezTo>
                <a:cubicBezTo>
                  <a:pt x="509" y="2208"/>
                  <a:pt x="477" y="2184"/>
                  <a:pt x="446" y="2159"/>
                </a:cubicBezTo>
                <a:cubicBezTo>
                  <a:pt x="415" y="2134"/>
                  <a:pt x="385" y="2107"/>
                  <a:pt x="357" y="2079"/>
                </a:cubicBezTo>
                <a:cubicBezTo>
                  <a:pt x="329" y="2051"/>
                  <a:pt x="302" y="2021"/>
                  <a:pt x="277" y="1990"/>
                </a:cubicBezTo>
                <a:cubicBezTo>
                  <a:pt x="252" y="1960"/>
                  <a:pt x="228" y="1928"/>
                  <a:pt x="206" y="1895"/>
                </a:cubicBezTo>
                <a:cubicBezTo>
                  <a:pt x="184" y="1861"/>
                  <a:pt x="163" y="1827"/>
                  <a:pt x="144" y="1792"/>
                </a:cubicBezTo>
                <a:cubicBezTo>
                  <a:pt x="126" y="1757"/>
                  <a:pt x="109" y="1721"/>
                  <a:pt x="92" y="1684"/>
                </a:cubicBezTo>
                <a:cubicBezTo>
                  <a:pt x="77" y="1647"/>
                  <a:pt x="64" y="1610"/>
                  <a:pt x="52" y="1572"/>
                </a:cubicBezTo>
                <a:cubicBezTo>
                  <a:pt x="41" y="1534"/>
                  <a:pt x="31" y="1495"/>
                  <a:pt x="23" y="1456"/>
                </a:cubicBezTo>
                <a:cubicBezTo>
                  <a:pt x="15" y="1417"/>
                  <a:pt x="10" y="1377"/>
                  <a:pt x="6" y="1338"/>
                </a:cubicBezTo>
                <a:cubicBezTo>
                  <a:pt x="2" y="1298"/>
                  <a:pt x="0" y="1258"/>
                  <a:pt x="0" y="1218"/>
                </a:cubicBezTo>
                <a:cubicBezTo>
                  <a:pt x="0" y="1178"/>
                  <a:pt x="2" y="1138"/>
                  <a:pt x="6" y="1098"/>
                </a:cubicBezTo>
                <a:cubicBezTo>
                  <a:pt x="10" y="1058"/>
                  <a:pt x="15" y="1019"/>
                  <a:pt x="23" y="980"/>
                </a:cubicBezTo>
                <a:cubicBezTo>
                  <a:pt x="31" y="941"/>
                  <a:pt x="41" y="902"/>
                  <a:pt x="52" y="864"/>
                </a:cubicBezTo>
                <a:cubicBezTo>
                  <a:pt x="64" y="826"/>
                  <a:pt x="77" y="788"/>
                  <a:pt x="92" y="752"/>
                </a:cubicBezTo>
                <a:cubicBezTo>
                  <a:pt x="109" y="715"/>
                  <a:pt x="126" y="679"/>
                  <a:pt x="144" y="644"/>
                </a:cubicBezTo>
                <a:cubicBezTo>
                  <a:pt x="163" y="608"/>
                  <a:pt x="184" y="574"/>
                  <a:pt x="206" y="541"/>
                </a:cubicBezTo>
                <a:cubicBezTo>
                  <a:pt x="228" y="508"/>
                  <a:pt x="252" y="476"/>
                  <a:pt x="277" y="445"/>
                </a:cubicBezTo>
                <a:cubicBezTo>
                  <a:pt x="302" y="414"/>
                  <a:pt x="329" y="385"/>
                  <a:pt x="357" y="357"/>
                </a:cubicBezTo>
                <a:cubicBezTo>
                  <a:pt x="385" y="329"/>
                  <a:pt x="415" y="302"/>
                  <a:pt x="446" y="277"/>
                </a:cubicBezTo>
                <a:cubicBezTo>
                  <a:pt x="477" y="251"/>
                  <a:pt x="509" y="228"/>
                  <a:pt x="542" y="205"/>
                </a:cubicBezTo>
                <a:cubicBezTo>
                  <a:pt x="575" y="183"/>
                  <a:pt x="609" y="163"/>
                  <a:pt x="644" y="144"/>
                </a:cubicBezTo>
                <a:cubicBezTo>
                  <a:pt x="679" y="125"/>
                  <a:pt x="715" y="108"/>
                  <a:pt x="752" y="93"/>
                </a:cubicBezTo>
                <a:cubicBezTo>
                  <a:pt x="789" y="78"/>
                  <a:pt x="826" y="64"/>
                  <a:pt x="865" y="53"/>
                </a:cubicBezTo>
                <a:cubicBezTo>
                  <a:pt x="903" y="41"/>
                  <a:pt x="941" y="31"/>
                  <a:pt x="980" y="24"/>
                </a:cubicBezTo>
                <a:cubicBezTo>
                  <a:pt x="1019" y="16"/>
                  <a:pt x="1059" y="10"/>
                  <a:pt x="1099" y="6"/>
                </a:cubicBezTo>
                <a:cubicBezTo>
                  <a:pt x="1138" y="2"/>
                  <a:pt x="1178" y="0"/>
                  <a:pt x="1218" y="0"/>
                </a:cubicBezTo>
                <a:cubicBezTo>
                  <a:pt x="1258" y="0"/>
                  <a:pt x="1297" y="2"/>
                  <a:pt x="1337" y="6"/>
                </a:cubicBezTo>
                <a:cubicBezTo>
                  <a:pt x="1377" y="10"/>
                  <a:pt x="1416" y="16"/>
                  <a:pt x="1455" y="24"/>
                </a:cubicBezTo>
                <a:cubicBezTo>
                  <a:pt x="1494" y="31"/>
                  <a:pt x="1533" y="41"/>
                  <a:pt x="1571" y="53"/>
                </a:cubicBezTo>
                <a:cubicBezTo>
                  <a:pt x="1609" y="64"/>
                  <a:pt x="1647" y="78"/>
                  <a:pt x="1684" y="93"/>
                </a:cubicBezTo>
                <a:cubicBezTo>
                  <a:pt x="1720" y="108"/>
                  <a:pt x="1756" y="125"/>
                  <a:pt x="1792" y="144"/>
                </a:cubicBezTo>
                <a:cubicBezTo>
                  <a:pt x="1827" y="163"/>
                  <a:pt x="1861" y="183"/>
                  <a:pt x="1894" y="205"/>
                </a:cubicBezTo>
                <a:cubicBezTo>
                  <a:pt x="1927" y="228"/>
                  <a:pt x="1959" y="251"/>
                  <a:pt x="1990" y="277"/>
                </a:cubicBezTo>
                <a:cubicBezTo>
                  <a:pt x="2021" y="302"/>
                  <a:pt x="2050" y="329"/>
                  <a:pt x="2078" y="357"/>
                </a:cubicBezTo>
                <a:cubicBezTo>
                  <a:pt x="2107" y="385"/>
                  <a:pt x="2133" y="414"/>
                  <a:pt x="2159" y="445"/>
                </a:cubicBezTo>
                <a:cubicBezTo>
                  <a:pt x="2184" y="476"/>
                  <a:pt x="2208" y="508"/>
                  <a:pt x="2230" y="541"/>
                </a:cubicBezTo>
                <a:cubicBezTo>
                  <a:pt x="2252" y="574"/>
                  <a:pt x="2272" y="608"/>
                  <a:pt x="2291" y="644"/>
                </a:cubicBezTo>
                <a:cubicBezTo>
                  <a:pt x="2310" y="679"/>
                  <a:pt x="2327" y="715"/>
                  <a:pt x="2342" y="752"/>
                </a:cubicBezTo>
                <a:cubicBezTo>
                  <a:pt x="2358" y="788"/>
                  <a:pt x="2371" y="826"/>
                  <a:pt x="2383" y="864"/>
                </a:cubicBezTo>
                <a:cubicBezTo>
                  <a:pt x="2394" y="902"/>
                  <a:pt x="2404" y="941"/>
                  <a:pt x="2412" y="980"/>
                </a:cubicBezTo>
                <a:cubicBezTo>
                  <a:pt x="2419" y="1019"/>
                  <a:pt x="2425" y="1058"/>
                  <a:pt x="2429" y="1098"/>
                </a:cubicBezTo>
                <a:cubicBezTo>
                  <a:pt x="2433" y="1138"/>
                  <a:pt x="2435" y="1178"/>
                  <a:pt x="2435" y="1218"/>
                </a:cubicBezTo>
              </a:path>
            </a:pathLst>
          </a:custGeom>
          <a:ln w="37800">
            <a:solidFill>
              <a:srgbClr val="dbeafe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5867280" y="1971360"/>
            <a:ext cx="457920" cy="457920"/>
          </a:xfrm>
          <a:custGeom>
            <a:avLst/>
            <a:gdLst/>
            <a:ahLst/>
            <a:rect l="0" t="0" r="r" b="b"/>
            <a:pathLst>
              <a:path w="1272" h="1272">
                <a:moveTo>
                  <a:pt x="436" y="60"/>
                </a:moveTo>
                <a:cubicBezTo>
                  <a:pt x="436" y="27"/>
                  <a:pt x="410" y="0"/>
                  <a:pt x="377" y="0"/>
                </a:cubicBezTo>
                <a:cubicBezTo>
                  <a:pt x="344" y="0"/>
                  <a:pt x="317" y="27"/>
                  <a:pt x="317" y="60"/>
                </a:cubicBezTo>
                <a:lnTo>
                  <a:pt x="317" y="159"/>
                </a:lnTo>
                <a:cubicBezTo>
                  <a:pt x="230" y="159"/>
                  <a:pt x="159" y="230"/>
                  <a:pt x="159" y="318"/>
                </a:cubicBezTo>
                <a:lnTo>
                  <a:pt x="59" y="318"/>
                </a:lnTo>
                <a:cubicBezTo>
                  <a:pt x="26" y="318"/>
                  <a:pt x="0" y="344"/>
                  <a:pt x="0" y="377"/>
                </a:cubicBezTo>
                <a:cubicBezTo>
                  <a:pt x="0" y="410"/>
                  <a:pt x="26" y="437"/>
                  <a:pt x="59" y="437"/>
                </a:cubicBezTo>
                <a:lnTo>
                  <a:pt x="159" y="437"/>
                </a:lnTo>
                <a:lnTo>
                  <a:pt x="159" y="577"/>
                </a:lnTo>
                <a:lnTo>
                  <a:pt x="59" y="577"/>
                </a:lnTo>
                <a:cubicBezTo>
                  <a:pt x="26" y="577"/>
                  <a:pt x="0" y="603"/>
                  <a:pt x="0" y="636"/>
                </a:cubicBezTo>
                <a:cubicBezTo>
                  <a:pt x="0" y="669"/>
                  <a:pt x="26" y="696"/>
                  <a:pt x="59" y="696"/>
                </a:cubicBezTo>
                <a:lnTo>
                  <a:pt x="159" y="696"/>
                </a:lnTo>
                <a:lnTo>
                  <a:pt x="159" y="835"/>
                </a:lnTo>
                <a:lnTo>
                  <a:pt x="59" y="835"/>
                </a:lnTo>
                <a:cubicBezTo>
                  <a:pt x="26" y="835"/>
                  <a:pt x="0" y="861"/>
                  <a:pt x="0" y="894"/>
                </a:cubicBezTo>
                <a:cubicBezTo>
                  <a:pt x="0" y="927"/>
                  <a:pt x="26" y="954"/>
                  <a:pt x="59" y="954"/>
                </a:cubicBezTo>
                <a:lnTo>
                  <a:pt x="159" y="954"/>
                </a:lnTo>
                <a:cubicBezTo>
                  <a:pt x="159" y="1041"/>
                  <a:pt x="230" y="1113"/>
                  <a:pt x="317" y="1113"/>
                </a:cubicBezTo>
                <a:lnTo>
                  <a:pt x="317" y="1213"/>
                </a:lnTo>
                <a:cubicBezTo>
                  <a:pt x="317" y="1246"/>
                  <a:pt x="344" y="1272"/>
                  <a:pt x="377" y="1272"/>
                </a:cubicBezTo>
                <a:cubicBezTo>
                  <a:pt x="410" y="1272"/>
                  <a:pt x="436" y="1246"/>
                  <a:pt x="436" y="1213"/>
                </a:cubicBezTo>
                <a:lnTo>
                  <a:pt x="436" y="1113"/>
                </a:lnTo>
                <a:lnTo>
                  <a:pt x="576" y="1113"/>
                </a:lnTo>
                <a:lnTo>
                  <a:pt x="576" y="1213"/>
                </a:lnTo>
                <a:cubicBezTo>
                  <a:pt x="576" y="1246"/>
                  <a:pt x="603" y="1272"/>
                  <a:pt x="636" y="1272"/>
                </a:cubicBezTo>
                <a:cubicBezTo>
                  <a:pt x="669" y="1272"/>
                  <a:pt x="695" y="1246"/>
                  <a:pt x="695" y="1213"/>
                </a:cubicBezTo>
                <a:lnTo>
                  <a:pt x="695" y="1113"/>
                </a:lnTo>
                <a:lnTo>
                  <a:pt x="834" y="1113"/>
                </a:lnTo>
                <a:lnTo>
                  <a:pt x="834" y="1213"/>
                </a:lnTo>
                <a:cubicBezTo>
                  <a:pt x="834" y="1246"/>
                  <a:pt x="861" y="1272"/>
                  <a:pt x="894" y="1272"/>
                </a:cubicBezTo>
                <a:cubicBezTo>
                  <a:pt x="927" y="1272"/>
                  <a:pt x="953" y="1246"/>
                  <a:pt x="953" y="1213"/>
                </a:cubicBezTo>
                <a:lnTo>
                  <a:pt x="953" y="1113"/>
                </a:lnTo>
                <a:cubicBezTo>
                  <a:pt x="1041" y="1113"/>
                  <a:pt x="1112" y="1041"/>
                  <a:pt x="1112" y="954"/>
                </a:cubicBezTo>
                <a:lnTo>
                  <a:pt x="1212" y="954"/>
                </a:lnTo>
                <a:cubicBezTo>
                  <a:pt x="1245" y="954"/>
                  <a:pt x="1272" y="927"/>
                  <a:pt x="1272" y="894"/>
                </a:cubicBezTo>
                <a:cubicBezTo>
                  <a:pt x="1272" y="861"/>
                  <a:pt x="1245" y="835"/>
                  <a:pt x="1212" y="835"/>
                </a:cubicBezTo>
                <a:lnTo>
                  <a:pt x="1112" y="835"/>
                </a:lnTo>
                <a:lnTo>
                  <a:pt x="1112" y="696"/>
                </a:lnTo>
                <a:lnTo>
                  <a:pt x="1212" y="696"/>
                </a:lnTo>
                <a:cubicBezTo>
                  <a:pt x="1245" y="696"/>
                  <a:pt x="1272" y="669"/>
                  <a:pt x="1272" y="636"/>
                </a:cubicBezTo>
                <a:cubicBezTo>
                  <a:pt x="1272" y="603"/>
                  <a:pt x="1245" y="577"/>
                  <a:pt x="1212" y="577"/>
                </a:cubicBezTo>
                <a:lnTo>
                  <a:pt x="1112" y="577"/>
                </a:lnTo>
                <a:lnTo>
                  <a:pt x="1112" y="437"/>
                </a:lnTo>
                <a:lnTo>
                  <a:pt x="1212" y="437"/>
                </a:lnTo>
                <a:cubicBezTo>
                  <a:pt x="1245" y="437"/>
                  <a:pt x="1272" y="410"/>
                  <a:pt x="1272" y="377"/>
                </a:cubicBezTo>
                <a:cubicBezTo>
                  <a:pt x="1272" y="344"/>
                  <a:pt x="1245" y="318"/>
                  <a:pt x="1212" y="318"/>
                </a:cubicBezTo>
                <a:lnTo>
                  <a:pt x="1112" y="318"/>
                </a:lnTo>
                <a:cubicBezTo>
                  <a:pt x="1112" y="230"/>
                  <a:pt x="1041" y="159"/>
                  <a:pt x="953" y="159"/>
                </a:cubicBezTo>
                <a:lnTo>
                  <a:pt x="953" y="60"/>
                </a:lnTo>
                <a:cubicBezTo>
                  <a:pt x="953" y="27"/>
                  <a:pt x="927" y="0"/>
                  <a:pt x="894" y="0"/>
                </a:cubicBezTo>
                <a:cubicBezTo>
                  <a:pt x="861" y="0"/>
                  <a:pt x="834" y="27"/>
                  <a:pt x="834" y="60"/>
                </a:cubicBezTo>
                <a:lnTo>
                  <a:pt x="834" y="159"/>
                </a:lnTo>
                <a:lnTo>
                  <a:pt x="695" y="159"/>
                </a:lnTo>
                <a:lnTo>
                  <a:pt x="695" y="60"/>
                </a:lnTo>
                <a:cubicBezTo>
                  <a:pt x="695" y="27"/>
                  <a:pt x="669" y="0"/>
                  <a:pt x="636" y="0"/>
                </a:cubicBezTo>
                <a:cubicBezTo>
                  <a:pt x="603" y="0"/>
                  <a:pt x="576" y="27"/>
                  <a:pt x="576" y="60"/>
                </a:cubicBezTo>
                <a:lnTo>
                  <a:pt x="576" y="159"/>
                </a:lnTo>
                <a:lnTo>
                  <a:pt x="436" y="159"/>
                </a:lnTo>
                <a:lnTo>
                  <a:pt x="436" y="60"/>
                </a:lnTo>
                <a:moveTo>
                  <a:pt x="397" y="318"/>
                </a:moveTo>
                <a:lnTo>
                  <a:pt x="874" y="318"/>
                </a:lnTo>
                <a:cubicBezTo>
                  <a:pt x="918" y="318"/>
                  <a:pt x="953" y="353"/>
                  <a:pt x="953" y="397"/>
                </a:cubicBezTo>
                <a:lnTo>
                  <a:pt x="953" y="874"/>
                </a:lnTo>
                <a:cubicBezTo>
                  <a:pt x="953" y="918"/>
                  <a:pt x="918" y="954"/>
                  <a:pt x="874" y="954"/>
                </a:cubicBezTo>
                <a:lnTo>
                  <a:pt x="397" y="954"/>
                </a:lnTo>
                <a:cubicBezTo>
                  <a:pt x="353" y="954"/>
                  <a:pt x="317" y="918"/>
                  <a:pt x="317" y="874"/>
                </a:cubicBezTo>
                <a:lnTo>
                  <a:pt x="317" y="397"/>
                </a:lnTo>
                <a:cubicBezTo>
                  <a:pt x="317" y="353"/>
                  <a:pt x="353" y="318"/>
                  <a:pt x="397" y="318"/>
                </a:cubicBezTo>
                <a:moveTo>
                  <a:pt x="874" y="397"/>
                </a:moveTo>
                <a:lnTo>
                  <a:pt x="397" y="397"/>
                </a:lnTo>
                <a:lnTo>
                  <a:pt x="397" y="874"/>
                </a:lnTo>
                <a:lnTo>
                  <a:pt x="874" y="874"/>
                </a:lnTo>
                <a:lnTo>
                  <a:pt x="874" y="397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28760" y="251280"/>
            <a:ext cx="207576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SIGOPS @ 60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904560" y="3168720"/>
            <a:ext cx="4268160" cy="62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60 Years of SIGOPS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3600360" y="46861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70" y="70"/>
                </a:moveTo>
                <a:lnTo>
                  <a:pt x="38" y="38"/>
                </a:lnTo>
                <a:cubicBezTo>
                  <a:pt x="24" y="24"/>
                  <a:pt x="0" y="34"/>
                  <a:pt x="0" y="54"/>
                </a:cubicBezTo>
                <a:lnTo>
                  <a:pt x="0" y="157"/>
                </a:lnTo>
                <a:cubicBezTo>
                  <a:pt x="0" y="170"/>
                  <a:pt x="10" y="180"/>
                  <a:pt x="22" y="180"/>
                </a:cubicBezTo>
                <a:lnTo>
                  <a:pt x="124" y="180"/>
                </a:lnTo>
                <a:cubicBezTo>
                  <a:pt x="144" y="180"/>
                  <a:pt x="154" y="156"/>
                  <a:pt x="140" y="141"/>
                </a:cubicBezTo>
                <a:lnTo>
                  <a:pt x="112" y="113"/>
                </a:lnTo>
                <a:cubicBezTo>
                  <a:pt x="144" y="81"/>
                  <a:pt x="189" y="60"/>
                  <a:pt x="239" y="60"/>
                </a:cubicBezTo>
                <a:cubicBezTo>
                  <a:pt x="337" y="60"/>
                  <a:pt x="417" y="141"/>
                  <a:pt x="417" y="239"/>
                </a:cubicBezTo>
                <a:cubicBezTo>
                  <a:pt x="417" y="338"/>
                  <a:pt x="337" y="418"/>
                  <a:pt x="239" y="418"/>
                </a:cubicBezTo>
                <a:cubicBezTo>
                  <a:pt x="200" y="418"/>
                  <a:pt x="165" y="406"/>
                  <a:pt x="136" y="386"/>
                </a:cubicBezTo>
                <a:cubicBezTo>
                  <a:pt x="122" y="376"/>
                  <a:pt x="104" y="380"/>
                  <a:pt x="94" y="393"/>
                </a:cubicBezTo>
                <a:cubicBezTo>
                  <a:pt x="85" y="407"/>
                  <a:pt x="88" y="425"/>
                  <a:pt x="102" y="435"/>
                </a:cubicBezTo>
                <a:cubicBezTo>
                  <a:pt x="140" y="461"/>
                  <a:pt x="187" y="477"/>
                  <a:pt x="239" y="477"/>
                </a:cubicBezTo>
                <a:cubicBezTo>
                  <a:pt x="370" y="477"/>
                  <a:pt x="477" y="371"/>
                  <a:pt x="477" y="239"/>
                </a:cubicBezTo>
                <a:cubicBezTo>
                  <a:pt x="477" y="108"/>
                  <a:pt x="370" y="0"/>
                  <a:pt x="239" y="0"/>
                </a:cubicBezTo>
                <a:cubicBezTo>
                  <a:pt x="172" y="0"/>
                  <a:pt x="113" y="27"/>
                  <a:pt x="70" y="70"/>
                </a:cubicBezTo>
                <a:moveTo>
                  <a:pt x="239" y="120"/>
                </a:moveTo>
                <a:cubicBezTo>
                  <a:pt x="226" y="120"/>
                  <a:pt x="216" y="130"/>
                  <a:pt x="216" y="142"/>
                </a:cubicBezTo>
                <a:lnTo>
                  <a:pt x="216" y="239"/>
                </a:lnTo>
                <a:cubicBezTo>
                  <a:pt x="216" y="245"/>
                  <a:pt x="218" y="251"/>
                  <a:pt x="222" y="255"/>
                </a:cubicBezTo>
                <a:lnTo>
                  <a:pt x="290" y="322"/>
                </a:lnTo>
                <a:cubicBezTo>
                  <a:pt x="299" y="331"/>
                  <a:pt x="313" y="331"/>
                  <a:pt x="322" y="322"/>
                </a:cubicBezTo>
                <a:cubicBezTo>
                  <a:pt x="330" y="313"/>
                  <a:pt x="330" y="299"/>
                  <a:pt x="322" y="290"/>
                </a:cubicBezTo>
                <a:lnTo>
                  <a:pt x="261" y="230"/>
                </a:lnTo>
                <a:lnTo>
                  <a:pt x="261" y="142"/>
                </a:lnTo>
                <a:cubicBezTo>
                  <a:pt x="261" y="130"/>
                  <a:pt x="251" y="120"/>
                  <a:pt x="239" y="12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4168440" y="3971160"/>
            <a:ext cx="384300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Legacy, Community, Vision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5248080" y="4657680"/>
            <a:ext cx="9720" cy="228960"/>
          </a:xfrm>
          <a:custGeom>
            <a:avLst/>
            <a:gdLst/>
            <a:ahLst/>
            <a:rect l="0" t="0" r="r" b="b"/>
            <a:pathLst>
              <a:path w="27" h="636">
                <a:moveTo>
                  <a:pt x="0" y="0"/>
                </a:moveTo>
                <a:lnTo>
                  <a:pt x="27" y="0"/>
                </a:lnTo>
                <a:lnTo>
                  <a:pt x="27" y="636"/>
                </a:lnTo>
                <a:lnTo>
                  <a:pt x="0" y="636"/>
                </a:lnTo>
                <a:lnTo>
                  <a:pt x="0" y="0"/>
                </a:lnTo>
                <a:close/>
              </a:path>
            </a:pathLst>
          </a:custGeom>
          <a:solidFill>
            <a:srgbClr val="d1d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5562360" y="4686120"/>
            <a:ext cx="214560" cy="171720"/>
          </a:xfrm>
          <a:custGeom>
            <a:avLst/>
            <a:gdLst/>
            <a:ahLst/>
            <a:rect l="0" t="0" r="r" b="b"/>
            <a:pathLst>
              <a:path w="596" h="477">
                <a:moveTo>
                  <a:pt x="238" y="60"/>
                </a:moveTo>
                <a:lnTo>
                  <a:pt x="358" y="60"/>
                </a:lnTo>
                <a:lnTo>
                  <a:pt x="358" y="120"/>
                </a:lnTo>
                <a:lnTo>
                  <a:pt x="238" y="120"/>
                </a:lnTo>
                <a:lnTo>
                  <a:pt x="238" y="60"/>
                </a:lnTo>
                <a:moveTo>
                  <a:pt x="223" y="0"/>
                </a:moveTo>
                <a:cubicBezTo>
                  <a:pt x="199" y="0"/>
                  <a:pt x="179" y="20"/>
                  <a:pt x="179" y="45"/>
                </a:cubicBezTo>
                <a:lnTo>
                  <a:pt x="179" y="135"/>
                </a:lnTo>
                <a:cubicBezTo>
                  <a:pt x="179" y="160"/>
                  <a:pt x="199" y="180"/>
                  <a:pt x="223" y="180"/>
                </a:cubicBezTo>
                <a:lnTo>
                  <a:pt x="268" y="180"/>
                </a:lnTo>
                <a:lnTo>
                  <a:pt x="268" y="209"/>
                </a:lnTo>
                <a:lnTo>
                  <a:pt x="30" y="209"/>
                </a:lnTo>
                <a:cubicBezTo>
                  <a:pt x="13" y="209"/>
                  <a:pt x="0" y="223"/>
                  <a:pt x="0" y="239"/>
                </a:cubicBezTo>
                <a:cubicBezTo>
                  <a:pt x="0" y="256"/>
                  <a:pt x="13" y="269"/>
                  <a:pt x="30" y="269"/>
                </a:cubicBezTo>
                <a:lnTo>
                  <a:pt x="119" y="269"/>
                </a:lnTo>
                <a:lnTo>
                  <a:pt x="119" y="299"/>
                </a:lnTo>
                <a:lnTo>
                  <a:pt x="75" y="299"/>
                </a:lnTo>
                <a:cubicBezTo>
                  <a:pt x="50" y="299"/>
                  <a:pt x="30" y="319"/>
                  <a:pt x="30" y="343"/>
                </a:cubicBezTo>
                <a:lnTo>
                  <a:pt x="30" y="433"/>
                </a:lnTo>
                <a:cubicBezTo>
                  <a:pt x="30" y="457"/>
                  <a:pt x="50" y="477"/>
                  <a:pt x="75" y="477"/>
                </a:cubicBezTo>
                <a:lnTo>
                  <a:pt x="223" y="477"/>
                </a:lnTo>
                <a:cubicBezTo>
                  <a:pt x="248" y="477"/>
                  <a:pt x="268" y="457"/>
                  <a:pt x="268" y="433"/>
                </a:cubicBezTo>
                <a:lnTo>
                  <a:pt x="268" y="343"/>
                </a:lnTo>
                <a:cubicBezTo>
                  <a:pt x="268" y="319"/>
                  <a:pt x="248" y="299"/>
                  <a:pt x="223" y="299"/>
                </a:cubicBezTo>
                <a:lnTo>
                  <a:pt x="179" y="299"/>
                </a:lnTo>
                <a:lnTo>
                  <a:pt x="179" y="269"/>
                </a:lnTo>
                <a:lnTo>
                  <a:pt x="418" y="269"/>
                </a:lnTo>
                <a:lnTo>
                  <a:pt x="418" y="299"/>
                </a:lnTo>
                <a:lnTo>
                  <a:pt x="373" y="299"/>
                </a:lnTo>
                <a:cubicBezTo>
                  <a:pt x="349" y="299"/>
                  <a:pt x="329" y="319"/>
                  <a:pt x="329" y="343"/>
                </a:cubicBezTo>
                <a:lnTo>
                  <a:pt x="329" y="433"/>
                </a:lnTo>
                <a:cubicBezTo>
                  <a:pt x="329" y="457"/>
                  <a:pt x="349" y="477"/>
                  <a:pt x="373" y="477"/>
                </a:cubicBezTo>
                <a:lnTo>
                  <a:pt x="522" y="477"/>
                </a:lnTo>
                <a:cubicBezTo>
                  <a:pt x="547" y="477"/>
                  <a:pt x="567" y="457"/>
                  <a:pt x="567" y="433"/>
                </a:cubicBezTo>
                <a:lnTo>
                  <a:pt x="567" y="343"/>
                </a:lnTo>
                <a:cubicBezTo>
                  <a:pt x="567" y="319"/>
                  <a:pt x="547" y="299"/>
                  <a:pt x="522" y="299"/>
                </a:cubicBezTo>
                <a:lnTo>
                  <a:pt x="477" y="299"/>
                </a:lnTo>
                <a:lnTo>
                  <a:pt x="477" y="269"/>
                </a:lnTo>
                <a:lnTo>
                  <a:pt x="567" y="269"/>
                </a:lnTo>
                <a:cubicBezTo>
                  <a:pt x="583" y="269"/>
                  <a:pt x="596" y="256"/>
                  <a:pt x="596" y="239"/>
                </a:cubicBezTo>
                <a:cubicBezTo>
                  <a:pt x="596" y="223"/>
                  <a:pt x="583" y="209"/>
                  <a:pt x="567" y="209"/>
                </a:cubicBezTo>
                <a:lnTo>
                  <a:pt x="329" y="209"/>
                </a:lnTo>
                <a:lnTo>
                  <a:pt x="329" y="180"/>
                </a:lnTo>
                <a:lnTo>
                  <a:pt x="373" y="180"/>
                </a:lnTo>
                <a:cubicBezTo>
                  <a:pt x="398" y="180"/>
                  <a:pt x="418" y="160"/>
                  <a:pt x="418" y="135"/>
                </a:cubicBezTo>
                <a:lnTo>
                  <a:pt x="418" y="45"/>
                </a:lnTo>
                <a:cubicBezTo>
                  <a:pt x="418" y="20"/>
                  <a:pt x="398" y="0"/>
                  <a:pt x="373" y="0"/>
                </a:cubicBezTo>
                <a:lnTo>
                  <a:pt x="223" y="0"/>
                </a:lnTo>
                <a:moveTo>
                  <a:pt x="89" y="418"/>
                </a:moveTo>
                <a:lnTo>
                  <a:pt x="89" y="358"/>
                </a:lnTo>
                <a:lnTo>
                  <a:pt x="209" y="358"/>
                </a:lnTo>
                <a:lnTo>
                  <a:pt x="209" y="418"/>
                </a:lnTo>
                <a:lnTo>
                  <a:pt x="89" y="418"/>
                </a:lnTo>
                <a:moveTo>
                  <a:pt x="388" y="358"/>
                </a:moveTo>
                <a:lnTo>
                  <a:pt x="507" y="358"/>
                </a:lnTo>
                <a:lnTo>
                  <a:pt x="507" y="418"/>
                </a:lnTo>
                <a:lnTo>
                  <a:pt x="388" y="418"/>
                </a:lnTo>
                <a:lnTo>
                  <a:pt x="388" y="358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851640" y="4655520"/>
            <a:ext cx="10411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1965 — 2025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852520" y="4655520"/>
            <a:ext cx="26632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From Time-Sharing to AI Systems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2611800" y="5311440"/>
            <a:ext cx="6884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Bridging historical wisdom with future vision for Operating Systems research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1682720" y="6521040"/>
            <a:ext cx="1368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MicrosoftYaHei"/>
              </a:rPr>
              <a:t>1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447480" y="1176120"/>
            <a:ext cx="11311200" cy="810000"/>
          </a:xfrm>
          <a:custGeom>
            <a:avLst/>
            <a:gdLst/>
            <a:ahLst/>
            <a:rect l="0" t="0" r="r" b="b"/>
            <a:pathLst>
              <a:path w="31420" h="2250">
                <a:moveTo>
                  <a:pt x="0" y="2250"/>
                </a:moveTo>
                <a:lnTo>
                  <a:pt x="0" y="0"/>
                </a:lnTo>
                <a:lnTo>
                  <a:pt x="31328" y="0"/>
                </a:lnTo>
                <a:cubicBezTo>
                  <a:pt x="31340" y="0"/>
                  <a:pt x="31352" y="2"/>
                  <a:pt x="31363" y="7"/>
                </a:cubicBezTo>
                <a:cubicBezTo>
                  <a:pt x="31374" y="12"/>
                  <a:pt x="31385" y="19"/>
                  <a:pt x="31393" y="27"/>
                </a:cubicBezTo>
                <a:cubicBezTo>
                  <a:pt x="31402" y="36"/>
                  <a:pt x="31409" y="46"/>
                  <a:pt x="31413" y="57"/>
                </a:cubicBezTo>
                <a:cubicBezTo>
                  <a:pt x="31418" y="69"/>
                  <a:pt x="31420" y="80"/>
                  <a:pt x="31420" y="93"/>
                </a:cubicBezTo>
                <a:lnTo>
                  <a:pt x="31420" y="2157"/>
                </a:lnTo>
                <a:cubicBezTo>
                  <a:pt x="31420" y="2170"/>
                  <a:pt x="31418" y="2182"/>
                  <a:pt x="31413" y="2193"/>
                </a:cubicBezTo>
                <a:cubicBezTo>
                  <a:pt x="31409" y="2204"/>
                  <a:pt x="31402" y="2214"/>
                  <a:pt x="31393" y="2223"/>
                </a:cubicBezTo>
                <a:cubicBezTo>
                  <a:pt x="31385" y="2232"/>
                  <a:pt x="31374" y="2238"/>
                  <a:pt x="31363" y="2243"/>
                </a:cubicBezTo>
                <a:cubicBezTo>
                  <a:pt x="31352" y="2248"/>
                  <a:pt x="31340" y="2250"/>
                  <a:pt x="31328" y="2250"/>
                </a:cubicBezTo>
                <a:lnTo>
                  <a:pt x="0" y="225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428400" y="1171440"/>
            <a:ext cx="11324520" cy="18720"/>
          </a:xfrm>
          <a:custGeom>
            <a:avLst/>
            <a:gdLst/>
            <a:ahLst/>
            <a:rect l="0" t="0" r="r" b="b"/>
            <a:pathLst>
              <a:path w="31457" h="52">
                <a:moveTo>
                  <a:pt x="31438" y="52"/>
                </a:moveTo>
                <a:cubicBezTo>
                  <a:pt x="31438" y="51"/>
                  <a:pt x="31437" y="51"/>
                  <a:pt x="31437" y="51"/>
                </a:cubicBezTo>
                <a:cubicBezTo>
                  <a:pt x="31421" y="34"/>
                  <a:pt x="31403" y="26"/>
                  <a:pt x="31381" y="26"/>
                </a:cubicBezTo>
                <a:lnTo>
                  <a:pt x="106" y="26"/>
                </a:lnTo>
                <a:lnTo>
                  <a:pt x="106" y="27"/>
                </a:lnTo>
                <a:lnTo>
                  <a:pt x="0" y="1"/>
                </a:lnTo>
                <a:lnTo>
                  <a:pt x="0" y="0"/>
                </a:lnTo>
                <a:lnTo>
                  <a:pt x="31381" y="0"/>
                </a:lnTo>
                <a:cubicBezTo>
                  <a:pt x="31410" y="0"/>
                  <a:pt x="31435" y="10"/>
                  <a:pt x="31456" y="31"/>
                </a:cubicBezTo>
                <a:cubicBezTo>
                  <a:pt x="31456" y="31"/>
                  <a:pt x="31456" y="32"/>
                  <a:pt x="31457" y="32"/>
                </a:cubicBezTo>
                <a:lnTo>
                  <a:pt x="31438" y="52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28400" y="1972080"/>
            <a:ext cx="11324520" cy="18720"/>
          </a:xfrm>
          <a:custGeom>
            <a:avLst/>
            <a:gdLst/>
            <a:ahLst/>
            <a:rect l="0" t="0" r="r" b="b"/>
            <a:pathLst>
              <a:path w="31457" h="52">
                <a:moveTo>
                  <a:pt x="106" y="25"/>
                </a:moveTo>
                <a:lnTo>
                  <a:pt x="106" y="26"/>
                </a:lnTo>
                <a:lnTo>
                  <a:pt x="31381" y="26"/>
                </a:lnTo>
                <a:cubicBezTo>
                  <a:pt x="31403" y="26"/>
                  <a:pt x="31421" y="18"/>
                  <a:pt x="31437" y="2"/>
                </a:cubicBezTo>
                <a:cubicBezTo>
                  <a:pt x="31437" y="1"/>
                  <a:pt x="31438" y="1"/>
                  <a:pt x="31438" y="0"/>
                </a:cubicBezTo>
                <a:lnTo>
                  <a:pt x="31457" y="20"/>
                </a:lnTo>
                <a:cubicBezTo>
                  <a:pt x="31456" y="20"/>
                  <a:pt x="31456" y="21"/>
                  <a:pt x="31456" y="21"/>
                </a:cubicBezTo>
                <a:cubicBezTo>
                  <a:pt x="31435" y="42"/>
                  <a:pt x="31410" y="52"/>
                  <a:pt x="31381" y="52"/>
                </a:cubicBezTo>
                <a:lnTo>
                  <a:pt x="0" y="52"/>
                </a:lnTo>
                <a:lnTo>
                  <a:pt x="106" y="25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11745360" y="1182600"/>
            <a:ext cx="18360" cy="797040"/>
          </a:xfrm>
          <a:custGeom>
            <a:avLst/>
            <a:gdLst/>
            <a:ahLst/>
            <a:rect l="0" t="0" r="r" b="b"/>
            <a:pathLst>
              <a:path w="51" h="2214">
                <a:moveTo>
                  <a:pt x="0" y="2196"/>
                </a:moveTo>
                <a:cubicBezTo>
                  <a:pt x="15" y="2180"/>
                  <a:pt x="23" y="2161"/>
                  <a:pt x="23" y="2139"/>
                </a:cubicBezTo>
                <a:lnTo>
                  <a:pt x="23" y="76"/>
                </a:lnTo>
                <a:cubicBezTo>
                  <a:pt x="23" y="54"/>
                  <a:pt x="15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6"/>
                </a:cubicBezTo>
                <a:lnTo>
                  <a:pt x="51" y="2139"/>
                </a:lnTo>
                <a:cubicBezTo>
                  <a:pt x="51" y="2169"/>
                  <a:pt x="40" y="2194"/>
                  <a:pt x="19" y="2214"/>
                </a:cubicBezTo>
                <a:lnTo>
                  <a:pt x="0" y="219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618840" y="1390320"/>
            <a:ext cx="381600" cy="381600"/>
          </a:xfrm>
          <a:custGeom>
            <a:avLst/>
            <a:gdLst/>
            <a:ahLst/>
            <a:rect l="0" t="0" r="r" b="b"/>
            <a:pathLst>
              <a:path w="1060" h="1060">
                <a:moveTo>
                  <a:pt x="0" y="847"/>
                </a:moveTo>
                <a:lnTo>
                  <a:pt x="0" y="212"/>
                </a:lnTo>
                <a:cubicBezTo>
                  <a:pt x="0" y="198"/>
                  <a:pt x="2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lnTo>
                  <a:pt x="847" y="0"/>
                </a:lnTo>
                <a:cubicBezTo>
                  <a:pt x="861" y="0"/>
                  <a:pt x="875" y="2"/>
                  <a:pt x="888" y="4"/>
                </a:cubicBezTo>
                <a:cubicBezTo>
                  <a:pt x="902" y="7"/>
                  <a:pt x="915" y="11"/>
                  <a:pt x="929" y="17"/>
                </a:cubicBezTo>
                <a:cubicBezTo>
                  <a:pt x="942" y="22"/>
                  <a:pt x="954" y="28"/>
                  <a:pt x="966" y="36"/>
                </a:cubicBezTo>
                <a:cubicBezTo>
                  <a:pt x="977" y="44"/>
                  <a:pt x="988" y="53"/>
                  <a:pt x="998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2" y="106"/>
                  <a:pt x="1038" y="118"/>
                  <a:pt x="1044" y="131"/>
                </a:cubicBezTo>
                <a:cubicBezTo>
                  <a:pt x="1049" y="144"/>
                  <a:pt x="1053" y="157"/>
                  <a:pt x="1056" y="171"/>
                </a:cubicBezTo>
                <a:cubicBezTo>
                  <a:pt x="1058" y="184"/>
                  <a:pt x="1060" y="198"/>
                  <a:pt x="1060" y="212"/>
                </a:cubicBezTo>
                <a:lnTo>
                  <a:pt x="1060" y="847"/>
                </a:lnTo>
                <a:cubicBezTo>
                  <a:pt x="1060" y="861"/>
                  <a:pt x="1058" y="875"/>
                  <a:pt x="1056" y="888"/>
                </a:cubicBezTo>
                <a:cubicBezTo>
                  <a:pt x="1053" y="903"/>
                  <a:pt x="1049" y="916"/>
                  <a:pt x="1044" y="929"/>
                </a:cubicBezTo>
                <a:cubicBezTo>
                  <a:pt x="1038" y="942"/>
                  <a:pt x="1032" y="954"/>
                  <a:pt x="1024" y="966"/>
                </a:cubicBezTo>
                <a:cubicBezTo>
                  <a:pt x="1016" y="977"/>
                  <a:pt x="1007" y="988"/>
                  <a:pt x="998" y="998"/>
                </a:cubicBezTo>
                <a:cubicBezTo>
                  <a:pt x="988" y="1008"/>
                  <a:pt x="977" y="1016"/>
                  <a:pt x="966" y="1024"/>
                </a:cubicBezTo>
                <a:cubicBezTo>
                  <a:pt x="954" y="1032"/>
                  <a:pt x="942" y="1038"/>
                  <a:pt x="929" y="1044"/>
                </a:cubicBezTo>
                <a:cubicBezTo>
                  <a:pt x="915" y="1049"/>
                  <a:pt x="902" y="1053"/>
                  <a:pt x="888" y="1056"/>
                </a:cubicBezTo>
                <a:cubicBezTo>
                  <a:pt x="875" y="1058"/>
                  <a:pt x="861" y="1060"/>
                  <a:pt x="847" y="1060"/>
                </a:cubicBezTo>
                <a:lnTo>
                  <a:pt x="212" y="1060"/>
                </a:lnTo>
                <a:cubicBezTo>
                  <a:pt x="198" y="1060"/>
                  <a:pt x="184" y="1058"/>
                  <a:pt x="171" y="1056"/>
                </a:cubicBezTo>
                <a:cubicBezTo>
                  <a:pt x="157" y="1053"/>
                  <a:pt x="144" y="1049"/>
                  <a:pt x="131" y="1044"/>
                </a:cubicBezTo>
                <a:cubicBezTo>
                  <a:pt x="118" y="1038"/>
                  <a:pt x="106" y="1032"/>
                  <a:pt x="94" y="1024"/>
                </a:cubicBezTo>
                <a:cubicBezTo>
                  <a:pt x="83" y="1016"/>
                  <a:pt x="72" y="1008"/>
                  <a:pt x="62" y="998"/>
                </a:cubicBezTo>
                <a:cubicBezTo>
                  <a:pt x="52" y="988"/>
                  <a:pt x="44" y="977"/>
                  <a:pt x="36" y="966"/>
                </a:cubicBezTo>
                <a:cubicBezTo>
                  <a:pt x="28" y="954"/>
                  <a:pt x="22" y="942"/>
                  <a:pt x="16" y="929"/>
                </a:cubicBezTo>
                <a:cubicBezTo>
                  <a:pt x="11" y="916"/>
                  <a:pt x="7" y="903"/>
                  <a:pt x="4" y="888"/>
                </a:cubicBezTo>
                <a:cubicBezTo>
                  <a:pt x="2" y="875"/>
                  <a:pt x="0" y="861"/>
                  <a:pt x="0" y="84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748080" y="1495080"/>
            <a:ext cx="118440" cy="172080"/>
          </a:xfrm>
          <a:custGeom>
            <a:avLst/>
            <a:gdLst/>
            <a:ahLst/>
            <a:rect l="0" t="0" r="r" b="b"/>
            <a:pathLst>
              <a:path w="329" h="478">
                <a:moveTo>
                  <a:pt x="165" y="0"/>
                </a:moveTo>
                <a:cubicBezTo>
                  <a:pt x="116" y="0"/>
                  <a:pt x="76" y="40"/>
                  <a:pt x="76" y="90"/>
                </a:cubicBezTo>
                <a:lnTo>
                  <a:pt x="76" y="239"/>
                </a:lnTo>
                <a:cubicBezTo>
                  <a:pt x="76" y="288"/>
                  <a:pt x="116" y="328"/>
                  <a:pt x="165" y="328"/>
                </a:cubicBezTo>
                <a:cubicBezTo>
                  <a:pt x="214" y="328"/>
                  <a:pt x="254" y="288"/>
                  <a:pt x="254" y="239"/>
                </a:cubicBezTo>
                <a:lnTo>
                  <a:pt x="254" y="90"/>
                </a:lnTo>
                <a:cubicBezTo>
                  <a:pt x="254" y="40"/>
                  <a:pt x="214" y="0"/>
                  <a:pt x="165" y="0"/>
                </a:cubicBezTo>
                <a:moveTo>
                  <a:pt x="45" y="201"/>
                </a:moveTo>
                <a:cubicBezTo>
                  <a:pt x="45" y="189"/>
                  <a:pt x="35" y="179"/>
                  <a:pt x="22" y="179"/>
                </a:cubicBezTo>
                <a:cubicBezTo>
                  <a:pt x="10" y="179"/>
                  <a:pt x="0" y="189"/>
                  <a:pt x="0" y="201"/>
                </a:cubicBezTo>
                <a:lnTo>
                  <a:pt x="0" y="239"/>
                </a:lnTo>
                <a:cubicBezTo>
                  <a:pt x="0" y="321"/>
                  <a:pt x="63" y="391"/>
                  <a:pt x="143" y="402"/>
                </a:cubicBezTo>
                <a:lnTo>
                  <a:pt x="143" y="433"/>
                </a:lnTo>
                <a:lnTo>
                  <a:pt x="98" y="433"/>
                </a:lnTo>
                <a:cubicBezTo>
                  <a:pt x="85" y="433"/>
                  <a:pt x="76" y="443"/>
                  <a:pt x="76" y="455"/>
                </a:cubicBezTo>
                <a:cubicBezTo>
                  <a:pt x="76" y="468"/>
                  <a:pt x="85" y="478"/>
                  <a:pt x="98" y="478"/>
                </a:cubicBezTo>
                <a:lnTo>
                  <a:pt x="165" y="478"/>
                </a:lnTo>
                <a:lnTo>
                  <a:pt x="232" y="478"/>
                </a:lnTo>
                <a:cubicBezTo>
                  <a:pt x="244" y="478"/>
                  <a:pt x="254" y="468"/>
                  <a:pt x="254" y="455"/>
                </a:cubicBezTo>
                <a:cubicBezTo>
                  <a:pt x="254" y="443"/>
                  <a:pt x="244" y="433"/>
                  <a:pt x="232" y="433"/>
                </a:cubicBezTo>
                <a:lnTo>
                  <a:pt x="187" y="433"/>
                </a:lnTo>
                <a:lnTo>
                  <a:pt x="187" y="402"/>
                </a:lnTo>
                <a:cubicBezTo>
                  <a:pt x="267" y="391"/>
                  <a:pt x="329" y="321"/>
                  <a:pt x="329" y="239"/>
                </a:cubicBezTo>
                <a:lnTo>
                  <a:pt x="329" y="201"/>
                </a:lnTo>
                <a:cubicBezTo>
                  <a:pt x="329" y="189"/>
                  <a:pt x="319" y="179"/>
                  <a:pt x="306" y="179"/>
                </a:cubicBezTo>
                <a:cubicBezTo>
                  <a:pt x="294" y="179"/>
                  <a:pt x="284" y="189"/>
                  <a:pt x="284" y="201"/>
                </a:cubicBezTo>
                <a:lnTo>
                  <a:pt x="284" y="239"/>
                </a:lnTo>
                <a:cubicBezTo>
                  <a:pt x="284" y="304"/>
                  <a:pt x="231" y="358"/>
                  <a:pt x="165" y="358"/>
                </a:cubicBezTo>
                <a:cubicBezTo>
                  <a:pt x="99" y="358"/>
                  <a:pt x="45" y="304"/>
                  <a:pt x="45" y="239"/>
                </a:cubicBezTo>
                <a:lnTo>
                  <a:pt x="45" y="201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28760" y="251280"/>
            <a:ext cx="691236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Agenda: SIGOPS Strategic Workshop 2025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152360" y="1362240"/>
            <a:ext cx="1475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OPENING &amp; KEYNOTES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447480" y="2595240"/>
            <a:ext cx="5567760" cy="772200"/>
          </a:xfrm>
          <a:custGeom>
            <a:avLst/>
            <a:gdLst/>
            <a:ahLst/>
            <a:rect l="0" t="0" r="r" b="b"/>
            <a:pathLst>
              <a:path w="15466" h="2145">
                <a:moveTo>
                  <a:pt x="0" y="2145"/>
                </a:moveTo>
                <a:lnTo>
                  <a:pt x="0" y="0"/>
                </a:lnTo>
                <a:lnTo>
                  <a:pt x="15373" y="0"/>
                </a:lnTo>
                <a:cubicBezTo>
                  <a:pt x="15386" y="0"/>
                  <a:pt x="15397" y="3"/>
                  <a:pt x="15409" y="7"/>
                </a:cubicBezTo>
                <a:cubicBezTo>
                  <a:pt x="15420" y="12"/>
                  <a:pt x="15430" y="19"/>
                  <a:pt x="15439" y="28"/>
                </a:cubicBezTo>
                <a:cubicBezTo>
                  <a:pt x="15447" y="36"/>
                  <a:pt x="15454" y="46"/>
                  <a:pt x="15459" y="58"/>
                </a:cubicBezTo>
                <a:cubicBezTo>
                  <a:pt x="15464" y="69"/>
                  <a:pt x="15466" y="81"/>
                  <a:pt x="15466" y="93"/>
                </a:cubicBezTo>
                <a:lnTo>
                  <a:pt x="15466" y="2052"/>
                </a:lnTo>
                <a:cubicBezTo>
                  <a:pt x="15466" y="2064"/>
                  <a:pt x="15464" y="2076"/>
                  <a:pt x="15459" y="2087"/>
                </a:cubicBezTo>
                <a:cubicBezTo>
                  <a:pt x="15454" y="2099"/>
                  <a:pt x="15447" y="2109"/>
                  <a:pt x="15439" y="2117"/>
                </a:cubicBezTo>
                <a:cubicBezTo>
                  <a:pt x="15430" y="2126"/>
                  <a:pt x="15420" y="2133"/>
                  <a:pt x="15409" y="2137"/>
                </a:cubicBezTo>
                <a:cubicBezTo>
                  <a:pt x="15397" y="2142"/>
                  <a:pt x="15386" y="2145"/>
                  <a:pt x="15373" y="2145"/>
                </a:cubicBezTo>
                <a:lnTo>
                  <a:pt x="0" y="21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428400" y="2590560"/>
            <a:ext cx="5580720" cy="18720"/>
          </a:xfrm>
          <a:custGeom>
            <a:avLst/>
            <a:gdLst/>
            <a:ahLst/>
            <a:rect l="0" t="0" r="r" b="b"/>
            <a:pathLst>
              <a:path w="15502" h="52">
                <a:moveTo>
                  <a:pt x="15484" y="52"/>
                </a:moveTo>
                <a:cubicBezTo>
                  <a:pt x="15483" y="52"/>
                  <a:pt x="15483" y="51"/>
                  <a:pt x="15482" y="51"/>
                </a:cubicBezTo>
                <a:cubicBezTo>
                  <a:pt x="15467" y="35"/>
                  <a:pt x="15448" y="28"/>
                  <a:pt x="15426" y="28"/>
                </a:cubicBezTo>
                <a:lnTo>
                  <a:pt x="106" y="28"/>
                </a:lnTo>
                <a:lnTo>
                  <a:pt x="0" y="1"/>
                </a:lnTo>
                <a:lnTo>
                  <a:pt x="0" y="0"/>
                </a:lnTo>
                <a:lnTo>
                  <a:pt x="15426" y="0"/>
                </a:lnTo>
                <a:cubicBezTo>
                  <a:pt x="15456" y="0"/>
                  <a:pt x="15481" y="10"/>
                  <a:pt x="15501" y="32"/>
                </a:cubicBezTo>
                <a:cubicBezTo>
                  <a:pt x="15502" y="33"/>
                  <a:pt x="15502" y="33"/>
                  <a:pt x="15502" y="33"/>
                </a:cubicBezTo>
                <a:lnTo>
                  <a:pt x="15484" y="52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428400" y="3353400"/>
            <a:ext cx="5580720" cy="18720"/>
          </a:xfrm>
          <a:custGeom>
            <a:avLst/>
            <a:gdLst/>
            <a:ahLst/>
            <a:rect l="0" t="0" r="r" b="b"/>
            <a:pathLst>
              <a:path w="15502" h="52">
                <a:moveTo>
                  <a:pt x="106" y="24"/>
                </a:moveTo>
                <a:lnTo>
                  <a:pt x="15426" y="24"/>
                </a:lnTo>
                <a:cubicBezTo>
                  <a:pt x="15448" y="24"/>
                  <a:pt x="15467" y="17"/>
                  <a:pt x="15482" y="1"/>
                </a:cubicBezTo>
                <a:cubicBezTo>
                  <a:pt x="15483" y="1"/>
                  <a:pt x="15483" y="0"/>
                  <a:pt x="15484" y="0"/>
                </a:cubicBezTo>
                <a:lnTo>
                  <a:pt x="15502" y="18"/>
                </a:lnTo>
                <a:cubicBezTo>
                  <a:pt x="15502" y="19"/>
                  <a:pt x="15502" y="19"/>
                  <a:pt x="15501" y="20"/>
                </a:cubicBezTo>
                <a:cubicBezTo>
                  <a:pt x="15481" y="40"/>
                  <a:pt x="15456" y="52"/>
                  <a:pt x="15426" y="52"/>
                </a:cubicBezTo>
                <a:lnTo>
                  <a:pt x="0" y="52"/>
                </a:lnTo>
                <a:lnTo>
                  <a:pt x="0" y="51"/>
                </a:lnTo>
                <a:lnTo>
                  <a:pt x="106" y="24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6001560" y="2601720"/>
            <a:ext cx="18360" cy="759240"/>
          </a:xfrm>
          <a:custGeom>
            <a:avLst/>
            <a:gdLst/>
            <a:ahLst/>
            <a:rect l="0" t="0" r="r" b="b"/>
            <a:pathLst>
              <a:path w="51" h="2109">
                <a:moveTo>
                  <a:pt x="0" y="2090"/>
                </a:moveTo>
                <a:cubicBezTo>
                  <a:pt x="17" y="2075"/>
                  <a:pt x="25" y="2056"/>
                  <a:pt x="25" y="2034"/>
                </a:cubicBezTo>
                <a:lnTo>
                  <a:pt x="25" y="75"/>
                </a:lnTo>
                <a:cubicBezTo>
                  <a:pt x="25" y="53"/>
                  <a:pt x="17" y="34"/>
                  <a:pt x="0" y="19"/>
                </a:cubicBezTo>
                <a:lnTo>
                  <a:pt x="20" y="0"/>
                </a:lnTo>
                <a:cubicBezTo>
                  <a:pt x="41" y="21"/>
                  <a:pt x="51" y="46"/>
                  <a:pt x="51" y="75"/>
                </a:cubicBezTo>
                <a:lnTo>
                  <a:pt x="51" y="2034"/>
                </a:lnTo>
                <a:cubicBezTo>
                  <a:pt x="51" y="2063"/>
                  <a:pt x="41" y="2088"/>
                  <a:pt x="20" y="2109"/>
                </a:cubicBezTo>
                <a:lnTo>
                  <a:pt x="0" y="209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618840" y="2790720"/>
            <a:ext cx="381600" cy="381240"/>
          </a:xfrm>
          <a:custGeom>
            <a:avLst/>
            <a:gdLst/>
            <a:ahLst/>
            <a:rect l="0" t="0" r="r" b="b"/>
            <a:pathLst>
              <a:path w="1060" h="1059">
                <a:moveTo>
                  <a:pt x="0" y="847"/>
                </a:moveTo>
                <a:lnTo>
                  <a:pt x="0" y="212"/>
                </a:lnTo>
                <a:cubicBezTo>
                  <a:pt x="0" y="199"/>
                  <a:pt x="2" y="185"/>
                  <a:pt x="4" y="170"/>
                </a:cubicBezTo>
                <a:cubicBezTo>
                  <a:pt x="7" y="157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847" y="0"/>
                </a:lnTo>
                <a:cubicBezTo>
                  <a:pt x="861" y="0"/>
                  <a:pt x="875" y="1"/>
                  <a:pt x="888" y="4"/>
                </a:cubicBezTo>
                <a:cubicBezTo>
                  <a:pt x="902" y="7"/>
                  <a:pt x="915" y="11"/>
                  <a:pt x="929" y="16"/>
                </a:cubicBezTo>
                <a:cubicBezTo>
                  <a:pt x="942" y="21"/>
                  <a:pt x="954" y="28"/>
                  <a:pt x="966" y="35"/>
                </a:cubicBezTo>
                <a:cubicBezTo>
                  <a:pt x="977" y="43"/>
                  <a:pt x="988" y="52"/>
                  <a:pt x="998" y="62"/>
                </a:cubicBezTo>
                <a:cubicBezTo>
                  <a:pt x="1007" y="72"/>
                  <a:pt x="1016" y="82"/>
                  <a:pt x="1024" y="94"/>
                </a:cubicBezTo>
                <a:cubicBezTo>
                  <a:pt x="1032" y="105"/>
                  <a:pt x="1038" y="118"/>
                  <a:pt x="1044" y="130"/>
                </a:cubicBezTo>
                <a:cubicBezTo>
                  <a:pt x="1049" y="143"/>
                  <a:pt x="1053" y="157"/>
                  <a:pt x="1056" y="170"/>
                </a:cubicBezTo>
                <a:cubicBezTo>
                  <a:pt x="1058" y="185"/>
                  <a:pt x="1060" y="199"/>
                  <a:pt x="1060" y="212"/>
                </a:cubicBezTo>
                <a:lnTo>
                  <a:pt x="1060" y="847"/>
                </a:lnTo>
                <a:cubicBezTo>
                  <a:pt x="1060" y="861"/>
                  <a:pt x="1058" y="875"/>
                  <a:pt x="1056" y="889"/>
                </a:cubicBezTo>
                <a:cubicBezTo>
                  <a:pt x="1053" y="902"/>
                  <a:pt x="1049" y="916"/>
                  <a:pt x="1044" y="928"/>
                </a:cubicBezTo>
                <a:cubicBezTo>
                  <a:pt x="1038" y="941"/>
                  <a:pt x="1032" y="953"/>
                  <a:pt x="1024" y="965"/>
                </a:cubicBezTo>
                <a:cubicBezTo>
                  <a:pt x="1016" y="977"/>
                  <a:pt x="1007" y="987"/>
                  <a:pt x="998" y="997"/>
                </a:cubicBezTo>
                <a:cubicBezTo>
                  <a:pt x="988" y="1007"/>
                  <a:pt x="977" y="1016"/>
                  <a:pt x="966" y="1023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5" y="1048"/>
                  <a:pt x="902" y="1052"/>
                  <a:pt x="888" y="1055"/>
                </a:cubicBezTo>
                <a:cubicBezTo>
                  <a:pt x="875" y="1058"/>
                  <a:pt x="861" y="1059"/>
                  <a:pt x="847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1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4" y="977"/>
                  <a:pt x="36" y="965"/>
                </a:cubicBezTo>
                <a:cubicBezTo>
                  <a:pt x="28" y="953"/>
                  <a:pt x="22" y="941"/>
                  <a:pt x="16" y="928"/>
                </a:cubicBezTo>
                <a:cubicBezTo>
                  <a:pt x="11" y="916"/>
                  <a:pt x="7" y="902"/>
                  <a:pt x="4" y="889"/>
                </a:cubicBezTo>
                <a:cubicBezTo>
                  <a:pt x="2" y="875"/>
                  <a:pt x="0" y="861"/>
                  <a:pt x="0" y="84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723600" y="2895480"/>
            <a:ext cx="172080" cy="171720"/>
          </a:xfrm>
          <a:custGeom>
            <a:avLst/>
            <a:gdLst/>
            <a:ahLst/>
            <a:rect l="0" t="0" r="r" b="b"/>
            <a:pathLst>
              <a:path w="478" h="477">
                <a:moveTo>
                  <a:pt x="172" y="0"/>
                </a:moveTo>
                <a:cubicBezTo>
                  <a:pt x="201" y="0"/>
                  <a:pt x="225" y="23"/>
                  <a:pt x="225" y="52"/>
                </a:cubicBezTo>
                <a:lnTo>
                  <a:pt x="225" y="425"/>
                </a:lnTo>
                <a:cubicBezTo>
                  <a:pt x="225" y="454"/>
                  <a:pt x="201" y="477"/>
                  <a:pt x="172" y="477"/>
                </a:cubicBezTo>
                <a:cubicBezTo>
                  <a:pt x="146" y="477"/>
                  <a:pt x="122" y="457"/>
                  <a:pt x="120" y="430"/>
                </a:cubicBezTo>
                <a:cubicBezTo>
                  <a:pt x="115" y="432"/>
                  <a:pt x="110" y="432"/>
                  <a:pt x="105" y="432"/>
                </a:cubicBezTo>
                <a:cubicBezTo>
                  <a:pt x="72" y="432"/>
                  <a:pt x="45" y="406"/>
                  <a:pt x="45" y="373"/>
                </a:cubicBezTo>
                <a:cubicBezTo>
                  <a:pt x="45" y="366"/>
                  <a:pt x="46" y="359"/>
                  <a:pt x="48" y="353"/>
                </a:cubicBezTo>
                <a:cubicBezTo>
                  <a:pt x="20" y="343"/>
                  <a:pt x="0" y="315"/>
                  <a:pt x="0" y="283"/>
                </a:cubicBezTo>
                <a:cubicBezTo>
                  <a:pt x="0" y="253"/>
                  <a:pt x="18" y="227"/>
                  <a:pt x="43" y="215"/>
                </a:cubicBezTo>
                <a:cubicBezTo>
                  <a:pt x="35" y="205"/>
                  <a:pt x="30" y="192"/>
                  <a:pt x="30" y="178"/>
                </a:cubicBezTo>
                <a:cubicBezTo>
                  <a:pt x="30" y="150"/>
                  <a:pt x="50" y="126"/>
                  <a:pt x="77" y="120"/>
                </a:cubicBezTo>
                <a:cubicBezTo>
                  <a:pt x="75" y="115"/>
                  <a:pt x="75" y="110"/>
                  <a:pt x="75" y="104"/>
                </a:cubicBezTo>
                <a:cubicBezTo>
                  <a:pt x="75" y="76"/>
                  <a:pt x="94" y="53"/>
                  <a:pt x="120" y="46"/>
                </a:cubicBezTo>
                <a:cubicBezTo>
                  <a:pt x="122" y="20"/>
                  <a:pt x="146" y="0"/>
                  <a:pt x="172" y="0"/>
                </a:cubicBezTo>
                <a:moveTo>
                  <a:pt x="306" y="0"/>
                </a:moveTo>
                <a:cubicBezTo>
                  <a:pt x="333" y="0"/>
                  <a:pt x="355" y="20"/>
                  <a:pt x="358" y="46"/>
                </a:cubicBezTo>
                <a:cubicBezTo>
                  <a:pt x="384" y="53"/>
                  <a:pt x="403" y="76"/>
                  <a:pt x="403" y="104"/>
                </a:cubicBezTo>
                <a:cubicBezTo>
                  <a:pt x="403" y="110"/>
                  <a:pt x="402" y="115"/>
                  <a:pt x="401" y="120"/>
                </a:cubicBezTo>
                <a:cubicBezTo>
                  <a:pt x="428" y="126"/>
                  <a:pt x="448" y="150"/>
                  <a:pt x="448" y="178"/>
                </a:cubicBezTo>
                <a:cubicBezTo>
                  <a:pt x="448" y="192"/>
                  <a:pt x="443" y="205"/>
                  <a:pt x="435" y="215"/>
                </a:cubicBezTo>
                <a:cubicBezTo>
                  <a:pt x="460" y="227"/>
                  <a:pt x="478" y="253"/>
                  <a:pt x="478" y="283"/>
                </a:cubicBezTo>
                <a:cubicBezTo>
                  <a:pt x="478" y="315"/>
                  <a:pt x="458" y="343"/>
                  <a:pt x="430" y="353"/>
                </a:cubicBezTo>
                <a:cubicBezTo>
                  <a:pt x="432" y="359"/>
                  <a:pt x="433" y="366"/>
                  <a:pt x="433" y="373"/>
                </a:cubicBezTo>
                <a:cubicBezTo>
                  <a:pt x="433" y="406"/>
                  <a:pt x="406" y="432"/>
                  <a:pt x="373" y="432"/>
                </a:cubicBezTo>
                <a:cubicBezTo>
                  <a:pt x="368" y="432"/>
                  <a:pt x="363" y="432"/>
                  <a:pt x="358" y="430"/>
                </a:cubicBezTo>
                <a:cubicBezTo>
                  <a:pt x="355" y="457"/>
                  <a:pt x="333" y="477"/>
                  <a:pt x="306" y="477"/>
                </a:cubicBezTo>
                <a:cubicBezTo>
                  <a:pt x="278" y="477"/>
                  <a:pt x="254" y="454"/>
                  <a:pt x="254" y="425"/>
                </a:cubicBezTo>
                <a:lnTo>
                  <a:pt x="254" y="52"/>
                </a:lnTo>
                <a:cubicBezTo>
                  <a:pt x="254" y="23"/>
                  <a:pt x="278" y="0"/>
                  <a:pt x="306" y="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152360" y="1578960"/>
            <a:ext cx="29304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David Patterson &amp; Butler Lampson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152360" y="2781720"/>
            <a:ext cx="668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SESSION 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6190920" y="2595240"/>
            <a:ext cx="5567760" cy="772200"/>
          </a:xfrm>
          <a:custGeom>
            <a:avLst/>
            <a:gdLst/>
            <a:ahLst/>
            <a:rect l="0" t="0" r="r" b="b"/>
            <a:pathLst>
              <a:path w="15466" h="2145">
                <a:moveTo>
                  <a:pt x="0" y="2145"/>
                </a:moveTo>
                <a:lnTo>
                  <a:pt x="0" y="0"/>
                </a:lnTo>
                <a:lnTo>
                  <a:pt x="15374" y="0"/>
                </a:lnTo>
                <a:cubicBezTo>
                  <a:pt x="15386" y="0"/>
                  <a:pt x="15398" y="3"/>
                  <a:pt x="15409" y="7"/>
                </a:cubicBezTo>
                <a:cubicBezTo>
                  <a:pt x="15420" y="12"/>
                  <a:pt x="15431" y="19"/>
                  <a:pt x="15439" y="28"/>
                </a:cubicBezTo>
                <a:cubicBezTo>
                  <a:pt x="15448" y="36"/>
                  <a:pt x="15455" y="46"/>
                  <a:pt x="15459" y="58"/>
                </a:cubicBezTo>
                <a:cubicBezTo>
                  <a:pt x="15464" y="69"/>
                  <a:pt x="15466" y="81"/>
                  <a:pt x="15466" y="93"/>
                </a:cubicBezTo>
                <a:lnTo>
                  <a:pt x="15466" y="2052"/>
                </a:lnTo>
                <a:cubicBezTo>
                  <a:pt x="15466" y="2064"/>
                  <a:pt x="15464" y="2076"/>
                  <a:pt x="15459" y="2087"/>
                </a:cubicBezTo>
                <a:cubicBezTo>
                  <a:pt x="15455" y="2099"/>
                  <a:pt x="15448" y="2109"/>
                  <a:pt x="15439" y="2117"/>
                </a:cubicBezTo>
                <a:cubicBezTo>
                  <a:pt x="15431" y="2126"/>
                  <a:pt x="15420" y="2133"/>
                  <a:pt x="15409" y="2137"/>
                </a:cubicBezTo>
                <a:cubicBezTo>
                  <a:pt x="15398" y="2142"/>
                  <a:pt x="15386" y="2145"/>
                  <a:pt x="15374" y="2145"/>
                </a:cubicBezTo>
                <a:lnTo>
                  <a:pt x="0" y="21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6171840" y="2590560"/>
            <a:ext cx="5581080" cy="18720"/>
          </a:xfrm>
          <a:custGeom>
            <a:avLst/>
            <a:gdLst/>
            <a:ahLst/>
            <a:rect l="0" t="0" r="r" b="b"/>
            <a:pathLst>
              <a:path w="15503" h="52">
                <a:moveTo>
                  <a:pt x="15484" y="52"/>
                </a:moveTo>
                <a:lnTo>
                  <a:pt x="15483" y="51"/>
                </a:lnTo>
                <a:cubicBezTo>
                  <a:pt x="15467" y="35"/>
                  <a:pt x="15449" y="28"/>
                  <a:pt x="15427" y="28"/>
                </a:cubicBezTo>
                <a:lnTo>
                  <a:pt x="106" y="28"/>
                </a:lnTo>
                <a:lnTo>
                  <a:pt x="0" y="1"/>
                </a:lnTo>
                <a:lnTo>
                  <a:pt x="0" y="0"/>
                </a:lnTo>
                <a:lnTo>
                  <a:pt x="15427" y="0"/>
                </a:lnTo>
                <a:cubicBezTo>
                  <a:pt x="15456" y="0"/>
                  <a:pt x="15481" y="10"/>
                  <a:pt x="15502" y="32"/>
                </a:cubicBezTo>
                <a:cubicBezTo>
                  <a:pt x="15502" y="33"/>
                  <a:pt x="15502" y="33"/>
                  <a:pt x="15503" y="33"/>
                </a:cubicBezTo>
                <a:lnTo>
                  <a:pt x="15484" y="52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6171840" y="3353400"/>
            <a:ext cx="5581080" cy="18720"/>
          </a:xfrm>
          <a:custGeom>
            <a:avLst/>
            <a:gdLst/>
            <a:ahLst/>
            <a:rect l="0" t="0" r="r" b="b"/>
            <a:pathLst>
              <a:path w="15503" h="52">
                <a:moveTo>
                  <a:pt x="106" y="24"/>
                </a:moveTo>
                <a:lnTo>
                  <a:pt x="15427" y="24"/>
                </a:lnTo>
                <a:cubicBezTo>
                  <a:pt x="15449" y="24"/>
                  <a:pt x="15467" y="17"/>
                  <a:pt x="15483" y="1"/>
                </a:cubicBezTo>
                <a:lnTo>
                  <a:pt x="15484" y="0"/>
                </a:lnTo>
                <a:lnTo>
                  <a:pt x="15503" y="18"/>
                </a:lnTo>
                <a:cubicBezTo>
                  <a:pt x="15502" y="19"/>
                  <a:pt x="15502" y="19"/>
                  <a:pt x="15502" y="20"/>
                </a:cubicBezTo>
                <a:cubicBezTo>
                  <a:pt x="15481" y="40"/>
                  <a:pt x="15456" y="52"/>
                  <a:pt x="15427" y="52"/>
                </a:cubicBezTo>
                <a:lnTo>
                  <a:pt x="0" y="52"/>
                </a:lnTo>
                <a:lnTo>
                  <a:pt x="0" y="51"/>
                </a:lnTo>
                <a:lnTo>
                  <a:pt x="106" y="24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1745360" y="2601720"/>
            <a:ext cx="18360" cy="759240"/>
          </a:xfrm>
          <a:custGeom>
            <a:avLst/>
            <a:gdLst/>
            <a:ahLst/>
            <a:rect l="0" t="0" r="r" b="b"/>
            <a:pathLst>
              <a:path w="51" h="2109">
                <a:moveTo>
                  <a:pt x="0" y="2090"/>
                </a:moveTo>
                <a:cubicBezTo>
                  <a:pt x="15" y="2075"/>
                  <a:pt x="23" y="2056"/>
                  <a:pt x="23" y="2034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2034"/>
                </a:lnTo>
                <a:cubicBezTo>
                  <a:pt x="51" y="2063"/>
                  <a:pt x="40" y="2088"/>
                  <a:pt x="19" y="2109"/>
                </a:cubicBezTo>
                <a:lnTo>
                  <a:pt x="0" y="209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6362640" y="279072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0" y="847"/>
                </a:moveTo>
                <a:lnTo>
                  <a:pt x="0" y="212"/>
                </a:lnTo>
                <a:cubicBezTo>
                  <a:pt x="0" y="199"/>
                  <a:pt x="1" y="185"/>
                  <a:pt x="4" y="170"/>
                </a:cubicBezTo>
                <a:cubicBezTo>
                  <a:pt x="6" y="157"/>
                  <a:pt x="10" y="143"/>
                  <a:pt x="16" y="130"/>
                </a:cubicBezTo>
                <a:cubicBezTo>
                  <a:pt x="21" y="118"/>
                  <a:pt x="28" y="105"/>
                  <a:pt x="35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1" y="52"/>
                  <a:pt x="82" y="43"/>
                  <a:pt x="94" y="35"/>
                </a:cubicBezTo>
                <a:cubicBezTo>
                  <a:pt x="105" y="28"/>
                  <a:pt x="117" y="21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847" y="0"/>
                </a:lnTo>
                <a:cubicBezTo>
                  <a:pt x="861" y="0"/>
                  <a:pt x="875" y="1"/>
                  <a:pt x="889" y="4"/>
                </a:cubicBezTo>
                <a:cubicBezTo>
                  <a:pt x="902" y="7"/>
                  <a:pt x="915" y="11"/>
                  <a:pt x="928" y="16"/>
                </a:cubicBezTo>
                <a:cubicBezTo>
                  <a:pt x="941" y="21"/>
                  <a:pt x="953" y="28"/>
                  <a:pt x="965" y="35"/>
                </a:cubicBezTo>
                <a:cubicBezTo>
                  <a:pt x="976" y="43"/>
                  <a:pt x="987" y="52"/>
                  <a:pt x="997" y="62"/>
                </a:cubicBezTo>
                <a:cubicBezTo>
                  <a:pt x="1007" y="72"/>
                  <a:pt x="1016" y="82"/>
                  <a:pt x="1023" y="94"/>
                </a:cubicBezTo>
                <a:cubicBezTo>
                  <a:pt x="1031" y="105"/>
                  <a:pt x="1038" y="118"/>
                  <a:pt x="1043" y="130"/>
                </a:cubicBezTo>
                <a:cubicBezTo>
                  <a:pt x="1048" y="143"/>
                  <a:pt x="1052" y="157"/>
                  <a:pt x="1055" y="170"/>
                </a:cubicBezTo>
                <a:cubicBezTo>
                  <a:pt x="1058" y="185"/>
                  <a:pt x="1059" y="199"/>
                  <a:pt x="1059" y="212"/>
                </a:cubicBezTo>
                <a:lnTo>
                  <a:pt x="1059" y="847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2" y="902"/>
                  <a:pt x="1048" y="916"/>
                  <a:pt x="1043" y="928"/>
                </a:cubicBezTo>
                <a:cubicBezTo>
                  <a:pt x="1038" y="941"/>
                  <a:pt x="1031" y="953"/>
                  <a:pt x="1023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7" y="1007"/>
                  <a:pt x="976" y="1016"/>
                  <a:pt x="965" y="1023"/>
                </a:cubicBezTo>
                <a:cubicBezTo>
                  <a:pt x="953" y="1031"/>
                  <a:pt x="941" y="1038"/>
                  <a:pt x="928" y="1043"/>
                </a:cubicBezTo>
                <a:cubicBezTo>
                  <a:pt x="915" y="1048"/>
                  <a:pt x="902" y="1052"/>
                  <a:pt x="889" y="1055"/>
                </a:cubicBezTo>
                <a:cubicBezTo>
                  <a:pt x="875" y="1058"/>
                  <a:pt x="861" y="1059"/>
                  <a:pt x="847" y="1059"/>
                </a:cubicBezTo>
                <a:lnTo>
                  <a:pt x="211" y="1059"/>
                </a:lnTo>
                <a:cubicBezTo>
                  <a:pt x="197" y="1059"/>
                  <a:pt x="184" y="1058"/>
                  <a:pt x="170" y="1055"/>
                </a:cubicBezTo>
                <a:cubicBezTo>
                  <a:pt x="156" y="1052"/>
                  <a:pt x="143" y="1048"/>
                  <a:pt x="130" y="1043"/>
                </a:cubicBezTo>
                <a:cubicBezTo>
                  <a:pt x="117" y="1038"/>
                  <a:pt x="105" y="1031"/>
                  <a:pt x="94" y="1023"/>
                </a:cubicBezTo>
                <a:cubicBezTo>
                  <a:pt x="82" y="1016"/>
                  <a:pt x="71" y="1007"/>
                  <a:pt x="62" y="997"/>
                </a:cubicBezTo>
                <a:cubicBezTo>
                  <a:pt x="52" y="987"/>
                  <a:pt x="43" y="977"/>
                  <a:pt x="35" y="965"/>
                </a:cubicBezTo>
                <a:cubicBezTo>
                  <a:pt x="28" y="953"/>
                  <a:pt x="21" y="941"/>
                  <a:pt x="16" y="928"/>
                </a:cubicBezTo>
                <a:cubicBezTo>
                  <a:pt x="10" y="916"/>
                  <a:pt x="6" y="902"/>
                  <a:pt x="4" y="889"/>
                </a:cubicBezTo>
                <a:cubicBezTo>
                  <a:pt x="1" y="875"/>
                  <a:pt x="0" y="861"/>
                  <a:pt x="0" y="84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6467400" y="2896200"/>
            <a:ext cx="171720" cy="170640"/>
          </a:xfrm>
          <a:custGeom>
            <a:avLst/>
            <a:gdLst/>
            <a:ahLst/>
            <a:rect l="0" t="0" r="r" b="b"/>
            <a:pathLst>
              <a:path w="477" h="474">
                <a:moveTo>
                  <a:pt x="218" y="4"/>
                </a:moveTo>
                <a:cubicBezTo>
                  <a:pt x="231" y="-1"/>
                  <a:pt x="245" y="-1"/>
                  <a:pt x="258" y="4"/>
                </a:cubicBezTo>
                <a:lnTo>
                  <a:pt x="438" y="68"/>
                </a:lnTo>
                <a:cubicBezTo>
                  <a:pt x="461" y="76"/>
                  <a:pt x="477" y="99"/>
                  <a:pt x="477" y="124"/>
                </a:cubicBezTo>
                <a:lnTo>
                  <a:pt x="477" y="351"/>
                </a:lnTo>
                <a:cubicBezTo>
                  <a:pt x="477" y="376"/>
                  <a:pt x="461" y="399"/>
                  <a:pt x="437" y="407"/>
                </a:cubicBezTo>
                <a:lnTo>
                  <a:pt x="258" y="471"/>
                </a:lnTo>
                <a:cubicBezTo>
                  <a:pt x="245" y="475"/>
                  <a:pt x="231" y="475"/>
                  <a:pt x="218" y="471"/>
                </a:cubicBezTo>
                <a:lnTo>
                  <a:pt x="39" y="407"/>
                </a:lnTo>
                <a:cubicBezTo>
                  <a:pt x="16" y="399"/>
                  <a:pt x="0" y="376"/>
                  <a:pt x="0" y="351"/>
                </a:cubicBezTo>
                <a:lnTo>
                  <a:pt x="0" y="124"/>
                </a:lnTo>
                <a:cubicBezTo>
                  <a:pt x="0" y="99"/>
                  <a:pt x="16" y="76"/>
                  <a:pt x="39" y="68"/>
                </a:cubicBezTo>
                <a:lnTo>
                  <a:pt x="218" y="4"/>
                </a:lnTo>
                <a:moveTo>
                  <a:pt x="238" y="60"/>
                </a:moveTo>
                <a:lnTo>
                  <a:pt x="76" y="118"/>
                </a:lnTo>
                <a:lnTo>
                  <a:pt x="238" y="176"/>
                </a:lnTo>
                <a:lnTo>
                  <a:pt x="400" y="118"/>
                </a:lnTo>
                <a:lnTo>
                  <a:pt x="238" y="60"/>
                </a:lnTo>
                <a:moveTo>
                  <a:pt x="268" y="404"/>
                </a:moveTo>
                <a:lnTo>
                  <a:pt x="417" y="351"/>
                </a:lnTo>
                <a:lnTo>
                  <a:pt x="417" y="175"/>
                </a:lnTo>
                <a:lnTo>
                  <a:pt x="268" y="229"/>
                </a:lnTo>
                <a:lnTo>
                  <a:pt x="268" y="404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152360" y="2989800"/>
            <a:ext cx="3033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The Intelligent Nexus — AI and Systems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896160" y="2781720"/>
            <a:ext cx="668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SESSION 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447480" y="3966840"/>
            <a:ext cx="11311200" cy="810000"/>
          </a:xfrm>
          <a:custGeom>
            <a:avLst/>
            <a:gdLst/>
            <a:ahLst/>
            <a:rect l="0" t="0" r="r" b="b"/>
            <a:pathLst>
              <a:path w="31420" h="2250">
                <a:moveTo>
                  <a:pt x="0" y="2250"/>
                </a:moveTo>
                <a:lnTo>
                  <a:pt x="0" y="0"/>
                </a:lnTo>
                <a:lnTo>
                  <a:pt x="31328" y="0"/>
                </a:lnTo>
                <a:cubicBezTo>
                  <a:pt x="31340" y="0"/>
                  <a:pt x="31352" y="3"/>
                  <a:pt x="31363" y="7"/>
                </a:cubicBezTo>
                <a:cubicBezTo>
                  <a:pt x="31374" y="12"/>
                  <a:pt x="31385" y="19"/>
                  <a:pt x="31393" y="28"/>
                </a:cubicBezTo>
                <a:cubicBezTo>
                  <a:pt x="31402" y="36"/>
                  <a:pt x="31409" y="46"/>
                  <a:pt x="31413" y="58"/>
                </a:cubicBezTo>
                <a:cubicBezTo>
                  <a:pt x="31418" y="69"/>
                  <a:pt x="31420" y="81"/>
                  <a:pt x="31420" y="93"/>
                </a:cubicBezTo>
                <a:lnTo>
                  <a:pt x="31420" y="2158"/>
                </a:lnTo>
                <a:cubicBezTo>
                  <a:pt x="31420" y="2170"/>
                  <a:pt x="31418" y="2182"/>
                  <a:pt x="31413" y="2193"/>
                </a:cubicBezTo>
                <a:cubicBezTo>
                  <a:pt x="31409" y="2205"/>
                  <a:pt x="31402" y="2215"/>
                  <a:pt x="31393" y="2223"/>
                </a:cubicBezTo>
                <a:cubicBezTo>
                  <a:pt x="31385" y="2232"/>
                  <a:pt x="31374" y="2239"/>
                  <a:pt x="31363" y="2243"/>
                </a:cubicBezTo>
                <a:cubicBezTo>
                  <a:pt x="31352" y="2248"/>
                  <a:pt x="31340" y="2250"/>
                  <a:pt x="31328" y="2250"/>
                </a:cubicBezTo>
                <a:lnTo>
                  <a:pt x="0" y="225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428400" y="3962160"/>
            <a:ext cx="11324520" cy="18720"/>
          </a:xfrm>
          <a:custGeom>
            <a:avLst/>
            <a:gdLst/>
            <a:ahLst/>
            <a:rect l="0" t="0" r="r" b="b"/>
            <a:pathLst>
              <a:path w="31457" h="52">
                <a:moveTo>
                  <a:pt x="31438" y="52"/>
                </a:moveTo>
                <a:lnTo>
                  <a:pt x="31437" y="51"/>
                </a:lnTo>
                <a:cubicBezTo>
                  <a:pt x="31421" y="34"/>
                  <a:pt x="31403" y="27"/>
                  <a:pt x="31381" y="27"/>
                </a:cubicBezTo>
                <a:lnTo>
                  <a:pt x="106" y="27"/>
                </a:lnTo>
                <a:lnTo>
                  <a:pt x="0" y="1"/>
                </a:lnTo>
                <a:lnTo>
                  <a:pt x="0" y="0"/>
                </a:lnTo>
                <a:lnTo>
                  <a:pt x="31381" y="0"/>
                </a:lnTo>
                <a:cubicBezTo>
                  <a:pt x="31410" y="0"/>
                  <a:pt x="31435" y="10"/>
                  <a:pt x="31456" y="31"/>
                </a:cubicBezTo>
                <a:cubicBezTo>
                  <a:pt x="31456" y="32"/>
                  <a:pt x="31456" y="32"/>
                  <a:pt x="31457" y="32"/>
                </a:cubicBezTo>
                <a:lnTo>
                  <a:pt x="31438" y="52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428400" y="4763160"/>
            <a:ext cx="11324520" cy="18720"/>
          </a:xfrm>
          <a:custGeom>
            <a:avLst/>
            <a:gdLst/>
            <a:ahLst/>
            <a:rect l="0" t="0" r="r" b="b"/>
            <a:pathLst>
              <a:path w="31457" h="52">
                <a:moveTo>
                  <a:pt x="106" y="24"/>
                </a:moveTo>
                <a:lnTo>
                  <a:pt x="106" y="25"/>
                </a:lnTo>
                <a:lnTo>
                  <a:pt x="31381" y="25"/>
                </a:lnTo>
                <a:cubicBezTo>
                  <a:pt x="31403" y="25"/>
                  <a:pt x="31421" y="17"/>
                  <a:pt x="31437" y="1"/>
                </a:cubicBezTo>
                <a:cubicBezTo>
                  <a:pt x="31437" y="0"/>
                  <a:pt x="31438" y="0"/>
                  <a:pt x="31438" y="0"/>
                </a:cubicBezTo>
                <a:lnTo>
                  <a:pt x="31457" y="19"/>
                </a:lnTo>
                <a:cubicBezTo>
                  <a:pt x="31456" y="20"/>
                  <a:pt x="31456" y="20"/>
                  <a:pt x="31456" y="21"/>
                </a:cubicBezTo>
                <a:cubicBezTo>
                  <a:pt x="31435" y="41"/>
                  <a:pt x="31410" y="52"/>
                  <a:pt x="31381" y="52"/>
                </a:cubicBezTo>
                <a:lnTo>
                  <a:pt x="0" y="52"/>
                </a:lnTo>
                <a:lnTo>
                  <a:pt x="0" y="51"/>
                </a:lnTo>
                <a:lnTo>
                  <a:pt x="106" y="24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1745360" y="3973320"/>
            <a:ext cx="18360" cy="797400"/>
          </a:xfrm>
          <a:custGeom>
            <a:avLst/>
            <a:gdLst/>
            <a:ahLst/>
            <a:rect l="0" t="0" r="r" b="b"/>
            <a:pathLst>
              <a:path w="51" h="2215">
                <a:moveTo>
                  <a:pt x="0" y="2196"/>
                </a:moveTo>
                <a:cubicBezTo>
                  <a:pt x="15" y="2180"/>
                  <a:pt x="23" y="2162"/>
                  <a:pt x="23" y="2140"/>
                </a:cubicBezTo>
                <a:lnTo>
                  <a:pt x="23" y="75"/>
                </a:lnTo>
                <a:cubicBezTo>
                  <a:pt x="23" y="53"/>
                  <a:pt x="15" y="34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2140"/>
                </a:lnTo>
                <a:cubicBezTo>
                  <a:pt x="51" y="2169"/>
                  <a:pt x="40" y="2194"/>
                  <a:pt x="19" y="2215"/>
                </a:cubicBezTo>
                <a:lnTo>
                  <a:pt x="0" y="219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618840" y="4181400"/>
            <a:ext cx="381600" cy="381240"/>
          </a:xfrm>
          <a:custGeom>
            <a:avLst/>
            <a:gdLst/>
            <a:ahLst/>
            <a:rect l="0" t="0" r="r" b="b"/>
            <a:pathLst>
              <a:path w="1060" h="1059">
                <a:moveTo>
                  <a:pt x="0" y="847"/>
                </a:moveTo>
                <a:lnTo>
                  <a:pt x="0" y="211"/>
                </a:lnTo>
                <a:cubicBezTo>
                  <a:pt x="0" y="197"/>
                  <a:pt x="2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6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847" y="0"/>
                </a:lnTo>
                <a:cubicBezTo>
                  <a:pt x="861" y="0"/>
                  <a:pt x="875" y="1"/>
                  <a:pt x="888" y="4"/>
                </a:cubicBezTo>
                <a:cubicBezTo>
                  <a:pt x="902" y="6"/>
                  <a:pt x="915" y="11"/>
                  <a:pt x="929" y="16"/>
                </a:cubicBezTo>
                <a:cubicBezTo>
                  <a:pt x="942" y="21"/>
                  <a:pt x="954" y="28"/>
                  <a:pt x="966" y="35"/>
                </a:cubicBezTo>
                <a:cubicBezTo>
                  <a:pt x="977" y="43"/>
                  <a:pt x="988" y="52"/>
                  <a:pt x="998" y="62"/>
                </a:cubicBezTo>
                <a:cubicBezTo>
                  <a:pt x="1007" y="72"/>
                  <a:pt x="1016" y="82"/>
                  <a:pt x="1024" y="94"/>
                </a:cubicBezTo>
                <a:cubicBezTo>
                  <a:pt x="1032" y="105"/>
                  <a:pt x="1038" y="118"/>
                  <a:pt x="1044" y="130"/>
                </a:cubicBezTo>
                <a:cubicBezTo>
                  <a:pt x="1049" y="143"/>
                  <a:pt x="1053" y="156"/>
                  <a:pt x="1056" y="170"/>
                </a:cubicBezTo>
                <a:cubicBezTo>
                  <a:pt x="1058" y="184"/>
                  <a:pt x="1060" y="197"/>
                  <a:pt x="1060" y="211"/>
                </a:cubicBezTo>
                <a:lnTo>
                  <a:pt x="1060" y="847"/>
                </a:lnTo>
                <a:cubicBezTo>
                  <a:pt x="1060" y="861"/>
                  <a:pt x="1058" y="875"/>
                  <a:pt x="1056" y="889"/>
                </a:cubicBezTo>
                <a:cubicBezTo>
                  <a:pt x="1053" y="902"/>
                  <a:pt x="1049" y="916"/>
                  <a:pt x="1044" y="928"/>
                </a:cubicBezTo>
                <a:cubicBezTo>
                  <a:pt x="1038" y="941"/>
                  <a:pt x="1032" y="953"/>
                  <a:pt x="1024" y="965"/>
                </a:cubicBezTo>
                <a:cubicBezTo>
                  <a:pt x="1016" y="977"/>
                  <a:pt x="1007" y="987"/>
                  <a:pt x="998" y="997"/>
                </a:cubicBezTo>
                <a:cubicBezTo>
                  <a:pt x="988" y="1007"/>
                  <a:pt x="977" y="1016"/>
                  <a:pt x="966" y="1023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5" y="1048"/>
                  <a:pt x="902" y="1052"/>
                  <a:pt x="888" y="1055"/>
                </a:cubicBezTo>
                <a:cubicBezTo>
                  <a:pt x="875" y="1058"/>
                  <a:pt x="861" y="1059"/>
                  <a:pt x="847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1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4" y="977"/>
                  <a:pt x="36" y="965"/>
                </a:cubicBezTo>
                <a:cubicBezTo>
                  <a:pt x="28" y="953"/>
                  <a:pt x="22" y="941"/>
                  <a:pt x="16" y="928"/>
                </a:cubicBezTo>
                <a:cubicBezTo>
                  <a:pt x="11" y="916"/>
                  <a:pt x="7" y="902"/>
                  <a:pt x="4" y="889"/>
                </a:cubicBezTo>
                <a:cubicBezTo>
                  <a:pt x="2" y="875"/>
                  <a:pt x="0" y="861"/>
                  <a:pt x="0" y="84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723600" y="4286160"/>
            <a:ext cx="172080" cy="171720"/>
          </a:xfrm>
          <a:custGeom>
            <a:avLst/>
            <a:gdLst/>
            <a:ahLst/>
            <a:rect l="0" t="0" r="r" b="b"/>
            <a:pathLst>
              <a:path w="478" h="477">
                <a:moveTo>
                  <a:pt x="165" y="22"/>
                </a:moveTo>
                <a:cubicBezTo>
                  <a:pt x="165" y="10"/>
                  <a:pt x="155" y="0"/>
                  <a:pt x="143" y="0"/>
                </a:cubicBezTo>
                <a:cubicBezTo>
                  <a:pt x="129" y="0"/>
                  <a:pt x="119" y="10"/>
                  <a:pt x="119" y="22"/>
                </a:cubicBezTo>
                <a:lnTo>
                  <a:pt x="119" y="59"/>
                </a:lnTo>
                <a:cubicBezTo>
                  <a:pt x="87" y="59"/>
                  <a:pt x="60" y="86"/>
                  <a:pt x="60" y="119"/>
                </a:cubicBezTo>
                <a:lnTo>
                  <a:pt x="23" y="119"/>
                </a:lnTo>
                <a:cubicBezTo>
                  <a:pt x="10" y="119"/>
                  <a:pt x="0" y="129"/>
                  <a:pt x="0" y="141"/>
                </a:cubicBezTo>
                <a:cubicBezTo>
                  <a:pt x="0" y="154"/>
                  <a:pt x="10" y="163"/>
                  <a:pt x="23" y="163"/>
                </a:cubicBezTo>
                <a:lnTo>
                  <a:pt x="60" y="163"/>
                </a:lnTo>
                <a:lnTo>
                  <a:pt x="60" y="216"/>
                </a:lnTo>
                <a:lnTo>
                  <a:pt x="23" y="216"/>
                </a:lnTo>
                <a:cubicBezTo>
                  <a:pt x="10" y="216"/>
                  <a:pt x="0" y="226"/>
                  <a:pt x="0" y="239"/>
                </a:cubicBezTo>
                <a:cubicBezTo>
                  <a:pt x="0" y="251"/>
                  <a:pt x="10" y="261"/>
                  <a:pt x="23" y="261"/>
                </a:cubicBezTo>
                <a:lnTo>
                  <a:pt x="60" y="261"/>
                </a:lnTo>
                <a:lnTo>
                  <a:pt x="60" y="313"/>
                </a:lnTo>
                <a:lnTo>
                  <a:pt x="23" y="313"/>
                </a:lnTo>
                <a:cubicBezTo>
                  <a:pt x="10" y="313"/>
                  <a:pt x="0" y="323"/>
                  <a:pt x="0" y="336"/>
                </a:cubicBezTo>
                <a:cubicBezTo>
                  <a:pt x="0" y="348"/>
                  <a:pt x="10" y="358"/>
                  <a:pt x="23" y="358"/>
                </a:cubicBezTo>
                <a:lnTo>
                  <a:pt x="60" y="358"/>
                </a:lnTo>
                <a:cubicBezTo>
                  <a:pt x="60" y="391"/>
                  <a:pt x="87" y="417"/>
                  <a:pt x="119" y="417"/>
                </a:cubicBezTo>
                <a:lnTo>
                  <a:pt x="119" y="455"/>
                </a:lnTo>
                <a:cubicBezTo>
                  <a:pt x="119" y="467"/>
                  <a:pt x="129" y="477"/>
                  <a:pt x="143" y="477"/>
                </a:cubicBezTo>
                <a:cubicBezTo>
                  <a:pt x="155" y="477"/>
                  <a:pt x="165" y="467"/>
                  <a:pt x="165" y="455"/>
                </a:cubicBezTo>
                <a:lnTo>
                  <a:pt x="165" y="417"/>
                </a:lnTo>
                <a:lnTo>
                  <a:pt x="217" y="417"/>
                </a:lnTo>
                <a:lnTo>
                  <a:pt x="217" y="455"/>
                </a:lnTo>
                <a:cubicBezTo>
                  <a:pt x="217" y="467"/>
                  <a:pt x="227" y="477"/>
                  <a:pt x="239" y="477"/>
                </a:cubicBezTo>
                <a:cubicBezTo>
                  <a:pt x="252" y="477"/>
                  <a:pt x="262" y="467"/>
                  <a:pt x="262" y="455"/>
                </a:cubicBezTo>
                <a:lnTo>
                  <a:pt x="262" y="417"/>
                </a:lnTo>
                <a:lnTo>
                  <a:pt x="314" y="417"/>
                </a:lnTo>
                <a:lnTo>
                  <a:pt x="314" y="455"/>
                </a:lnTo>
                <a:cubicBezTo>
                  <a:pt x="314" y="467"/>
                  <a:pt x="324" y="477"/>
                  <a:pt x="336" y="477"/>
                </a:cubicBezTo>
                <a:cubicBezTo>
                  <a:pt x="349" y="477"/>
                  <a:pt x="359" y="467"/>
                  <a:pt x="359" y="455"/>
                </a:cubicBezTo>
                <a:lnTo>
                  <a:pt x="359" y="417"/>
                </a:lnTo>
                <a:cubicBezTo>
                  <a:pt x="391" y="417"/>
                  <a:pt x="418" y="391"/>
                  <a:pt x="418" y="358"/>
                </a:cubicBezTo>
                <a:lnTo>
                  <a:pt x="455" y="358"/>
                </a:lnTo>
                <a:cubicBezTo>
                  <a:pt x="468" y="358"/>
                  <a:pt x="478" y="348"/>
                  <a:pt x="478" y="336"/>
                </a:cubicBezTo>
                <a:cubicBezTo>
                  <a:pt x="478" y="323"/>
                  <a:pt x="468" y="313"/>
                  <a:pt x="455" y="313"/>
                </a:cubicBezTo>
                <a:lnTo>
                  <a:pt x="418" y="313"/>
                </a:lnTo>
                <a:lnTo>
                  <a:pt x="418" y="261"/>
                </a:lnTo>
                <a:lnTo>
                  <a:pt x="455" y="261"/>
                </a:lnTo>
                <a:cubicBezTo>
                  <a:pt x="468" y="261"/>
                  <a:pt x="478" y="251"/>
                  <a:pt x="478" y="239"/>
                </a:cubicBezTo>
                <a:cubicBezTo>
                  <a:pt x="478" y="226"/>
                  <a:pt x="468" y="216"/>
                  <a:pt x="455" y="216"/>
                </a:cubicBezTo>
                <a:lnTo>
                  <a:pt x="418" y="216"/>
                </a:lnTo>
                <a:lnTo>
                  <a:pt x="418" y="163"/>
                </a:lnTo>
                <a:lnTo>
                  <a:pt x="455" y="163"/>
                </a:lnTo>
                <a:cubicBezTo>
                  <a:pt x="468" y="163"/>
                  <a:pt x="478" y="154"/>
                  <a:pt x="478" y="141"/>
                </a:cubicBezTo>
                <a:cubicBezTo>
                  <a:pt x="478" y="129"/>
                  <a:pt x="468" y="119"/>
                  <a:pt x="455" y="119"/>
                </a:cubicBezTo>
                <a:lnTo>
                  <a:pt x="418" y="119"/>
                </a:lnTo>
                <a:cubicBezTo>
                  <a:pt x="418" y="86"/>
                  <a:pt x="391" y="59"/>
                  <a:pt x="359" y="59"/>
                </a:cubicBezTo>
                <a:lnTo>
                  <a:pt x="359" y="22"/>
                </a:lnTo>
                <a:cubicBezTo>
                  <a:pt x="359" y="10"/>
                  <a:pt x="349" y="0"/>
                  <a:pt x="336" y="0"/>
                </a:cubicBezTo>
                <a:cubicBezTo>
                  <a:pt x="324" y="0"/>
                  <a:pt x="314" y="10"/>
                  <a:pt x="314" y="22"/>
                </a:cubicBezTo>
                <a:lnTo>
                  <a:pt x="314" y="59"/>
                </a:lnTo>
                <a:lnTo>
                  <a:pt x="262" y="59"/>
                </a:lnTo>
                <a:lnTo>
                  <a:pt x="262" y="22"/>
                </a:lnTo>
                <a:cubicBezTo>
                  <a:pt x="262" y="10"/>
                  <a:pt x="252" y="0"/>
                  <a:pt x="239" y="0"/>
                </a:cubicBezTo>
                <a:cubicBezTo>
                  <a:pt x="227" y="0"/>
                  <a:pt x="217" y="10"/>
                  <a:pt x="217" y="22"/>
                </a:cubicBezTo>
                <a:lnTo>
                  <a:pt x="217" y="59"/>
                </a:lnTo>
                <a:lnTo>
                  <a:pt x="165" y="59"/>
                </a:lnTo>
                <a:lnTo>
                  <a:pt x="165" y="22"/>
                </a:lnTo>
                <a:moveTo>
                  <a:pt x="150" y="119"/>
                </a:moveTo>
                <a:lnTo>
                  <a:pt x="329" y="119"/>
                </a:lnTo>
                <a:cubicBezTo>
                  <a:pt x="345" y="119"/>
                  <a:pt x="359" y="132"/>
                  <a:pt x="359" y="149"/>
                </a:cubicBezTo>
                <a:lnTo>
                  <a:pt x="359" y="328"/>
                </a:lnTo>
                <a:cubicBezTo>
                  <a:pt x="359" y="345"/>
                  <a:pt x="345" y="358"/>
                  <a:pt x="329" y="358"/>
                </a:cubicBezTo>
                <a:lnTo>
                  <a:pt x="150" y="358"/>
                </a:lnTo>
                <a:cubicBezTo>
                  <a:pt x="134" y="358"/>
                  <a:pt x="119" y="345"/>
                  <a:pt x="119" y="328"/>
                </a:cubicBezTo>
                <a:lnTo>
                  <a:pt x="119" y="149"/>
                </a:lnTo>
                <a:cubicBezTo>
                  <a:pt x="119" y="132"/>
                  <a:pt x="134" y="119"/>
                  <a:pt x="150" y="119"/>
                </a:cubicBezTo>
                <a:moveTo>
                  <a:pt x="329" y="149"/>
                </a:moveTo>
                <a:lnTo>
                  <a:pt x="150" y="149"/>
                </a:lnTo>
                <a:lnTo>
                  <a:pt x="150" y="328"/>
                </a:lnTo>
                <a:lnTo>
                  <a:pt x="329" y="328"/>
                </a:lnTo>
                <a:lnTo>
                  <a:pt x="329" y="149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896160" y="2989800"/>
            <a:ext cx="2745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Building Blocks for a Reliable Future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152360" y="4153320"/>
            <a:ext cx="668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SESSION 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447480" y="5386320"/>
            <a:ext cx="5567760" cy="771840"/>
          </a:xfrm>
          <a:custGeom>
            <a:avLst/>
            <a:gdLst/>
            <a:ahLst/>
            <a:rect l="0" t="0" r="r" b="b"/>
            <a:pathLst>
              <a:path w="15466" h="2144">
                <a:moveTo>
                  <a:pt x="0" y="2144"/>
                </a:moveTo>
                <a:lnTo>
                  <a:pt x="0" y="0"/>
                </a:lnTo>
                <a:lnTo>
                  <a:pt x="15373" y="0"/>
                </a:lnTo>
                <a:cubicBezTo>
                  <a:pt x="15386" y="0"/>
                  <a:pt x="15397" y="2"/>
                  <a:pt x="15409" y="7"/>
                </a:cubicBezTo>
                <a:cubicBezTo>
                  <a:pt x="15420" y="11"/>
                  <a:pt x="15430" y="18"/>
                  <a:pt x="15439" y="27"/>
                </a:cubicBezTo>
                <a:cubicBezTo>
                  <a:pt x="15447" y="35"/>
                  <a:pt x="15454" y="46"/>
                  <a:pt x="15459" y="57"/>
                </a:cubicBezTo>
                <a:cubicBezTo>
                  <a:pt x="15464" y="68"/>
                  <a:pt x="15466" y="80"/>
                  <a:pt x="15466" y="92"/>
                </a:cubicBezTo>
                <a:lnTo>
                  <a:pt x="15466" y="2051"/>
                </a:lnTo>
                <a:cubicBezTo>
                  <a:pt x="15466" y="2063"/>
                  <a:pt x="15464" y="2075"/>
                  <a:pt x="15459" y="2087"/>
                </a:cubicBezTo>
                <a:cubicBezTo>
                  <a:pt x="15454" y="2098"/>
                  <a:pt x="15447" y="2108"/>
                  <a:pt x="15439" y="2117"/>
                </a:cubicBezTo>
                <a:cubicBezTo>
                  <a:pt x="15430" y="2125"/>
                  <a:pt x="15420" y="2132"/>
                  <a:pt x="15409" y="2137"/>
                </a:cubicBezTo>
                <a:cubicBezTo>
                  <a:pt x="15397" y="2141"/>
                  <a:pt x="15386" y="2144"/>
                  <a:pt x="15373" y="2144"/>
                </a:cubicBezTo>
                <a:lnTo>
                  <a:pt x="0" y="21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428400" y="5381280"/>
            <a:ext cx="5580720" cy="19080"/>
          </a:xfrm>
          <a:custGeom>
            <a:avLst/>
            <a:gdLst/>
            <a:ahLst/>
            <a:rect l="0" t="0" r="r" b="b"/>
            <a:pathLst>
              <a:path w="15502" h="53">
                <a:moveTo>
                  <a:pt x="15484" y="53"/>
                </a:moveTo>
                <a:cubicBezTo>
                  <a:pt x="15483" y="52"/>
                  <a:pt x="15483" y="52"/>
                  <a:pt x="15482" y="51"/>
                </a:cubicBezTo>
                <a:cubicBezTo>
                  <a:pt x="15467" y="36"/>
                  <a:pt x="15448" y="28"/>
                  <a:pt x="15426" y="28"/>
                </a:cubicBezTo>
                <a:lnTo>
                  <a:pt x="106" y="28"/>
                </a:lnTo>
                <a:lnTo>
                  <a:pt x="106" y="29"/>
                </a:lnTo>
                <a:lnTo>
                  <a:pt x="0" y="1"/>
                </a:lnTo>
                <a:lnTo>
                  <a:pt x="0" y="0"/>
                </a:lnTo>
                <a:lnTo>
                  <a:pt x="15426" y="0"/>
                </a:lnTo>
                <a:cubicBezTo>
                  <a:pt x="15456" y="0"/>
                  <a:pt x="15481" y="11"/>
                  <a:pt x="15501" y="32"/>
                </a:cubicBezTo>
                <a:cubicBezTo>
                  <a:pt x="15502" y="33"/>
                  <a:pt x="15502" y="33"/>
                  <a:pt x="15502" y="34"/>
                </a:cubicBezTo>
                <a:lnTo>
                  <a:pt x="15484" y="53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28400" y="6144120"/>
            <a:ext cx="5580720" cy="18720"/>
          </a:xfrm>
          <a:custGeom>
            <a:avLst/>
            <a:gdLst/>
            <a:ahLst/>
            <a:rect l="0" t="0" r="r" b="b"/>
            <a:pathLst>
              <a:path w="15502" h="52">
                <a:moveTo>
                  <a:pt x="106" y="24"/>
                </a:moveTo>
                <a:lnTo>
                  <a:pt x="106" y="25"/>
                </a:lnTo>
                <a:lnTo>
                  <a:pt x="15426" y="25"/>
                </a:lnTo>
                <a:cubicBezTo>
                  <a:pt x="15448" y="25"/>
                  <a:pt x="15467" y="17"/>
                  <a:pt x="15482" y="1"/>
                </a:cubicBezTo>
                <a:cubicBezTo>
                  <a:pt x="15483" y="1"/>
                  <a:pt x="15483" y="0"/>
                  <a:pt x="15484" y="0"/>
                </a:cubicBezTo>
                <a:lnTo>
                  <a:pt x="15502" y="19"/>
                </a:lnTo>
                <a:cubicBezTo>
                  <a:pt x="15502" y="19"/>
                  <a:pt x="15502" y="20"/>
                  <a:pt x="15501" y="20"/>
                </a:cubicBezTo>
                <a:cubicBezTo>
                  <a:pt x="15481" y="41"/>
                  <a:pt x="15456" y="52"/>
                  <a:pt x="15426" y="52"/>
                </a:cubicBezTo>
                <a:lnTo>
                  <a:pt x="0" y="52"/>
                </a:lnTo>
                <a:lnTo>
                  <a:pt x="0" y="51"/>
                </a:lnTo>
                <a:lnTo>
                  <a:pt x="106" y="24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001560" y="5392440"/>
            <a:ext cx="18360" cy="759240"/>
          </a:xfrm>
          <a:custGeom>
            <a:avLst/>
            <a:gdLst/>
            <a:ahLst/>
            <a:rect l="0" t="0" r="r" b="b"/>
            <a:pathLst>
              <a:path w="51" h="2109">
                <a:moveTo>
                  <a:pt x="0" y="2090"/>
                </a:moveTo>
                <a:cubicBezTo>
                  <a:pt x="17" y="2075"/>
                  <a:pt x="25" y="2056"/>
                  <a:pt x="25" y="2034"/>
                </a:cubicBezTo>
                <a:lnTo>
                  <a:pt x="25" y="75"/>
                </a:lnTo>
                <a:cubicBezTo>
                  <a:pt x="25" y="53"/>
                  <a:pt x="17" y="35"/>
                  <a:pt x="0" y="19"/>
                </a:cubicBezTo>
                <a:lnTo>
                  <a:pt x="20" y="0"/>
                </a:lnTo>
                <a:cubicBezTo>
                  <a:pt x="41" y="21"/>
                  <a:pt x="51" y="46"/>
                  <a:pt x="51" y="75"/>
                </a:cubicBezTo>
                <a:lnTo>
                  <a:pt x="51" y="2034"/>
                </a:lnTo>
                <a:cubicBezTo>
                  <a:pt x="51" y="2063"/>
                  <a:pt x="41" y="2088"/>
                  <a:pt x="20" y="2109"/>
                </a:cubicBezTo>
                <a:lnTo>
                  <a:pt x="0" y="209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618840" y="5581440"/>
            <a:ext cx="381600" cy="381240"/>
          </a:xfrm>
          <a:custGeom>
            <a:avLst/>
            <a:gdLst/>
            <a:ahLst/>
            <a:rect l="0" t="0" r="r" b="b"/>
            <a:pathLst>
              <a:path w="1060" h="1059">
                <a:moveTo>
                  <a:pt x="0" y="847"/>
                </a:move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847" y="0"/>
                </a:lnTo>
                <a:cubicBezTo>
                  <a:pt x="861" y="0"/>
                  <a:pt x="875" y="1"/>
                  <a:pt x="888" y="4"/>
                </a:cubicBezTo>
                <a:cubicBezTo>
                  <a:pt x="902" y="7"/>
                  <a:pt x="915" y="11"/>
                  <a:pt x="929" y="16"/>
                </a:cubicBezTo>
                <a:cubicBezTo>
                  <a:pt x="942" y="22"/>
                  <a:pt x="954" y="28"/>
                  <a:pt x="966" y="36"/>
                </a:cubicBezTo>
                <a:cubicBezTo>
                  <a:pt x="977" y="43"/>
                  <a:pt x="988" y="52"/>
                  <a:pt x="998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2" y="106"/>
                  <a:pt x="1038" y="118"/>
                  <a:pt x="1044" y="131"/>
                </a:cubicBezTo>
                <a:cubicBezTo>
                  <a:pt x="1049" y="144"/>
                  <a:pt x="1053" y="157"/>
                  <a:pt x="1056" y="170"/>
                </a:cubicBezTo>
                <a:cubicBezTo>
                  <a:pt x="1058" y="184"/>
                  <a:pt x="1060" y="198"/>
                  <a:pt x="1060" y="212"/>
                </a:cubicBezTo>
                <a:lnTo>
                  <a:pt x="1060" y="847"/>
                </a:lnTo>
                <a:cubicBezTo>
                  <a:pt x="1060" y="861"/>
                  <a:pt x="1058" y="874"/>
                  <a:pt x="1056" y="888"/>
                </a:cubicBezTo>
                <a:cubicBezTo>
                  <a:pt x="1053" y="903"/>
                  <a:pt x="1049" y="916"/>
                  <a:pt x="1044" y="929"/>
                </a:cubicBezTo>
                <a:cubicBezTo>
                  <a:pt x="1038" y="942"/>
                  <a:pt x="1032" y="954"/>
                  <a:pt x="1024" y="965"/>
                </a:cubicBezTo>
                <a:cubicBezTo>
                  <a:pt x="1016" y="977"/>
                  <a:pt x="1007" y="988"/>
                  <a:pt x="998" y="997"/>
                </a:cubicBezTo>
                <a:cubicBezTo>
                  <a:pt x="988" y="1007"/>
                  <a:pt x="977" y="1016"/>
                  <a:pt x="966" y="1024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5" y="1049"/>
                  <a:pt x="902" y="1053"/>
                  <a:pt x="888" y="1055"/>
                </a:cubicBezTo>
                <a:cubicBezTo>
                  <a:pt x="875" y="1058"/>
                  <a:pt x="861" y="1059"/>
                  <a:pt x="847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1" y="1055"/>
                </a:cubicBezTo>
                <a:cubicBezTo>
                  <a:pt x="157" y="1053"/>
                  <a:pt x="144" y="1049"/>
                  <a:pt x="131" y="1043"/>
                </a:cubicBezTo>
                <a:cubicBezTo>
                  <a:pt x="118" y="1038"/>
                  <a:pt x="106" y="1031"/>
                  <a:pt x="94" y="1024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8"/>
                  <a:pt x="44" y="977"/>
                  <a:pt x="36" y="965"/>
                </a:cubicBezTo>
                <a:cubicBezTo>
                  <a:pt x="28" y="954"/>
                  <a:pt x="22" y="942"/>
                  <a:pt x="16" y="929"/>
                </a:cubicBezTo>
                <a:cubicBezTo>
                  <a:pt x="11" y="916"/>
                  <a:pt x="7" y="903"/>
                  <a:pt x="4" y="888"/>
                </a:cubicBezTo>
                <a:cubicBezTo>
                  <a:pt x="2" y="874"/>
                  <a:pt x="0" y="861"/>
                  <a:pt x="0" y="847"/>
                </a:cubicBez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704520" y="5686200"/>
            <a:ext cx="214920" cy="171720"/>
          </a:xfrm>
          <a:custGeom>
            <a:avLst/>
            <a:gdLst/>
            <a:ahLst/>
            <a:rect l="0" t="0" r="r" b="b"/>
            <a:pathLst>
              <a:path w="597" h="477">
                <a:moveTo>
                  <a:pt x="135" y="0"/>
                </a:moveTo>
                <a:cubicBezTo>
                  <a:pt x="145" y="0"/>
                  <a:pt x="155" y="2"/>
                  <a:pt x="164" y="6"/>
                </a:cubicBezTo>
                <a:cubicBezTo>
                  <a:pt x="173" y="10"/>
                  <a:pt x="181" y="15"/>
                  <a:pt x="188" y="22"/>
                </a:cubicBezTo>
                <a:cubicBezTo>
                  <a:pt x="195" y="29"/>
                  <a:pt x="200" y="37"/>
                  <a:pt x="204" y="46"/>
                </a:cubicBezTo>
                <a:cubicBezTo>
                  <a:pt x="208" y="55"/>
                  <a:pt x="210" y="65"/>
                  <a:pt x="210" y="75"/>
                </a:cubicBezTo>
                <a:cubicBezTo>
                  <a:pt x="210" y="84"/>
                  <a:pt x="208" y="94"/>
                  <a:pt x="204" y="103"/>
                </a:cubicBezTo>
                <a:cubicBezTo>
                  <a:pt x="200" y="112"/>
                  <a:pt x="195" y="120"/>
                  <a:pt x="188" y="127"/>
                </a:cubicBezTo>
                <a:cubicBezTo>
                  <a:pt x="181" y="134"/>
                  <a:pt x="173" y="140"/>
                  <a:pt x="164" y="143"/>
                </a:cubicBezTo>
                <a:cubicBezTo>
                  <a:pt x="155" y="147"/>
                  <a:pt x="145" y="149"/>
                  <a:pt x="135" y="149"/>
                </a:cubicBezTo>
                <a:cubicBezTo>
                  <a:pt x="124" y="149"/>
                  <a:pt x="115" y="147"/>
                  <a:pt x="106" y="143"/>
                </a:cubicBezTo>
                <a:cubicBezTo>
                  <a:pt x="97" y="140"/>
                  <a:pt x="89" y="134"/>
                  <a:pt x="82" y="127"/>
                </a:cubicBezTo>
                <a:cubicBezTo>
                  <a:pt x="75" y="120"/>
                  <a:pt x="69" y="112"/>
                  <a:pt x="66" y="103"/>
                </a:cubicBezTo>
                <a:cubicBezTo>
                  <a:pt x="62" y="94"/>
                  <a:pt x="60" y="84"/>
                  <a:pt x="60" y="75"/>
                </a:cubicBezTo>
                <a:cubicBezTo>
                  <a:pt x="60" y="65"/>
                  <a:pt x="62" y="55"/>
                  <a:pt x="66" y="46"/>
                </a:cubicBezTo>
                <a:cubicBezTo>
                  <a:pt x="69" y="37"/>
                  <a:pt x="75" y="29"/>
                  <a:pt x="82" y="22"/>
                </a:cubicBezTo>
                <a:cubicBezTo>
                  <a:pt x="89" y="15"/>
                  <a:pt x="97" y="10"/>
                  <a:pt x="106" y="6"/>
                </a:cubicBezTo>
                <a:cubicBezTo>
                  <a:pt x="115" y="2"/>
                  <a:pt x="124" y="0"/>
                  <a:pt x="135" y="0"/>
                </a:cubicBezTo>
                <a:moveTo>
                  <a:pt x="478" y="0"/>
                </a:moveTo>
                <a:cubicBezTo>
                  <a:pt x="488" y="0"/>
                  <a:pt x="497" y="2"/>
                  <a:pt x="506" y="6"/>
                </a:cubicBezTo>
                <a:cubicBezTo>
                  <a:pt x="515" y="10"/>
                  <a:pt x="523" y="15"/>
                  <a:pt x="530" y="22"/>
                </a:cubicBezTo>
                <a:cubicBezTo>
                  <a:pt x="537" y="29"/>
                  <a:pt x="543" y="37"/>
                  <a:pt x="546" y="46"/>
                </a:cubicBezTo>
                <a:cubicBezTo>
                  <a:pt x="550" y="55"/>
                  <a:pt x="552" y="65"/>
                  <a:pt x="552" y="75"/>
                </a:cubicBezTo>
                <a:cubicBezTo>
                  <a:pt x="552" y="84"/>
                  <a:pt x="550" y="94"/>
                  <a:pt x="546" y="103"/>
                </a:cubicBezTo>
                <a:cubicBezTo>
                  <a:pt x="543" y="112"/>
                  <a:pt x="537" y="120"/>
                  <a:pt x="530" y="127"/>
                </a:cubicBezTo>
                <a:cubicBezTo>
                  <a:pt x="523" y="134"/>
                  <a:pt x="515" y="140"/>
                  <a:pt x="506" y="143"/>
                </a:cubicBezTo>
                <a:cubicBezTo>
                  <a:pt x="497" y="147"/>
                  <a:pt x="488" y="149"/>
                  <a:pt x="478" y="149"/>
                </a:cubicBezTo>
                <a:cubicBezTo>
                  <a:pt x="468" y="149"/>
                  <a:pt x="458" y="147"/>
                  <a:pt x="449" y="143"/>
                </a:cubicBezTo>
                <a:cubicBezTo>
                  <a:pt x="440" y="140"/>
                  <a:pt x="432" y="134"/>
                  <a:pt x="425" y="127"/>
                </a:cubicBezTo>
                <a:cubicBezTo>
                  <a:pt x="418" y="120"/>
                  <a:pt x="413" y="112"/>
                  <a:pt x="409" y="103"/>
                </a:cubicBezTo>
                <a:cubicBezTo>
                  <a:pt x="405" y="94"/>
                  <a:pt x="403" y="84"/>
                  <a:pt x="403" y="75"/>
                </a:cubicBezTo>
                <a:cubicBezTo>
                  <a:pt x="403" y="65"/>
                  <a:pt x="405" y="55"/>
                  <a:pt x="409" y="46"/>
                </a:cubicBezTo>
                <a:cubicBezTo>
                  <a:pt x="413" y="37"/>
                  <a:pt x="418" y="29"/>
                  <a:pt x="425" y="22"/>
                </a:cubicBezTo>
                <a:cubicBezTo>
                  <a:pt x="432" y="15"/>
                  <a:pt x="440" y="10"/>
                  <a:pt x="449" y="6"/>
                </a:cubicBezTo>
                <a:cubicBezTo>
                  <a:pt x="458" y="2"/>
                  <a:pt x="468" y="0"/>
                  <a:pt x="478" y="0"/>
                </a:cubicBezTo>
                <a:moveTo>
                  <a:pt x="0" y="279"/>
                </a:moveTo>
                <a:cubicBezTo>
                  <a:pt x="0" y="224"/>
                  <a:pt x="45" y="180"/>
                  <a:pt x="100" y="180"/>
                </a:cubicBezTo>
                <a:lnTo>
                  <a:pt x="140" y="180"/>
                </a:lnTo>
                <a:cubicBezTo>
                  <a:pt x="155" y="180"/>
                  <a:pt x="169" y="183"/>
                  <a:pt x="182" y="189"/>
                </a:cubicBezTo>
                <a:cubicBezTo>
                  <a:pt x="181" y="195"/>
                  <a:pt x="180" y="202"/>
                  <a:pt x="180" y="209"/>
                </a:cubicBezTo>
                <a:cubicBezTo>
                  <a:pt x="180" y="245"/>
                  <a:pt x="196" y="277"/>
                  <a:pt x="220" y="299"/>
                </a:cubicBezTo>
                <a:lnTo>
                  <a:pt x="20" y="299"/>
                </a:lnTo>
                <a:cubicBezTo>
                  <a:pt x="9" y="299"/>
                  <a:pt x="0" y="290"/>
                  <a:pt x="0" y="279"/>
                </a:cubicBezTo>
                <a:moveTo>
                  <a:pt x="378" y="299"/>
                </a:moveTo>
                <a:cubicBezTo>
                  <a:pt x="403" y="277"/>
                  <a:pt x="418" y="245"/>
                  <a:pt x="418" y="209"/>
                </a:cubicBezTo>
                <a:cubicBezTo>
                  <a:pt x="418" y="202"/>
                  <a:pt x="417" y="196"/>
                  <a:pt x="416" y="189"/>
                </a:cubicBezTo>
                <a:cubicBezTo>
                  <a:pt x="429" y="183"/>
                  <a:pt x="443" y="180"/>
                  <a:pt x="458" y="180"/>
                </a:cubicBezTo>
                <a:lnTo>
                  <a:pt x="497" y="180"/>
                </a:lnTo>
                <a:cubicBezTo>
                  <a:pt x="552" y="180"/>
                  <a:pt x="597" y="224"/>
                  <a:pt x="597" y="279"/>
                </a:cubicBezTo>
                <a:cubicBezTo>
                  <a:pt x="597" y="290"/>
                  <a:pt x="588" y="299"/>
                  <a:pt x="577" y="299"/>
                </a:cubicBezTo>
                <a:lnTo>
                  <a:pt x="378" y="299"/>
                </a:lnTo>
                <a:moveTo>
                  <a:pt x="210" y="209"/>
                </a:moveTo>
                <a:cubicBezTo>
                  <a:pt x="210" y="198"/>
                  <a:pt x="212" y="186"/>
                  <a:pt x="217" y="175"/>
                </a:cubicBezTo>
                <a:cubicBezTo>
                  <a:pt x="221" y="164"/>
                  <a:pt x="228" y="155"/>
                  <a:pt x="236" y="145"/>
                </a:cubicBezTo>
                <a:cubicBezTo>
                  <a:pt x="244" y="137"/>
                  <a:pt x="254" y="131"/>
                  <a:pt x="265" y="126"/>
                </a:cubicBezTo>
                <a:cubicBezTo>
                  <a:pt x="276" y="121"/>
                  <a:pt x="287" y="119"/>
                  <a:pt x="299" y="119"/>
                </a:cubicBezTo>
                <a:cubicBezTo>
                  <a:pt x="311" y="119"/>
                  <a:pt x="322" y="121"/>
                  <a:pt x="333" y="126"/>
                </a:cubicBezTo>
                <a:cubicBezTo>
                  <a:pt x="344" y="131"/>
                  <a:pt x="354" y="137"/>
                  <a:pt x="362" y="145"/>
                </a:cubicBezTo>
                <a:cubicBezTo>
                  <a:pt x="371" y="155"/>
                  <a:pt x="377" y="164"/>
                  <a:pt x="382" y="175"/>
                </a:cubicBezTo>
                <a:cubicBezTo>
                  <a:pt x="386" y="186"/>
                  <a:pt x="388" y="198"/>
                  <a:pt x="388" y="209"/>
                </a:cubicBezTo>
                <a:cubicBezTo>
                  <a:pt x="388" y="221"/>
                  <a:pt x="386" y="233"/>
                  <a:pt x="382" y="244"/>
                </a:cubicBezTo>
                <a:cubicBezTo>
                  <a:pt x="377" y="255"/>
                  <a:pt x="371" y="264"/>
                  <a:pt x="362" y="273"/>
                </a:cubicBezTo>
                <a:cubicBezTo>
                  <a:pt x="354" y="281"/>
                  <a:pt x="344" y="287"/>
                  <a:pt x="333" y="292"/>
                </a:cubicBezTo>
                <a:cubicBezTo>
                  <a:pt x="322" y="297"/>
                  <a:pt x="311" y="299"/>
                  <a:pt x="299" y="299"/>
                </a:cubicBezTo>
                <a:cubicBezTo>
                  <a:pt x="287" y="299"/>
                  <a:pt x="276" y="297"/>
                  <a:pt x="265" y="292"/>
                </a:cubicBezTo>
                <a:cubicBezTo>
                  <a:pt x="254" y="287"/>
                  <a:pt x="244" y="281"/>
                  <a:pt x="236" y="273"/>
                </a:cubicBezTo>
                <a:cubicBezTo>
                  <a:pt x="228" y="264"/>
                  <a:pt x="221" y="255"/>
                  <a:pt x="217" y="244"/>
                </a:cubicBezTo>
                <a:cubicBezTo>
                  <a:pt x="212" y="233"/>
                  <a:pt x="210" y="221"/>
                  <a:pt x="210" y="209"/>
                </a:cubicBezTo>
                <a:moveTo>
                  <a:pt x="119" y="453"/>
                </a:moveTo>
                <a:cubicBezTo>
                  <a:pt x="119" y="384"/>
                  <a:pt x="176" y="329"/>
                  <a:pt x="244" y="329"/>
                </a:cubicBezTo>
                <a:lnTo>
                  <a:pt x="354" y="329"/>
                </a:lnTo>
                <a:cubicBezTo>
                  <a:pt x="422" y="329"/>
                  <a:pt x="478" y="384"/>
                  <a:pt x="478" y="453"/>
                </a:cubicBezTo>
                <a:cubicBezTo>
                  <a:pt x="478" y="466"/>
                  <a:pt x="467" y="477"/>
                  <a:pt x="453" y="477"/>
                </a:cubicBezTo>
                <a:lnTo>
                  <a:pt x="145" y="477"/>
                </a:lnTo>
                <a:cubicBezTo>
                  <a:pt x="132" y="477"/>
                  <a:pt x="119" y="466"/>
                  <a:pt x="119" y="453"/>
                </a:cubicBezTo>
                <a:close/>
              </a:path>
            </a:pathLst>
          </a:custGeom>
          <a:solidFill>
            <a:srgbClr val="4f46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152360" y="4369680"/>
            <a:ext cx="36608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The Core of the Machine — OS in a New Era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152360" y="5572440"/>
            <a:ext cx="541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4f46e5"/>
                </a:solidFill>
                <a:effectLst/>
                <a:uFillTx/>
                <a:latin typeface="Microsoft YaHei"/>
                <a:ea typeface="MicrosoftYaHei"/>
              </a:rPr>
              <a:t>PANEL 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190920" y="5386320"/>
            <a:ext cx="5567760" cy="771840"/>
          </a:xfrm>
          <a:custGeom>
            <a:avLst/>
            <a:gdLst/>
            <a:ahLst/>
            <a:rect l="0" t="0" r="r" b="b"/>
            <a:pathLst>
              <a:path w="15466" h="2144">
                <a:moveTo>
                  <a:pt x="0" y="2144"/>
                </a:moveTo>
                <a:lnTo>
                  <a:pt x="0" y="0"/>
                </a:lnTo>
                <a:lnTo>
                  <a:pt x="15374" y="0"/>
                </a:lnTo>
                <a:cubicBezTo>
                  <a:pt x="15386" y="0"/>
                  <a:pt x="15398" y="2"/>
                  <a:pt x="15409" y="7"/>
                </a:cubicBezTo>
                <a:cubicBezTo>
                  <a:pt x="15420" y="11"/>
                  <a:pt x="15431" y="18"/>
                  <a:pt x="15439" y="27"/>
                </a:cubicBezTo>
                <a:cubicBezTo>
                  <a:pt x="15448" y="35"/>
                  <a:pt x="15455" y="46"/>
                  <a:pt x="15459" y="57"/>
                </a:cubicBezTo>
                <a:cubicBezTo>
                  <a:pt x="15464" y="68"/>
                  <a:pt x="15466" y="80"/>
                  <a:pt x="15466" y="92"/>
                </a:cubicBezTo>
                <a:lnTo>
                  <a:pt x="15466" y="2051"/>
                </a:lnTo>
                <a:cubicBezTo>
                  <a:pt x="15466" y="2063"/>
                  <a:pt x="15464" y="2075"/>
                  <a:pt x="15459" y="2087"/>
                </a:cubicBezTo>
                <a:cubicBezTo>
                  <a:pt x="15455" y="2098"/>
                  <a:pt x="15448" y="2108"/>
                  <a:pt x="15439" y="2117"/>
                </a:cubicBezTo>
                <a:cubicBezTo>
                  <a:pt x="15431" y="2125"/>
                  <a:pt x="15420" y="2132"/>
                  <a:pt x="15409" y="2137"/>
                </a:cubicBezTo>
                <a:cubicBezTo>
                  <a:pt x="15398" y="2141"/>
                  <a:pt x="15386" y="2144"/>
                  <a:pt x="15374" y="2144"/>
                </a:cubicBezTo>
                <a:lnTo>
                  <a:pt x="0" y="21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171840" y="5381280"/>
            <a:ext cx="5581080" cy="19080"/>
          </a:xfrm>
          <a:custGeom>
            <a:avLst/>
            <a:gdLst/>
            <a:ahLst/>
            <a:rect l="0" t="0" r="r" b="b"/>
            <a:pathLst>
              <a:path w="15503" h="53">
                <a:moveTo>
                  <a:pt x="15484" y="53"/>
                </a:moveTo>
                <a:cubicBezTo>
                  <a:pt x="15484" y="52"/>
                  <a:pt x="15483" y="52"/>
                  <a:pt x="15483" y="51"/>
                </a:cubicBezTo>
                <a:cubicBezTo>
                  <a:pt x="15467" y="36"/>
                  <a:pt x="15449" y="28"/>
                  <a:pt x="15427" y="28"/>
                </a:cubicBezTo>
                <a:lnTo>
                  <a:pt x="106" y="28"/>
                </a:lnTo>
                <a:lnTo>
                  <a:pt x="106" y="29"/>
                </a:lnTo>
                <a:lnTo>
                  <a:pt x="0" y="1"/>
                </a:lnTo>
                <a:lnTo>
                  <a:pt x="0" y="0"/>
                </a:lnTo>
                <a:lnTo>
                  <a:pt x="15427" y="0"/>
                </a:lnTo>
                <a:cubicBezTo>
                  <a:pt x="15456" y="0"/>
                  <a:pt x="15481" y="11"/>
                  <a:pt x="15502" y="32"/>
                </a:cubicBezTo>
                <a:cubicBezTo>
                  <a:pt x="15502" y="33"/>
                  <a:pt x="15502" y="33"/>
                  <a:pt x="15503" y="34"/>
                </a:cubicBezTo>
                <a:lnTo>
                  <a:pt x="15484" y="53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171840" y="6144120"/>
            <a:ext cx="5581080" cy="18720"/>
          </a:xfrm>
          <a:custGeom>
            <a:avLst/>
            <a:gdLst/>
            <a:ahLst/>
            <a:rect l="0" t="0" r="r" b="b"/>
            <a:pathLst>
              <a:path w="15503" h="52">
                <a:moveTo>
                  <a:pt x="106" y="24"/>
                </a:moveTo>
                <a:lnTo>
                  <a:pt x="106" y="25"/>
                </a:lnTo>
                <a:lnTo>
                  <a:pt x="15427" y="25"/>
                </a:lnTo>
                <a:cubicBezTo>
                  <a:pt x="15449" y="25"/>
                  <a:pt x="15467" y="17"/>
                  <a:pt x="15483" y="1"/>
                </a:cubicBezTo>
                <a:lnTo>
                  <a:pt x="15484" y="0"/>
                </a:lnTo>
                <a:lnTo>
                  <a:pt x="15503" y="19"/>
                </a:lnTo>
                <a:cubicBezTo>
                  <a:pt x="15502" y="19"/>
                  <a:pt x="15502" y="20"/>
                  <a:pt x="15502" y="20"/>
                </a:cubicBezTo>
                <a:cubicBezTo>
                  <a:pt x="15481" y="41"/>
                  <a:pt x="15456" y="52"/>
                  <a:pt x="15427" y="52"/>
                </a:cubicBezTo>
                <a:lnTo>
                  <a:pt x="0" y="52"/>
                </a:lnTo>
                <a:lnTo>
                  <a:pt x="0" y="51"/>
                </a:lnTo>
                <a:lnTo>
                  <a:pt x="106" y="24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1745360" y="5392440"/>
            <a:ext cx="18360" cy="759240"/>
          </a:xfrm>
          <a:custGeom>
            <a:avLst/>
            <a:gdLst/>
            <a:ahLst/>
            <a:rect l="0" t="0" r="r" b="b"/>
            <a:pathLst>
              <a:path w="51" h="2109">
                <a:moveTo>
                  <a:pt x="0" y="2090"/>
                </a:moveTo>
                <a:cubicBezTo>
                  <a:pt x="15" y="2075"/>
                  <a:pt x="23" y="2056"/>
                  <a:pt x="23" y="2034"/>
                </a:cubicBezTo>
                <a:lnTo>
                  <a:pt x="23" y="75"/>
                </a:lnTo>
                <a:cubicBezTo>
                  <a:pt x="23" y="53"/>
                  <a:pt x="15" y="35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2034"/>
                </a:lnTo>
                <a:cubicBezTo>
                  <a:pt x="51" y="2063"/>
                  <a:pt x="40" y="2088"/>
                  <a:pt x="19" y="2109"/>
                </a:cubicBezTo>
                <a:lnTo>
                  <a:pt x="0" y="209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6362640" y="558144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0" y="847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6" y="157"/>
                  <a:pt x="10" y="144"/>
                  <a:pt x="16" y="131"/>
                </a:cubicBezTo>
                <a:cubicBezTo>
                  <a:pt x="21" y="118"/>
                  <a:pt x="28" y="106"/>
                  <a:pt x="35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1" y="52"/>
                  <a:pt x="82" y="43"/>
                  <a:pt x="94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847" y="0"/>
                </a:lnTo>
                <a:cubicBezTo>
                  <a:pt x="861" y="0"/>
                  <a:pt x="875" y="1"/>
                  <a:pt x="889" y="4"/>
                </a:cubicBezTo>
                <a:cubicBezTo>
                  <a:pt x="902" y="7"/>
                  <a:pt x="915" y="11"/>
                  <a:pt x="928" y="16"/>
                </a:cubicBezTo>
                <a:cubicBezTo>
                  <a:pt x="941" y="22"/>
                  <a:pt x="953" y="28"/>
                  <a:pt x="965" y="36"/>
                </a:cubicBezTo>
                <a:cubicBezTo>
                  <a:pt x="976" y="43"/>
                  <a:pt x="987" y="52"/>
                  <a:pt x="997" y="62"/>
                </a:cubicBezTo>
                <a:cubicBezTo>
                  <a:pt x="1007" y="72"/>
                  <a:pt x="1016" y="83"/>
                  <a:pt x="1023" y="94"/>
                </a:cubicBezTo>
                <a:cubicBezTo>
                  <a:pt x="1031" y="106"/>
                  <a:pt x="1038" y="118"/>
                  <a:pt x="1043" y="131"/>
                </a:cubicBezTo>
                <a:cubicBezTo>
                  <a:pt x="1048" y="144"/>
                  <a:pt x="1052" y="157"/>
                  <a:pt x="1055" y="170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7"/>
                </a:lnTo>
                <a:cubicBezTo>
                  <a:pt x="1059" y="861"/>
                  <a:pt x="1058" y="874"/>
                  <a:pt x="1055" y="888"/>
                </a:cubicBezTo>
                <a:cubicBezTo>
                  <a:pt x="1052" y="903"/>
                  <a:pt x="1048" y="916"/>
                  <a:pt x="1043" y="929"/>
                </a:cubicBezTo>
                <a:cubicBezTo>
                  <a:pt x="1038" y="942"/>
                  <a:pt x="1031" y="954"/>
                  <a:pt x="1023" y="965"/>
                </a:cubicBezTo>
                <a:cubicBezTo>
                  <a:pt x="1016" y="977"/>
                  <a:pt x="1007" y="988"/>
                  <a:pt x="997" y="997"/>
                </a:cubicBezTo>
                <a:cubicBezTo>
                  <a:pt x="987" y="1007"/>
                  <a:pt x="976" y="1016"/>
                  <a:pt x="965" y="1024"/>
                </a:cubicBezTo>
                <a:cubicBezTo>
                  <a:pt x="953" y="1031"/>
                  <a:pt x="941" y="1038"/>
                  <a:pt x="928" y="1043"/>
                </a:cubicBezTo>
                <a:cubicBezTo>
                  <a:pt x="915" y="1049"/>
                  <a:pt x="902" y="1053"/>
                  <a:pt x="889" y="1055"/>
                </a:cubicBezTo>
                <a:cubicBezTo>
                  <a:pt x="875" y="1058"/>
                  <a:pt x="861" y="1059"/>
                  <a:pt x="847" y="1059"/>
                </a:cubicBezTo>
                <a:lnTo>
                  <a:pt x="211" y="1059"/>
                </a:lnTo>
                <a:cubicBezTo>
                  <a:pt x="197" y="1059"/>
                  <a:pt x="184" y="1058"/>
                  <a:pt x="170" y="1055"/>
                </a:cubicBezTo>
                <a:cubicBezTo>
                  <a:pt x="156" y="1053"/>
                  <a:pt x="143" y="1049"/>
                  <a:pt x="130" y="1043"/>
                </a:cubicBezTo>
                <a:cubicBezTo>
                  <a:pt x="117" y="1038"/>
                  <a:pt x="105" y="1031"/>
                  <a:pt x="94" y="1024"/>
                </a:cubicBezTo>
                <a:cubicBezTo>
                  <a:pt x="82" y="1016"/>
                  <a:pt x="71" y="1007"/>
                  <a:pt x="62" y="997"/>
                </a:cubicBezTo>
                <a:cubicBezTo>
                  <a:pt x="52" y="988"/>
                  <a:pt x="43" y="977"/>
                  <a:pt x="35" y="965"/>
                </a:cubicBezTo>
                <a:cubicBezTo>
                  <a:pt x="28" y="954"/>
                  <a:pt x="21" y="942"/>
                  <a:pt x="16" y="929"/>
                </a:cubicBezTo>
                <a:cubicBezTo>
                  <a:pt x="10" y="916"/>
                  <a:pt x="6" y="903"/>
                  <a:pt x="4" y="888"/>
                </a:cubicBezTo>
                <a:cubicBezTo>
                  <a:pt x="1" y="874"/>
                  <a:pt x="0" y="861"/>
                  <a:pt x="0" y="847"/>
                </a:cubicBez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6448320" y="5707800"/>
            <a:ext cx="214560" cy="128880"/>
          </a:xfrm>
          <a:custGeom>
            <a:avLst/>
            <a:gdLst/>
            <a:ahLst/>
            <a:rect l="0" t="0" r="r" b="b"/>
            <a:pathLst>
              <a:path w="596" h="358">
                <a:moveTo>
                  <a:pt x="302" y="19"/>
                </a:moveTo>
                <a:lnTo>
                  <a:pt x="211" y="93"/>
                </a:lnTo>
                <a:cubicBezTo>
                  <a:pt x="196" y="105"/>
                  <a:pt x="193" y="127"/>
                  <a:pt x="204" y="143"/>
                </a:cubicBezTo>
                <a:cubicBezTo>
                  <a:pt x="216" y="159"/>
                  <a:pt x="240" y="163"/>
                  <a:pt x="256" y="150"/>
                </a:cubicBezTo>
                <a:lnTo>
                  <a:pt x="349" y="78"/>
                </a:lnTo>
                <a:cubicBezTo>
                  <a:pt x="355" y="73"/>
                  <a:pt x="365" y="74"/>
                  <a:pt x="370" y="81"/>
                </a:cubicBezTo>
                <a:cubicBezTo>
                  <a:pt x="375" y="87"/>
                  <a:pt x="374" y="97"/>
                  <a:pt x="367" y="102"/>
                </a:cubicBezTo>
                <a:lnTo>
                  <a:pt x="348" y="117"/>
                </a:lnTo>
                <a:lnTo>
                  <a:pt x="477" y="236"/>
                </a:lnTo>
                <a:lnTo>
                  <a:pt x="477" y="60"/>
                </a:lnTo>
                <a:lnTo>
                  <a:pt x="476" y="60"/>
                </a:lnTo>
                <a:lnTo>
                  <a:pt x="473" y="58"/>
                </a:lnTo>
                <a:lnTo>
                  <a:pt x="405" y="14"/>
                </a:lnTo>
                <a:cubicBezTo>
                  <a:pt x="391" y="4"/>
                  <a:pt x="374" y="0"/>
                  <a:pt x="357" y="0"/>
                </a:cubicBezTo>
                <a:cubicBezTo>
                  <a:pt x="337" y="0"/>
                  <a:pt x="317" y="7"/>
                  <a:pt x="302" y="19"/>
                </a:cubicBezTo>
                <a:moveTo>
                  <a:pt x="323" y="136"/>
                </a:moveTo>
                <a:lnTo>
                  <a:pt x="275" y="173"/>
                </a:lnTo>
                <a:cubicBezTo>
                  <a:pt x="245" y="196"/>
                  <a:pt x="202" y="190"/>
                  <a:pt x="180" y="160"/>
                </a:cubicBezTo>
                <a:cubicBezTo>
                  <a:pt x="159" y="132"/>
                  <a:pt x="165" y="92"/>
                  <a:pt x="192" y="70"/>
                </a:cubicBezTo>
                <a:lnTo>
                  <a:pt x="270" y="7"/>
                </a:lnTo>
                <a:cubicBezTo>
                  <a:pt x="259" y="2"/>
                  <a:pt x="248" y="0"/>
                  <a:pt x="235" y="0"/>
                </a:cubicBezTo>
                <a:cubicBezTo>
                  <a:pt x="217" y="0"/>
                  <a:pt x="200" y="5"/>
                  <a:pt x="186" y="15"/>
                </a:cubicBezTo>
                <a:lnTo>
                  <a:pt x="119" y="60"/>
                </a:lnTo>
                <a:lnTo>
                  <a:pt x="119" y="269"/>
                </a:lnTo>
                <a:lnTo>
                  <a:pt x="145" y="269"/>
                </a:lnTo>
                <a:lnTo>
                  <a:pt x="230" y="346"/>
                </a:lnTo>
                <a:cubicBezTo>
                  <a:pt x="249" y="363"/>
                  <a:pt x="278" y="361"/>
                  <a:pt x="294" y="343"/>
                </a:cubicBezTo>
                <a:cubicBezTo>
                  <a:pt x="299" y="338"/>
                  <a:pt x="303" y="331"/>
                  <a:pt x="304" y="324"/>
                </a:cubicBezTo>
                <a:lnTo>
                  <a:pt x="320" y="339"/>
                </a:lnTo>
                <a:cubicBezTo>
                  <a:pt x="338" y="355"/>
                  <a:pt x="367" y="354"/>
                  <a:pt x="383" y="336"/>
                </a:cubicBezTo>
                <a:cubicBezTo>
                  <a:pt x="388" y="331"/>
                  <a:pt x="391" y="326"/>
                  <a:pt x="393" y="321"/>
                </a:cubicBezTo>
                <a:cubicBezTo>
                  <a:pt x="411" y="333"/>
                  <a:pt x="435" y="330"/>
                  <a:pt x="450" y="314"/>
                </a:cubicBezTo>
                <a:cubicBezTo>
                  <a:pt x="467" y="295"/>
                  <a:pt x="466" y="267"/>
                  <a:pt x="448" y="251"/>
                </a:cubicBezTo>
                <a:lnTo>
                  <a:pt x="323" y="136"/>
                </a:lnTo>
                <a:moveTo>
                  <a:pt x="15" y="60"/>
                </a:moveTo>
                <a:cubicBezTo>
                  <a:pt x="6" y="60"/>
                  <a:pt x="0" y="67"/>
                  <a:pt x="0" y="75"/>
                </a:cubicBezTo>
                <a:lnTo>
                  <a:pt x="0" y="269"/>
                </a:lnTo>
                <a:cubicBezTo>
                  <a:pt x="0" y="285"/>
                  <a:pt x="13" y="298"/>
                  <a:pt x="30" y="298"/>
                </a:cubicBezTo>
                <a:lnTo>
                  <a:pt x="59" y="298"/>
                </a:lnTo>
                <a:cubicBezTo>
                  <a:pt x="76" y="298"/>
                  <a:pt x="89" y="285"/>
                  <a:pt x="89" y="269"/>
                </a:cubicBezTo>
                <a:lnTo>
                  <a:pt x="89" y="60"/>
                </a:lnTo>
                <a:lnTo>
                  <a:pt x="15" y="60"/>
                </a:lnTo>
                <a:moveTo>
                  <a:pt x="44" y="239"/>
                </a:moveTo>
                <a:cubicBezTo>
                  <a:pt x="49" y="239"/>
                  <a:pt x="52" y="240"/>
                  <a:pt x="55" y="243"/>
                </a:cubicBezTo>
                <a:cubicBezTo>
                  <a:pt x="58" y="246"/>
                  <a:pt x="59" y="250"/>
                  <a:pt x="59" y="254"/>
                </a:cubicBezTo>
                <a:cubicBezTo>
                  <a:pt x="59" y="258"/>
                  <a:pt x="58" y="261"/>
                  <a:pt x="55" y="264"/>
                </a:cubicBezTo>
                <a:cubicBezTo>
                  <a:pt x="52" y="267"/>
                  <a:pt x="49" y="269"/>
                  <a:pt x="44" y="269"/>
                </a:cubicBezTo>
                <a:cubicBezTo>
                  <a:pt x="40" y="269"/>
                  <a:pt x="37" y="267"/>
                  <a:pt x="34" y="264"/>
                </a:cubicBezTo>
                <a:cubicBezTo>
                  <a:pt x="31" y="261"/>
                  <a:pt x="30" y="258"/>
                  <a:pt x="30" y="254"/>
                </a:cubicBezTo>
                <a:cubicBezTo>
                  <a:pt x="30" y="250"/>
                  <a:pt x="31" y="246"/>
                  <a:pt x="34" y="243"/>
                </a:cubicBezTo>
                <a:cubicBezTo>
                  <a:pt x="37" y="240"/>
                  <a:pt x="40" y="239"/>
                  <a:pt x="44" y="239"/>
                </a:cubicBezTo>
                <a:moveTo>
                  <a:pt x="507" y="60"/>
                </a:moveTo>
                <a:lnTo>
                  <a:pt x="507" y="269"/>
                </a:lnTo>
                <a:cubicBezTo>
                  <a:pt x="507" y="285"/>
                  <a:pt x="520" y="298"/>
                  <a:pt x="537" y="298"/>
                </a:cubicBezTo>
                <a:lnTo>
                  <a:pt x="566" y="298"/>
                </a:lnTo>
                <a:cubicBezTo>
                  <a:pt x="583" y="298"/>
                  <a:pt x="596" y="285"/>
                  <a:pt x="596" y="269"/>
                </a:cubicBezTo>
                <a:lnTo>
                  <a:pt x="596" y="75"/>
                </a:lnTo>
                <a:cubicBezTo>
                  <a:pt x="596" y="67"/>
                  <a:pt x="589" y="60"/>
                  <a:pt x="581" y="60"/>
                </a:cubicBezTo>
                <a:lnTo>
                  <a:pt x="507" y="60"/>
                </a:lnTo>
                <a:moveTo>
                  <a:pt x="537" y="254"/>
                </a:moveTo>
                <a:cubicBezTo>
                  <a:pt x="537" y="250"/>
                  <a:pt x="538" y="246"/>
                  <a:pt x="541" y="243"/>
                </a:cubicBezTo>
                <a:cubicBezTo>
                  <a:pt x="544" y="240"/>
                  <a:pt x="547" y="239"/>
                  <a:pt x="551" y="239"/>
                </a:cubicBezTo>
                <a:cubicBezTo>
                  <a:pt x="556" y="239"/>
                  <a:pt x="559" y="240"/>
                  <a:pt x="562" y="243"/>
                </a:cubicBezTo>
                <a:cubicBezTo>
                  <a:pt x="565" y="246"/>
                  <a:pt x="566" y="250"/>
                  <a:pt x="566" y="254"/>
                </a:cubicBezTo>
                <a:cubicBezTo>
                  <a:pt x="566" y="258"/>
                  <a:pt x="565" y="261"/>
                  <a:pt x="562" y="264"/>
                </a:cubicBezTo>
                <a:cubicBezTo>
                  <a:pt x="559" y="267"/>
                  <a:pt x="556" y="269"/>
                  <a:pt x="551" y="269"/>
                </a:cubicBezTo>
                <a:cubicBezTo>
                  <a:pt x="547" y="269"/>
                  <a:pt x="544" y="267"/>
                  <a:pt x="541" y="264"/>
                </a:cubicBezTo>
                <a:cubicBezTo>
                  <a:pt x="538" y="261"/>
                  <a:pt x="537" y="258"/>
                  <a:pt x="537" y="254"/>
                </a:cubicBezTo>
                <a:close/>
              </a:path>
            </a:pathLst>
          </a:custGeom>
          <a:solidFill>
            <a:srgbClr val="4f46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152360" y="5780520"/>
            <a:ext cx="2451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System Research in the Era of AI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896160" y="5572440"/>
            <a:ext cx="541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4f46e5"/>
                </a:solidFill>
                <a:effectLst/>
                <a:uFillTx/>
                <a:latin typeface="Microsoft YaHei"/>
                <a:ea typeface="MicrosoftYaHei"/>
              </a:rPr>
              <a:t>PANEL 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896160" y="5780520"/>
            <a:ext cx="2849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Building a Community in the Era of AI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1682720" y="6521040"/>
            <a:ext cx="1368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MicrosoftYaHei"/>
              </a:rPr>
              <a:t>2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428400" y="971280"/>
            <a:ext cx="184680" cy="184680"/>
          </a:xfrm>
          <a:custGeom>
            <a:avLst/>
            <a:gdLst/>
            <a:ahLst/>
            <a:rect l="0" t="0" r="r" b="b"/>
            <a:pathLst>
              <a:path w="513" h="513">
                <a:moveTo>
                  <a:pt x="75" y="75"/>
                </a:moveTo>
                <a:lnTo>
                  <a:pt x="41" y="41"/>
                </a:lnTo>
                <a:cubicBezTo>
                  <a:pt x="26" y="26"/>
                  <a:pt x="0" y="37"/>
                  <a:pt x="0" y="58"/>
                </a:cubicBezTo>
                <a:lnTo>
                  <a:pt x="0" y="169"/>
                </a:lnTo>
                <a:cubicBezTo>
                  <a:pt x="0" y="182"/>
                  <a:pt x="11" y="193"/>
                  <a:pt x="24" y="193"/>
                </a:cubicBezTo>
                <a:lnTo>
                  <a:pt x="135" y="193"/>
                </a:lnTo>
                <a:cubicBezTo>
                  <a:pt x="157" y="193"/>
                  <a:pt x="167" y="167"/>
                  <a:pt x="152" y="152"/>
                </a:cubicBezTo>
                <a:lnTo>
                  <a:pt x="121" y="121"/>
                </a:lnTo>
                <a:cubicBezTo>
                  <a:pt x="156" y="86"/>
                  <a:pt x="204" y="64"/>
                  <a:pt x="257" y="64"/>
                </a:cubicBezTo>
                <a:cubicBezTo>
                  <a:pt x="363" y="64"/>
                  <a:pt x="449" y="151"/>
                  <a:pt x="449" y="257"/>
                </a:cubicBezTo>
                <a:cubicBezTo>
                  <a:pt x="449" y="363"/>
                  <a:pt x="363" y="449"/>
                  <a:pt x="257" y="449"/>
                </a:cubicBezTo>
                <a:cubicBezTo>
                  <a:pt x="216" y="449"/>
                  <a:pt x="178" y="436"/>
                  <a:pt x="147" y="415"/>
                </a:cubicBezTo>
                <a:cubicBezTo>
                  <a:pt x="133" y="405"/>
                  <a:pt x="113" y="408"/>
                  <a:pt x="103" y="423"/>
                </a:cubicBezTo>
                <a:cubicBezTo>
                  <a:pt x="93" y="437"/>
                  <a:pt x="96" y="457"/>
                  <a:pt x="111" y="467"/>
                </a:cubicBezTo>
                <a:cubicBezTo>
                  <a:pt x="152" y="496"/>
                  <a:pt x="203" y="513"/>
                  <a:pt x="257" y="513"/>
                </a:cubicBezTo>
                <a:cubicBezTo>
                  <a:pt x="398" y="513"/>
                  <a:pt x="513" y="398"/>
                  <a:pt x="513" y="257"/>
                </a:cubicBezTo>
                <a:cubicBezTo>
                  <a:pt x="513" y="116"/>
                  <a:pt x="398" y="0"/>
                  <a:pt x="257" y="0"/>
                </a:cubicBezTo>
                <a:cubicBezTo>
                  <a:pt x="186" y="0"/>
                  <a:pt x="122" y="29"/>
                  <a:pt x="75" y="75"/>
                </a:cubicBezTo>
                <a:moveTo>
                  <a:pt x="257" y="129"/>
                </a:moveTo>
                <a:cubicBezTo>
                  <a:pt x="244" y="129"/>
                  <a:pt x="233" y="140"/>
                  <a:pt x="233" y="153"/>
                </a:cubicBezTo>
                <a:lnTo>
                  <a:pt x="233" y="257"/>
                </a:lnTo>
                <a:cubicBezTo>
                  <a:pt x="233" y="264"/>
                  <a:pt x="236" y="270"/>
                  <a:pt x="240" y="274"/>
                </a:cubicBezTo>
                <a:lnTo>
                  <a:pt x="312" y="346"/>
                </a:lnTo>
                <a:cubicBezTo>
                  <a:pt x="321" y="356"/>
                  <a:pt x="337" y="356"/>
                  <a:pt x="346" y="346"/>
                </a:cubicBezTo>
                <a:cubicBezTo>
                  <a:pt x="355" y="337"/>
                  <a:pt x="355" y="322"/>
                  <a:pt x="346" y="312"/>
                </a:cubicBezTo>
                <a:lnTo>
                  <a:pt x="281" y="247"/>
                </a:lnTo>
                <a:lnTo>
                  <a:pt x="281" y="153"/>
                </a:lnTo>
                <a:cubicBezTo>
                  <a:pt x="281" y="140"/>
                  <a:pt x="270" y="129"/>
                  <a:pt x="257" y="129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28760" y="241560"/>
            <a:ext cx="761472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SIGOPS: A Legacy of Innovation &amp; Community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428400" y="1419120"/>
            <a:ext cx="143280" cy="143280"/>
          </a:xfrm>
          <a:custGeom>
            <a:avLst/>
            <a:gdLst/>
            <a:ahLst/>
            <a:rect l="0" t="0" r="r" b="b"/>
            <a:pathLst>
              <a:path w="398" h="398">
                <a:moveTo>
                  <a:pt x="398" y="198"/>
                </a:moveTo>
                <a:cubicBezTo>
                  <a:pt x="398" y="211"/>
                  <a:pt x="397" y="225"/>
                  <a:pt x="394" y="238"/>
                </a:cubicBezTo>
                <a:cubicBezTo>
                  <a:pt x="392" y="251"/>
                  <a:pt x="388" y="263"/>
                  <a:pt x="383" y="275"/>
                </a:cubicBezTo>
                <a:cubicBezTo>
                  <a:pt x="378" y="287"/>
                  <a:pt x="372" y="299"/>
                  <a:pt x="365" y="309"/>
                </a:cubicBezTo>
                <a:cubicBezTo>
                  <a:pt x="357" y="320"/>
                  <a:pt x="349" y="330"/>
                  <a:pt x="340" y="340"/>
                </a:cubicBezTo>
                <a:cubicBezTo>
                  <a:pt x="331" y="349"/>
                  <a:pt x="321" y="357"/>
                  <a:pt x="310" y="364"/>
                </a:cubicBezTo>
                <a:cubicBezTo>
                  <a:pt x="299" y="371"/>
                  <a:pt x="288" y="378"/>
                  <a:pt x="276" y="383"/>
                </a:cubicBezTo>
                <a:cubicBezTo>
                  <a:pt x="263" y="388"/>
                  <a:pt x="251" y="391"/>
                  <a:pt x="238" y="394"/>
                </a:cubicBezTo>
                <a:cubicBezTo>
                  <a:pt x="225" y="396"/>
                  <a:pt x="213" y="398"/>
                  <a:pt x="200" y="398"/>
                </a:cubicBezTo>
                <a:cubicBezTo>
                  <a:pt x="186" y="398"/>
                  <a:pt x="173" y="396"/>
                  <a:pt x="160" y="394"/>
                </a:cubicBezTo>
                <a:cubicBezTo>
                  <a:pt x="147" y="391"/>
                  <a:pt x="135" y="388"/>
                  <a:pt x="123" y="383"/>
                </a:cubicBezTo>
                <a:cubicBezTo>
                  <a:pt x="111" y="378"/>
                  <a:pt x="99" y="371"/>
                  <a:pt x="88" y="364"/>
                </a:cubicBezTo>
                <a:cubicBezTo>
                  <a:pt x="77" y="357"/>
                  <a:pt x="67" y="349"/>
                  <a:pt x="58" y="340"/>
                </a:cubicBezTo>
                <a:cubicBezTo>
                  <a:pt x="49" y="330"/>
                  <a:pt x="41" y="320"/>
                  <a:pt x="34" y="309"/>
                </a:cubicBezTo>
                <a:cubicBezTo>
                  <a:pt x="26" y="299"/>
                  <a:pt x="20" y="287"/>
                  <a:pt x="15" y="275"/>
                </a:cubicBezTo>
                <a:cubicBezTo>
                  <a:pt x="10" y="263"/>
                  <a:pt x="6" y="251"/>
                  <a:pt x="4" y="238"/>
                </a:cubicBezTo>
                <a:cubicBezTo>
                  <a:pt x="1" y="225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200" y="0"/>
                </a:cubicBezTo>
                <a:cubicBezTo>
                  <a:pt x="213" y="0"/>
                  <a:pt x="225" y="1"/>
                  <a:pt x="238" y="4"/>
                </a:cubicBezTo>
                <a:cubicBezTo>
                  <a:pt x="251" y="6"/>
                  <a:pt x="263" y="10"/>
                  <a:pt x="276" y="15"/>
                </a:cubicBezTo>
                <a:cubicBezTo>
                  <a:pt x="288" y="20"/>
                  <a:pt x="299" y="26"/>
                  <a:pt x="310" y="33"/>
                </a:cubicBezTo>
                <a:cubicBezTo>
                  <a:pt x="321" y="40"/>
                  <a:pt x="331" y="49"/>
                  <a:pt x="340" y="58"/>
                </a:cubicBezTo>
                <a:cubicBezTo>
                  <a:pt x="349" y="67"/>
                  <a:pt x="357" y="77"/>
                  <a:pt x="365" y="88"/>
                </a:cubicBezTo>
                <a:cubicBezTo>
                  <a:pt x="372" y="99"/>
                  <a:pt x="378" y="110"/>
                  <a:pt x="383" y="122"/>
                </a:cubicBezTo>
                <a:cubicBezTo>
                  <a:pt x="388" y="134"/>
                  <a:pt x="392" y="147"/>
                  <a:pt x="394" y="160"/>
                </a:cubicBezTo>
                <a:cubicBezTo>
                  <a:pt x="397" y="172"/>
                  <a:pt x="398" y="185"/>
                  <a:pt x="398" y="19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495000" y="1638000"/>
            <a:ext cx="19440" cy="924480"/>
          </a:xfrm>
          <a:custGeom>
            <a:avLst/>
            <a:gdLst/>
            <a:ahLst/>
            <a:rect l="0" t="0" r="r" b="b"/>
            <a:pathLst>
              <a:path w="54" h="2568">
                <a:moveTo>
                  <a:pt x="0" y="0"/>
                </a:moveTo>
                <a:lnTo>
                  <a:pt x="54" y="0"/>
                </a:lnTo>
                <a:lnTo>
                  <a:pt x="54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428400" y="2638080"/>
            <a:ext cx="143280" cy="143280"/>
          </a:xfrm>
          <a:custGeom>
            <a:avLst/>
            <a:gdLst/>
            <a:ahLst/>
            <a:rect l="0" t="0" r="r" b="b"/>
            <a:pathLst>
              <a:path w="398" h="398">
                <a:moveTo>
                  <a:pt x="398" y="199"/>
                </a:moveTo>
                <a:cubicBezTo>
                  <a:pt x="398" y="212"/>
                  <a:pt x="397" y="225"/>
                  <a:pt x="394" y="238"/>
                </a:cubicBezTo>
                <a:cubicBezTo>
                  <a:pt x="392" y="250"/>
                  <a:pt x="388" y="263"/>
                  <a:pt x="383" y="275"/>
                </a:cubicBezTo>
                <a:cubicBezTo>
                  <a:pt x="378" y="287"/>
                  <a:pt x="372" y="298"/>
                  <a:pt x="365" y="309"/>
                </a:cubicBezTo>
                <a:cubicBezTo>
                  <a:pt x="357" y="320"/>
                  <a:pt x="349" y="330"/>
                  <a:pt x="340" y="339"/>
                </a:cubicBezTo>
                <a:cubicBezTo>
                  <a:pt x="331" y="348"/>
                  <a:pt x="321" y="357"/>
                  <a:pt x="310" y="364"/>
                </a:cubicBezTo>
                <a:cubicBezTo>
                  <a:pt x="299" y="371"/>
                  <a:pt x="288" y="377"/>
                  <a:pt x="276" y="382"/>
                </a:cubicBezTo>
                <a:cubicBezTo>
                  <a:pt x="263" y="387"/>
                  <a:pt x="251" y="391"/>
                  <a:pt x="238" y="395"/>
                </a:cubicBezTo>
                <a:cubicBezTo>
                  <a:pt x="225" y="397"/>
                  <a:pt x="213" y="398"/>
                  <a:pt x="200" y="398"/>
                </a:cubicBezTo>
                <a:cubicBezTo>
                  <a:pt x="186" y="398"/>
                  <a:pt x="173" y="397"/>
                  <a:pt x="160" y="395"/>
                </a:cubicBezTo>
                <a:cubicBezTo>
                  <a:pt x="147" y="391"/>
                  <a:pt x="135" y="387"/>
                  <a:pt x="123" y="382"/>
                </a:cubicBezTo>
                <a:cubicBezTo>
                  <a:pt x="111" y="377"/>
                  <a:pt x="99" y="371"/>
                  <a:pt x="88" y="364"/>
                </a:cubicBezTo>
                <a:cubicBezTo>
                  <a:pt x="77" y="357"/>
                  <a:pt x="67" y="348"/>
                  <a:pt x="58" y="339"/>
                </a:cubicBezTo>
                <a:cubicBezTo>
                  <a:pt x="49" y="330"/>
                  <a:pt x="41" y="320"/>
                  <a:pt x="34" y="309"/>
                </a:cubicBezTo>
                <a:cubicBezTo>
                  <a:pt x="26" y="298"/>
                  <a:pt x="20" y="287"/>
                  <a:pt x="15" y="275"/>
                </a:cubicBezTo>
                <a:cubicBezTo>
                  <a:pt x="10" y="263"/>
                  <a:pt x="6" y="250"/>
                  <a:pt x="4" y="238"/>
                </a:cubicBezTo>
                <a:cubicBezTo>
                  <a:pt x="1" y="225"/>
                  <a:pt x="0" y="212"/>
                  <a:pt x="0" y="199"/>
                </a:cubicBez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200" y="0"/>
                </a:cubicBezTo>
                <a:cubicBezTo>
                  <a:pt x="213" y="0"/>
                  <a:pt x="225" y="2"/>
                  <a:pt x="238" y="4"/>
                </a:cubicBezTo>
                <a:cubicBezTo>
                  <a:pt x="251" y="7"/>
                  <a:pt x="263" y="11"/>
                  <a:pt x="276" y="16"/>
                </a:cubicBezTo>
                <a:cubicBezTo>
                  <a:pt x="288" y="21"/>
                  <a:pt x="299" y="27"/>
                  <a:pt x="310" y="34"/>
                </a:cubicBezTo>
                <a:cubicBezTo>
                  <a:pt x="321" y="41"/>
                  <a:pt x="331" y="49"/>
                  <a:pt x="340" y="59"/>
                </a:cubicBezTo>
                <a:cubicBezTo>
                  <a:pt x="349" y="68"/>
                  <a:pt x="357" y="78"/>
                  <a:pt x="365" y="89"/>
                </a:cubicBezTo>
                <a:cubicBezTo>
                  <a:pt x="372" y="99"/>
                  <a:pt x="378" y="111"/>
                  <a:pt x="383" y="123"/>
                </a:cubicBezTo>
                <a:cubicBezTo>
                  <a:pt x="388" y="135"/>
                  <a:pt x="392" y="147"/>
                  <a:pt x="394" y="160"/>
                </a:cubicBezTo>
                <a:cubicBezTo>
                  <a:pt x="397" y="173"/>
                  <a:pt x="398" y="186"/>
                  <a:pt x="398" y="199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495000" y="2857320"/>
            <a:ext cx="19440" cy="924120"/>
          </a:xfrm>
          <a:custGeom>
            <a:avLst/>
            <a:gdLst/>
            <a:ahLst/>
            <a:rect l="0" t="0" r="r" b="b"/>
            <a:pathLst>
              <a:path w="54" h="2567">
                <a:moveTo>
                  <a:pt x="0" y="0"/>
                </a:moveTo>
                <a:lnTo>
                  <a:pt x="54" y="0"/>
                </a:lnTo>
                <a:lnTo>
                  <a:pt x="54" y="2567"/>
                </a:lnTo>
                <a:lnTo>
                  <a:pt x="0" y="2567"/>
                </a:lnTo>
                <a:lnTo>
                  <a:pt x="0" y="0"/>
                </a:ln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428400" y="3848040"/>
            <a:ext cx="143280" cy="152640"/>
          </a:xfrm>
          <a:custGeom>
            <a:avLst/>
            <a:gdLst/>
            <a:ahLst/>
            <a:rect l="0" t="0" r="r" b="b"/>
            <a:pathLst>
              <a:path w="398" h="424">
                <a:moveTo>
                  <a:pt x="0" y="226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200" y="0"/>
                </a:cubicBezTo>
                <a:cubicBezTo>
                  <a:pt x="213" y="0"/>
                  <a:pt x="225" y="1"/>
                  <a:pt x="238" y="3"/>
                </a:cubicBezTo>
                <a:cubicBezTo>
                  <a:pt x="251" y="6"/>
                  <a:pt x="263" y="10"/>
                  <a:pt x="276" y="15"/>
                </a:cubicBezTo>
                <a:cubicBezTo>
                  <a:pt x="288" y="20"/>
                  <a:pt x="299" y="26"/>
                  <a:pt x="310" y="33"/>
                </a:cubicBezTo>
                <a:cubicBezTo>
                  <a:pt x="321" y="40"/>
                  <a:pt x="331" y="49"/>
                  <a:pt x="340" y="58"/>
                </a:cubicBezTo>
                <a:cubicBezTo>
                  <a:pt x="349" y="67"/>
                  <a:pt x="357" y="77"/>
                  <a:pt x="365" y="88"/>
                </a:cubicBezTo>
                <a:cubicBezTo>
                  <a:pt x="372" y="100"/>
                  <a:pt x="378" y="111"/>
                  <a:pt x="383" y="123"/>
                </a:cubicBezTo>
                <a:cubicBezTo>
                  <a:pt x="388" y="135"/>
                  <a:pt x="392" y="148"/>
                  <a:pt x="394" y="160"/>
                </a:cubicBezTo>
                <a:cubicBezTo>
                  <a:pt x="397" y="173"/>
                  <a:pt x="398" y="186"/>
                  <a:pt x="398" y="199"/>
                </a:cubicBezTo>
                <a:lnTo>
                  <a:pt x="398" y="226"/>
                </a:lnTo>
                <a:cubicBezTo>
                  <a:pt x="398" y="239"/>
                  <a:pt x="397" y="251"/>
                  <a:pt x="394" y="264"/>
                </a:cubicBezTo>
                <a:cubicBezTo>
                  <a:pt x="392" y="277"/>
                  <a:pt x="388" y="289"/>
                  <a:pt x="383" y="301"/>
                </a:cubicBezTo>
                <a:cubicBezTo>
                  <a:pt x="378" y="314"/>
                  <a:pt x="372" y="325"/>
                  <a:pt x="365" y="336"/>
                </a:cubicBezTo>
                <a:cubicBezTo>
                  <a:pt x="357" y="347"/>
                  <a:pt x="349" y="357"/>
                  <a:pt x="340" y="366"/>
                </a:cubicBezTo>
                <a:cubicBezTo>
                  <a:pt x="331" y="375"/>
                  <a:pt x="321" y="383"/>
                  <a:pt x="310" y="391"/>
                </a:cubicBezTo>
                <a:cubicBezTo>
                  <a:pt x="299" y="398"/>
                  <a:pt x="288" y="404"/>
                  <a:pt x="276" y="409"/>
                </a:cubicBezTo>
                <a:cubicBezTo>
                  <a:pt x="263" y="414"/>
                  <a:pt x="251" y="418"/>
                  <a:pt x="238" y="420"/>
                </a:cubicBezTo>
                <a:cubicBezTo>
                  <a:pt x="225" y="423"/>
                  <a:pt x="213" y="424"/>
                  <a:pt x="200" y="424"/>
                </a:cubicBezTo>
                <a:cubicBezTo>
                  <a:pt x="186" y="424"/>
                  <a:pt x="173" y="423"/>
                  <a:pt x="160" y="420"/>
                </a:cubicBezTo>
                <a:cubicBezTo>
                  <a:pt x="147" y="418"/>
                  <a:pt x="135" y="414"/>
                  <a:pt x="123" y="409"/>
                </a:cubicBezTo>
                <a:cubicBezTo>
                  <a:pt x="111" y="404"/>
                  <a:pt x="99" y="398"/>
                  <a:pt x="88" y="391"/>
                </a:cubicBezTo>
                <a:cubicBezTo>
                  <a:pt x="77" y="383"/>
                  <a:pt x="67" y="375"/>
                  <a:pt x="58" y="366"/>
                </a:cubicBezTo>
                <a:cubicBezTo>
                  <a:pt x="49" y="357"/>
                  <a:pt x="41" y="347"/>
                  <a:pt x="34" y="336"/>
                </a:cubicBezTo>
                <a:cubicBezTo>
                  <a:pt x="26" y="325"/>
                  <a:pt x="20" y="314"/>
                  <a:pt x="15" y="301"/>
                </a:cubicBezTo>
                <a:cubicBezTo>
                  <a:pt x="10" y="289"/>
                  <a:pt x="6" y="277"/>
                  <a:pt x="4" y="264"/>
                </a:cubicBezTo>
                <a:cubicBezTo>
                  <a:pt x="1" y="251"/>
                  <a:pt x="0" y="239"/>
                  <a:pt x="0" y="22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495000" y="407664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28400" y="5067000"/>
            <a:ext cx="143280" cy="153000"/>
          </a:xfrm>
          <a:custGeom>
            <a:avLst/>
            <a:gdLst/>
            <a:ahLst/>
            <a:rect l="0" t="0" r="r" b="b"/>
            <a:pathLst>
              <a:path w="398" h="425">
                <a:moveTo>
                  <a:pt x="0" y="226"/>
                </a:moveTo>
                <a:lnTo>
                  <a:pt x="0" y="200"/>
                </a:ln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5" y="124"/>
                </a:cubicBezTo>
                <a:cubicBezTo>
                  <a:pt x="20" y="112"/>
                  <a:pt x="26" y="100"/>
                  <a:pt x="34" y="89"/>
                </a:cubicBezTo>
                <a:cubicBezTo>
                  <a:pt x="41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200" y="0"/>
                </a:cubicBezTo>
                <a:cubicBezTo>
                  <a:pt x="213" y="0"/>
                  <a:pt x="225" y="2"/>
                  <a:pt x="238" y="4"/>
                </a:cubicBezTo>
                <a:cubicBezTo>
                  <a:pt x="251" y="7"/>
                  <a:pt x="263" y="10"/>
                  <a:pt x="276" y="15"/>
                </a:cubicBezTo>
                <a:cubicBezTo>
                  <a:pt x="288" y="20"/>
                  <a:pt x="299" y="27"/>
                  <a:pt x="310" y="34"/>
                </a:cubicBezTo>
                <a:cubicBezTo>
                  <a:pt x="321" y="41"/>
                  <a:pt x="331" y="49"/>
                  <a:pt x="340" y="58"/>
                </a:cubicBezTo>
                <a:cubicBezTo>
                  <a:pt x="349" y="68"/>
                  <a:pt x="357" y="78"/>
                  <a:pt x="365" y="89"/>
                </a:cubicBezTo>
                <a:cubicBezTo>
                  <a:pt x="372" y="100"/>
                  <a:pt x="378" y="112"/>
                  <a:pt x="383" y="124"/>
                </a:cubicBezTo>
                <a:cubicBezTo>
                  <a:pt x="388" y="136"/>
                  <a:pt x="392" y="148"/>
                  <a:pt x="394" y="161"/>
                </a:cubicBezTo>
                <a:cubicBezTo>
                  <a:pt x="397" y="174"/>
                  <a:pt x="398" y="187"/>
                  <a:pt x="398" y="200"/>
                </a:cubicBezTo>
                <a:lnTo>
                  <a:pt x="398" y="226"/>
                </a:lnTo>
                <a:cubicBezTo>
                  <a:pt x="398" y="239"/>
                  <a:pt x="397" y="252"/>
                  <a:pt x="394" y="265"/>
                </a:cubicBezTo>
                <a:cubicBezTo>
                  <a:pt x="392" y="278"/>
                  <a:pt x="388" y="290"/>
                  <a:pt x="383" y="302"/>
                </a:cubicBezTo>
                <a:cubicBezTo>
                  <a:pt x="378" y="314"/>
                  <a:pt x="372" y="326"/>
                  <a:pt x="365" y="336"/>
                </a:cubicBezTo>
                <a:cubicBezTo>
                  <a:pt x="357" y="347"/>
                  <a:pt x="349" y="357"/>
                  <a:pt x="340" y="367"/>
                </a:cubicBezTo>
                <a:cubicBezTo>
                  <a:pt x="331" y="376"/>
                  <a:pt x="321" y="384"/>
                  <a:pt x="310" y="391"/>
                </a:cubicBezTo>
                <a:cubicBezTo>
                  <a:pt x="299" y="398"/>
                  <a:pt x="288" y="405"/>
                  <a:pt x="276" y="410"/>
                </a:cubicBezTo>
                <a:cubicBezTo>
                  <a:pt x="263" y="415"/>
                  <a:pt x="251" y="418"/>
                  <a:pt x="238" y="421"/>
                </a:cubicBezTo>
                <a:cubicBezTo>
                  <a:pt x="225" y="423"/>
                  <a:pt x="213" y="425"/>
                  <a:pt x="200" y="425"/>
                </a:cubicBezTo>
                <a:cubicBezTo>
                  <a:pt x="186" y="425"/>
                  <a:pt x="173" y="423"/>
                  <a:pt x="160" y="421"/>
                </a:cubicBezTo>
                <a:cubicBezTo>
                  <a:pt x="147" y="418"/>
                  <a:pt x="135" y="415"/>
                  <a:pt x="123" y="410"/>
                </a:cubicBezTo>
                <a:cubicBezTo>
                  <a:pt x="111" y="405"/>
                  <a:pt x="99" y="398"/>
                  <a:pt x="88" y="391"/>
                </a:cubicBezTo>
                <a:cubicBezTo>
                  <a:pt x="77" y="384"/>
                  <a:pt x="67" y="376"/>
                  <a:pt x="58" y="367"/>
                </a:cubicBezTo>
                <a:cubicBezTo>
                  <a:pt x="49" y="357"/>
                  <a:pt x="41" y="347"/>
                  <a:pt x="34" y="336"/>
                </a:cubicBezTo>
                <a:cubicBezTo>
                  <a:pt x="26" y="326"/>
                  <a:pt x="20" y="314"/>
                  <a:pt x="15" y="302"/>
                </a:cubicBezTo>
                <a:cubicBezTo>
                  <a:pt x="10" y="290"/>
                  <a:pt x="6" y="278"/>
                  <a:pt x="4" y="265"/>
                </a:cubicBezTo>
                <a:cubicBezTo>
                  <a:pt x="1" y="252"/>
                  <a:pt x="0" y="239"/>
                  <a:pt x="0" y="22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814320" y="1428480"/>
            <a:ext cx="5681880" cy="924480"/>
          </a:xfrm>
          <a:custGeom>
            <a:avLst/>
            <a:gdLst/>
            <a:ahLst/>
            <a:rect l="0" t="0" r="r" b="b"/>
            <a:pathLst>
              <a:path w="15783" h="2568">
                <a:moveTo>
                  <a:pt x="0" y="2568"/>
                </a:moveTo>
                <a:lnTo>
                  <a:pt x="0" y="0"/>
                </a:lnTo>
                <a:lnTo>
                  <a:pt x="15681" y="0"/>
                </a:lnTo>
                <a:cubicBezTo>
                  <a:pt x="15694" y="0"/>
                  <a:pt x="15707" y="3"/>
                  <a:pt x="15720" y="8"/>
                </a:cubicBezTo>
                <a:cubicBezTo>
                  <a:pt x="15732" y="13"/>
                  <a:pt x="15743" y="21"/>
                  <a:pt x="15753" y="30"/>
                </a:cubicBezTo>
                <a:cubicBezTo>
                  <a:pt x="15763" y="40"/>
                  <a:pt x="15770" y="51"/>
                  <a:pt x="15775" y="63"/>
                </a:cubicBezTo>
                <a:cubicBezTo>
                  <a:pt x="15780" y="76"/>
                  <a:pt x="15783" y="89"/>
                  <a:pt x="15783" y="103"/>
                </a:cubicBezTo>
                <a:lnTo>
                  <a:pt x="15783" y="2465"/>
                </a:lnTo>
                <a:cubicBezTo>
                  <a:pt x="15783" y="2479"/>
                  <a:pt x="15780" y="2492"/>
                  <a:pt x="15775" y="2504"/>
                </a:cubicBezTo>
                <a:cubicBezTo>
                  <a:pt x="15770" y="2517"/>
                  <a:pt x="15763" y="2528"/>
                  <a:pt x="15753" y="2538"/>
                </a:cubicBezTo>
                <a:cubicBezTo>
                  <a:pt x="15743" y="2547"/>
                  <a:pt x="15732" y="2555"/>
                  <a:pt x="15720" y="2560"/>
                </a:cubicBezTo>
                <a:cubicBezTo>
                  <a:pt x="15707" y="2565"/>
                  <a:pt x="15694" y="2568"/>
                  <a:pt x="15681" y="2568"/>
                </a:cubicBezTo>
                <a:lnTo>
                  <a:pt x="0" y="2568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799920" y="1428480"/>
            <a:ext cx="28800" cy="924480"/>
          </a:xfrm>
          <a:custGeom>
            <a:avLst/>
            <a:gdLst/>
            <a:ahLst/>
            <a:rect l="0" t="0" r="r" b="b"/>
            <a:pathLst>
              <a:path w="80" h="2568">
                <a:moveTo>
                  <a:pt x="0" y="0"/>
                </a:moveTo>
                <a:lnTo>
                  <a:pt x="80" y="0"/>
                </a:lnTo>
                <a:lnTo>
                  <a:pt x="80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23600" y="946080"/>
            <a:ext cx="22345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From SICTIME to SIGOPS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73080" y="1556280"/>
            <a:ext cx="380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1965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973080" y="1804680"/>
            <a:ext cx="4840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Founded as </a:t>
            </a:r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SICTIME</a:t>
            </a:r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(Special Interest Committee on Time-Sharing) by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814320" y="2523960"/>
            <a:ext cx="5681880" cy="705240"/>
          </a:xfrm>
          <a:custGeom>
            <a:avLst/>
            <a:gdLst/>
            <a:ahLst/>
            <a:rect l="0" t="0" r="r" b="b"/>
            <a:pathLst>
              <a:path w="15783" h="1959">
                <a:moveTo>
                  <a:pt x="0" y="1959"/>
                </a:moveTo>
                <a:lnTo>
                  <a:pt x="0" y="0"/>
                </a:lnTo>
                <a:lnTo>
                  <a:pt x="15681" y="0"/>
                </a:lnTo>
                <a:cubicBezTo>
                  <a:pt x="15694" y="0"/>
                  <a:pt x="15707" y="3"/>
                  <a:pt x="15720" y="8"/>
                </a:cubicBezTo>
                <a:cubicBezTo>
                  <a:pt x="15732" y="13"/>
                  <a:pt x="15743" y="20"/>
                  <a:pt x="15753" y="30"/>
                </a:cubicBezTo>
                <a:cubicBezTo>
                  <a:pt x="15763" y="40"/>
                  <a:pt x="15770" y="51"/>
                  <a:pt x="15775" y="63"/>
                </a:cubicBezTo>
                <a:cubicBezTo>
                  <a:pt x="15780" y="76"/>
                  <a:pt x="15783" y="89"/>
                  <a:pt x="15783" y="102"/>
                </a:cubicBezTo>
                <a:lnTo>
                  <a:pt x="15783" y="1856"/>
                </a:lnTo>
                <a:cubicBezTo>
                  <a:pt x="15783" y="1870"/>
                  <a:pt x="15780" y="1883"/>
                  <a:pt x="15775" y="1896"/>
                </a:cubicBezTo>
                <a:cubicBezTo>
                  <a:pt x="15770" y="1908"/>
                  <a:pt x="15763" y="1919"/>
                  <a:pt x="15753" y="1929"/>
                </a:cubicBezTo>
                <a:cubicBezTo>
                  <a:pt x="15743" y="1938"/>
                  <a:pt x="15732" y="1946"/>
                  <a:pt x="15720" y="1951"/>
                </a:cubicBezTo>
                <a:cubicBezTo>
                  <a:pt x="15707" y="1956"/>
                  <a:pt x="15694" y="1959"/>
                  <a:pt x="15681" y="1959"/>
                </a:cubicBezTo>
                <a:lnTo>
                  <a:pt x="0" y="1959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99920" y="2523960"/>
            <a:ext cx="28800" cy="705240"/>
          </a:xfrm>
          <a:custGeom>
            <a:avLst/>
            <a:gdLst/>
            <a:ahLst/>
            <a:rect l="0" t="0" r="r" b="b"/>
            <a:pathLst>
              <a:path w="80" h="1959">
                <a:moveTo>
                  <a:pt x="0" y="0"/>
                </a:moveTo>
                <a:lnTo>
                  <a:pt x="80" y="0"/>
                </a:lnTo>
                <a:lnTo>
                  <a:pt x="80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973080" y="2023560"/>
            <a:ext cx="1148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Henriette Avram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973080" y="2651760"/>
            <a:ext cx="380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1967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814320" y="3400200"/>
            <a:ext cx="5681880" cy="705240"/>
          </a:xfrm>
          <a:custGeom>
            <a:avLst/>
            <a:gdLst/>
            <a:ahLst/>
            <a:rect l="0" t="0" r="r" b="b"/>
            <a:pathLst>
              <a:path w="15783" h="1959">
                <a:moveTo>
                  <a:pt x="0" y="1959"/>
                </a:moveTo>
                <a:lnTo>
                  <a:pt x="0" y="0"/>
                </a:lnTo>
                <a:lnTo>
                  <a:pt x="15681" y="0"/>
                </a:lnTo>
                <a:cubicBezTo>
                  <a:pt x="15694" y="0"/>
                  <a:pt x="15707" y="3"/>
                  <a:pt x="15720" y="8"/>
                </a:cubicBezTo>
                <a:cubicBezTo>
                  <a:pt x="15732" y="13"/>
                  <a:pt x="15743" y="21"/>
                  <a:pt x="15753" y="30"/>
                </a:cubicBezTo>
                <a:cubicBezTo>
                  <a:pt x="15763" y="40"/>
                  <a:pt x="15770" y="51"/>
                  <a:pt x="15775" y="63"/>
                </a:cubicBezTo>
                <a:cubicBezTo>
                  <a:pt x="15780" y="76"/>
                  <a:pt x="15783" y="89"/>
                  <a:pt x="15783" y="103"/>
                </a:cubicBezTo>
                <a:lnTo>
                  <a:pt x="15783" y="1857"/>
                </a:lnTo>
                <a:cubicBezTo>
                  <a:pt x="15783" y="1870"/>
                  <a:pt x="15780" y="1883"/>
                  <a:pt x="15775" y="1896"/>
                </a:cubicBezTo>
                <a:cubicBezTo>
                  <a:pt x="15770" y="1908"/>
                  <a:pt x="15763" y="1919"/>
                  <a:pt x="15753" y="1929"/>
                </a:cubicBezTo>
                <a:cubicBezTo>
                  <a:pt x="15743" y="1939"/>
                  <a:pt x="15732" y="1946"/>
                  <a:pt x="15720" y="1951"/>
                </a:cubicBezTo>
                <a:cubicBezTo>
                  <a:pt x="15707" y="1956"/>
                  <a:pt x="15694" y="1959"/>
                  <a:pt x="15681" y="1959"/>
                </a:cubicBezTo>
                <a:lnTo>
                  <a:pt x="0" y="1959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99920" y="3400200"/>
            <a:ext cx="28800" cy="705240"/>
          </a:xfrm>
          <a:custGeom>
            <a:avLst/>
            <a:gdLst/>
            <a:ahLst/>
            <a:rect l="0" t="0" r="r" b="b"/>
            <a:pathLst>
              <a:path w="80" h="1959">
                <a:moveTo>
                  <a:pt x="0" y="0"/>
                </a:moveTo>
                <a:lnTo>
                  <a:pt x="80" y="0"/>
                </a:lnTo>
                <a:lnTo>
                  <a:pt x="80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973080" y="2900160"/>
            <a:ext cx="5149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First SOSP</a:t>
            </a:r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held in Gatlinburg, TN — the birthplace of modern OS research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973080" y="3528000"/>
            <a:ext cx="380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1968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814320" y="4276440"/>
            <a:ext cx="5681880" cy="924480"/>
          </a:xfrm>
          <a:custGeom>
            <a:avLst/>
            <a:gdLst/>
            <a:ahLst/>
            <a:rect l="0" t="0" r="r" b="b"/>
            <a:pathLst>
              <a:path w="15783" h="2568">
                <a:moveTo>
                  <a:pt x="0" y="2568"/>
                </a:moveTo>
                <a:lnTo>
                  <a:pt x="0" y="0"/>
                </a:lnTo>
                <a:lnTo>
                  <a:pt x="15681" y="0"/>
                </a:lnTo>
                <a:cubicBezTo>
                  <a:pt x="15694" y="0"/>
                  <a:pt x="15707" y="3"/>
                  <a:pt x="15720" y="8"/>
                </a:cubicBezTo>
                <a:cubicBezTo>
                  <a:pt x="15732" y="13"/>
                  <a:pt x="15743" y="21"/>
                  <a:pt x="15753" y="30"/>
                </a:cubicBezTo>
                <a:cubicBezTo>
                  <a:pt x="15763" y="40"/>
                  <a:pt x="15770" y="51"/>
                  <a:pt x="15775" y="63"/>
                </a:cubicBezTo>
                <a:cubicBezTo>
                  <a:pt x="15780" y="76"/>
                  <a:pt x="15783" y="89"/>
                  <a:pt x="15783" y="103"/>
                </a:cubicBezTo>
                <a:lnTo>
                  <a:pt x="15783" y="2465"/>
                </a:lnTo>
                <a:cubicBezTo>
                  <a:pt x="15783" y="2479"/>
                  <a:pt x="15780" y="2492"/>
                  <a:pt x="15775" y="2505"/>
                </a:cubicBezTo>
                <a:cubicBezTo>
                  <a:pt x="15770" y="2517"/>
                  <a:pt x="15763" y="2528"/>
                  <a:pt x="15753" y="2538"/>
                </a:cubicBezTo>
                <a:cubicBezTo>
                  <a:pt x="15743" y="2547"/>
                  <a:pt x="15732" y="2555"/>
                  <a:pt x="15720" y="2560"/>
                </a:cubicBezTo>
                <a:cubicBezTo>
                  <a:pt x="15707" y="2565"/>
                  <a:pt x="15694" y="2568"/>
                  <a:pt x="15681" y="2568"/>
                </a:cubicBezTo>
                <a:lnTo>
                  <a:pt x="0" y="2568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799920" y="4276440"/>
            <a:ext cx="28800" cy="924480"/>
          </a:xfrm>
          <a:custGeom>
            <a:avLst/>
            <a:gdLst/>
            <a:ahLst/>
            <a:rect l="0" t="0" r="r" b="b"/>
            <a:pathLst>
              <a:path w="80" h="2568">
                <a:moveTo>
                  <a:pt x="0" y="0"/>
                </a:moveTo>
                <a:lnTo>
                  <a:pt x="80" y="0"/>
                </a:lnTo>
                <a:lnTo>
                  <a:pt x="80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973080" y="3776400"/>
            <a:ext cx="48416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Became </a:t>
            </a:r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SIGOPS</a:t>
            </a:r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ACM Special Interest Group on Operating Systems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973080" y="4404240"/>
            <a:ext cx="380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1969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73080" y="4652640"/>
            <a:ext cx="500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Grew from ~400 to nearly </a:t>
            </a:r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1,000 members</a:t>
            </a:r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; launched Operating Systems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791040" y="971280"/>
            <a:ext cx="207720" cy="184680"/>
          </a:xfrm>
          <a:custGeom>
            <a:avLst/>
            <a:gdLst/>
            <a:ahLst/>
            <a:rect l="0" t="0" r="r" b="b"/>
            <a:pathLst>
              <a:path w="577" h="513">
                <a:moveTo>
                  <a:pt x="401" y="0"/>
                </a:moveTo>
                <a:lnTo>
                  <a:pt x="176" y="0"/>
                </a:lnTo>
                <a:cubicBezTo>
                  <a:pt x="150" y="0"/>
                  <a:pt x="128" y="22"/>
                  <a:pt x="129" y="49"/>
                </a:cubicBezTo>
                <a:cubicBezTo>
                  <a:pt x="129" y="54"/>
                  <a:pt x="129" y="59"/>
                  <a:pt x="130" y="64"/>
                </a:cubicBezTo>
                <a:lnTo>
                  <a:pt x="24" y="64"/>
                </a:lnTo>
                <a:cubicBezTo>
                  <a:pt x="11" y="64"/>
                  <a:pt x="0" y="75"/>
                  <a:pt x="0" y="88"/>
                </a:cubicBezTo>
                <a:cubicBezTo>
                  <a:pt x="0" y="182"/>
                  <a:pt x="34" y="246"/>
                  <a:pt x="79" y="290"/>
                </a:cubicBezTo>
                <a:cubicBezTo>
                  <a:pt x="123" y="333"/>
                  <a:pt x="177" y="355"/>
                  <a:pt x="217" y="366"/>
                </a:cubicBezTo>
                <a:cubicBezTo>
                  <a:pt x="240" y="372"/>
                  <a:pt x="256" y="392"/>
                  <a:pt x="256" y="411"/>
                </a:cubicBezTo>
                <a:cubicBezTo>
                  <a:pt x="256" y="432"/>
                  <a:pt x="239" y="449"/>
                  <a:pt x="218" y="449"/>
                </a:cubicBezTo>
                <a:lnTo>
                  <a:pt x="192" y="449"/>
                </a:lnTo>
                <a:cubicBezTo>
                  <a:pt x="174" y="449"/>
                  <a:pt x="160" y="463"/>
                  <a:pt x="160" y="481"/>
                </a:cubicBezTo>
                <a:cubicBezTo>
                  <a:pt x="160" y="499"/>
                  <a:pt x="174" y="513"/>
                  <a:pt x="192" y="513"/>
                </a:cubicBezTo>
                <a:lnTo>
                  <a:pt x="384" y="513"/>
                </a:lnTo>
                <a:cubicBezTo>
                  <a:pt x="403" y="513"/>
                  <a:pt x="417" y="499"/>
                  <a:pt x="417" y="481"/>
                </a:cubicBezTo>
                <a:cubicBezTo>
                  <a:pt x="417" y="463"/>
                  <a:pt x="403" y="449"/>
                  <a:pt x="384" y="449"/>
                </a:cubicBezTo>
                <a:lnTo>
                  <a:pt x="358" y="449"/>
                </a:lnTo>
                <a:cubicBezTo>
                  <a:pt x="337" y="449"/>
                  <a:pt x="320" y="432"/>
                  <a:pt x="320" y="411"/>
                </a:cubicBezTo>
                <a:cubicBezTo>
                  <a:pt x="320" y="392"/>
                  <a:pt x="336" y="372"/>
                  <a:pt x="359" y="366"/>
                </a:cubicBezTo>
                <a:cubicBezTo>
                  <a:pt x="400" y="355"/>
                  <a:pt x="454" y="333"/>
                  <a:pt x="498" y="290"/>
                </a:cubicBezTo>
                <a:cubicBezTo>
                  <a:pt x="543" y="246"/>
                  <a:pt x="577" y="182"/>
                  <a:pt x="577" y="88"/>
                </a:cubicBezTo>
                <a:cubicBezTo>
                  <a:pt x="577" y="75"/>
                  <a:pt x="566" y="64"/>
                  <a:pt x="553" y="64"/>
                </a:cubicBezTo>
                <a:lnTo>
                  <a:pt x="447" y="64"/>
                </a:lnTo>
                <a:cubicBezTo>
                  <a:pt x="448" y="59"/>
                  <a:pt x="448" y="54"/>
                  <a:pt x="448" y="49"/>
                </a:cubicBezTo>
                <a:cubicBezTo>
                  <a:pt x="449" y="22"/>
                  <a:pt x="427" y="0"/>
                  <a:pt x="401" y="0"/>
                </a:cubicBezTo>
                <a:moveTo>
                  <a:pt x="49" y="112"/>
                </a:moveTo>
                <a:lnTo>
                  <a:pt x="133" y="112"/>
                </a:lnTo>
                <a:cubicBezTo>
                  <a:pt x="143" y="203"/>
                  <a:pt x="163" y="263"/>
                  <a:pt x="185" y="304"/>
                </a:cubicBezTo>
                <a:cubicBezTo>
                  <a:pt x="160" y="293"/>
                  <a:pt x="135" y="277"/>
                  <a:pt x="112" y="255"/>
                </a:cubicBezTo>
                <a:cubicBezTo>
                  <a:pt x="80" y="224"/>
                  <a:pt x="54" y="180"/>
                  <a:pt x="49" y="112"/>
                </a:cubicBezTo>
                <a:moveTo>
                  <a:pt x="465" y="255"/>
                </a:moveTo>
                <a:cubicBezTo>
                  <a:pt x="443" y="277"/>
                  <a:pt x="417" y="293"/>
                  <a:pt x="391" y="304"/>
                </a:cubicBezTo>
                <a:cubicBezTo>
                  <a:pt x="415" y="263"/>
                  <a:pt x="435" y="203"/>
                  <a:pt x="444" y="112"/>
                </a:cubicBezTo>
                <a:lnTo>
                  <a:pt x="528" y="112"/>
                </a:lnTo>
                <a:cubicBezTo>
                  <a:pt x="523" y="180"/>
                  <a:pt x="497" y="224"/>
                  <a:pt x="465" y="255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973080" y="4871520"/>
            <a:ext cx="488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Review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796080" y="1347480"/>
            <a:ext cx="4962600" cy="895680"/>
          </a:xfrm>
          <a:custGeom>
            <a:avLst/>
            <a:gdLst/>
            <a:ahLst/>
            <a:rect l="0" t="0" r="r" b="b"/>
            <a:pathLst>
              <a:path w="13785" h="2488">
                <a:moveTo>
                  <a:pt x="0" y="2296"/>
                </a:moveTo>
                <a:lnTo>
                  <a:pt x="0" y="192"/>
                </a:lnTo>
                <a:cubicBezTo>
                  <a:pt x="0" y="179"/>
                  <a:pt x="1" y="167"/>
                  <a:pt x="3" y="155"/>
                </a:cubicBezTo>
                <a:cubicBezTo>
                  <a:pt x="6" y="142"/>
                  <a:pt x="9" y="130"/>
                  <a:pt x="14" y="119"/>
                </a:cubicBezTo>
                <a:cubicBezTo>
                  <a:pt x="19" y="107"/>
                  <a:pt x="25" y="96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5" y="48"/>
                  <a:pt x="74" y="40"/>
                  <a:pt x="85" y="33"/>
                </a:cubicBezTo>
                <a:cubicBezTo>
                  <a:pt x="95" y="26"/>
                  <a:pt x="106" y="20"/>
                  <a:pt x="118" y="15"/>
                </a:cubicBezTo>
                <a:cubicBezTo>
                  <a:pt x="129" y="10"/>
                  <a:pt x="141" y="6"/>
                  <a:pt x="154" y="4"/>
                </a:cubicBezTo>
                <a:cubicBezTo>
                  <a:pt x="166" y="2"/>
                  <a:pt x="178" y="0"/>
                  <a:pt x="191" y="0"/>
                </a:cubicBezTo>
                <a:lnTo>
                  <a:pt x="13594" y="0"/>
                </a:lnTo>
                <a:cubicBezTo>
                  <a:pt x="13606" y="0"/>
                  <a:pt x="13619" y="2"/>
                  <a:pt x="13631" y="4"/>
                </a:cubicBezTo>
                <a:cubicBezTo>
                  <a:pt x="13643" y="6"/>
                  <a:pt x="13655" y="10"/>
                  <a:pt x="13667" y="15"/>
                </a:cubicBezTo>
                <a:cubicBezTo>
                  <a:pt x="13679" y="20"/>
                  <a:pt x="13690" y="26"/>
                  <a:pt x="13700" y="33"/>
                </a:cubicBezTo>
                <a:cubicBezTo>
                  <a:pt x="13711" y="40"/>
                  <a:pt x="13720" y="48"/>
                  <a:pt x="13729" y="56"/>
                </a:cubicBezTo>
                <a:cubicBezTo>
                  <a:pt x="13738" y="65"/>
                  <a:pt x="13746" y="75"/>
                  <a:pt x="13753" y="85"/>
                </a:cubicBezTo>
                <a:cubicBezTo>
                  <a:pt x="13760" y="96"/>
                  <a:pt x="13766" y="107"/>
                  <a:pt x="13771" y="119"/>
                </a:cubicBezTo>
                <a:cubicBezTo>
                  <a:pt x="13776" y="130"/>
                  <a:pt x="13779" y="142"/>
                  <a:pt x="13782" y="155"/>
                </a:cubicBezTo>
                <a:cubicBezTo>
                  <a:pt x="13784" y="167"/>
                  <a:pt x="13785" y="179"/>
                  <a:pt x="13785" y="192"/>
                </a:cubicBezTo>
                <a:lnTo>
                  <a:pt x="13785" y="2296"/>
                </a:lnTo>
                <a:cubicBezTo>
                  <a:pt x="13785" y="2308"/>
                  <a:pt x="13784" y="2321"/>
                  <a:pt x="13782" y="2333"/>
                </a:cubicBezTo>
                <a:cubicBezTo>
                  <a:pt x="13779" y="2346"/>
                  <a:pt x="13776" y="2358"/>
                  <a:pt x="13771" y="2369"/>
                </a:cubicBezTo>
                <a:cubicBezTo>
                  <a:pt x="13766" y="2381"/>
                  <a:pt x="13760" y="2392"/>
                  <a:pt x="13753" y="2402"/>
                </a:cubicBezTo>
                <a:cubicBezTo>
                  <a:pt x="13746" y="2413"/>
                  <a:pt x="13738" y="2422"/>
                  <a:pt x="13729" y="2431"/>
                </a:cubicBezTo>
                <a:cubicBezTo>
                  <a:pt x="13720" y="2440"/>
                  <a:pt x="13711" y="2448"/>
                  <a:pt x="13700" y="2455"/>
                </a:cubicBezTo>
                <a:cubicBezTo>
                  <a:pt x="13690" y="2462"/>
                  <a:pt x="13679" y="2468"/>
                  <a:pt x="13667" y="2473"/>
                </a:cubicBezTo>
                <a:cubicBezTo>
                  <a:pt x="13655" y="2479"/>
                  <a:pt x="13643" y="2482"/>
                  <a:pt x="13631" y="2485"/>
                </a:cubicBezTo>
                <a:cubicBezTo>
                  <a:pt x="13619" y="2487"/>
                  <a:pt x="13606" y="2488"/>
                  <a:pt x="13594" y="2488"/>
                </a:cubicBezTo>
                <a:lnTo>
                  <a:pt x="191" y="2488"/>
                </a:lnTo>
                <a:cubicBezTo>
                  <a:pt x="178" y="2488"/>
                  <a:pt x="166" y="2487"/>
                  <a:pt x="154" y="2485"/>
                </a:cubicBezTo>
                <a:cubicBezTo>
                  <a:pt x="141" y="2482"/>
                  <a:pt x="129" y="2479"/>
                  <a:pt x="118" y="2473"/>
                </a:cubicBezTo>
                <a:cubicBezTo>
                  <a:pt x="106" y="2468"/>
                  <a:pt x="95" y="2462"/>
                  <a:pt x="85" y="2455"/>
                </a:cubicBezTo>
                <a:cubicBezTo>
                  <a:pt x="74" y="2448"/>
                  <a:pt x="65" y="2440"/>
                  <a:pt x="56" y="2431"/>
                </a:cubicBezTo>
                <a:cubicBezTo>
                  <a:pt x="47" y="2422"/>
                  <a:pt x="39" y="2413"/>
                  <a:pt x="32" y="2402"/>
                </a:cubicBezTo>
                <a:cubicBezTo>
                  <a:pt x="25" y="2392"/>
                  <a:pt x="19" y="2381"/>
                  <a:pt x="14" y="2369"/>
                </a:cubicBezTo>
                <a:cubicBezTo>
                  <a:pt x="9" y="2358"/>
                  <a:pt x="6" y="2346"/>
                  <a:pt x="3" y="2333"/>
                </a:cubicBezTo>
                <a:cubicBezTo>
                  <a:pt x="1" y="2321"/>
                  <a:pt x="0" y="2308"/>
                  <a:pt x="0" y="22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796080" y="1347480"/>
            <a:ext cx="4962600" cy="895680"/>
          </a:xfrm>
          <a:custGeom>
            <a:avLst/>
            <a:gdLst/>
            <a:ahLst/>
            <a:rect l="0" t="0" r="r" b="b"/>
            <a:pathLst>
              <a:path fill="none" w="13785" h="2488">
                <a:moveTo>
                  <a:pt x="0" y="2296"/>
                </a:moveTo>
                <a:lnTo>
                  <a:pt x="0" y="192"/>
                </a:lnTo>
                <a:cubicBezTo>
                  <a:pt x="0" y="179"/>
                  <a:pt x="1" y="167"/>
                  <a:pt x="3" y="155"/>
                </a:cubicBezTo>
                <a:cubicBezTo>
                  <a:pt x="6" y="142"/>
                  <a:pt x="9" y="130"/>
                  <a:pt x="14" y="119"/>
                </a:cubicBezTo>
                <a:cubicBezTo>
                  <a:pt x="19" y="107"/>
                  <a:pt x="25" y="96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5" y="48"/>
                  <a:pt x="74" y="40"/>
                  <a:pt x="85" y="33"/>
                </a:cubicBezTo>
                <a:cubicBezTo>
                  <a:pt x="95" y="26"/>
                  <a:pt x="106" y="20"/>
                  <a:pt x="118" y="15"/>
                </a:cubicBezTo>
                <a:cubicBezTo>
                  <a:pt x="129" y="10"/>
                  <a:pt x="141" y="6"/>
                  <a:pt x="154" y="4"/>
                </a:cubicBezTo>
                <a:cubicBezTo>
                  <a:pt x="166" y="2"/>
                  <a:pt x="178" y="0"/>
                  <a:pt x="191" y="0"/>
                </a:cubicBezTo>
                <a:lnTo>
                  <a:pt x="13594" y="0"/>
                </a:lnTo>
                <a:cubicBezTo>
                  <a:pt x="13606" y="0"/>
                  <a:pt x="13619" y="2"/>
                  <a:pt x="13631" y="4"/>
                </a:cubicBezTo>
                <a:cubicBezTo>
                  <a:pt x="13643" y="6"/>
                  <a:pt x="13655" y="10"/>
                  <a:pt x="13667" y="15"/>
                </a:cubicBezTo>
                <a:cubicBezTo>
                  <a:pt x="13679" y="20"/>
                  <a:pt x="13690" y="26"/>
                  <a:pt x="13700" y="33"/>
                </a:cubicBezTo>
                <a:cubicBezTo>
                  <a:pt x="13711" y="40"/>
                  <a:pt x="13720" y="48"/>
                  <a:pt x="13729" y="56"/>
                </a:cubicBezTo>
                <a:cubicBezTo>
                  <a:pt x="13738" y="65"/>
                  <a:pt x="13746" y="75"/>
                  <a:pt x="13753" y="85"/>
                </a:cubicBezTo>
                <a:cubicBezTo>
                  <a:pt x="13760" y="96"/>
                  <a:pt x="13766" y="107"/>
                  <a:pt x="13771" y="119"/>
                </a:cubicBezTo>
                <a:cubicBezTo>
                  <a:pt x="13776" y="130"/>
                  <a:pt x="13779" y="142"/>
                  <a:pt x="13782" y="155"/>
                </a:cubicBezTo>
                <a:cubicBezTo>
                  <a:pt x="13784" y="167"/>
                  <a:pt x="13785" y="179"/>
                  <a:pt x="13785" y="192"/>
                </a:cubicBezTo>
                <a:lnTo>
                  <a:pt x="13785" y="2296"/>
                </a:lnTo>
                <a:cubicBezTo>
                  <a:pt x="13785" y="2308"/>
                  <a:pt x="13784" y="2321"/>
                  <a:pt x="13782" y="2333"/>
                </a:cubicBezTo>
                <a:cubicBezTo>
                  <a:pt x="13779" y="2346"/>
                  <a:pt x="13776" y="2358"/>
                  <a:pt x="13771" y="2369"/>
                </a:cubicBezTo>
                <a:cubicBezTo>
                  <a:pt x="13766" y="2381"/>
                  <a:pt x="13760" y="2392"/>
                  <a:pt x="13753" y="2402"/>
                </a:cubicBezTo>
                <a:cubicBezTo>
                  <a:pt x="13746" y="2413"/>
                  <a:pt x="13738" y="2422"/>
                  <a:pt x="13729" y="2431"/>
                </a:cubicBezTo>
                <a:cubicBezTo>
                  <a:pt x="13720" y="2440"/>
                  <a:pt x="13711" y="2448"/>
                  <a:pt x="13700" y="2455"/>
                </a:cubicBezTo>
                <a:cubicBezTo>
                  <a:pt x="13690" y="2462"/>
                  <a:pt x="13679" y="2468"/>
                  <a:pt x="13667" y="2473"/>
                </a:cubicBezTo>
                <a:cubicBezTo>
                  <a:pt x="13655" y="2479"/>
                  <a:pt x="13643" y="2482"/>
                  <a:pt x="13631" y="2485"/>
                </a:cubicBezTo>
                <a:cubicBezTo>
                  <a:pt x="13619" y="2487"/>
                  <a:pt x="13606" y="2488"/>
                  <a:pt x="13594" y="2488"/>
                </a:cubicBezTo>
                <a:lnTo>
                  <a:pt x="191" y="2488"/>
                </a:lnTo>
                <a:cubicBezTo>
                  <a:pt x="178" y="2488"/>
                  <a:pt x="166" y="2487"/>
                  <a:pt x="154" y="2485"/>
                </a:cubicBezTo>
                <a:cubicBezTo>
                  <a:pt x="141" y="2482"/>
                  <a:pt x="129" y="2479"/>
                  <a:pt x="118" y="2473"/>
                </a:cubicBezTo>
                <a:cubicBezTo>
                  <a:pt x="106" y="2468"/>
                  <a:pt x="95" y="2462"/>
                  <a:pt x="85" y="2455"/>
                </a:cubicBezTo>
                <a:cubicBezTo>
                  <a:pt x="74" y="2448"/>
                  <a:pt x="65" y="2440"/>
                  <a:pt x="56" y="2431"/>
                </a:cubicBezTo>
                <a:cubicBezTo>
                  <a:pt x="47" y="2422"/>
                  <a:pt x="39" y="2413"/>
                  <a:pt x="32" y="2402"/>
                </a:cubicBezTo>
                <a:cubicBezTo>
                  <a:pt x="25" y="2392"/>
                  <a:pt x="19" y="2381"/>
                  <a:pt x="14" y="2369"/>
                </a:cubicBezTo>
                <a:cubicBezTo>
                  <a:pt x="9" y="2358"/>
                  <a:pt x="6" y="2346"/>
                  <a:pt x="3" y="2333"/>
                </a:cubicBezTo>
                <a:cubicBezTo>
                  <a:pt x="1" y="2321"/>
                  <a:pt x="0" y="2308"/>
                  <a:pt x="0" y="2296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953040" y="1504800"/>
            <a:ext cx="590760" cy="581400"/>
          </a:xfrm>
          <a:custGeom>
            <a:avLst/>
            <a:gdLst/>
            <a:ahLst/>
            <a:rect l="0" t="0" r="r" b="b"/>
            <a:pathLst>
              <a:path w="1641" h="1615">
                <a:moveTo>
                  <a:pt x="0" y="1409"/>
                </a:moveTo>
                <a:lnTo>
                  <a:pt x="0" y="205"/>
                </a:lnTo>
                <a:cubicBezTo>
                  <a:pt x="0" y="191"/>
                  <a:pt x="1" y="178"/>
                  <a:pt x="4" y="165"/>
                </a:cubicBezTo>
                <a:cubicBezTo>
                  <a:pt x="7" y="152"/>
                  <a:pt x="11" y="139"/>
                  <a:pt x="16" y="126"/>
                </a:cubicBezTo>
                <a:cubicBezTo>
                  <a:pt x="21" y="114"/>
                  <a:pt x="27" y="102"/>
                  <a:pt x="35" y="91"/>
                </a:cubicBezTo>
                <a:cubicBezTo>
                  <a:pt x="42" y="80"/>
                  <a:pt x="51" y="69"/>
                  <a:pt x="60" y="60"/>
                </a:cubicBezTo>
                <a:cubicBezTo>
                  <a:pt x="70" y="50"/>
                  <a:pt x="80" y="42"/>
                  <a:pt x="91" y="34"/>
                </a:cubicBezTo>
                <a:cubicBezTo>
                  <a:pt x="102" y="27"/>
                  <a:pt x="114" y="21"/>
                  <a:pt x="126" y="16"/>
                </a:cubicBezTo>
                <a:cubicBezTo>
                  <a:pt x="139" y="10"/>
                  <a:pt x="152" y="6"/>
                  <a:pt x="165" y="4"/>
                </a:cubicBezTo>
                <a:cubicBezTo>
                  <a:pt x="178" y="1"/>
                  <a:pt x="191" y="0"/>
                  <a:pt x="205" y="0"/>
                </a:cubicBezTo>
                <a:lnTo>
                  <a:pt x="1437" y="0"/>
                </a:lnTo>
                <a:cubicBezTo>
                  <a:pt x="1450" y="0"/>
                  <a:pt x="1463" y="1"/>
                  <a:pt x="1477" y="4"/>
                </a:cubicBezTo>
                <a:cubicBezTo>
                  <a:pt x="1490" y="6"/>
                  <a:pt x="1503" y="10"/>
                  <a:pt x="1515" y="16"/>
                </a:cubicBezTo>
                <a:cubicBezTo>
                  <a:pt x="1528" y="21"/>
                  <a:pt x="1539" y="27"/>
                  <a:pt x="1550" y="34"/>
                </a:cubicBezTo>
                <a:cubicBezTo>
                  <a:pt x="1562" y="42"/>
                  <a:pt x="1572" y="50"/>
                  <a:pt x="1582" y="60"/>
                </a:cubicBezTo>
                <a:cubicBezTo>
                  <a:pt x="1591" y="69"/>
                  <a:pt x="1600" y="80"/>
                  <a:pt x="1607" y="91"/>
                </a:cubicBezTo>
                <a:cubicBezTo>
                  <a:pt x="1614" y="102"/>
                  <a:pt x="1621" y="114"/>
                  <a:pt x="1626" y="126"/>
                </a:cubicBezTo>
                <a:cubicBezTo>
                  <a:pt x="1631" y="139"/>
                  <a:pt x="1635" y="152"/>
                  <a:pt x="1638" y="165"/>
                </a:cubicBezTo>
                <a:cubicBezTo>
                  <a:pt x="1640" y="178"/>
                  <a:pt x="1641" y="191"/>
                  <a:pt x="1641" y="205"/>
                </a:cubicBezTo>
                <a:lnTo>
                  <a:pt x="1641" y="1409"/>
                </a:lnTo>
                <a:cubicBezTo>
                  <a:pt x="1641" y="1423"/>
                  <a:pt x="1640" y="1436"/>
                  <a:pt x="1638" y="1449"/>
                </a:cubicBezTo>
                <a:cubicBezTo>
                  <a:pt x="1635" y="1462"/>
                  <a:pt x="1631" y="1476"/>
                  <a:pt x="1626" y="1488"/>
                </a:cubicBezTo>
                <a:cubicBezTo>
                  <a:pt x="1621" y="1501"/>
                  <a:pt x="1614" y="1513"/>
                  <a:pt x="1607" y="1524"/>
                </a:cubicBezTo>
                <a:cubicBezTo>
                  <a:pt x="1600" y="1535"/>
                  <a:pt x="1591" y="1545"/>
                  <a:pt x="1582" y="1555"/>
                </a:cubicBezTo>
                <a:cubicBezTo>
                  <a:pt x="1572" y="1564"/>
                  <a:pt x="1562" y="1573"/>
                  <a:pt x="1550" y="1580"/>
                </a:cubicBezTo>
                <a:cubicBezTo>
                  <a:pt x="1539" y="1588"/>
                  <a:pt x="1528" y="1594"/>
                  <a:pt x="1515" y="1599"/>
                </a:cubicBezTo>
                <a:cubicBezTo>
                  <a:pt x="1503" y="1604"/>
                  <a:pt x="1490" y="1608"/>
                  <a:pt x="1477" y="1611"/>
                </a:cubicBezTo>
                <a:cubicBezTo>
                  <a:pt x="1463" y="1614"/>
                  <a:pt x="1450" y="1615"/>
                  <a:pt x="1437" y="1615"/>
                </a:cubicBezTo>
                <a:lnTo>
                  <a:pt x="205" y="1615"/>
                </a:lnTo>
                <a:cubicBezTo>
                  <a:pt x="191" y="1615"/>
                  <a:pt x="178" y="1614"/>
                  <a:pt x="165" y="1611"/>
                </a:cubicBezTo>
                <a:cubicBezTo>
                  <a:pt x="152" y="1608"/>
                  <a:pt x="139" y="1604"/>
                  <a:pt x="126" y="1599"/>
                </a:cubicBezTo>
                <a:cubicBezTo>
                  <a:pt x="114" y="1594"/>
                  <a:pt x="102" y="1588"/>
                  <a:pt x="91" y="1580"/>
                </a:cubicBezTo>
                <a:cubicBezTo>
                  <a:pt x="80" y="1573"/>
                  <a:pt x="70" y="1564"/>
                  <a:pt x="60" y="1555"/>
                </a:cubicBezTo>
                <a:cubicBezTo>
                  <a:pt x="51" y="1545"/>
                  <a:pt x="42" y="1535"/>
                  <a:pt x="35" y="1524"/>
                </a:cubicBezTo>
                <a:cubicBezTo>
                  <a:pt x="27" y="1513"/>
                  <a:pt x="21" y="1501"/>
                  <a:pt x="16" y="1488"/>
                </a:cubicBezTo>
                <a:cubicBezTo>
                  <a:pt x="11" y="1476"/>
                  <a:pt x="7" y="1462"/>
                  <a:pt x="4" y="1449"/>
                </a:cubicBezTo>
                <a:cubicBezTo>
                  <a:pt x="1" y="1436"/>
                  <a:pt x="0" y="1423"/>
                  <a:pt x="0" y="1409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113240" y="946080"/>
            <a:ext cx="3157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Birthplace of Premier Conferences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950880" y="1640160"/>
            <a:ext cx="55620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SOSP</a:t>
            </a:r>
            <a:endParaRPr b="0" lang="en-US" sz="17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689240" y="1595160"/>
            <a:ext cx="1132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6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1967 — Present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796080" y="2366640"/>
            <a:ext cx="4962600" cy="886320"/>
          </a:xfrm>
          <a:custGeom>
            <a:avLst/>
            <a:gdLst/>
            <a:ahLst/>
            <a:rect l="0" t="0" r="r" b="b"/>
            <a:pathLst>
              <a:path w="13785" h="2462">
                <a:moveTo>
                  <a:pt x="0" y="2270"/>
                </a:moveTo>
                <a:lnTo>
                  <a:pt x="0" y="192"/>
                </a:lnTo>
                <a:cubicBezTo>
                  <a:pt x="0" y="179"/>
                  <a:pt x="1" y="167"/>
                  <a:pt x="3" y="155"/>
                </a:cubicBezTo>
                <a:cubicBezTo>
                  <a:pt x="6" y="142"/>
                  <a:pt x="9" y="130"/>
                  <a:pt x="14" y="119"/>
                </a:cubicBezTo>
                <a:cubicBezTo>
                  <a:pt x="19" y="107"/>
                  <a:pt x="25" y="96"/>
                  <a:pt x="32" y="86"/>
                </a:cubicBezTo>
                <a:cubicBezTo>
                  <a:pt x="39" y="75"/>
                  <a:pt x="47" y="65"/>
                  <a:pt x="56" y="56"/>
                </a:cubicBezTo>
                <a:cubicBezTo>
                  <a:pt x="65" y="48"/>
                  <a:pt x="74" y="40"/>
                  <a:pt x="85" y="33"/>
                </a:cubicBezTo>
                <a:cubicBezTo>
                  <a:pt x="95" y="26"/>
                  <a:pt x="106" y="20"/>
                  <a:pt x="118" y="15"/>
                </a:cubicBezTo>
                <a:cubicBezTo>
                  <a:pt x="129" y="10"/>
                  <a:pt x="141" y="7"/>
                  <a:pt x="154" y="4"/>
                </a:cubicBezTo>
                <a:cubicBezTo>
                  <a:pt x="166" y="2"/>
                  <a:pt x="178" y="0"/>
                  <a:pt x="191" y="0"/>
                </a:cubicBezTo>
                <a:lnTo>
                  <a:pt x="13594" y="0"/>
                </a:lnTo>
                <a:cubicBezTo>
                  <a:pt x="13606" y="0"/>
                  <a:pt x="13619" y="2"/>
                  <a:pt x="13631" y="4"/>
                </a:cubicBezTo>
                <a:cubicBezTo>
                  <a:pt x="13643" y="7"/>
                  <a:pt x="13655" y="10"/>
                  <a:pt x="13667" y="15"/>
                </a:cubicBezTo>
                <a:cubicBezTo>
                  <a:pt x="13679" y="20"/>
                  <a:pt x="13690" y="26"/>
                  <a:pt x="13700" y="33"/>
                </a:cubicBezTo>
                <a:cubicBezTo>
                  <a:pt x="13711" y="40"/>
                  <a:pt x="13720" y="48"/>
                  <a:pt x="13729" y="56"/>
                </a:cubicBezTo>
                <a:cubicBezTo>
                  <a:pt x="13738" y="65"/>
                  <a:pt x="13746" y="75"/>
                  <a:pt x="13753" y="86"/>
                </a:cubicBezTo>
                <a:cubicBezTo>
                  <a:pt x="13760" y="96"/>
                  <a:pt x="13766" y="107"/>
                  <a:pt x="13771" y="119"/>
                </a:cubicBezTo>
                <a:cubicBezTo>
                  <a:pt x="13776" y="130"/>
                  <a:pt x="13779" y="142"/>
                  <a:pt x="13782" y="155"/>
                </a:cubicBezTo>
                <a:cubicBezTo>
                  <a:pt x="13784" y="167"/>
                  <a:pt x="13785" y="179"/>
                  <a:pt x="13785" y="192"/>
                </a:cubicBezTo>
                <a:lnTo>
                  <a:pt x="13785" y="2270"/>
                </a:lnTo>
                <a:cubicBezTo>
                  <a:pt x="13785" y="2283"/>
                  <a:pt x="13784" y="2296"/>
                  <a:pt x="13782" y="2308"/>
                </a:cubicBezTo>
                <a:cubicBezTo>
                  <a:pt x="13779" y="2320"/>
                  <a:pt x="13776" y="2332"/>
                  <a:pt x="13771" y="2344"/>
                </a:cubicBezTo>
                <a:cubicBezTo>
                  <a:pt x="13766" y="2355"/>
                  <a:pt x="13760" y="2366"/>
                  <a:pt x="13753" y="2377"/>
                </a:cubicBezTo>
                <a:cubicBezTo>
                  <a:pt x="13746" y="2387"/>
                  <a:pt x="13738" y="2397"/>
                  <a:pt x="13729" y="2406"/>
                </a:cubicBezTo>
                <a:cubicBezTo>
                  <a:pt x="13720" y="2415"/>
                  <a:pt x="13711" y="2423"/>
                  <a:pt x="13700" y="2430"/>
                </a:cubicBezTo>
                <a:cubicBezTo>
                  <a:pt x="13690" y="2437"/>
                  <a:pt x="13679" y="2443"/>
                  <a:pt x="13667" y="2447"/>
                </a:cubicBezTo>
                <a:cubicBezTo>
                  <a:pt x="13655" y="2452"/>
                  <a:pt x="13643" y="2456"/>
                  <a:pt x="13631" y="2458"/>
                </a:cubicBezTo>
                <a:cubicBezTo>
                  <a:pt x="13619" y="2461"/>
                  <a:pt x="13606" y="2462"/>
                  <a:pt x="13594" y="2462"/>
                </a:cubicBezTo>
                <a:lnTo>
                  <a:pt x="191" y="2462"/>
                </a:lnTo>
                <a:cubicBezTo>
                  <a:pt x="178" y="2462"/>
                  <a:pt x="166" y="2461"/>
                  <a:pt x="154" y="2458"/>
                </a:cubicBezTo>
                <a:cubicBezTo>
                  <a:pt x="141" y="2456"/>
                  <a:pt x="129" y="2452"/>
                  <a:pt x="118" y="2447"/>
                </a:cubicBezTo>
                <a:cubicBezTo>
                  <a:pt x="106" y="2443"/>
                  <a:pt x="95" y="2437"/>
                  <a:pt x="85" y="2430"/>
                </a:cubicBezTo>
                <a:cubicBezTo>
                  <a:pt x="74" y="2423"/>
                  <a:pt x="65" y="2415"/>
                  <a:pt x="56" y="2406"/>
                </a:cubicBezTo>
                <a:cubicBezTo>
                  <a:pt x="47" y="2397"/>
                  <a:pt x="39" y="2387"/>
                  <a:pt x="32" y="2377"/>
                </a:cubicBezTo>
                <a:cubicBezTo>
                  <a:pt x="25" y="2366"/>
                  <a:pt x="19" y="2355"/>
                  <a:pt x="14" y="2344"/>
                </a:cubicBezTo>
                <a:cubicBezTo>
                  <a:pt x="9" y="2332"/>
                  <a:pt x="6" y="2320"/>
                  <a:pt x="3" y="2308"/>
                </a:cubicBezTo>
                <a:cubicBezTo>
                  <a:pt x="1" y="2296"/>
                  <a:pt x="0" y="2283"/>
                  <a:pt x="0" y="22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796080" y="2366640"/>
            <a:ext cx="4962600" cy="886320"/>
          </a:xfrm>
          <a:custGeom>
            <a:avLst/>
            <a:gdLst/>
            <a:ahLst/>
            <a:rect l="0" t="0" r="r" b="b"/>
            <a:pathLst>
              <a:path fill="none" w="13785" h="2462">
                <a:moveTo>
                  <a:pt x="0" y="2270"/>
                </a:moveTo>
                <a:lnTo>
                  <a:pt x="0" y="192"/>
                </a:lnTo>
                <a:cubicBezTo>
                  <a:pt x="0" y="179"/>
                  <a:pt x="1" y="167"/>
                  <a:pt x="3" y="155"/>
                </a:cubicBezTo>
                <a:cubicBezTo>
                  <a:pt x="6" y="142"/>
                  <a:pt x="9" y="130"/>
                  <a:pt x="14" y="119"/>
                </a:cubicBezTo>
                <a:cubicBezTo>
                  <a:pt x="19" y="107"/>
                  <a:pt x="25" y="96"/>
                  <a:pt x="32" y="86"/>
                </a:cubicBezTo>
                <a:cubicBezTo>
                  <a:pt x="39" y="75"/>
                  <a:pt x="47" y="65"/>
                  <a:pt x="56" y="56"/>
                </a:cubicBezTo>
                <a:cubicBezTo>
                  <a:pt x="65" y="48"/>
                  <a:pt x="74" y="40"/>
                  <a:pt x="85" y="33"/>
                </a:cubicBezTo>
                <a:cubicBezTo>
                  <a:pt x="95" y="26"/>
                  <a:pt x="106" y="20"/>
                  <a:pt x="118" y="15"/>
                </a:cubicBezTo>
                <a:cubicBezTo>
                  <a:pt x="129" y="10"/>
                  <a:pt x="141" y="7"/>
                  <a:pt x="154" y="4"/>
                </a:cubicBezTo>
                <a:cubicBezTo>
                  <a:pt x="166" y="2"/>
                  <a:pt x="178" y="0"/>
                  <a:pt x="191" y="0"/>
                </a:cubicBezTo>
                <a:lnTo>
                  <a:pt x="13594" y="0"/>
                </a:lnTo>
                <a:cubicBezTo>
                  <a:pt x="13606" y="0"/>
                  <a:pt x="13619" y="2"/>
                  <a:pt x="13631" y="4"/>
                </a:cubicBezTo>
                <a:cubicBezTo>
                  <a:pt x="13643" y="7"/>
                  <a:pt x="13655" y="10"/>
                  <a:pt x="13667" y="15"/>
                </a:cubicBezTo>
                <a:cubicBezTo>
                  <a:pt x="13679" y="20"/>
                  <a:pt x="13690" y="26"/>
                  <a:pt x="13700" y="33"/>
                </a:cubicBezTo>
                <a:cubicBezTo>
                  <a:pt x="13711" y="40"/>
                  <a:pt x="13720" y="48"/>
                  <a:pt x="13729" y="56"/>
                </a:cubicBezTo>
                <a:cubicBezTo>
                  <a:pt x="13738" y="65"/>
                  <a:pt x="13746" y="75"/>
                  <a:pt x="13753" y="86"/>
                </a:cubicBezTo>
                <a:cubicBezTo>
                  <a:pt x="13760" y="96"/>
                  <a:pt x="13766" y="107"/>
                  <a:pt x="13771" y="119"/>
                </a:cubicBezTo>
                <a:cubicBezTo>
                  <a:pt x="13776" y="130"/>
                  <a:pt x="13779" y="142"/>
                  <a:pt x="13782" y="155"/>
                </a:cubicBezTo>
                <a:cubicBezTo>
                  <a:pt x="13784" y="167"/>
                  <a:pt x="13785" y="179"/>
                  <a:pt x="13785" y="192"/>
                </a:cubicBezTo>
                <a:lnTo>
                  <a:pt x="13785" y="2270"/>
                </a:lnTo>
                <a:cubicBezTo>
                  <a:pt x="13785" y="2283"/>
                  <a:pt x="13784" y="2296"/>
                  <a:pt x="13782" y="2308"/>
                </a:cubicBezTo>
                <a:cubicBezTo>
                  <a:pt x="13779" y="2320"/>
                  <a:pt x="13776" y="2332"/>
                  <a:pt x="13771" y="2344"/>
                </a:cubicBezTo>
                <a:cubicBezTo>
                  <a:pt x="13766" y="2355"/>
                  <a:pt x="13760" y="2366"/>
                  <a:pt x="13753" y="2377"/>
                </a:cubicBezTo>
                <a:cubicBezTo>
                  <a:pt x="13746" y="2387"/>
                  <a:pt x="13738" y="2397"/>
                  <a:pt x="13729" y="2406"/>
                </a:cubicBezTo>
                <a:cubicBezTo>
                  <a:pt x="13720" y="2415"/>
                  <a:pt x="13711" y="2423"/>
                  <a:pt x="13700" y="2430"/>
                </a:cubicBezTo>
                <a:cubicBezTo>
                  <a:pt x="13690" y="2437"/>
                  <a:pt x="13679" y="2443"/>
                  <a:pt x="13667" y="2447"/>
                </a:cubicBezTo>
                <a:cubicBezTo>
                  <a:pt x="13655" y="2452"/>
                  <a:pt x="13643" y="2456"/>
                  <a:pt x="13631" y="2458"/>
                </a:cubicBezTo>
                <a:cubicBezTo>
                  <a:pt x="13619" y="2461"/>
                  <a:pt x="13606" y="2462"/>
                  <a:pt x="13594" y="2462"/>
                </a:cubicBezTo>
                <a:lnTo>
                  <a:pt x="191" y="2462"/>
                </a:lnTo>
                <a:cubicBezTo>
                  <a:pt x="178" y="2462"/>
                  <a:pt x="166" y="2461"/>
                  <a:pt x="154" y="2458"/>
                </a:cubicBezTo>
                <a:cubicBezTo>
                  <a:pt x="141" y="2456"/>
                  <a:pt x="129" y="2452"/>
                  <a:pt x="118" y="2447"/>
                </a:cubicBezTo>
                <a:cubicBezTo>
                  <a:pt x="106" y="2443"/>
                  <a:pt x="95" y="2437"/>
                  <a:pt x="85" y="2430"/>
                </a:cubicBezTo>
                <a:cubicBezTo>
                  <a:pt x="74" y="2423"/>
                  <a:pt x="65" y="2415"/>
                  <a:pt x="56" y="2406"/>
                </a:cubicBezTo>
                <a:cubicBezTo>
                  <a:pt x="47" y="2397"/>
                  <a:pt x="39" y="2387"/>
                  <a:pt x="32" y="2377"/>
                </a:cubicBezTo>
                <a:cubicBezTo>
                  <a:pt x="25" y="2366"/>
                  <a:pt x="19" y="2355"/>
                  <a:pt x="14" y="2344"/>
                </a:cubicBezTo>
                <a:cubicBezTo>
                  <a:pt x="9" y="2332"/>
                  <a:pt x="6" y="2320"/>
                  <a:pt x="3" y="2308"/>
                </a:cubicBezTo>
                <a:cubicBezTo>
                  <a:pt x="1" y="2296"/>
                  <a:pt x="0" y="2283"/>
                  <a:pt x="0" y="227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953040" y="2514240"/>
            <a:ext cx="590760" cy="591120"/>
          </a:xfrm>
          <a:custGeom>
            <a:avLst/>
            <a:gdLst/>
            <a:ahLst/>
            <a:rect l="0" t="0" r="r" b="b"/>
            <a:pathLst>
              <a:path w="1641" h="1642">
                <a:moveTo>
                  <a:pt x="0" y="1437"/>
                </a:moveTo>
                <a:lnTo>
                  <a:pt x="0" y="205"/>
                </a:lnTo>
                <a:cubicBezTo>
                  <a:pt x="0" y="192"/>
                  <a:pt x="1" y="179"/>
                  <a:pt x="4" y="165"/>
                </a:cubicBezTo>
                <a:cubicBezTo>
                  <a:pt x="7" y="152"/>
                  <a:pt x="11" y="139"/>
                  <a:pt x="16" y="127"/>
                </a:cubicBezTo>
                <a:cubicBezTo>
                  <a:pt x="21" y="114"/>
                  <a:pt x="27" y="103"/>
                  <a:pt x="35" y="92"/>
                </a:cubicBezTo>
                <a:cubicBezTo>
                  <a:pt x="42" y="80"/>
                  <a:pt x="51" y="70"/>
                  <a:pt x="60" y="60"/>
                </a:cubicBezTo>
                <a:cubicBezTo>
                  <a:pt x="70" y="51"/>
                  <a:pt x="80" y="42"/>
                  <a:pt x="91" y="35"/>
                </a:cubicBezTo>
                <a:cubicBezTo>
                  <a:pt x="102" y="28"/>
                  <a:pt x="114" y="21"/>
                  <a:pt x="126" y="16"/>
                </a:cubicBezTo>
                <a:cubicBezTo>
                  <a:pt x="139" y="11"/>
                  <a:pt x="152" y="7"/>
                  <a:pt x="165" y="4"/>
                </a:cubicBezTo>
                <a:cubicBezTo>
                  <a:pt x="178" y="2"/>
                  <a:pt x="191" y="0"/>
                  <a:pt x="205" y="0"/>
                </a:cubicBezTo>
                <a:lnTo>
                  <a:pt x="1437" y="0"/>
                </a:lnTo>
                <a:cubicBezTo>
                  <a:pt x="1450" y="0"/>
                  <a:pt x="1463" y="2"/>
                  <a:pt x="1477" y="4"/>
                </a:cubicBezTo>
                <a:cubicBezTo>
                  <a:pt x="1490" y="7"/>
                  <a:pt x="1503" y="11"/>
                  <a:pt x="1515" y="16"/>
                </a:cubicBezTo>
                <a:cubicBezTo>
                  <a:pt x="1528" y="21"/>
                  <a:pt x="1539" y="28"/>
                  <a:pt x="1550" y="35"/>
                </a:cubicBezTo>
                <a:cubicBezTo>
                  <a:pt x="1562" y="42"/>
                  <a:pt x="1572" y="51"/>
                  <a:pt x="1582" y="60"/>
                </a:cubicBezTo>
                <a:cubicBezTo>
                  <a:pt x="1591" y="70"/>
                  <a:pt x="1600" y="80"/>
                  <a:pt x="1607" y="92"/>
                </a:cubicBezTo>
                <a:cubicBezTo>
                  <a:pt x="1614" y="103"/>
                  <a:pt x="1621" y="114"/>
                  <a:pt x="1626" y="127"/>
                </a:cubicBezTo>
                <a:cubicBezTo>
                  <a:pt x="1631" y="139"/>
                  <a:pt x="1635" y="152"/>
                  <a:pt x="1638" y="165"/>
                </a:cubicBezTo>
                <a:cubicBezTo>
                  <a:pt x="1640" y="179"/>
                  <a:pt x="1641" y="192"/>
                  <a:pt x="1641" y="205"/>
                </a:cubicBezTo>
                <a:lnTo>
                  <a:pt x="1641" y="1437"/>
                </a:lnTo>
                <a:cubicBezTo>
                  <a:pt x="1641" y="1451"/>
                  <a:pt x="1640" y="1464"/>
                  <a:pt x="1638" y="1477"/>
                </a:cubicBezTo>
                <a:cubicBezTo>
                  <a:pt x="1635" y="1490"/>
                  <a:pt x="1631" y="1503"/>
                  <a:pt x="1626" y="1515"/>
                </a:cubicBezTo>
                <a:cubicBezTo>
                  <a:pt x="1621" y="1528"/>
                  <a:pt x="1614" y="1540"/>
                  <a:pt x="1607" y="1551"/>
                </a:cubicBezTo>
                <a:cubicBezTo>
                  <a:pt x="1600" y="1562"/>
                  <a:pt x="1591" y="1572"/>
                  <a:pt x="1582" y="1582"/>
                </a:cubicBezTo>
                <a:cubicBezTo>
                  <a:pt x="1572" y="1591"/>
                  <a:pt x="1562" y="1600"/>
                  <a:pt x="1550" y="1607"/>
                </a:cubicBezTo>
                <a:cubicBezTo>
                  <a:pt x="1539" y="1615"/>
                  <a:pt x="1528" y="1621"/>
                  <a:pt x="1515" y="1626"/>
                </a:cubicBezTo>
                <a:cubicBezTo>
                  <a:pt x="1503" y="1631"/>
                  <a:pt x="1490" y="1635"/>
                  <a:pt x="1477" y="1638"/>
                </a:cubicBezTo>
                <a:cubicBezTo>
                  <a:pt x="1463" y="1641"/>
                  <a:pt x="1450" y="1642"/>
                  <a:pt x="1437" y="1642"/>
                </a:cubicBezTo>
                <a:lnTo>
                  <a:pt x="205" y="1642"/>
                </a:lnTo>
                <a:cubicBezTo>
                  <a:pt x="191" y="1642"/>
                  <a:pt x="178" y="1641"/>
                  <a:pt x="165" y="1638"/>
                </a:cubicBezTo>
                <a:cubicBezTo>
                  <a:pt x="152" y="1635"/>
                  <a:pt x="139" y="1631"/>
                  <a:pt x="126" y="1626"/>
                </a:cubicBezTo>
                <a:cubicBezTo>
                  <a:pt x="114" y="1621"/>
                  <a:pt x="102" y="1615"/>
                  <a:pt x="91" y="1607"/>
                </a:cubicBezTo>
                <a:cubicBezTo>
                  <a:pt x="80" y="1600"/>
                  <a:pt x="70" y="1591"/>
                  <a:pt x="60" y="1582"/>
                </a:cubicBezTo>
                <a:cubicBezTo>
                  <a:pt x="51" y="1572"/>
                  <a:pt x="42" y="1562"/>
                  <a:pt x="35" y="1551"/>
                </a:cubicBezTo>
                <a:cubicBezTo>
                  <a:pt x="27" y="1540"/>
                  <a:pt x="21" y="1528"/>
                  <a:pt x="16" y="1515"/>
                </a:cubicBezTo>
                <a:cubicBezTo>
                  <a:pt x="11" y="1503"/>
                  <a:pt x="7" y="1490"/>
                  <a:pt x="4" y="1477"/>
                </a:cubicBezTo>
                <a:cubicBezTo>
                  <a:pt x="1" y="1464"/>
                  <a:pt x="0" y="1451"/>
                  <a:pt x="0" y="1437"/>
                </a:cubicBezTo>
                <a:close/>
              </a:path>
            </a:pathLst>
          </a:custGeom>
          <a:solidFill>
            <a:srgbClr val="e0e7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689240" y="1805400"/>
            <a:ext cx="27183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1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Symposium on Operating Systems Principles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883560" y="2679480"/>
            <a:ext cx="695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4338ca"/>
                </a:solidFill>
                <a:effectLst/>
                <a:uFillTx/>
                <a:latin typeface="Microsoft YaHei"/>
                <a:ea typeface="MicrosoftYaHei"/>
              </a:rPr>
              <a:t>ASPLOS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689240" y="2614320"/>
            <a:ext cx="1132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6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1983 — Present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796080" y="3376440"/>
            <a:ext cx="4962600" cy="895680"/>
          </a:xfrm>
          <a:custGeom>
            <a:avLst/>
            <a:gdLst/>
            <a:ahLst/>
            <a:rect l="0" t="0" r="r" b="b"/>
            <a:pathLst>
              <a:path w="13785" h="2488">
                <a:moveTo>
                  <a:pt x="0" y="2297"/>
                </a:moveTo>
                <a:lnTo>
                  <a:pt x="0" y="192"/>
                </a:lnTo>
                <a:cubicBezTo>
                  <a:pt x="0" y="179"/>
                  <a:pt x="1" y="166"/>
                  <a:pt x="3" y="154"/>
                </a:cubicBezTo>
                <a:cubicBezTo>
                  <a:pt x="6" y="142"/>
                  <a:pt x="9" y="130"/>
                  <a:pt x="14" y="118"/>
                </a:cubicBezTo>
                <a:cubicBezTo>
                  <a:pt x="19" y="107"/>
                  <a:pt x="25" y="96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5" y="47"/>
                  <a:pt x="74" y="39"/>
                  <a:pt x="85" y="32"/>
                </a:cubicBezTo>
                <a:cubicBezTo>
                  <a:pt x="95" y="25"/>
                  <a:pt x="106" y="19"/>
                  <a:pt x="118" y="15"/>
                </a:cubicBezTo>
                <a:cubicBezTo>
                  <a:pt x="129" y="10"/>
                  <a:pt x="141" y="6"/>
                  <a:pt x="154" y="4"/>
                </a:cubicBezTo>
                <a:cubicBezTo>
                  <a:pt x="166" y="1"/>
                  <a:pt x="178" y="0"/>
                  <a:pt x="191" y="0"/>
                </a:cubicBezTo>
                <a:lnTo>
                  <a:pt x="13594" y="0"/>
                </a:lnTo>
                <a:cubicBezTo>
                  <a:pt x="13606" y="0"/>
                  <a:pt x="13619" y="1"/>
                  <a:pt x="13631" y="4"/>
                </a:cubicBezTo>
                <a:cubicBezTo>
                  <a:pt x="13643" y="6"/>
                  <a:pt x="13655" y="10"/>
                  <a:pt x="13667" y="15"/>
                </a:cubicBezTo>
                <a:cubicBezTo>
                  <a:pt x="13679" y="19"/>
                  <a:pt x="13690" y="25"/>
                  <a:pt x="13700" y="32"/>
                </a:cubicBezTo>
                <a:cubicBezTo>
                  <a:pt x="13711" y="39"/>
                  <a:pt x="13720" y="47"/>
                  <a:pt x="13729" y="56"/>
                </a:cubicBezTo>
                <a:cubicBezTo>
                  <a:pt x="13738" y="65"/>
                  <a:pt x="13746" y="75"/>
                  <a:pt x="13753" y="85"/>
                </a:cubicBezTo>
                <a:cubicBezTo>
                  <a:pt x="13760" y="96"/>
                  <a:pt x="13766" y="107"/>
                  <a:pt x="13771" y="118"/>
                </a:cubicBezTo>
                <a:cubicBezTo>
                  <a:pt x="13776" y="130"/>
                  <a:pt x="13779" y="142"/>
                  <a:pt x="13782" y="154"/>
                </a:cubicBezTo>
                <a:cubicBezTo>
                  <a:pt x="13784" y="166"/>
                  <a:pt x="13785" y="179"/>
                  <a:pt x="13785" y="192"/>
                </a:cubicBezTo>
                <a:lnTo>
                  <a:pt x="13785" y="2297"/>
                </a:lnTo>
                <a:cubicBezTo>
                  <a:pt x="13785" y="2309"/>
                  <a:pt x="13784" y="2322"/>
                  <a:pt x="13782" y="2334"/>
                </a:cubicBezTo>
                <a:cubicBezTo>
                  <a:pt x="13779" y="2346"/>
                  <a:pt x="13776" y="2358"/>
                  <a:pt x="13771" y="2370"/>
                </a:cubicBezTo>
                <a:cubicBezTo>
                  <a:pt x="13766" y="2381"/>
                  <a:pt x="13760" y="2392"/>
                  <a:pt x="13753" y="2403"/>
                </a:cubicBezTo>
                <a:cubicBezTo>
                  <a:pt x="13746" y="2413"/>
                  <a:pt x="13738" y="2423"/>
                  <a:pt x="13729" y="2432"/>
                </a:cubicBezTo>
                <a:cubicBezTo>
                  <a:pt x="13720" y="2441"/>
                  <a:pt x="13711" y="2449"/>
                  <a:pt x="13700" y="2456"/>
                </a:cubicBezTo>
                <a:cubicBezTo>
                  <a:pt x="13690" y="2463"/>
                  <a:pt x="13679" y="2469"/>
                  <a:pt x="13667" y="2473"/>
                </a:cubicBezTo>
                <a:cubicBezTo>
                  <a:pt x="13655" y="2478"/>
                  <a:pt x="13643" y="2482"/>
                  <a:pt x="13631" y="2484"/>
                </a:cubicBezTo>
                <a:cubicBezTo>
                  <a:pt x="13619" y="2487"/>
                  <a:pt x="13606" y="2488"/>
                  <a:pt x="13594" y="2488"/>
                </a:cubicBezTo>
                <a:lnTo>
                  <a:pt x="191" y="2488"/>
                </a:lnTo>
                <a:cubicBezTo>
                  <a:pt x="178" y="2488"/>
                  <a:pt x="166" y="2487"/>
                  <a:pt x="154" y="2484"/>
                </a:cubicBezTo>
                <a:cubicBezTo>
                  <a:pt x="141" y="2482"/>
                  <a:pt x="129" y="2478"/>
                  <a:pt x="118" y="2473"/>
                </a:cubicBezTo>
                <a:cubicBezTo>
                  <a:pt x="106" y="2469"/>
                  <a:pt x="95" y="2463"/>
                  <a:pt x="85" y="2456"/>
                </a:cubicBezTo>
                <a:cubicBezTo>
                  <a:pt x="74" y="2449"/>
                  <a:pt x="65" y="2441"/>
                  <a:pt x="56" y="2432"/>
                </a:cubicBezTo>
                <a:cubicBezTo>
                  <a:pt x="47" y="2423"/>
                  <a:pt x="39" y="2413"/>
                  <a:pt x="32" y="2403"/>
                </a:cubicBezTo>
                <a:cubicBezTo>
                  <a:pt x="25" y="2392"/>
                  <a:pt x="19" y="2381"/>
                  <a:pt x="14" y="2370"/>
                </a:cubicBezTo>
                <a:cubicBezTo>
                  <a:pt x="9" y="2358"/>
                  <a:pt x="6" y="2346"/>
                  <a:pt x="3" y="2334"/>
                </a:cubicBezTo>
                <a:cubicBezTo>
                  <a:pt x="1" y="2322"/>
                  <a:pt x="0" y="2309"/>
                  <a:pt x="0" y="22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796080" y="3376440"/>
            <a:ext cx="4962600" cy="895680"/>
          </a:xfrm>
          <a:custGeom>
            <a:avLst/>
            <a:gdLst/>
            <a:ahLst/>
            <a:rect l="0" t="0" r="r" b="b"/>
            <a:pathLst>
              <a:path fill="none" w="13785" h="2488">
                <a:moveTo>
                  <a:pt x="0" y="2297"/>
                </a:moveTo>
                <a:lnTo>
                  <a:pt x="0" y="192"/>
                </a:lnTo>
                <a:cubicBezTo>
                  <a:pt x="0" y="179"/>
                  <a:pt x="1" y="166"/>
                  <a:pt x="3" y="154"/>
                </a:cubicBezTo>
                <a:cubicBezTo>
                  <a:pt x="6" y="142"/>
                  <a:pt x="9" y="130"/>
                  <a:pt x="14" y="118"/>
                </a:cubicBezTo>
                <a:cubicBezTo>
                  <a:pt x="19" y="107"/>
                  <a:pt x="25" y="96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5" y="47"/>
                  <a:pt x="74" y="39"/>
                  <a:pt x="85" y="32"/>
                </a:cubicBezTo>
                <a:cubicBezTo>
                  <a:pt x="95" y="25"/>
                  <a:pt x="106" y="19"/>
                  <a:pt x="118" y="15"/>
                </a:cubicBezTo>
                <a:cubicBezTo>
                  <a:pt x="129" y="10"/>
                  <a:pt x="141" y="6"/>
                  <a:pt x="154" y="4"/>
                </a:cubicBezTo>
                <a:cubicBezTo>
                  <a:pt x="166" y="1"/>
                  <a:pt x="178" y="0"/>
                  <a:pt x="191" y="0"/>
                </a:cubicBezTo>
                <a:lnTo>
                  <a:pt x="13594" y="0"/>
                </a:lnTo>
                <a:cubicBezTo>
                  <a:pt x="13606" y="0"/>
                  <a:pt x="13619" y="1"/>
                  <a:pt x="13631" y="4"/>
                </a:cubicBezTo>
                <a:cubicBezTo>
                  <a:pt x="13643" y="6"/>
                  <a:pt x="13655" y="10"/>
                  <a:pt x="13667" y="15"/>
                </a:cubicBezTo>
                <a:cubicBezTo>
                  <a:pt x="13679" y="19"/>
                  <a:pt x="13690" y="25"/>
                  <a:pt x="13700" y="32"/>
                </a:cubicBezTo>
                <a:cubicBezTo>
                  <a:pt x="13711" y="39"/>
                  <a:pt x="13720" y="47"/>
                  <a:pt x="13729" y="56"/>
                </a:cubicBezTo>
                <a:cubicBezTo>
                  <a:pt x="13738" y="65"/>
                  <a:pt x="13746" y="75"/>
                  <a:pt x="13753" y="85"/>
                </a:cubicBezTo>
                <a:cubicBezTo>
                  <a:pt x="13760" y="96"/>
                  <a:pt x="13766" y="107"/>
                  <a:pt x="13771" y="118"/>
                </a:cubicBezTo>
                <a:cubicBezTo>
                  <a:pt x="13776" y="130"/>
                  <a:pt x="13779" y="142"/>
                  <a:pt x="13782" y="154"/>
                </a:cubicBezTo>
                <a:cubicBezTo>
                  <a:pt x="13784" y="166"/>
                  <a:pt x="13785" y="179"/>
                  <a:pt x="13785" y="192"/>
                </a:cubicBezTo>
                <a:lnTo>
                  <a:pt x="13785" y="2297"/>
                </a:lnTo>
                <a:cubicBezTo>
                  <a:pt x="13785" y="2309"/>
                  <a:pt x="13784" y="2322"/>
                  <a:pt x="13782" y="2334"/>
                </a:cubicBezTo>
                <a:cubicBezTo>
                  <a:pt x="13779" y="2346"/>
                  <a:pt x="13776" y="2358"/>
                  <a:pt x="13771" y="2370"/>
                </a:cubicBezTo>
                <a:cubicBezTo>
                  <a:pt x="13766" y="2381"/>
                  <a:pt x="13760" y="2392"/>
                  <a:pt x="13753" y="2403"/>
                </a:cubicBezTo>
                <a:cubicBezTo>
                  <a:pt x="13746" y="2413"/>
                  <a:pt x="13738" y="2423"/>
                  <a:pt x="13729" y="2432"/>
                </a:cubicBezTo>
                <a:cubicBezTo>
                  <a:pt x="13720" y="2441"/>
                  <a:pt x="13711" y="2449"/>
                  <a:pt x="13700" y="2456"/>
                </a:cubicBezTo>
                <a:cubicBezTo>
                  <a:pt x="13690" y="2463"/>
                  <a:pt x="13679" y="2469"/>
                  <a:pt x="13667" y="2473"/>
                </a:cubicBezTo>
                <a:cubicBezTo>
                  <a:pt x="13655" y="2478"/>
                  <a:pt x="13643" y="2482"/>
                  <a:pt x="13631" y="2484"/>
                </a:cubicBezTo>
                <a:cubicBezTo>
                  <a:pt x="13619" y="2487"/>
                  <a:pt x="13606" y="2488"/>
                  <a:pt x="13594" y="2488"/>
                </a:cubicBezTo>
                <a:lnTo>
                  <a:pt x="191" y="2488"/>
                </a:lnTo>
                <a:cubicBezTo>
                  <a:pt x="178" y="2488"/>
                  <a:pt x="166" y="2487"/>
                  <a:pt x="154" y="2484"/>
                </a:cubicBezTo>
                <a:cubicBezTo>
                  <a:pt x="141" y="2482"/>
                  <a:pt x="129" y="2478"/>
                  <a:pt x="118" y="2473"/>
                </a:cubicBezTo>
                <a:cubicBezTo>
                  <a:pt x="106" y="2469"/>
                  <a:pt x="95" y="2463"/>
                  <a:pt x="85" y="2456"/>
                </a:cubicBezTo>
                <a:cubicBezTo>
                  <a:pt x="74" y="2449"/>
                  <a:pt x="65" y="2441"/>
                  <a:pt x="56" y="2432"/>
                </a:cubicBezTo>
                <a:cubicBezTo>
                  <a:pt x="47" y="2423"/>
                  <a:pt x="39" y="2413"/>
                  <a:pt x="32" y="2403"/>
                </a:cubicBezTo>
                <a:cubicBezTo>
                  <a:pt x="25" y="2392"/>
                  <a:pt x="19" y="2381"/>
                  <a:pt x="14" y="2370"/>
                </a:cubicBezTo>
                <a:cubicBezTo>
                  <a:pt x="9" y="2358"/>
                  <a:pt x="6" y="2346"/>
                  <a:pt x="3" y="2334"/>
                </a:cubicBezTo>
                <a:cubicBezTo>
                  <a:pt x="1" y="2322"/>
                  <a:pt x="0" y="2309"/>
                  <a:pt x="0" y="229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953040" y="3524040"/>
            <a:ext cx="590760" cy="590760"/>
          </a:xfrm>
          <a:custGeom>
            <a:avLst/>
            <a:gdLst/>
            <a:ahLst/>
            <a:rect l="0" t="0" r="r" b="b"/>
            <a:pathLst>
              <a:path w="1641" h="1641">
                <a:moveTo>
                  <a:pt x="0" y="1437"/>
                </a:moveTo>
                <a:lnTo>
                  <a:pt x="0" y="205"/>
                </a:lnTo>
                <a:cubicBezTo>
                  <a:pt x="0" y="191"/>
                  <a:pt x="1" y="178"/>
                  <a:pt x="4" y="165"/>
                </a:cubicBezTo>
                <a:cubicBezTo>
                  <a:pt x="7" y="152"/>
                  <a:pt x="11" y="139"/>
                  <a:pt x="16" y="126"/>
                </a:cubicBezTo>
                <a:cubicBezTo>
                  <a:pt x="21" y="114"/>
                  <a:pt x="27" y="102"/>
                  <a:pt x="35" y="91"/>
                </a:cubicBezTo>
                <a:cubicBezTo>
                  <a:pt x="42" y="80"/>
                  <a:pt x="51" y="70"/>
                  <a:pt x="60" y="60"/>
                </a:cubicBezTo>
                <a:cubicBezTo>
                  <a:pt x="70" y="51"/>
                  <a:pt x="80" y="42"/>
                  <a:pt x="91" y="35"/>
                </a:cubicBezTo>
                <a:cubicBezTo>
                  <a:pt x="102" y="27"/>
                  <a:pt x="114" y="21"/>
                  <a:pt x="126" y="16"/>
                </a:cubicBezTo>
                <a:cubicBezTo>
                  <a:pt x="139" y="11"/>
                  <a:pt x="152" y="7"/>
                  <a:pt x="165" y="4"/>
                </a:cubicBezTo>
                <a:cubicBezTo>
                  <a:pt x="178" y="1"/>
                  <a:pt x="191" y="0"/>
                  <a:pt x="205" y="0"/>
                </a:cubicBezTo>
                <a:lnTo>
                  <a:pt x="1437" y="0"/>
                </a:lnTo>
                <a:cubicBezTo>
                  <a:pt x="1450" y="0"/>
                  <a:pt x="1463" y="1"/>
                  <a:pt x="1477" y="4"/>
                </a:cubicBezTo>
                <a:cubicBezTo>
                  <a:pt x="1490" y="7"/>
                  <a:pt x="1503" y="11"/>
                  <a:pt x="1515" y="16"/>
                </a:cubicBezTo>
                <a:cubicBezTo>
                  <a:pt x="1528" y="21"/>
                  <a:pt x="1539" y="27"/>
                  <a:pt x="1550" y="35"/>
                </a:cubicBezTo>
                <a:cubicBezTo>
                  <a:pt x="1562" y="42"/>
                  <a:pt x="1572" y="51"/>
                  <a:pt x="1582" y="60"/>
                </a:cubicBezTo>
                <a:cubicBezTo>
                  <a:pt x="1591" y="70"/>
                  <a:pt x="1600" y="80"/>
                  <a:pt x="1607" y="91"/>
                </a:cubicBezTo>
                <a:cubicBezTo>
                  <a:pt x="1614" y="102"/>
                  <a:pt x="1621" y="114"/>
                  <a:pt x="1626" y="126"/>
                </a:cubicBezTo>
                <a:cubicBezTo>
                  <a:pt x="1631" y="139"/>
                  <a:pt x="1635" y="152"/>
                  <a:pt x="1638" y="165"/>
                </a:cubicBezTo>
                <a:cubicBezTo>
                  <a:pt x="1640" y="178"/>
                  <a:pt x="1641" y="191"/>
                  <a:pt x="1641" y="205"/>
                </a:cubicBezTo>
                <a:lnTo>
                  <a:pt x="1641" y="1437"/>
                </a:lnTo>
                <a:cubicBezTo>
                  <a:pt x="1641" y="1450"/>
                  <a:pt x="1640" y="1463"/>
                  <a:pt x="1638" y="1477"/>
                </a:cubicBezTo>
                <a:cubicBezTo>
                  <a:pt x="1635" y="1490"/>
                  <a:pt x="1631" y="1503"/>
                  <a:pt x="1626" y="1515"/>
                </a:cubicBezTo>
                <a:cubicBezTo>
                  <a:pt x="1621" y="1528"/>
                  <a:pt x="1614" y="1539"/>
                  <a:pt x="1607" y="1550"/>
                </a:cubicBezTo>
                <a:cubicBezTo>
                  <a:pt x="1600" y="1562"/>
                  <a:pt x="1591" y="1572"/>
                  <a:pt x="1582" y="1582"/>
                </a:cubicBezTo>
                <a:cubicBezTo>
                  <a:pt x="1572" y="1591"/>
                  <a:pt x="1562" y="1600"/>
                  <a:pt x="1550" y="1607"/>
                </a:cubicBezTo>
                <a:cubicBezTo>
                  <a:pt x="1539" y="1614"/>
                  <a:pt x="1528" y="1621"/>
                  <a:pt x="1515" y="1626"/>
                </a:cubicBezTo>
                <a:cubicBezTo>
                  <a:pt x="1503" y="1631"/>
                  <a:pt x="1490" y="1635"/>
                  <a:pt x="1477" y="1638"/>
                </a:cubicBezTo>
                <a:cubicBezTo>
                  <a:pt x="1463" y="1640"/>
                  <a:pt x="1450" y="1641"/>
                  <a:pt x="1437" y="1641"/>
                </a:cubicBezTo>
                <a:lnTo>
                  <a:pt x="205" y="1641"/>
                </a:lnTo>
                <a:cubicBezTo>
                  <a:pt x="191" y="1641"/>
                  <a:pt x="178" y="1640"/>
                  <a:pt x="165" y="1638"/>
                </a:cubicBezTo>
                <a:cubicBezTo>
                  <a:pt x="152" y="1635"/>
                  <a:pt x="139" y="1631"/>
                  <a:pt x="126" y="1626"/>
                </a:cubicBezTo>
                <a:cubicBezTo>
                  <a:pt x="114" y="1621"/>
                  <a:pt x="102" y="1614"/>
                  <a:pt x="91" y="1607"/>
                </a:cubicBezTo>
                <a:cubicBezTo>
                  <a:pt x="80" y="1600"/>
                  <a:pt x="70" y="1591"/>
                  <a:pt x="60" y="1582"/>
                </a:cubicBezTo>
                <a:cubicBezTo>
                  <a:pt x="51" y="1572"/>
                  <a:pt x="42" y="1562"/>
                  <a:pt x="35" y="1550"/>
                </a:cubicBezTo>
                <a:cubicBezTo>
                  <a:pt x="27" y="1539"/>
                  <a:pt x="21" y="1528"/>
                  <a:pt x="16" y="1515"/>
                </a:cubicBezTo>
                <a:cubicBezTo>
                  <a:pt x="11" y="1503"/>
                  <a:pt x="7" y="1490"/>
                  <a:pt x="4" y="1477"/>
                </a:cubicBezTo>
                <a:cubicBezTo>
                  <a:pt x="1" y="1463"/>
                  <a:pt x="0" y="1450"/>
                  <a:pt x="0" y="1437"/>
                </a:cubicBezTo>
                <a:close/>
              </a:path>
            </a:pathLst>
          </a:custGeom>
          <a:solidFill>
            <a:srgbClr val="e0f2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689240" y="2824560"/>
            <a:ext cx="20282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1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Architectural Support for PL &amp; OS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012440" y="3698640"/>
            <a:ext cx="455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0369a1"/>
                </a:solidFill>
                <a:effectLst/>
                <a:uFillTx/>
                <a:latin typeface="Microsoft YaHei"/>
                <a:ea typeface="MicrosoftYaHei"/>
              </a:rPr>
              <a:t>OSDI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7689240" y="3623760"/>
            <a:ext cx="1132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6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1994 — Present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796080" y="4386240"/>
            <a:ext cx="4962600" cy="895680"/>
          </a:xfrm>
          <a:custGeom>
            <a:avLst/>
            <a:gdLst/>
            <a:ahLst/>
            <a:rect l="0" t="0" r="r" b="b"/>
            <a:pathLst>
              <a:path w="13785" h="2488">
                <a:moveTo>
                  <a:pt x="0" y="2296"/>
                </a:moveTo>
                <a:lnTo>
                  <a:pt x="0" y="191"/>
                </a:lnTo>
                <a:cubicBezTo>
                  <a:pt x="0" y="179"/>
                  <a:pt x="1" y="166"/>
                  <a:pt x="3" y="154"/>
                </a:cubicBezTo>
                <a:cubicBezTo>
                  <a:pt x="6" y="141"/>
                  <a:pt x="9" y="129"/>
                  <a:pt x="14" y="118"/>
                </a:cubicBezTo>
                <a:cubicBezTo>
                  <a:pt x="19" y="106"/>
                  <a:pt x="25" y="95"/>
                  <a:pt x="32" y="85"/>
                </a:cubicBezTo>
                <a:cubicBezTo>
                  <a:pt x="39" y="74"/>
                  <a:pt x="47" y="65"/>
                  <a:pt x="56" y="56"/>
                </a:cubicBezTo>
                <a:cubicBezTo>
                  <a:pt x="65" y="47"/>
                  <a:pt x="74" y="39"/>
                  <a:pt x="85" y="32"/>
                </a:cubicBezTo>
                <a:cubicBezTo>
                  <a:pt x="95" y="25"/>
                  <a:pt x="106" y="19"/>
                  <a:pt x="118" y="14"/>
                </a:cubicBezTo>
                <a:cubicBezTo>
                  <a:pt x="129" y="9"/>
                  <a:pt x="141" y="6"/>
                  <a:pt x="154" y="3"/>
                </a:cubicBezTo>
                <a:cubicBezTo>
                  <a:pt x="166" y="1"/>
                  <a:pt x="178" y="0"/>
                  <a:pt x="191" y="0"/>
                </a:cubicBezTo>
                <a:lnTo>
                  <a:pt x="13594" y="0"/>
                </a:lnTo>
                <a:cubicBezTo>
                  <a:pt x="13606" y="0"/>
                  <a:pt x="13619" y="1"/>
                  <a:pt x="13631" y="3"/>
                </a:cubicBezTo>
                <a:cubicBezTo>
                  <a:pt x="13643" y="6"/>
                  <a:pt x="13655" y="9"/>
                  <a:pt x="13667" y="14"/>
                </a:cubicBezTo>
                <a:cubicBezTo>
                  <a:pt x="13679" y="19"/>
                  <a:pt x="13690" y="25"/>
                  <a:pt x="13700" y="32"/>
                </a:cubicBezTo>
                <a:cubicBezTo>
                  <a:pt x="13711" y="39"/>
                  <a:pt x="13720" y="47"/>
                  <a:pt x="13729" y="56"/>
                </a:cubicBezTo>
                <a:cubicBezTo>
                  <a:pt x="13738" y="65"/>
                  <a:pt x="13746" y="74"/>
                  <a:pt x="13753" y="85"/>
                </a:cubicBezTo>
                <a:cubicBezTo>
                  <a:pt x="13760" y="95"/>
                  <a:pt x="13766" y="106"/>
                  <a:pt x="13771" y="118"/>
                </a:cubicBezTo>
                <a:cubicBezTo>
                  <a:pt x="13776" y="129"/>
                  <a:pt x="13779" y="141"/>
                  <a:pt x="13782" y="154"/>
                </a:cubicBezTo>
                <a:cubicBezTo>
                  <a:pt x="13784" y="166"/>
                  <a:pt x="13785" y="179"/>
                  <a:pt x="13785" y="191"/>
                </a:cubicBezTo>
                <a:lnTo>
                  <a:pt x="13785" y="2296"/>
                </a:lnTo>
                <a:cubicBezTo>
                  <a:pt x="13785" y="2309"/>
                  <a:pt x="13784" y="2321"/>
                  <a:pt x="13782" y="2333"/>
                </a:cubicBezTo>
                <a:cubicBezTo>
                  <a:pt x="13779" y="2346"/>
                  <a:pt x="13776" y="2358"/>
                  <a:pt x="13771" y="2369"/>
                </a:cubicBezTo>
                <a:cubicBezTo>
                  <a:pt x="13766" y="2381"/>
                  <a:pt x="13760" y="2392"/>
                  <a:pt x="13753" y="2403"/>
                </a:cubicBezTo>
                <a:cubicBezTo>
                  <a:pt x="13746" y="2413"/>
                  <a:pt x="13738" y="2423"/>
                  <a:pt x="13729" y="2432"/>
                </a:cubicBezTo>
                <a:cubicBezTo>
                  <a:pt x="13720" y="2440"/>
                  <a:pt x="13711" y="2448"/>
                  <a:pt x="13700" y="2455"/>
                </a:cubicBezTo>
                <a:cubicBezTo>
                  <a:pt x="13690" y="2462"/>
                  <a:pt x="13679" y="2468"/>
                  <a:pt x="13667" y="2473"/>
                </a:cubicBezTo>
                <a:cubicBezTo>
                  <a:pt x="13655" y="2478"/>
                  <a:pt x="13643" y="2482"/>
                  <a:pt x="13631" y="2484"/>
                </a:cubicBezTo>
                <a:cubicBezTo>
                  <a:pt x="13619" y="2486"/>
                  <a:pt x="13606" y="2488"/>
                  <a:pt x="13594" y="2488"/>
                </a:cubicBezTo>
                <a:lnTo>
                  <a:pt x="191" y="2488"/>
                </a:lnTo>
                <a:cubicBezTo>
                  <a:pt x="178" y="2488"/>
                  <a:pt x="166" y="2486"/>
                  <a:pt x="154" y="2484"/>
                </a:cubicBezTo>
                <a:cubicBezTo>
                  <a:pt x="141" y="2482"/>
                  <a:pt x="129" y="2478"/>
                  <a:pt x="118" y="2473"/>
                </a:cubicBezTo>
                <a:cubicBezTo>
                  <a:pt x="106" y="2468"/>
                  <a:pt x="95" y="2462"/>
                  <a:pt x="85" y="2455"/>
                </a:cubicBezTo>
                <a:cubicBezTo>
                  <a:pt x="74" y="2448"/>
                  <a:pt x="65" y="2440"/>
                  <a:pt x="56" y="2432"/>
                </a:cubicBezTo>
                <a:cubicBezTo>
                  <a:pt x="47" y="2423"/>
                  <a:pt x="39" y="2413"/>
                  <a:pt x="32" y="2403"/>
                </a:cubicBezTo>
                <a:cubicBezTo>
                  <a:pt x="25" y="2392"/>
                  <a:pt x="19" y="2381"/>
                  <a:pt x="14" y="2369"/>
                </a:cubicBezTo>
                <a:cubicBezTo>
                  <a:pt x="9" y="2358"/>
                  <a:pt x="6" y="2346"/>
                  <a:pt x="3" y="2333"/>
                </a:cubicBezTo>
                <a:cubicBezTo>
                  <a:pt x="1" y="2321"/>
                  <a:pt x="0" y="2309"/>
                  <a:pt x="0" y="22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796080" y="4386240"/>
            <a:ext cx="4962600" cy="895680"/>
          </a:xfrm>
          <a:custGeom>
            <a:avLst/>
            <a:gdLst/>
            <a:ahLst/>
            <a:rect l="0" t="0" r="r" b="b"/>
            <a:pathLst>
              <a:path fill="none" w="13785" h="2488">
                <a:moveTo>
                  <a:pt x="0" y="2296"/>
                </a:moveTo>
                <a:lnTo>
                  <a:pt x="0" y="191"/>
                </a:lnTo>
                <a:cubicBezTo>
                  <a:pt x="0" y="179"/>
                  <a:pt x="1" y="166"/>
                  <a:pt x="3" y="154"/>
                </a:cubicBezTo>
                <a:cubicBezTo>
                  <a:pt x="6" y="141"/>
                  <a:pt x="9" y="129"/>
                  <a:pt x="14" y="118"/>
                </a:cubicBezTo>
                <a:cubicBezTo>
                  <a:pt x="19" y="106"/>
                  <a:pt x="25" y="95"/>
                  <a:pt x="32" y="85"/>
                </a:cubicBezTo>
                <a:cubicBezTo>
                  <a:pt x="39" y="74"/>
                  <a:pt x="47" y="65"/>
                  <a:pt x="56" y="56"/>
                </a:cubicBezTo>
                <a:cubicBezTo>
                  <a:pt x="65" y="47"/>
                  <a:pt x="74" y="39"/>
                  <a:pt x="85" y="32"/>
                </a:cubicBezTo>
                <a:cubicBezTo>
                  <a:pt x="95" y="25"/>
                  <a:pt x="106" y="19"/>
                  <a:pt x="118" y="14"/>
                </a:cubicBezTo>
                <a:cubicBezTo>
                  <a:pt x="129" y="9"/>
                  <a:pt x="141" y="6"/>
                  <a:pt x="154" y="3"/>
                </a:cubicBezTo>
                <a:cubicBezTo>
                  <a:pt x="166" y="1"/>
                  <a:pt x="178" y="0"/>
                  <a:pt x="191" y="0"/>
                </a:cubicBezTo>
                <a:lnTo>
                  <a:pt x="13594" y="0"/>
                </a:lnTo>
                <a:cubicBezTo>
                  <a:pt x="13606" y="0"/>
                  <a:pt x="13619" y="1"/>
                  <a:pt x="13631" y="3"/>
                </a:cubicBezTo>
                <a:cubicBezTo>
                  <a:pt x="13643" y="6"/>
                  <a:pt x="13655" y="9"/>
                  <a:pt x="13667" y="14"/>
                </a:cubicBezTo>
                <a:cubicBezTo>
                  <a:pt x="13679" y="19"/>
                  <a:pt x="13690" y="25"/>
                  <a:pt x="13700" y="32"/>
                </a:cubicBezTo>
                <a:cubicBezTo>
                  <a:pt x="13711" y="39"/>
                  <a:pt x="13720" y="47"/>
                  <a:pt x="13729" y="56"/>
                </a:cubicBezTo>
                <a:cubicBezTo>
                  <a:pt x="13738" y="65"/>
                  <a:pt x="13746" y="74"/>
                  <a:pt x="13753" y="85"/>
                </a:cubicBezTo>
                <a:cubicBezTo>
                  <a:pt x="13760" y="95"/>
                  <a:pt x="13766" y="106"/>
                  <a:pt x="13771" y="118"/>
                </a:cubicBezTo>
                <a:cubicBezTo>
                  <a:pt x="13776" y="129"/>
                  <a:pt x="13779" y="141"/>
                  <a:pt x="13782" y="154"/>
                </a:cubicBezTo>
                <a:cubicBezTo>
                  <a:pt x="13784" y="166"/>
                  <a:pt x="13785" y="179"/>
                  <a:pt x="13785" y="191"/>
                </a:cubicBezTo>
                <a:lnTo>
                  <a:pt x="13785" y="2296"/>
                </a:lnTo>
                <a:cubicBezTo>
                  <a:pt x="13785" y="2309"/>
                  <a:pt x="13784" y="2321"/>
                  <a:pt x="13782" y="2333"/>
                </a:cubicBezTo>
                <a:cubicBezTo>
                  <a:pt x="13779" y="2346"/>
                  <a:pt x="13776" y="2358"/>
                  <a:pt x="13771" y="2369"/>
                </a:cubicBezTo>
                <a:cubicBezTo>
                  <a:pt x="13766" y="2381"/>
                  <a:pt x="13760" y="2392"/>
                  <a:pt x="13753" y="2403"/>
                </a:cubicBezTo>
                <a:cubicBezTo>
                  <a:pt x="13746" y="2413"/>
                  <a:pt x="13738" y="2423"/>
                  <a:pt x="13729" y="2432"/>
                </a:cubicBezTo>
                <a:cubicBezTo>
                  <a:pt x="13720" y="2440"/>
                  <a:pt x="13711" y="2448"/>
                  <a:pt x="13700" y="2455"/>
                </a:cubicBezTo>
                <a:cubicBezTo>
                  <a:pt x="13690" y="2462"/>
                  <a:pt x="13679" y="2468"/>
                  <a:pt x="13667" y="2473"/>
                </a:cubicBezTo>
                <a:cubicBezTo>
                  <a:pt x="13655" y="2478"/>
                  <a:pt x="13643" y="2482"/>
                  <a:pt x="13631" y="2484"/>
                </a:cubicBezTo>
                <a:cubicBezTo>
                  <a:pt x="13619" y="2486"/>
                  <a:pt x="13606" y="2488"/>
                  <a:pt x="13594" y="2488"/>
                </a:cubicBezTo>
                <a:lnTo>
                  <a:pt x="191" y="2488"/>
                </a:lnTo>
                <a:cubicBezTo>
                  <a:pt x="178" y="2488"/>
                  <a:pt x="166" y="2486"/>
                  <a:pt x="154" y="2484"/>
                </a:cubicBezTo>
                <a:cubicBezTo>
                  <a:pt x="141" y="2482"/>
                  <a:pt x="129" y="2478"/>
                  <a:pt x="118" y="2473"/>
                </a:cubicBezTo>
                <a:cubicBezTo>
                  <a:pt x="106" y="2468"/>
                  <a:pt x="95" y="2462"/>
                  <a:pt x="85" y="2455"/>
                </a:cubicBezTo>
                <a:cubicBezTo>
                  <a:pt x="74" y="2448"/>
                  <a:pt x="65" y="2440"/>
                  <a:pt x="56" y="2432"/>
                </a:cubicBezTo>
                <a:cubicBezTo>
                  <a:pt x="47" y="2423"/>
                  <a:pt x="39" y="2413"/>
                  <a:pt x="32" y="2403"/>
                </a:cubicBezTo>
                <a:cubicBezTo>
                  <a:pt x="25" y="2392"/>
                  <a:pt x="19" y="2381"/>
                  <a:pt x="14" y="2369"/>
                </a:cubicBezTo>
                <a:cubicBezTo>
                  <a:pt x="9" y="2358"/>
                  <a:pt x="6" y="2346"/>
                  <a:pt x="3" y="2333"/>
                </a:cubicBezTo>
                <a:cubicBezTo>
                  <a:pt x="1" y="2321"/>
                  <a:pt x="0" y="2309"/>
                  <a:pt x="0" y="2296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6953040" y="4543200"/>
            <a:ext cx="590760" cy="591120"/>
          </a:xfrm>
          <a:custGeom>
            <a:avLst/>
            <a:gdLst/>
            <a:ahLst/>
            <a:rect l="0" t="0" r="r" b="b"/>
            <a:pathLst>
              <a:path w="1641" h="1642">
                <a:moveTo>
                  <a:pt x="0" y="1437"/>
                </a:moveTo>
                <a:lnTo>
                  <a:pt x="0" y="205"/>
                </a:lnTo>
                <a:cubicBezTo>
                  <a:pt x="0" y="191"/>
                  <a:pt x="1" y="178"/>
                  <a:pt x="4" y="165"/>
                </a:cubicBezTo>
                <a:cubicBezTo>
                  <a:pt x="7" y="152"/>
                  <a:pt x="11" y="139"/>
                  <a:pt x="16" y="127"/>
                </a:cubicBezTo>
                <a:cubicBezTo>
                  <a:pt x="21" y="114"/>
                  <a:pt x="27" y="102"/>
                  <a:pt x="35" y="91"/>
                </a:cubicBezTo>
                <a:cubicBezTo>
                  <a:pt x="42" y="80"/>
                  <a:pt x="51" y="70"/>
                  <a:pt x="60" y="60"/>
                </a:cubicBezTo>
                <a:cubicBezTo>
                  <a:pt x="70" y="51"/>
                  <a:pt x="80" y="42"/>
                  <a:pt x="91" y="35"/>
                </a:cubicBezTo>
                <a:cubicBezTo>
                  <a:pt x="102" y="27"/>
                  <a:pt x="114" y="21"/>
                  <a:pt x="126" y="16"/>
                </a:cubicBezTo>
                <a:cubicBezTo>
                  <a:pt x="139" y="11"/>
                  <a:pt x="152" y="7"/>
                  <a:pt x="165" y="4"/>
                </a:cubicBezTo>
                <a:cubicBezTo>
                  <a:pt x="178" y="1"/>
                  <a:pt x="191" y="0"/>
                  <a:pt x="205" y="0"/>
                </a:cubicBezTo>
                <a:lnTo>
                  <a:pt x="1437" y="0"/>
                </a:lnTo>
                <a:cubicBezTo>
                  <a:pt x="1450" y="0"/>
                  <a:pt x="1463" y="1"/>
                  <a:pt x="1477" y="4"/>
                </a:cubicBezTo>
                <a:cubicBezTo>
                  <a:pt x="1490" y="7"/>
                  <a:pt x="1503" y="11"/>
                  <a:pt x="1515" y="16"/>
                </a:cubicBezTo>
                <a:cubicBezTo>
                  <a:pt x="1528" y="21"/>
                  <a:pt x="1539" y="27"/>
                  <a:pt x="1550" y="35"/>
                </a:cubicBezTo>
                <a:cubicBezTo>
                  <a:pt x="1562" y="42"/>
                  <a:pt x="1572" y="51"/>
                  <a:pt x="1582" y="60"/>
                </a:cubicBezTo>
                <a:cubicBezTo>
                  <a:pt x="1591" y="70"/>
                  <a:pt x="1600" y="80"/>
                  <a:pt x="1607" y="91"/>
                </a:cubicBezTo>
                <a:cubicBezTo>
                  <a:pt x="1614" y="102"/>
                  <a:pt x="1621" y="114"/>
                  <a:pt x="1626" y="127"/>
                </a:cubicBezTo>
                <a:cubicBezTo>
                  <a:pt x="1631" y="139"/>
                  <a:pt x="1635" y="152"/>
                  <a:pt x="1638" y="165"/>
                </a:cubicBezTo>
                <a:cubicBezTo>
                  <a:pt x="1640" y="178"/>
                  <a:pt x="1641" y="191"/>
                  <a:pt x="1641" y="205"/>
                </a:cubicBezTo>
                <a:lnTo>
                  <a:pt x="1641" y="1437"/>
                </a:lnTo>
                <a:cubicBezTo>
                  <a:pt x="1641" y="1450"/>
                  <a:pt x="1640" y="1464"/>
                  <a:pt x="1638" y="1477"/>
                </a:cubicBezTo>
                <a:cubicBezTo>
                  <a:pt x="1635" y="1490"/>
                  <a:pt x="1631" y="1503"/>
                  <a:pt x="1626" y="1515"/>
                </a:cubicBezTo>
                <a:cubicBezTo>
                  <a:pt x="1621" y="1528"/>
                  <a:pt x="1614" y="1539"/>
                  <a:pt x="1607" y="1551"/>
                </a:cubicBezTo>
                <a:cubicBezTo>
                  <a:pt x="1600" y="1562"/>
                  <a:pt x="1591" y="1572"/>
                  <a:pt x="1582" y="1582"/>
                </a:cubicBezTo>
                <a:cubicBezTo>
                  <a:pt x="1572" y="1591"/>
                  <a:pt x="1562" y="1600"/>
                  <a:pt x="1550" y="1607"/>
                </a:cubicBezTo>
                <a:cubicBezTo>
                  <a:pt x="1539" y="1614"/>
                  <a:pt x="1528" y="1621"/>
                  <a:pt x="1515" y="1626"/>
                </a:cubicBezTo>
                <a:cubicBezTo>
                  <a:pt x="1503" y="1631"/>
                  <a:pt x="1490" y="1635"/>
                  <a:pt x="1477" y="1638"/>
                </a:cubicBezTo>
                <a:cubicBezTo>
                  <a:pt x="1463" y="1640"/>
                  <a:pt x="1450" y="1642"/>
                  <a:pt x="1437" y="1642"/>
                </a:cubicBezTo>
                <a:lnTo>
                  <a:pt x="205" y="1642"/>
                </a:lnTo>
                <a:cubicBezTo>
                  <a:pt x="191" y="1642"/>
                  <a:pt x="178" y="1640"/>
                  <a:pt x="165" y="1638"/>
                </a:cubicBezTo>
                <a:cubicBezTo>
                  <a:pt x="152" y="1635"/>
                  <a:pt x="139" y="1631"/>
                  <a:pt x="126" y="1626"/>
                </a:cubicBezTo>
                <a:cubicBezTo>
                  <a:pt x="114" y="1621"/>
                  <a:pt x="102" y="1614"/>
                  <a:pt x="91" y="1607"/>
                </a:cubicBezTo>
                <a:cubicBezTo>
                  <a:pt x="80" y="1600"/>
                  <a:pt x="70" y="1591"/>
                  <a:pt x="60" y="1582"/>
                </a:cubicBezTo>
                <a:cubicBezTo>
                  <a:pt x="51" y="1572"/>
                  <a:pt x="42" y="1562"/>
                  <a:pt x="35" y="1551"/>
                </a:cubicBezTo>
                <a:cubicBezTo>
                  <a:pt x="27" y="1539"/>
                  <a:pt x="21" y="1528"/>
                  <a:pt x="16" y="1515"/>
                </a:cubicBezTo>
                <a:cubicBezTo>
                  <a:pt x="11" y="1503"/>
                  <a:pt x="7" y="1490"/>
                  <a:pt x="4" y="1477"/>
                </a:cubicBezTo>
                <a:cubicBezTo>
                  <a:pt x="1" y="1464"/>
                  <a:pt x="0" y="1450"/>
                  <a:pt x="0" y="1437"/>
                </a:cubicBezTo>
                <a:close/>
              </a:path>
            </a:pathLst>
          </a:custGeom>
          <a:solidFill>
            <a:srgbClr val="cff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689240" y="3834000"/>
            <a:ext cx="27586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1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Operating Systems Design &amp; Implementation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920640" y="4718520"/>
            <a:ext cx="649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0e7490"/>
                </a:solidFill>
                <a:effectLst/>
                <a:uFillTx/>
                <a:latin typeface="Microsoft YaHei"/>
                <a:ea typeface="MicrosoftYaHei"/>
              </a:rPr>
              <a:t>EuroSys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689240" y="4642920"/>
            <a:ext cx="1132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6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2006 — Present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428400" y="5514840"/>
            <a:ext cx="11335320" cy="876600"/>
          </a:xfrm>
          <a:custGeom>
            <a:avLst/>
            <a:gdLst/>
            <a:ahLst/>
            <a:rect l="0" t="0" r="r" b="b"/>
            <a:pathLst>
              <a:path w="31487" h="2435">
                <a:moveTo>
                  <a:pt x="0" y="307"/>
                </a:moveTo>
                <a:cubicBezTo>
                  <a:pt x="0" y="266"/>
                  <a:pt x="8" y="227"/>
                  <a:pt x="24" y="189"/>
                </a:cubicBezTo>
                <a:cubicBezTo>
                  <a:pt x="39" y="152"/>
                  <a:pt x="61" y="119"/>
                  <a:pt x="90" y="90"/>
                </a:cubicBezTo>
                <a:cubicBezTo>
                  <a:pt x="119" y="61"/>
                  <a:pt x="152" y="39"/>
                  <a:pt x="190" y="23"/>
                </a:cubicBezTo>
                <a:cubicBezTo>
                  <a:pt x="227" y="8"/>
                  <a:pt x="267" y="0"/>
                  <a:pt x="307" y="0"/>
                </a:cubicBezTo>
                <a:lnTo>
                  <a:pt x="31179" y="0"/>
                </a:lnTo>
                <a:cubicBezTo>
                  <a:pt x="31220" y="0"/>
                  <a:pt x="31259" y="8"/>
                  <a:pt x="31297" y="23"/>
                </a:cubicBezTo>
                <a:cubicBezTo>
                  <a:pt x="31335" y="39"/>
                  <a:pt x="31368" y="61"/>
                  <a:pt x="31397" y="90"/>
                </a:cubicBezTo>
                <a:cubicBezTo>
                  <a:pt x="31425" y="119"/>
                  <a:pt x="31448" y="152"/>
                  <a:pt x="31463" y="189"/>
                </a:cubicBezTo>
                <a:cubicBezTo>
                  <a:pt x="31479" y="227"/>
                  <a:pt x="31487" y="266"/>
                  <a:pt x="31487" y="307"/>
                </a:cubicBezTo>
                <a:lnTo>
                  <a:pt x="31487" y="2128"/>
                </a:lnTo>
                <a:cubicBezTo>
                  <a:pt x="31487" y="2169"/>
                  <a:pt x="31479" y="2208"/>
                  <a:pt x="31463" y="2245"/>
                </a:cubicBezTo>
                <a:cubicBezTo>
                  <a:pt x="31448" y="2283"/>
                  <a:pt x="31425" y="2316"/>
                  <a:pt x="31397" y="2345"/>
                </a:cubicBezTo>
                <a:cubicBezTo>
                  <a:pt x="31368" y="2374"/>
                  <a:pt x="31335" y="2396"/>
                  <a:pt x="31297" y="2412"/>
                </a:cubicBezTo>
                <a:cubicBezTo>
                  <a:pt x="31259" y="2427"/>
                  <a:pt x="31220" y="2435"/>
                  <a:pt x="31179" y="2435"/>
                </a:cubicBezTo>
                <a:lnTo>
                  <a:pt x="307" y="2435"/>
                </a:lnTo>
                <a:cubicBezTo>
                  <a:pt x="267" y="2435"/>
                  <a:pt x="227" y="2427"/>
                  <a:pt x="190" y="2412"/>
                </a:cubicBezTo>
                <a:cubicBezTo>
                  <a:pt x="152" y="2396"/>
                  <a:pt x="119" y="2374"/>
                  <a:pt x="90" y="2345"/>
                </a:cubicBezTo>
                <a:cubicBezTo>
                  <a:pt x="61" y="2316"/>
                  <a:pt x="39" y="2283"/>
                  <a:pt x="24" y="2245"/>
                </a:cubicBezTo>
                <a:cubicBezTo>
                  <a:pt x="8" y="2208"/>
                  <a:pt x="0" y="2169"/>
                  <a:pt x="0" y="2128"/>
                </a:cubicBezTo>
                <a:lnTo>
                  <a:pt x="0" y="307"/>
                </a:lnTo>
                <a:close/>
              </a:path>
            </a:pathLst>
          </a:custGeom>
          <a:blipFill rotWithShape="0">
            <a:blip r:embed="rId1"/>
            <a:tile tx="0" ty="0" sx="133330" sy="-2470000" algn="ctr"/>
          </a:blip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09480" y="5695920"/>
            <a:ext cx="524160" cy="514440"/>
          </a:xfrm>
          <a:custGeom>
            <a:avLst/>
            <a:gdLst/>
            <a:ahLst/>
            <a:rect l="0" t="0" r="r" b="b"/>
            <a:pathLst>
              <a:path w="1456" h="1429">
                <a:moveTo>
                  <a:pt x="0" y="715"/>
                </a:moveTo>
                <a:cubicBezTo>
                  <a:pt x="0" y="692"/>
                  <a:pt x="1" y="668"/>
                  <a:pt x="3" y="645"/>
                </a:cubicBezTo>
                <a:cubicBezTo>
                  <a:pt x="6" y="622"/>
                  <a:pt x="9" y="598"/>
                  <a:pt x="14" y="575"/>
                </a:cubicBezTo>
                <a:cubicBezTo>
                  <a:pt x="18" y="552"/>
                  <a:pt x="24" y="529"/>
                  <a:pt x="31" y="507"/>
                </a:cubicBezTo>
                <a:cubicBezTo>
                  <a:pt x="37" y="484"/>
                  <a:pt x="45" y="462"/>
                  <a:pt x="54" y="441"/>
                </a:cubicBezTo>
                <a:cubicBezTo>
                  <a:pt x="63" y="419"/>
                  <a:pt x="73" y="398"/>
                  <a:pt x="84" y="377"/>
                </a:cubicBezTo>
                <a:cubicBezTo>
                  <a:pt x="95" y="357"/>
                  <a:pt x="107" y="337"/>
                  <a:pt x="120" y="317"/>
                </a:cubicBezTo>
                <a:cubicBezTo>
                  <a:pt x="133" y="298"/>
                  <a:pt x="147" y="279"/>
                  <a:pt x="162" y="261"/>
                </a:cubicBezTo>
                <a:cubicBezTo>
                  <a:pt x="177" y="243"/>
                  <a:pt x="193" y="225"/>
                  <a:pt x="209" y="209"/>
                </a:cubicBezTo>
                <a:cubicBezTo>
                  <a:pt x="226" y="192"/>
                  <a:pt x="243" y="177"/>
                  <a:pt x="261" y="162"/>
                </a:cubicBezTo>
                <a:cubicBezTo>
                  <a:pt x="279" y="147"/>
                  <a:pt x="298" y="133"/>
                  <a:pt x="317" y="120"/>
                </a:cubicBezTo>
                <a:cubicBezTo>
                  <a:pt x="337" y="107"/>
                  <a:pt x="357" y="95"/>
                  <a:pt x="377" y="84"/>
                </a:cubicBezTo>
                <a:cubicBezTo>
                  <a:pt x="398" y="73"/>
                  <a:pt x="419" y="63"/>
                  <a:pt x="441" y="54"/>
                </a:cubicBezTo>
                <a:cubicBezTo>
                  <a:pt x="462" y="45"/>
                  <a:pt x="484" y="37"/>
                  <a:pt x="508" y="30"/>
                </a:cubicBezTo>
                <a:cubicBezTo>
                  <a:pt x="530" y="24"/>
                  <a:pt x="553" y="18"/>
                  <a:pt x="576" y="13"/>
                </a:cubicBezTo>
                <a:cubicBezTo>
                  <a:pt x="599" y="9"/>
                  <a:pt x="622" y="5"/>
                  <a:pt x="645" y="3"/>
                </a:cubicBezTo>
                <a:cubicBezTo>
                  <a:pt x="668" y="1"/>
                  <a:pt x="692" y="0"/>
                  <a:pt x="715" y="0"/>
                </a:cubicBezTo>
                <a:lnTo>
                  <a:pt x="742" y="0"/>
                </a:lnTo>
                <a:cubicBezTo>
                  <a:pt x="765" y="0"/>
                  <a:pt x="788" y="1"/>
                  <a:pt x="812" y="3"/>
                </a:cubicBezTo>
                <a:cubicBezTo>
                  <a:pt x="835" y="5"/>
                  <a:pt x="858" y="9"/>
                  <a:pt x="881" y="13"/>
                </a:cubicBezTo>
                <a:cubicBezTo>
                  <a:pt x="904" y="18"/>
                  <a:pt x="927" y="24"/>
                  <a:pt x="949" y="30"/>
                </a:cubicBezTo>
                <a:cubicBezTo>
                  <a:pt x="971" y="37"/>
                  <a:pt x="993" y="45"/>
                  <a:pt x="1015" y="54"/>
                </a:cubicBezTo>
                <a:cubicBezTo>
                  <a:pt x="1037" y="63"/>
                  <a:pt x="1058" y="73"/>
                  <a:pt x="1078" y="84"/>
                </a:cubicBezTo>
                <a:cubicBezTo>
                  <a:pt x="1099" y="95"/>
                  <a:pt x="1119" y="107"/>
                  <a:pt x="1139" y="120"/>
                </a:cubicBezTo>
                <a:cubicBezTo>
                  <a:pt x="1158" y="133"/>
                  <a:pt x="1177" y="147"/>
                  <a:pt x="1195" y="162"/>
                </a:cubicBezTo>
                <a:cubicBezTo>
                  <a:pt x="1213" y="177"/>
                  <a:pt x="1230" y="192"/>
                  <a:pt x="1247" y="209"/>
                </a:cubicBezTo>
                <a:cubicBezTo>
                  <a:pt x="1263" y="225"/>
                  <a:pt x="1279" y="243"/>
                  <a:pt x="1294" y="261"/>
                </a:cubicBezTo>
                <a:cubicBezTo>
                  <a:pt x="1309" y="279"/>
                  <a:pt x="1323" y="298"/>
                  <a:pt x="1336" y="317"/>
                </a:cubicBezTo>
                <a:cubicBezTo>
                  <a:pt x="1349" y="337"/>
                  <a:pt x="1361" y="357"/>
                  <a:pt x="1372" y="377"/>
                </a:cubicBezTo>
                <a:cubicBezTo>
                  <a:pt x="1383" y="398"/>
                  <a:pt x="1393" y="419"/>
                  <a:pt x="1402" y="441"/>
                </a:cubicBezTo>
                <a:cubicBezTo>
                  <a:pt x="1411" y="462"/>
                  <a:pt x="1418" y="484"/>
                  <a:pt x="1425" y="507"/>
                </a:cubicBezTo>
                <a:cubicBezTo>
                  <a:pt x="1432" y="529"/>
                  <a:pt x="1438" y="552"/>
                  <a:pt x="1442" y="575"/>
                </a:cubicBezTo>
                <a:cubicBezTo>
                  <a:pt x="1447" y="598"/>
                  <a:pt x="1450" y="622"/>
                  <a:pt x="1453" y="645"/>
                </a:cubicBezTo>
                <a:cubicBezTo>
                  <a:pt x="1455" y="668"/>
                  <a:pt x="1456" y="692"/>
                  <a:pt x="1456" y="715"/>
                </a:cubicBezTo>
                <a:cubicBezTo>
                  <a:pt x="1456" y="738"/>
                  <a:pt x="1455" y="762"/>
                  <a:pt x="1453" y="785"/>
                </a:cubicBezTo>
                <a:cubicBezTo>
                  <a:pt x="1450" y="808"/>
                  <a:pt x="1447" y="831"/>
                  <a:pt x="1442" y="854"/>
                </a:cubicBezTo>
                <a:cubicBezTo>
                  <a:pt x="1438" y="877"/>
                  <a:pt x="1432" y="900"/>
                  <a:pt x="1425" y="922"/>
                </a:cubicBezTo>
                <a:cubicBezTo>
                  <a:pt x="1418" y="945"/>
                  <a:pt x="1411" y="967"/>
                  <a:pt x="1402" y="988"/>
                </a:cubicBezTo>
                <a:cubicBezTo>
                  <a:pt x="1393" y="1010"/>
                  <a:pt x="1383" y="1031"/>
                  <a:pt x="1372" y="1052"/>
                </a:cubicBezTo>
                <a:cubicBezTo>
                  <a:pt x="1361" y="1072"/>
                  <a:pt x="1349" y="1092"/>
                  <a:pt x="1336" y="1112"/>
                </a:cubicBezTo>
                <a:cubicBezTo>
                  <a:pt x="1323" y="1131"/>
                  <a:pt x="1309" y="1150"/>
                  <a:pt x="1294" y="1168"/>
                </a:cubicBezTo>
                <a:cubicBezTo>
                  <a:pt x="1279" y="1186"/>
                  <a:pt x="1263" y="1204"/>
                  <a:pt x="1247" y="1220"/>
                </a:cubicBezTo>
                <a:cubicBezTo>
                  <a:pt x="1230" y="1237"/>
                  <a:pt x="1213" y="1252"/>
                  <a:pt x="1195" y="1267"/>
                </a:cubicBezTo>
                <a:cubicBezTo>
                  <a:pt x="1177" y="1282"/>
                  <a:pt x="1158" y="1296"/>
                  <a:pt x="1139" y="1309"/>
                </a:cubicBezTo>
                <a:cubicBezTo>
                  <a:pt x="1119" y="1322"/>
                  <a:pt x="1099" y="1334"/>
                  <a:pt x="1078" y="1345"/>
                </a:cubicBezTo>
                <a:cubicBezTo>
                  <a:pt x="1058" y="1356"/>
                  <a:pt x="1037" y="1366"/>
                  <a:pt x="1015" y="1375"/>
                </a:cubicBezTo>
                <a:cubicBezTo>
                  <a:pt x="993" y="1384"/>
                  <a:pt x="971" y="1392"/>
                  <a:pt x="949" y="1399"/>
                </a:cubicBezTo>
                <a:cubicBezTo>
                  <a:pt x="927" y="1405"/>
                  <a:pt x="904" y="1411"/>
                  <a:pt x="881" y="1416"/>
                </a:cubicBezTo>
                <a:cubicBezTo>
                  <a:pt x="858" y="1420"/>
                  <a:pt x="835" y="1424"/>
                  <a:pt x="812" y="1426"/>
                </a:cubicBezTo>
                <a:cubicBezTo>
                  <a:pt x="788" y="1428"/>
                  <a:pt x="765" y="1429"/>
                  <a:pt x="742" y="1429"/>
                </a:cubicBezTo>
                <a:lnTo>
                  <a:pt x="715" y="1429"/>
                </a:lnTo>
                <a:cubicBezTo>
                  <a:pt x="692" y="1429"/>
                  <a:pt x="668" y="1428"/>
                  <a:pt x="645" y="1426"/>
                </a:cubicBezTo>
                <a:cubicBezTo>
                  <a:pt x="622" y="1424"/>
                  <a:pt x="599" y="1420"/>
                  <a:pt x="576" y="1416"/>
                </a:cubicBezTo>
                <a:cubicBezTo>
                  <a:pt x="553" y="1411"/>
                  <a:pt x="530" y="1405"/>
                  <a:pt x="508" y="1399"/>
                </a:cubicBezTo>
                <a:cubicBezTo>
                  <a:pt x="484" y="1392"/>
                  <a:pt x="462" y="1384"/>
                  <a:pt x="441" y="1375"/>
                </a:cubicBezTo>
                <a:cubicBezTo>
                  <a:pt x="419" y="1366"/>
                  <a:pt x="398" y="1356"/>
                  <a:pt x="377" y="1345"/>
                </a:cubicBezTo>
                <a:cubicBezTo>
                  <a:pt x="357" y="1334"/>
                  <a:pt x="337" y="1322"/>
                  <a:pt x="317" y="1309"/>
                </a:cubicBezTo>
                <a:cubicBezTo>
                  <a:pt x="298" y="1296"/>
                  <a:pt x="279" y="1282"/>
                  <a:pt x="261" y="1267"/>
                </a:cubicBezTo>
                <a:cubicBezTo>
                  <a:pt x="243" y="1252"/>
                  <a:pt x="226" y="1237"/>
                  <a:pt x="209" y="1220"/>
                </a:cubicBezTo>
                <a:cubicBezTo>
                  <a:pt x="193" y="1204"/>
                  <a:pt x="177" y="1186"/>
                  <a:pt x="162" y="1168"/>
                </a:cubicBezTo>
                <a:cubicBezTo>
                  <a:pt x="147" y="1150"/>
                  <a:pt x="133" y="1131"/>
                  <a:pt x="120" y="1112"/>
                </a:cubicBezTo>
                <a:cubicBezTo>
                  <a:pt x="107" y="1092"/>
                  <a:pt x="95" y="1072"/>
                  <a:pt x="84" y="1052"/>
                </a:cubicBezTo>
                <a:cubicBezTo>
                  <a:pt x="73" y="1031"/>
                  <a:pt x="63" y="1010"/>
                  <a:pt x="54" y="988"/>
                </a:cubicBezTo>
                <a:cubicBezTo>
                  <a:pt x="45" y="967"/>
                  <a:pt x="37" y="945"/>
                  <a:pt x="31" y="922"/>
                </a:cubicBezTo>
                <a:cubicBezTo>
                  <a:pt x="24" y="900"/>
                  <a:pt x="18" y="877"/>
                  <a:pt x="14" y="854"/>
                </a:cubicBezTo>
                <a:cubicBezTo>
                  <a:pt x="9" y="831"/>
                  <a:pt x="6" y="808"/>
                  <a:pt x="3" y="785"/>
                </a:cubicBezTo>
                <a:cubicBezTo>
                  <a:pt x="1" y="762"/>
                  <a:pt x="0" y="738"/>
                  <a:pt x="0" y="71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733320" y="5838840"/>
            <a:ext cx="276480" cy="221400"/>
          </a:xfrm>
          <a:custGeom>
            <a:avLst/>
            <a:gdLst/>
            <a:ahLst/>
            <a:rect l="0" t="0" r="r" b="b"/>
            <a:pathLst>
              <a:path w="768" h="615">
                <a:moveTo>
                  <a:pt x="173" y="0"/>
                </a:moveTo>
                <a:cubicBezTo>
                  <a:pt x="185" y="0"/>
                  <a:pt x="197" y="2"/>
                  <a:pt x="209" y="7"/>
                </a:cubicBezTo>
                <a:cubicBezTo>
                  <a:pt x="221" y="12"/>
                  <a:pt x="231" y="19"/>
                  <a:pt x="240" y="28"/>
                </a:cubicBezTo>
                <a:cubicBezTo>
                  <a:pt x="249" y="37"/>
                  <a:pt x="256" y="47"/>
                  <a:pt x="261" y="60"/>
                </a:cubicBezTo>
                <a:cubicBezTo>
                  <a:pt x="266" y="72"/>
                  <a:pt x="268" y="84"/>
                  <a:pt x="268" y="97"/>
                </a:cubicBezTo>
                <a:cubicBezTo>
                  <a:pt x="268" y="109"/>
                  <a:pt x="266" y="121"/>
                  <a:pt x="261" y="133"/>
                </a:cubicBezTo>
                <a:cubicBezTo>
                  <a:pt x="256" y="145"/>
                  <a:pt x="249" y="155"/>
                  <a:pt x="240" y="164"/>
                </a:cubicBezTo>
                <a:cubicBezTo>
                  <a:pt x="231" y="173"/>
                  <a:pt x="221" y="180"/>
                  <a:pt x="209" y="185"/>
                </a:cubicBezTo>
                <a:cubicBezTo>
                  <a:pt x="197" y="190"/>
                  <a:pt x="185" y="192"/>
                  <a:pt x="173" y="192"/>
                </a:cubicBezTo>
                <a:cubicBezTo>
                  <a:pt x="160" y="192"/>
                  <a:pt x="148" y="190"/>
                  <a:pt x="136" y="185"/>
                </a:cubicBezTo>
                <a:cubicBezTo>
                  <a:pt x="124" y="180"/>
                  <a:pt x="114" y="173"/>
                  <a:pt x="105" y="164"/>
                </a:cubicBezTo>
                <a:cubicBezTo>
                  <a:pt x="96" y="155"/>
                  <a:pt x="89" y="145"/>
                  <a:pt x="84" y="133"/>
                </a:cubicBezTo>
                <a:cubicBezTo>
                  <a:pt x="79" y="121"/>
                  <a:pt x="77" y="109"/>
                  <a:pt x="77" y="97"/>
                </a:cubicBezTo>
                <a:cubicBezTo>
                  <a:pt x="77" y="84"/>
                  <a:pt x="79" y="72"/>
                  <a:pt x="84" y="60"/>
                </a:cubicBezTo>
                <a:cubicBezTo>
                  <a:pt x="89" y="47"/>
                  <a:pt x="96" y="37"/>
                  <a:pt x="105" y="28"/>
                </a:cubicBezTo>
                <a:cubicBezTo>
                  <a:pt x="114" y="19"/>
                  <a:pt x="124" y="12"/>
                  <a:pt x="136" y="7"/>
                </a:cubicBezTo>
                <a:cubicBezTo>
                  <a:pt x="148" y="2"/>
                  <a:pt x="160" y="0"/>
                  <a:pt x="173" y="0"/>
                </a:cubicBezTo>
                <a:moveTo>
                  <a:pt x="614" y="0"/>
                </a:moveTo>
                <a:cubicBezTo>
                  <a:pt x="627" y="0"/>
                  <a:pt x="639" y="2"/>
                  <a:pt x="652" y="7"/>
                </a:cubicBezTo>
                <a:cubicBezTo>
                  <a:pt x="663" y="12"/>
                  <a:pt x="674" y="19"/>
                  <a:pt x="683" y="28"/>
                </a:cubicBezTo>
                <a:cubicBezTo>
                  <a:pt x="692" y="37"/>
                  <a:pt x="699" y="47"/>
                  <a:pt x="704" y="60"/>
                </a:cubicBezTo>
                <a:cubicBezTo>
                  <a:pt x="708" y="72"/>
                  <a:pt x="711" y="84"/>
                  <a:pt x="711" y="97"/>
                </a:cubicBezTo>
                <a:cubicBezTo>
                  <a:pt x="711" y="109"/>
                  <a:pt x="708" y="121"/>
                  <a:pt x="704" y="133"/>
                </a:cubicBezTo>
                <a:cubicBezTo>
                  <a:pt x="699" y="145"/>
                  <a:pt x="692" y="155"/>
                  <a:pt x="683" y="164"/>
                </a:cubicBezTo>
                <a:cubicBezTo>
                  <a:pt x="674" y="173"/>
                  <a:pt x="663" y="180"/>
                  <a:pt x="652" y="185"/>
                </a:cubicBezTo>
                <a:cubicBezTo>
                  <a:pt x="639" y="190"/>
                  <a:pt x="627" y="192"/>
                  <a:pt x="614" y="192"/>
                </a:cubicBezTo>
                <a:cubicBezTo>
                  <a:pt x="601" y="192"/>
                  <a:pt x="589" y="190"/>
                  <a:pt x="577" y="185"/>
                </a:cubicBezTo>
                <a:cubicBezTo>
                  <a:pt x="565" y="180"/>
                  <a:pt x="555" y="173"/>
                  <a:pt x="546" y="164"/>
                </a:cubicBezTo>
                <a:cubicBezTo>
                  <a:pt x="537" y="155"/>
                  <a:pt x="530" y="145"/>
                  <a:pt x="525" y="133"/>
                </a:cubicBezTo>
                <a:cubicBezTo>
                  <a:pt x="520" y="121"/>
                  <a:pt x="518" y="109"/>
                  <a:pt x="518" y="97"/>
                </a:cubicBezTo>
                <a:cubicBezTo>
                  <a:pt x="518" y="84"/>
                  <a:pt x="520" y="72"/>
                  <a:pt x="525" y="60"/>
                </a:cubicBezTo>
                <a:cubicBezTo>
                  <a:pt x="530" y="47"/>
                  <a:pt x="537" y="37"/>
                  <a:pt x="546" y="28"/>
                </a:cubicBezTo>
                <a:cubicBezTo>
                  <a:pt x="555" y="19"/>
                  <a:pt x="565" y="12"/>
                  <a:pt x="577" y="7"/>
                </a:cubicBezTo>
                <a:cubicBezTo>
                  <a:pt x="589" y="2"/>
                  <a:pt x="601" y="0"/>
                  <a:pt x="614" y="0"/>
                </a:cubicBezTo>
                <a:moveTo>
                  <a:pt x="0" y="359"/>
                </a:moveTo>
                <a:cubicBezTo>
                  <a:pt x="0" y="288"/>
                  <a:pt x="57" y="231"/>
                  <a:pt x="128" y="231"/>
                </a:cubicBezTo>
                <a:lnTo>
                  <a:pt x="179" y="231"/>
                </a:lnTo>
                <a:cubicBezTo>
                  <a:pt x="198" y="231"/>
                  <a:pt x="216" y="235"/>
                  <a:pt x="233" y="242"/>
                </a:cubicBezTo>
                <a:cubicBezTo>
                  <a:pt x="231" y="251"/>
                  <a:pt x="230" y="260"/>
                  <a:pt x="230" y="269"/>
                </a:cubicBezTo>
                <a:cubicBezTo>
                  <a:pt x="230" y="315"/>
                  <a:pt x="250" y="356"/>
                  <a:pt x="282" y="384"/>
                </a:cubicBezTo>
                <a:lnTo>
                  <a:pt x="281" y="384"/>
                </a:lnTo>
                <a:lnTo>
                  <a:pt x="25" y="384"/>
                </a:lnTo>
                <a:cubicBezTo>
                  <a:pt x="11" y="384"/>
                  <a:pt x="0" y="373"/>
                  <a:pt x="0" y="359"/>
                </a:cubicBezTo>
                <a:moveTo>
                  <a:pt x="486" y="384"/>
                </a:moveTo>
                <a:lnTo>
                  <a:pt x="485" y="384"/>
                </a:lnTo>
                <a:cubicBezTo>
                  <a:pt x="517" y="356"/>
                  <a:pt x="537" y="315"/>
                  <a:pt x="537" y="269"/>
                </a:cubicBezTo>
                <a:cubicBezTo>
                  <a:pt x="537" y="260"/>
                  <a:pt x="536" y="251"/>
                  <a:pt x="535" y="242"/>
                </a:cubicBezTo>
                <a:cubicBezTo>
                  <a:pt x="551" y="235"/>
                  <a:pt x="569" y="231"/>
                  <a:pt x="588" y="231"/>
                </a:cubicBezTo>
                <a:lnTo>
                  <a:pt x="640" y="231"/>
                </a:lnTo>
                <a:cubicBezTo>
                  <a:pt x="711" y="231"/>
                  <a:pt x="768" y="288"/>
                  <a:pt x="768" y="359"/>
                </a:cubicBezTo>
                <a:cubicBezTo>
                  <a:pt x="768" y="373"/>
                  <a:pt x="757" y="384"/>
                  <a:pt x="743" y="384"/>
                </a:cubicBezTo>
                <a:lnTo>
                  <a:pt x="486" y="384"/>
                </a:lnTo>
                <a:moveTo>
                  <a:pt x="268" y="269"/>
                </a:moveTo>
                <a:cubicBezTo>
                  <a:pt x="268" y="254"/>
                  <a:pt x="271" y="239"/>
                  <a:pt x="277" y="225"/>
                </a:cubicBezTo>
                <a:cubicBezTo>
                  <a:pt x="283" y="211"/>
                  <a:pt x="291" y="199"/>
                  <a:pt x="302" y="188"/>
                </a:cubicBezTo>
                <a:cubicBezTo>
                  <a:pt x="313" y="177"/>
                  <a:pt x="325" y="169"/>
                  <a:pt x="340" y="163"/>
                </a:cubicBezTo>
                <a:cubicBezTo>
                  <a:pt x="354" y="157"/>
                  <a:pt x="368" y="154"/>
                  <a:pt x="384" y="154"/>
                </a:cubicBezTo>
                <a:cubicBezTo>
                  <a:pt x="399" y="154"/>
                  <a:pt x="414" y="157"/>
                  <a:pt x="428" y="163"/>
                </a:cubicBezTo>
                <a:cubicBezTo>
                  <a:pt x="442" y="169"/>
                  <a:pt x="454" y="177"/>
                  <a:pt x="465" y="188"/>
                </a:cubicBezTo>
                <a:cubicBezTo>
                  <a:pt x="476" y="199"/>
                  <a:pt x="484" y="211"/>
                  <a:pt x="490" y="225"/>
                </a:cubicBezTo>
                <a:cubicBezTo>
                  <a:pt x="496" y="239"/>
                  <a:pt x="499" y="254"/>
                  <a:pt x="499" y="269"/>
                </a:cubicBezTo>
                <a:cubicBezTo>
                  <a:pt x="499" y="285"/>
                  <a:pt x="496" y="299"/>
                  <a:pt x="490" y="313"/>
                </a:cubicBezTo>
                <a:cubicBezTo>
                  <a:pt x="484" y="327"/>
                  <a:pt x="476" y="340"/>
                  <a:pt x="465" y="351"/>
                </a:cubicBezTo>
                <a:cubicBezTo>
                  <a:pt x="454" y="361"/>
                  <a:pt x="442" y="370"/>
                  <a:pt x="428" y="376"/>
                </a:cubicBezTo>
                <a:cubicBezTo>
                  <a:pt x="414" y="381"/>
                  <a:pt x="399" y="384"/>
                  <a:pt x="384" y="384"/>
                </a:cubicBezTo>
                <a:cubicBezTo>
                  <a:pt x="368" y="384"/>
                  <a:pt x="354" y="381"/>
                  <a:pt x="340" y="376"/>
                </a:cubicBezTo>
                <a:cubicBezTo>
                  <a:pt x="325" y="370"/>
                  <a:pt x="313" y="361"/>
                  <a:pt x="302" y="351"/>
                </a:cubicBezTo>
                <a:cubicBezTo>
                  <a:pt x="291" y="340"/>
                  <a:pt x="283" y="327"/>
                  <a:pt x="277" y="313"/>
                </a:cubicBezTo>
                <a:cubicBezTo>
                  <a:pt x="271" y="299"/>
                  <a:pt x="268" y="285"/>
                  <a:pt x="268" y="269"/>
                </a:cubicBezTo>
                <a:moveTo>
                  <a:pt x="153" y="583"/>
                </a:moveTo>
                <a:cubicBezTo>
                  <a:pt x="153" y="494"/>
                  <a:pt x="225" y="423"/>
                  <a:pt x="313" y="423"/>
                </a:cubicBezTo>
                <a:lnTo>
                  <a:pt x="454" y="423"/>
                </a:lnTo>
                <a:cubicBezTo>
                  <a:pt x="542" y="423"/>
                  <a:pt x="614" y="494"/>
                  <a:pt x="614" y="583"/>
                </a:cubicBezTo>
                <a:cubicBezTo>
                  <a:pt x="614" y="600"/>
                  <a:pt x="600" y="615"/>
                  <a:pt x="582" y="615"/>
                </a:cubicBezTo>
                <a:lnTo>
                  <a:pt x="185" y="615"/>
                </a:lnTo>
                <a:cubicBezTo>
                  <a:pt x="168" y="615"/>
                  <a:pt x="153" y="600"/>
                  <a:pt x="153" y="5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689240" y="4853160"/>
            <a:ext cx="26996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1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European Conference on Computer Systems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276200" y="5718240"/>
            <a:ext cx="2180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More Than Conferences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276200" y="5976720"/>
            <a:ext cx="4224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dbeafe"/>
                </a:solidFill>
                <a:effectLst/>
                <a:uFillTx/>
                <a:latin typeface="Microsoft YaHei"/>
                <a:ea typeface="MicrosoftYaHei"/>
              </a:rPr>
              <a:t>A global community of pioneers and next-generation leaders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364600" y="5667120"/>
            <a:ext cx="316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60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8375040" y="6024960"/>
            <a:ext cx="3351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10" strike="noStrike" u="none">
                <a:solidFill>
                  <a:srgbClr val="dbeafe"/>
                </a:solidFill>
                <a:effectLst/>
                <a:uFillTx/>
                <a:latin typeface="Microsoft YaHei"/>
                <a:ea typeface="MicrosoftYaHei"/>
              </a:rPr>
              <a:t>Years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9000360" y="5667120"/>
            <a:ext cx="868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7,000+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9029880" y="6024960"/>
            <a:ext cx="9075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10" strike="noStrike" u="none">
                <a:solidFill>
                  <a:srgbClr val="dbeafe"/>
                </a:solidFill>
                <a:effectLst/>
                <a:uFillTx/>
                <a:latin typeface="Microsoft YaHei"/>
                <a:ea typeface="MicrosoftYaHei"/>
              </a:rPr>
              <a:t>Peak Members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0837440" y="5667120"/>
            <a:ext cx="2761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4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0266120" y="6024960"/>
            <a:ext cx="13042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10" strike="noStrike" u="none">
                <a:solidFill>
                  <a:srgbClr val="dbeafe"/>
                </a:solidFill>
                <a:effectLst/>
                <a:uFillTx/>
                <a:latin typeface="Microsoft YaHei"/>
                <a:ea typeface="MicrosoftYaHei"/>
              </a:rPr>
              <a:t>Flagship Conferences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1687040" y="6521040"/>
            <a:ext cx="1368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"/>
              </a:rPr>
              <a:t>2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428760" y="952560"/>
            <a:ext cx="1218960" cy="12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"/>
          <p:cNvSpPr/>
          <p:nvPr/>
        </p:nvSpPr>
        <p:spPr>
          <a:xfrm>
            <a:off x="1952280" y="952200"/>
            <a:ext cx="1305360" cy="267120"/>
          </a:xfrm>
          <a:custGeom>
            <a:avLst/>
            <a:gdLst/>
            <a:ahLst/>
            <a:rect l="0" t="0" r="r" b="b"/>
            <a:pathLst>
              <a:path w="3626" h="742">
                <a:moveTo>
                  <a:pt x="0" y="371"/>
                </a:moveTo>
                <a:cubicBezTo>
                  <a:pt x="0" y="346"/>
                  <a:pt x="3" y="322"/>
                  <a:pt x="8" y="298"/>
                </a:cubicBezTo>
                <a:cubicBezTo>
                  <a:pt x="12" y="275"/>
                  <a:pt x="20" y="251"/>
                  <a:pt x="30" y="229"/>
                </a:cubicBezTo>
                <a:cubicBezTo>
                  <a:pt x="39" y="207"/>
                  <a:pt x="50" y="185"/>
                  <a:pt x="64" y="165"/>
                </a:cubicBezTo>
                <a:cubicBezTo>
                  <a:pt x="77" y="145"/>
                  <a:pt x="93" y="126"/>
                  <a:pt x="110" y="109"/>
                </a:cubicBezTo>
                <a:cubicBezTo>
                  <a:pt x="127" y="92"/>
                  <a:pt x="146" y="76"/>
                  <a:pt x="166" y="63"/>
                </a:cubicBezTo>
                <a:cubicBezTo>
                  <a:pt x="186" y="49"/>
                  <a:pt x="208" y="38"/>
                  <a:pt x="230" y="29"/>
                </a:cubicBezTo>
                <a:cubicBezTo>
                  <a:pt x="253" y="19"/>
                  <a:pt x="276" y="12"/>
                  <a:pt x="300" y="7"/>
                </a:cubicBezTo>
                <a:cubicBezTo>
                  <a:pt x="323" y="3"/>
                  <a:pt x="348" y="0"/>
                  <a:pt x="372" y="0"/>
                </a:cubicBezTo>
                <a:lnTo>
                  <a:pt x="3256" y="0"/>
                </a:lnTo>
                <a:cubicBezTo>
                  <a:pt x="3280" y="0"/>
                  <a:pt x="3304" y="3"/>
                  <a:pt x="3328" y="7"/>
                </a:cubicBezTo>
                <a:cubicBezTo>
                  <a:pt x="3352" y="12"/>
                  <a:pt x="3375" y="19"/>
                  <a:pt x="3398" y="29"/>
                </a:cubicBezTo>
                <a:cubicBezTo>
                  <a:pt x="3420" y="38"/>
                  <a:pt x="3441" y="49"/>
                  <a:pt x="3462" y="63"/>
                </a:cubicBezTo>
                <a:cubicBezTo>
                  <a:pt x="3482" y="76"/>
                  <a:pt x="3501" y="92"/>
                  <a:pt x="3518" y="109"/>
                </a:cubicBezTo>
                <a:cubicBezTo>
                  <a:pt x="3535" y="126"/>
                  <a:pt x="3550" y="145"/>
                  <a:pt x="3564" y="165"/>
                </a:cubicBezTo>
                <a:cubicBezTo>
                  <a:pt x="3577" y="185"/>
                  <a:pt x="3589" y="207"/>
                  <a:pt x="3598" y="229"/>
                </a:cubicBezTo>
                <a:cubicBezTo>
                  <a:pt x="3607" y="251"/>
                  <a:pt x="3614" y="275"/>
                  <a:pt x="3619" y="298"/>
                </a:cubicBezTo>
                <a:cubicBezTo>
                  <a:pt x="3624" y="322"/>
                  <a:pt x="3626" y="346"/>
                  <a:pt x="3626" y="371"/>
                </a:cubicBezTo>
                <a:cubicBezTo>
                  <a:pt x="3626" y="395"/>
                  <a:pt x="3624" y="419"/>
                  <a:pt x="3619" y="443"/>
                </a:cubicBezTo>
                <a:cubicBezTo>
                  <a:pt x="3614" y="467"/>
                  <a:pt x="3607" y="490"/>
                  <a:pt x="3598" y="513"/>
                </a:cubicBezTo>
                <a:cubicBezTo>
                  <a:pt x="3589" y="535"/>
                  <a:pt x="3577" y="556"/>
                  <a:pt x="3564" y="577"/>
                </a:cubicBezTo>
                <a:cubicBezTo>
                  <a:pt x="3550" y="597"/>
                  <a:pt x="3535" y="615"/>
                  <a:pt x="3518" y="633"/>
                </a:cubicBezTo>
                <a:cubicBezTo>
                  <a:pt x="3501" y="650"/>
                  <a:pt x="3482" y="665"/>
                  <a:pt x="3462" y="679"/>
                </a:cubicBezTo>
                <a:cubicBezTo>
                  <a:pt x="3441" y="693"/>
                  <a:pt x="3420" y="705"/>
                  <a:pt x="3398" y="714"/>
                </a:cubicBezTo>
                <a:cubicBezTo>
                  <a:pt x="3375" y="723"/>
                  <a:pt x="3352" y="730"/>
                  <a:pt x="3328" y="735"/>
                </a:cubicBezTo>
                <a:cubicBezTo>
                  <a:pt x="3304" y="740"/>
                  <a:pt x="3280" y="742"/>
                  <a:pt x="3256" y="742"/>
                </a:cubicBezTo>
                <a:lnTo>
                  <a:pt x="372" y="742"/>
                </a:lnTo>
                <a:cubicBezTo>
                  <a:pt x="348" y="742"/>
                  <a:pt x="323" y="740"/>
                  <a:pt x="300" y="735"/>
                </a:cubicBezTo>
                <a:cubicBezTo>
                  <a:pt x="276" y="730"/>
                  <a:pt x="253" y="723"/>
                  <a:pt x="230" y="714"/>
                </a:cubicBezTo>
                <a:cubicBezTo>
                  <a:pt x="208" y="705"/>
                  <a:pt x="186" y="693"/>
                  <a:pt x="166" y="679"/>
                </a:cubicBezTo>
                <a:cubicBezTo>
                  <a:pt x="146" y="665"/>
                  <a:pt x="127" y="650"/>
                  <a:pt x="110" y="633"/>
                </a:cubicBezTo>
                <a:cubicBezTo>
                  <a:pt x="93" y="615"/>
                  <a:pt x="77" y="597"/>
                  <a:pt x="64" y="577"/>
                </a:cubicBezTo>
                <a:cubicBezTo>
                  <a:pt x="50" y="556"/>
                  <a:pt x="39" y="535"/>
                  <a:pt x="30" y="513"/>
                </a:cubicBezTo>
                <a:cubicBezTo>
                  <a:pt x="20" y="490"/>
                  <a:pt x="12" y="467"/>
                  <a:pt x="8" y="443"/>
                </a:cubicBezTo>
                <a:cubicBezTo>
                  <a:pt x="3" y="419"/>
                  <a:pt x="0" y="395"/>
                  <a:pt x="0" y="371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428760" y="251280"/>
            <a:ext cx="746892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2015 SOSP History Day: A Blueprint for Today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3371760" y="952200"/>
            <a:ext cx="1590840" cy="267120"/>
          </a:xfrm>
          <a:custGeom>
            <a:avLst/>
            <a:gdLst/>
            <a:ahLst/>
            <a:rect l="0" t="0" r="r" b="b"/>
            <a:pathLst>
              <a:path w="4419" h="742">
                <a:moveTo>
                  <a:pt x="0" y="371"/>
                </a:moveTo>
                <a:cubicBezTo>
                  <a:pt x="0" y="346"/>
                  <a:pt x="2" y="322"/>
                  <a:pt x="7" y="298"/>
                </a:cubicBezTo>
                <a:cubicBezTo>
                  <a:pt x="12" y="275"/>
                  <a:pt x="19" y="251"/>
                  <a:pt x="28" y="229"/>
                </a:cubicBezTo>
                <a:cubicBezTo>
                  <a:pt x="37" y="207"/>
                  <a:pt x="49" y="185"/>
                  <a:pt x="62" y="165"/>
                </a:cubicBezTo>
                <a:cubicBezTo>
                  <a:pt x="76" y="145"/>
                  <a:pt x="91" y="126"/>
                  <a:pt x="108" y="109"/>
                </a:cubicBezTo>
                <a:cubicBezTo>
                  <a:pt x="125" y="92"/>
                  <a:pt x="144" y="76"/>
                  <a:pt x="164" y="63"/>
                </a:cubicBezTo>
                <a:cubicBezTo>
                  <a:pt x="185" y="49"/>
                  <a:pt x="206" y="38"/>
                  <a:pt x="228" y="29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3"/>
                  <a:pt x="346" y="0"/>
                  <a:pt x="370" y="0"/>
                </a:cubicBezTo>
                <a:lnTo>
                  <a:pt x="4049" y="0"/>
                </a:lnTo>
                <a:cubicBezTo>
                  <a:pt x="4073" y="0"/>
                  <a:pt x="4097" y="3"/>
                  <a:pt x="4121" y="7"/>
                </a:cubicBezTo>
                <a:cubicBezTo>
                  <a:pt x="4145" y="12"/>
                  <a:pt x="4168" y="19"/>
                  <a:pt x="4191" y="29"/>
                </a:cubicBezTo>
                <a:cubicBezTo>
                  <a:pt x="4213" y="38"/>
                  <a:pt x="4234" y="49"/>
                  <a:pt x="4255" y="63"/>
                </a:cubicBezTo>
                <a:cubicBezTo>
                  <a:pt x="4275" y="76"/>
                  <a:pt x="4294" y="92"/>
                  <a:pt x="4311" y="109"/>
                </a:cubicBezTo>
                <a:cubicBezTo>
                  <a:pt x="4328" y="126"/>
                  <a:pt x="4343" y="145"/>
                  <a:pt x="4357" y="165"/>
                </a:cubicBezTo>
                <a:cubicBezTo>
                  <a:pt x="4370" y="185"/>
                  <a:pt x="4382" y="207"/>
                  <a:pt x="4391" y="229"/>
                </a:cubicBezTo>
                <a:cubicBezTo>
                  <a:pt x="4400" y="251"/>
                  <a:pt x="4407" y="275"/>
                  <a:pt x="4412" y="298"/>
                </a:cubicBezTo>
                <a:cubicBezTo>
                  <a:pt x="4417" y="322"/>
                  <a:pt x="4419" y="346"/>
                  <a:pt x="4419" y="371"/>
                </a:cubicBezTo>
                <a:cubicBezTo>
                  <a:pt x="4419" y="395"/>
                  <a:pt x="4417" y="419"/>
                  <a:pt x="4412" y="443"/>
                </a:cubicBezTo>
                <a:cubicBezTo>
                  <a:pt x="4407" y="467"/>
                  <a:pt x="4400" y="490"/>
                  <a:pt x="4391" y="513"/>
                </a:cubicBezTo>
                <a:cubicBezTo>
                  <a:pt x="4382" y="535"/>
                  <a:pt x="4370" y="556"/>
                  <a:pt x="4357" y="577"/>
                </a:cubicBezTo>
                <a:cubicBezTo>
                  <a:pt x="4343" y="597"/>
                  <a:pt x="4328" y="615"/>
                  <a:pt x="4311" y="633"/>
                </a:cubicBezTo>
                <a:cubicBezTo>
                  <a:pt x="4294" y="650"/>
                  <a:pt x="4275" y="665"/>
                  <a:pt x="4255" y="679"/>
                </a:cubicBezTo>
                <a:cubicBezTo>
                  <a:pt x="4234" y="693"/>
                  <a:pt x="4213" y="705"/>
                  <a:pt x="4191" y="714"/>
                </a:cubicBezTo>
                <a:cubicBezTo>
                  <a:pt x="4168" y="723"/>
                  <a:pt x="4145" y="730"/>
                  <a:pt x="4121" y="735"/>
                </a:cubicBezTo>
                <a:cubicBezTo>
                  <a:pt x="4097" y="740"/>
                  <a:pt x="4073" y="742"/>
                  <a:pt x="4049" y="742"/>
                </a:cubicBezTo>
                <a:lnTo>
                  <a:pt x="370" y="742"/>
                </a:lnTo>
                <a:cubicBezTo>
                  <a:pt x="346" y="742"/>
                  <a:pt x="322" y="740"/>
                  <a:pt x="298" y="735"/>
                </a:cubicBezTo>
                <a:cubicBezTo>
                  <a:pt x="274" y="730"/>
                  <a:pt x="251" y="723"/>
                  <a:pt x="228" y="714"/>
                </a:cubicBezTo>
                <a:cubicBezTo>
                  <a:pt x="206" y="705"/>
                  <a:pt x="185" y="693"/>
                  <a:pt x="164" y="679"/>
                </a:cubicBezTo>
                <a:cubicBezTo>
                  <a:pt x="144" y="665"/>
                  <a:pt x="125" y="650"/>
                  <a:pt x="108" y="633"/>
                </a:cubicBezTo>
                <a:cubicBezTo>
                  <a:pt x="91" y="615"/>
                  <a:pt x="76" y="597"/>
                  <a:pt x="62" y="577"/>
                </a:cubicBezTo>
                <a:cubicBezTo>
                  <a:pt x="49" y="556"/>
                  <a:pt x="37" y="535"/>
                  <a:pt x="28" y="513"/>
                </a:cubicBezTo>
                <a:cubicBezTo>
                  <a:pt x="19" y="490"/>
                  <a:pt x="12" y="467"/>
                  <a:pt x="7" y="443"/>
                </a:cubicBezTo>
                <a:cubicBezTo>
                  <a:pt x="2" y="419"/>
                  <a:pt x="0" y="395"/>
                  <a:pt x="0" y="371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2066760" y="991080"/>
            <a:ext cx="1022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e40af"/>
                </a:solidFill>
                <a:effectLst/>
                <a:uFillTx/>
                <a:latin typeface="Microsoft YaHei"/>
                <a:ea typeface="MicrosoftYaHei"/>
              </a:rPr>
              <a:t>October 4, 2015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076720" y="952200"/>
            <a:ext cx="1838520" cy="267120"/>
          </a:xfrm>
          <a:custGeom>
            <a:avLst/>
            <a:gdLst/>
            <a:ahLst/>
            <a:rect l="0" t="0" r="r" b="b"/>
            <a:pathLst>
              <a:path w="5107" h="742">
                <a:moveTo>
                  <a:pt x="0" y="371"/>
                </a:moveTo>
                <a:cubicBezTo>
                  <a:pt x="0" y="346"/>
                  <a:pt x="2" y="322"/>
                  <a:pt x="7" y="298"/>
                </a:cubicBezTo>
                <a:cubicBezTo>
                  <a:pt x="12" y="275"/>
                  <a:pt x="19" y="251"/>
                  <a:pt x="28" y="229"/>
                </a:cubicBezTo>
                <a:cubicBezTo>
                  <a:pt x="37" y="207"/>
                  <a:pt x="49" y="185"/>
                  <a:pt x="62" y="165"/>
                </a:cubicBezTo>
                <a:cubicBezTo>
                  <a:pt x="76" y="145"/>
                  <a:pt x="91" y="126"/>
                  <a:pt x="108" y="109"/>
                </a:cubicBezTo>
                <a:cubicBezTo>
                  <a:pt x="125" y="92"/>
                  <a:pt x="144" y="76"/>
                  <a:pt x="164" y="63"/>
                </a:cubicBezTo>
                <a:cubicBezTo>
                  <a:pt x="185" y="49"/>
                  <a:pt x="206" y="38"/>
                  <a:pt x="228" y="29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3"/>
                  <a:pt x="346" y="0"/>
                  <a:pt x="370" y="0"/>
                </a:cubicBezTo>
                <a:lnTo>
                  <a:pt x="4737" y="0"/>
                </a:lnTo>
                <a:cubicBezTo>
                  <a:pt x="4761" y="0"/>
                  <a:pt x="4785" y="3"/>
                  <a:pt x="4809" y="7"/>
                </a:cubicBezTo>
                <a:cubicBezTo>
                  <a:pt x="4833" y="12"/>
                  <a:pt x="4856" y="19"/>
                  <a:pt x="4879" y="29"/>
                </a:cubicBezTo>
                <a:cubicBezTo>
                  <a:pt x="4901" y="38"/>
                  <a:pt x="4922" y="49"/>
                  <a:pt x="4943" y="63"/>
                </a:cubicBezTo>
                <a:cubicBezTo>
                  <a:pt x="4963" y="76"/>
                  <a:pt x="4982" y="92"/>
                  <a:pt x="4999" y="109"/>
                </a:cubicBezTo>
                <a:cubicBezTo>
                  <a:pt x="5016" y="126"/>
                  <a:pt x="5031" y="145"/>
                  <a:pt x="5045" y="165"/>
                </a:cubicBezTo>
                <a:cubicBezTo>
                  <a:pt x="5058" y="185"/>
                  <a:pt x="5070" y="207"/>
                  <a:pt x="5079" y="229"/>
                </a:cubicBezTo>
                <a:cubicBezTo>
                  <a:pt x="5088" y="251"/>
                  <a:pt x="5095" y="275"/>
                  <a:pt x="5100" y="298"/>
                </a:cubicBezTo>
                <a:cubicBezTo>
                  <a:pt x="5105" y="322"/>
                  <a:pt x="5107" y="346"/>
                  <a:pt x="5107" y="371"/>
                </a:cubicBezTo>
                <a:cubicBezTo>
                  <a:pt x="5107" y="395"/>
                  <a:pt x="5105" y="419"/>
                  <a:pt x="5100" y="443"/>
                </a:cubicBezTo>
                <a:cubicBezTo>
                  <a:pt x="5095" y="467"/>
                  <a:pt x="5088" y="490"/>
                  <a:pt x="5079" y="513"/>
                </a:cubicBezTo>
                <a:cubicBezTo>
                  <a:pt x="5070" y="535"/>
                  <a:pt x="5058" y="556"/>
                  <a:pt x="5045" y="577"/>
                </a:cubicBezTo>
                <a:cubicBezTo>
                  <a:pt x="5031" y="597"/>
                  <a:pt x="5016" y="615"/>
                  <a:pt x="4999" y="633"/>
                </a:cubicBezTo>
                <a:cubicBezTo>
                  <a:pt x="4982" y="650"/>
                  <a:pt x="4963" y="665"/>
                  <a:pt x="4943" y="679"/>
                </a:cubicBezTo>
                <a:cubicBezTo>
                  <a:pt x="4922" y="693"/>
                  <a:pt x="4901" y="705"/>
                  <a:pt x="4879" y="714"/>
                </a:cubicBezTo>
                <a:cubicBezTo>
                  <a:pt x="4856" y="723"/>
                  <a:pt x="4833" y="730"/>
                  <a:pt x="4809" y="735"/>
                </a:cubicBezTo>
                <a:cubicBezTo>
                  <a:pt x="4785" y="740"/>
                  <a:pt x="4761" y="742"/>
                  <a:pt x="4737" y="742"/>
                </a:cubicBezTo>
                <a:lnTo>
                  <a:pt x="370" y="742"/>
                </a:lnTo>
                <a:cubicBezTo>
                  <a:pt x="346" y="742"/>
                  <a:pt x="322" y="740"/>
                  <a:pt x="298" y="735"/>
                </a:cubicBezTo>
                <a:cubicBezTo>
                  <a:pt x="274" y="730"/>
                  <a:pt x="251" y="723"/>
                  <a:pt x="228" y="714"/>
                </a:cubicBezTo>
                <a:cubicBezTo>
                  <a:pt x="206" y="705"/>
                  <a:pt x="185" y="693"/>
                  <a:pt x="164" y="679"/>
                </a:cubicBezTo>
                <a:cubicBezTo>
                  <a:pt x="144" y="665"/>
                  <a:pt x="125" y="650"/>
                  <a:pt x="108" y="633"/>
                </a:cubicBezTo>
                <a:cubicBezTo>
                  <a:pt x="91" y="615"/>
                  <a:pt x="76" y="597"/>
                  <a:pt x="62" y="577"/>
                </a:cubicBezTo>
                <a:cubicBezTo>
                  <a:pt x="49" y="556"/>
                  <a:pt x="37" y="535"/>
                  <a:pt x="28" y="513"/>
                </a:cubicBezTo>
                <a:cubicBezTo>
                  <a:pt x="19" y="490"/>
                  <a:pt x="12" y="467"/>
                  <a:pt x="7" y="443"/>
                </a:cubicBezTo>
                <a:cubicBezTo>
                  <a:pt x="2" y="419"/>
                  <a:pt x="0" y="395"/>
                  <a:pt x="0" y="371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3481920" y="991080"/>
            <a:ext cx="1360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334155"/>
                </a:solidFill>
                <a:effectLst/>
                <a:uFillTx/>
                <a:latin typeface="Microsoft YaHei"/>
                <a:ea typeface="MicrosoftYaHei"/>
              </a:rPr>
              <a:t>Monterey, California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195160" y="991080"/>
            <a:ext cx="1575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92400e"/>
                </a:solidFill>
                <a:effectLst/>
                <a:uFillTx/>
                <a:latin typeface="Microsoft YaHei"/>
                <a:ea typeface="MicrosoftYaHei"/>
              </a:rPr>
              <a:t>50 Years of OS Research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952640" y="1350360"/>
            <a:ext cx="95630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 </a:t>
            </a:r>
            <a:r>
              <a:rPr b="1" lang="en-US" sz="13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landmark event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celebrating five decades of operating systems research, bringing together pioneers who shaped the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436680" y="2514240"/>
            <a:ext cx="177120" cy="172080"/>
          </a:xfrm>
          <a:custGeom>
            <a:avLst/>
            <a:gdLst/>
            <a:ahLst/>
            <a:rect l="0" t="0" r="r" b="b"/>
            <a:pathLst>
              <a:path w="492" h="478">
                <a:moveTo>
                  <a:pt x="273" y="17"/>
                </a:moveTo>
                <a:cubicBezTo>
                  <a:pt x="268" y="7"/>
                  <a:pt x="258" y="0"/>
                  <a:pt x="246" y="0"/>
                </a:cubicBezTo>
                <a:cubicBezTo>
                  <a:pt x="235" y="0"/>
                  <a:pt x="224" y="7"/>
                  <a:pt x="219" y="17"/>
                </a:cubicBezTo>
                <a:lnTo>
                  <a:pt x="160" y="140"/>
                </a:lnTo>
                <a:lnTo>
                  <a:pt x="26" y="160"/>
                </a:lnTo>
                <a:cubicBezTo>
                  <a:pt x="14" y="162"/>
                  <a:pt x="4" y="170"/>
                  <a:pt x="1" y="180"/>
                </a:cubicBezTo>
                <a:cubicBezTo>
                  <a:pt x="-2" y="191"/>
                  <a:pt x="0" y="203"/>
                  <a:pt x="8" y="211"/>
                </a:cubicBezTo>
                <a:lnTo>
                  <a:pt x="106" y="307"/>
                </a:lnTo>
                <a:lnTo>
                  <a:pt x="83" y="443"/>
                </a:lnTo>
                <a:cubicBezTo>
                  <a:pt x="82" y="454"/>
                  <a:pt x="86" y="466"/>
                  <a:pt x="95" y="472"/>
                </a:cubicBezTo>
                <a:cubicBezTo>
                  <a:pt x="105" y="479"/>
                  <a:pt x="117" y="480"/>
                  <a:pt x="127" y="474"/>
                </a:cubicBezTo>
                <a:lnTo>
                  <a:pt x="246" y="411"/>
                </a:lnTo>
                <a:lnTo>
                  <a:pt x="366" y="474"/>
                </a:lnTo>
                <a:cubicBezTo>
                  <a:pt x="376" y="480"/>
                  <a:pt x="388" y="479"/>
                  <a:pt x="397" y="472"/>
                </a:cubicBezTo>
                <a:cubicBezTo>
                  <a:pt x="406" y="465"/>
                  <a:pt x="411" y="454"/>
                  <a:pt x="409" y="443"/>
                </a:cubicBezTo>
                <a:lnTo>
                  <a:pt x="386" y="307"/>
                </a:lnTo>
                <a:lnTo>
                  <a:pt x="483" y="211"/>
                </a:lnTo>
                <a:cubicBezTo>
                  <a:pt x="491" y="203"/>
                  <a:pt x="494" y="191"/>
                  <a:pt x="490" y="180"/>
                </a:cubicBezTo>
                <a:cubicBezTo>
                  <a:pt x="487" y="170"/>
                  <a:pt x="478" y="162"/>
                  <a:pt x="466" y="160"/>
                </a:cubicBezTo>
                <a:lnTo>
                  <a:pt x="333" y="140"/>
                </a:lnTo>
                <a:lnTo>
                  <a:pt x="273" y="17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952640" y="1626480"/>
            <a:ext cx="35089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field from time-sharing to cloud computing.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33080" y="2904840"/>
            <a:ext cx="5582160" cy="938520"/>
          </a:xfrm>
          <a:custGeom>
            <a:avLst/>
            <a:gdLst/>
            <a:ahLst/>
            <a:rect l="0" t="0" r="r" b="b"/>
            <a:pathLst>
              <a:path w="15506" h="2607">
                <a:moveTo>
                  <a:pt x="0" y="2515"/>
                </a:moveTo>
                <a:lnTo>
                  <a:pt x="0" y="0"/>
                </a:lnTo>
                <a:lnTo>
                  <a:pt x="15506" y="0"/>
                </a:lnTo>
                <a:lnTo>
                  <a:pt x="15506" y="2515"/>
                </a:lnTo>
                <a:cubicBezTo>
                  <a:pt x="15506" y="2527"/>
                  <a:pt x="15504" y="2539"/>
                  <a:pt x="15499" y="2550"/>
                </a:cubicBezTo>
                <a:cubicBezTo>
                  <a:pt x="15494" y="2562"/>
                  <a:pt x="15487" y="2572"/>
                  <a:pt x="15479" y="2580"/>
                </a:cubicBezTo>
                <a:cubicBezTo>
                  <a:pt x="15470" y="2589"/>
                  <a:pt x="15460" y="2596"/>
                  <a:pt x="15449" y="2600"/>
                </a:cubicBezTo>
                <a:cubicBezTo>
                  <a:pt x="15437" y="2605"/>
                  <a:pt x="15426" y="2607"/>
                  <a:pt x="15413" y="2607"/>
                </a:cubicBezTo>
                <a:lnTo>
                  <a:pt x="93" y="2607"/>
                </a:lnTo>
                <a:cubicBezTo>
                  <a:pt x="81" y="2607"/>
                  <a:pt x="69" y="2605"/>
                  <a:pt x="58" y="2600"/>
                </a:cubicBezTo>
                <a:cubicBezTo>
                  <a:pt x="46" y="2596"/>
                  <a:pt x="36" y="2589"/>
                  <a:pt x="27" y="2580"/>
                </a:cubicBezTo>
                <a:cubicBezTo>
                  <a:pt x="19" y="2572"/>
                  <a:pt x="12" y="2562"/>
                  <a:pt x="7" y="2550"/>
                </a:cubicBezTo>
                <a:cubicBezTo>
                  <a:pt x="3" y="2539"/>
                  <a:pt x="0" y="2527"/>
                  <a:pt x="0" y="25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438120" y="2923920"/>
            <a:ext cx="5572080" cy="0"/>
          </a:xfrm>
          <a:custGeom>
            <a:avLst/>
            <a:gdLst/>
            <a:ahLst/>
            <a:rect l="0" t="0" r="r" b="b"/>
            <a:pathLst>
              <a:path w="15478" h="0">
                <a:moveTo>
                  <a:pt x="0" y="0"/>
                </a:moveTo>
                <a:lnTo>
                  <a:pt x="1547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446400" y="3824280"/>
            <a:ext cx="5555520" cy="14400"/>
          </a:xfrm>
          <a:custGeom>
            <a:avLst/>
            <a:gdLst/>
            <a:ahLst/>
            <a:rect l="0" t="0" r="r" b="b"/>
            <a:pathLst>
              <a:path w="15432" h="40">
                <a:moveTo>
                  <a:pt x="16" y="0"/>
                </a:moveTo>
                <a:lnTo>
                  <a:pt x="15416" y="0"/>
                </a:lnTo>
                <a:lnTo>
                  <a:pt x="15432" y="17"/>
                </a:lnTo>
                <a:cubicBezTo>
                  <a:pt x="15417" y="32"/>
                  <a:pt x="15398" y="40"/>
                  <a:pt x="15376" y="40"/>
                </a:cubicBezTo>
                <a:lnTo>
                  <a:pt x="56" y="40"/>
                </a:lnTo>
                <a:cubicBezTo>
                  <a:pt x="34" y="40"/>
                  <a:pt x="15" y="32"/>
                  <a:pt x="0" y="17"/>
                </a:cubicBezTo>
                <a:lnTo>
                  <a:pt x="16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995800" y="2923920"/>
            <a:ext cx="14760" cy="906840"/>
          </a:xfrm>
          <a:custGeom>
            <a:avLst/>
            <a:gdLst/>
            <a:ahLst/>
            <a:rect l="0" t="0" r="r" b="b"/>
            <a:pathLst>
              <a:path w="41" h="2519">
                <a:moveTo>
                  <a:pt x="0" y="2504"/>
                </a:moveTo>
                <a:lnTo>
                  <a:pt x="0" y="156"/>
                </a:lnTo>
                <a:lnTo>
                  <a:pt x="40" y="0"/>
                </a:lnTo>
                <a:lnTo>
                  <a:pt x="41" y="0"/>
                </a:lnTo>
                <a:lnTo>
                  <a:pt x="41" y="2462"/>
                </a:lnTo>
                <a:cubicBezTo>
                  <a:pt x="41" y="2484"/>
                  <a:pt x="33" y="2502"/>
                  <a:pt x="16" y="2518"/>
                </a:cubicBezTo>
                <a:cubicBezTo>
                  <a:pt x="16" y="2518"/>
                  <a:pt x="16" y="2519"/>
                  <a:pt x="15" y="2519"/>
                </a:cubicBezTo>
                <a:lnTo>
                  <a:pt x="0" y="2504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438120" y="2923920"/>
            <a:ext cx="14400" cy="906840"/>
          </a:xfrm>
          <a:custGeom>
            <a:avLst/>
            <a:gdLst/>
            <a:ahLst/>
            <a:rect l="0" t="0" r="r" b="b"/>
            <a:pathLst>
              <a:path w="40" h="2519">
                <a:moveTo>
                  <a:pt x="40" y="156"/>
                </a:moveTo>
                <a:lnTo>
                  <a:pt x="40" y="2504"/>
                </a:lnTo>
                <a:lnTo>
                  <a:pt x="25" y="2519"/>
                </a:lnTo>
                <a:lnTo>
                  <a:pt x="24" y="2518"/>
                </a:lnTo>
                <a:cubicBezTo>
                  <a:pt x="7" y="2502"/>
                  <a:pt x="0" y="2484"/>
                  <a:pt x="0" y="2462"/>
                </a:cubicBezTo>
                <a:lnTo>
                  <a:pt x="0" y="0"/>
                </a:lnTo>
                <a:lnTo>
                  <a:pt x="40" y="15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2"/>
          <a:stretch/>
        </p:blipFill>
        <p:spPr>
          <a:xfrm>
            <a:off x="590400" y="3076560"/>
            <a:ext cx="45684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"/>
          <p:cNvSpPr txBox="1"/>
          <p:nvPr/>
        </p:nvSpPr>
        <p:spPr>
          <a:xfrm>
            <a:off x="697680" y="2483640"/>
            <a:ext cx="15271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Keynote Speakers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202040" y="3180240"/>
            <a:ext cx="1092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Peter Denning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176880" y="2904840"/>
            <a:ext cx="5581800" cy="938520"/>
          </a:xfrm>
          <a:custGeom>
            <a:avLst/>
            <a:gdLst/>
            <a:ahLst/>
            <a:rect l="0" t="0" r="r" b="b"/>
            <a:pathLst>
              <a:path w="15505" h="2607">
                <a:moveTo>
                  <a:pt x="0" y="2515"/>
                </a:moveTo>
                <a:lnTo>
                  <a:pt x="0" y="0"/>
                </a:lnTo>
                <a:lnTo>
                  <a:pt x="15505" y="0"/>
                </a:lnTo>
                <a:lnTo>
                  <a:pt x="15505" y="2515"/>
                </a:lnTo>
                <a:cubicBezTo>
                  <a:pt x="15505" y="2527"/>
                  <a:pt x="15503" y="2539"/>
                  <a:pt x="15498" y="2550"/>
                </a:cubicBezTo>
                <a:cubicBezTo>
                  <a:pt x="15494" y="2562"/>
                  <a:pt x="15487" y="2572"/>
                  <a:pt x="15478" y="2580"/>
                </a:cubicBezTo>
                <a:cubicBezTo>
                  <a:pt x="15470" y="2589"/>
                  <a:pt x="15459" y="2596"/>
                  <a:pt x="15448" y="2600"/>
                </a:cubicBezTo>
                <a:cubicBezTo>
                  <a:pt x="15437" y="2605"/>
                  <a:pt x="15425" y="2607"/>
                  <a:pt x="15413" y="2607"/>
                </a:cubicBezTo>
                <a:lnTo>
                  <a:pt x="92" y="2607"/>
                </a:lnTo>
                <a:cubicBezTo>
                  <a:pt x="80" y="2607"/>
                  <a:pt x="68" y="2605"/>
                  <a:pt x="57" y="2600"/>
                </a:cubicBezTo>
                <a:cubicBezTo>
                  <a:pt x="46" y="2596"/>
                  <a:pt x="36" y="2589"/>
                  <a:pt x="27" y="2580"/>
                </a:cubicBezTo>
                <a:cubicBezTo>
                  <a:pt x="18" y="2572"/>
                  <a:pt x="11" y="2562"/>
                  <a:pt x="7" y="2550"/>
                </a:cubicBezTo>
                <a:cubicBezTo>
                  <a:pt x="2" y="2539"/>
                  <a:pt x="0" y="2527"/>
                  <a:pt x="0" y="25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181560" y="2923920"/>
            <a:ext cx="5572080" cy="0"/>
          </a:xfrm>
          <a:custGeom>
            <a:avLst/>
            <a:gdLst/>
            <a:ahLst/>
            <a:rect l="0" t="0" r="r" b="b"/>
            <a:pathLst>
              <a:path w="15478" h="0">
                <a:moveTo>
                  <a:pt x="0" y="0"/>
                </a:moveTo>
                <a:lnTo>
                  <a:pt x="1547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6189840" y="3824280"/>
            <a:ext cx="5555880" cy="14400"/>
          </a:xfrm>
          <a:custGeom>
            <a:avLst/>
            <a:gdLst/>
            <a:ahLst/>
            <a:rect l="0" t="0" r="r" b="b"/>
            <a:pathLst>
              <a:path w="15433" h="40">
                <a:moveTo>
                  <a:pt x="17" y="0"/>
                </a:moveTo>
                <a:lnTo>
                  <a:pt x="15416" y="0"/>
                </a:lnTo>
                <a:lnTo>
                  <a:pt x="15433" y="17"/>
                </a:lnTo>
                <a:cubicBezTo>
                  <a:pt x="15417" y="32"/>
                  <a:pt x="15399" y="40"/>
                  <a:pt x="15377" y="40"/>
                </a:cubicBezTo>
                <a:lnTo>
                  <a:pt x="56" y="40"/>
                </a:lnTo>
                <a:cubicBezTo>
                  <a:pt x="34" y="40"/>
                  <a:pt x="16" y="32"/>
                  <a:pt x="0" y="17"/>
                </a:cubicBezTo>
                <a:lnTo>
                  <a:pt x="17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1739240" y="2923920"/>
            <a:ext cx="14760" cy="906840"/>
          </a:xfrm>
          <a:custGeom>
            <a:avLst/>
            <a:gdLst/>
            <a:ahLst/>
            <a:rect l="0" t="0" r="r" b="b"/>
            <a:pathLst>
              <a:path w="41" h="2519">
                <a:moveTo>
                  <a:pt x="0" y="2504"/>
                </a:moveTo>
                <a:lnTo>
                  <a:pt x="0" y="156"/>
                </a:lnTo>
                <a:lnTo>
                  <a:pt x="40" y="0"/>
                </a:lnTo>
                <a:lnTo>
                  <a:pt x="41" y="0"/>
                </a:lnTo>
                <a:lnTo>
                  <a:pt x="41" y="2462"/>
                </a:lnTo>
                <a:cubicBezTo>
                  <a:pt x="41" y="2484"/>
                  <a:pt x="33" y="2502"/>
                  <a:pt x="18" y="2518"/>
                </a:cubicBezTo>
                <a:cubicBezTo>
                  <a:pt x="17" y="2518"/>
                  <a:pt x="17" y="2519"/>
                  <a:pt x="16" y="2519"/>
                </a:cubicBezTo>
                <a:lnTo>
                  <a:pt x="0" y="2504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6181560" y="2923920"/>
            <a:ext cx="14760" cy="906840"/>
          </a:xfrm>
          <a:custGeom>
            <a:avLst/>
            <a:gdLst/>
            <a:ahLst/>
            <a:rect l="0" t="0" r="r" b="b"/>
            <a:pathLst>
              <a:path w="41" h="2519">
                <a:moveTo>
                  <a:pt x="41" y="156"/>
                </a:moveTo>
                <a:lnTo>
                  <a:pt x="41" y="2504"/>
                </a:lnTo>
                <a:lnTo>
                  <a:pt x="26" y="2519"/>
                </a:lnTo>
                <a:cubicBezTo>
                  <a:pt x="25" y="2519"/>
                  <a:pt x="25" y="2518"/>
                  <a:pt x="24" y="2518"/>
                </a:cubicBezTo>
                <a:cubicBezTo>
                  <a:pt x="8" y="2502"/>
                  <a:pt x="0" y="2484"/>
                  <a:pt x="0" y="2462"/>
                </a:cubicBezTo>
                <a:lnTo>
                  <a:pt x="0" y="0"/>
                </a:lnTo>
                <a:lnTo>
                  <a:pt x="1" y="0"/>
                </a:lnTo>
                <a:lnTo>
                  <a:pt x="41" y="15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3"/>
          <a:stretch/>
        </p:blipFill>
        <p:spPr>
          <a:xfrm>
            <a:off x="6334200" y="3076560"/>
            <a:ext cx="59976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"/>
          <p:cNvSpPr txBox="1"/>
          <p:nvPr/>
        </p:nvSpPr>
        <p:spPr>
          <a:xfrm>
            <a:off x="1202040" y="3400920"/>
            <a:ext cx="2108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"Perspectives on OS Foundations"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089840" y="3180240"/>
            <a:ext cx="878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Jack Dennis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433800" y="4019400"/>
            <a:ext cx="118080" cy="171720"/>
          </a:xfrm>
          <a:custGeom>
            <a:avLst/>
            <a:gdLst/>
            <a:ahLst/>
            <a:rect l="0" t="0" r="r" b="b"/>
            <a:pathLst>
              <a:path w="328" h="477">
                <a:moveTo>
                  <a:pt x="238" y="358"/>
                </a:moveTo>
                <a:cubicBezTo>
                  <a:pt x="247" y="328"/>
                  <a:pt x="266" y="303"/>
                  <a:pt x="285" y="278"/>
                </a:cubicBezTo>
                <a:cubicBezTo>
                  <a:pt x="290" y="271"/>
                  <a:pt x="295" y="265"/>
                  <a:pt x="299" y="258"/>
                </a:cubicBezTo>
                <a:cubicBezTo>
                  <a:pt x="318" y="232"/>
                  <a:pt x="328" y="199"/>
                  <a:pt x="328" y="165"/>
                </a:cubicBezTo>
                <a:cubicBezTo>
                  <a:pt x="328" y="74"/>
                  <a:pt x="254" y="0"/>
                  <a:pt x="164" y="0"/>
                </a:cubicBezTo>
                <a:cubicBezTo>
                  <a:pt x="73" y="0"/>
                  <a:pt x="0" y="74"/>
                  <a:pt x="0" y="165"/>
                </a:cubicBezTo>
                <a:cubicBezTo>
                  <a:pt x="0" y="199"/>
                  <a:pt x="11" y="232"/>
                  <a:pt x="29" y="258"/>
                </a:cubicBezTo>
                <a:cubicBezTo>
                  <a:pt x="34" y="265"/>
                  <a:pt x="39" y="271"/>
                  <a:pt x="44" y="278"/>
                </a:cubicBezTo>
                <a:cubicBezTo>
                  <a:pt x="62" y="303"/>
                  <a:pt x="80" y="328"/>
                  <a:pt x="89" y="358"/>
                </a:cubicBezTo>
                <a:lnTo>
                  <a:pt x="238" y="358"/>
                </a:lnTo>
                <a:moveTo>
                  <a:pt x="164" y="477"/>
                </a:moveTo>
                <a:cubicBezTo>
                  <a:pt x="205" y="477"/>
                  <a:pt x="238" y="444"/>
                  <a:pt x="238" y="403"/>
                </a:cubicBezTo>
                <a:lnTo>
                  <a:pt x="238" y="388"/>
                </a:lnTo>
                <a:lnTo>
                  <a:pt x="89" y="388"/>
                </a:lnTo>
                <a:lnTo>
                  <a:pt x="89" y="403"/>
                </a:lnTo>
                <a:cubicBezTo>
                  <a:pt x="89" y="444"/>
                  <a:pt x="123" y="477"/>
                  <a:pt x="164" y="477"/>
                </a:cubicBezTo>
                <a:moveTo>
                  <a:pt x="89" y="165"/>
                </a:moveTo>
                <a:cubicBezTo>
                  <a:pt x="89" y="173"/>
                  <a:pt x="83" y="180"/>
                  <a:pt x="74" y="180"/>
                </a:cubicBezTo>
                <a:cubicBezTo>
                  <a:pt x="66" y="180"/>
                  <a:pt x="60" y="173"/>
                  <a:pt x="60" y="165"/>
                </a:cubicBezTo>
                <a:cubicBezTo>
                  <a:pt x="60" y="107"/>
                  <a:pt x="106" y="60"/>
                  <a:pt x="164" y="60"/>
                </a:cubicBezTo>
                <a:cubicBezTo>
                  <a:pt x="172" y="60"/>
                  <a:pt x="179" y="67"/>
                  <a:pt x="179" y="75"/>
                </a:cubicBezTo>
                <a:cubicBezTo>
                  <a:pt x="179" y="84"/>
                  <a:pt x="172" y="90"/>
                  <a:pt x="164" y="90"/>
                </a:cubicBezTo>
                <a:cubicBezTo>
                  <a:pt x="123" y="90"/>
                  <a:pt x="89" y="124"/>
                  <a:pt x="89" y="165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7089840" y="3400920"/>
            <a:ext cx="2304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"The Founding of SOSP Conferences"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42800" y="4390920"/>
            <a:ext cx="2157840" cy="457560"/>
          </a:xfrm>
          <a:custGeom>
            <a:avLst/>
            <a:gdLst/>
            <a:ahLst/>
            <a:rect l="0" t="0" r="r" b="b"/>
            <a:pathLst>
              <a:path w="5994" h="1271">
                <a:moveTo>
                  <a:pt x="0" y="1111"/>
                </a:moveTo>
                <a:lnTo>
                  <a:pt x="0" y="159"/>
                </a:lnTo>
                <a:cubicBezTo>
                  <a:pt x="0" y="148"/>
                  <a:pt x="1" y="138"/>
                  <a:pt x="2" y="128"/>
                </a:cubicBezTo>
                <a:cubicBezTo>
                  <a:pt x="4" y="117"/>
                  <a:pt x="6" y="107"/>
                  <a:pt x="9" y="98"/>
                </a:cubicBezTo>
                <a:cubicBezTo>
                  <a:pt x="12" y="88"/>
                  <a:pt x="16" y="79"/>
                  <a:pt x="20" y="70"/>
                </a:cubicBezTo>
                <a:cubicBezTo>
                  <a:pt x="24" y="62"/>
                  <a:pt x="29" y="54"/>
                  <a:pt x="35" y="46"/>
                </a:cubicBezTo>
                <a:cubicBezTo>
                  <a:pt x="40" y="39"/>
                  <a:pt x="46" y="32"/>
                  <a:pt x="53" y="27"/>
                </a:cubicBezTo>
                <a:cubicBezTo>
                  <a:pt x="59" y="21"/>
                  <a:pt x="66" y="16"/>
                  <a:pt x="73" y="12"/>
                </a:cubicBezTo>
                <a:cubicBezTo>
                  <a:pt x="81" y="8"/>
                  <a:pt x="88" y="5"/>
                  <a:pt x="96" y="3"/>
                </a:cubicBezTo>
                <a:cubicBezTo>
                  <a:pt x="103" y="1"/>
                  <a:pt x="111" y="0"/>
                  <a:pt x="119" y="0"/>
                </a:cubicBezTo>
                <a:lnTo>
                  <a:pt x="5835" y="0"/>
                </a:lnTo>
                <a:cubicBezTo>
                  <a:pt x="5845" y="0"/>
                  <a:pt x="5856" y="1"/>
                  <a:pt x="5866" y="3"/>
                </a:cubicBezTo>
                <a:cubicBezTo>
                  <a:pt x="5876" y="5"/>
                  <a:pt x="5886" y="8"/>
                  <a:pt x="5896" y="12"/>
                </a:cubicBezTo>
                <a:cubicBezTo>
                  <a:pt x="5905" y="16"/>
                  <a:pt x="5914" y="21"/>
                  <a:pt x="5923" y="27"/>
                </a:cubicBezTo>
                <a:cubicBezTo>
                  <a:pt x="5932" y="32"/>
                  <a:pt x="5940" y="39"/>
                  <a:pt x="5947" y="46"/>
                </a:cubicBezTo>
                <a:cubicBezTo>
                  <a:pt x="5954" y="54"/>
                  <a:pt x="5961" y="62"/>
                  <a:pt x="5967" y="70"/>
                </a:cubicBezTo>
                <a:cubicBezTo>
                  <a:pt x="5973" y="79"/>
                  <a:pt x="5978" y="88"/>
                  <a:pt x="5982" y="98"/>
                </a:cubicBezTo>
                <a:cubicBezTo>
                  <a:pt x="5986" y="107"/>
                  <a:pt x="5989" y="117"/>
                  <a:pt x="5991" y="128"/>
                </a:cubicBezTo>
                <a:cubicBezTo>
                  <a:pt x="5993" y="138"/>
                  <a:pt x="5994" y="148"/>
                  <a:pt x="5994" y="159"/>
                </a:cubicBezTo>
                <a:lnTo>
                  <a:pt x="5994" y="1111"/>
                </a:lnTo>
                <a:cubicBezTo>
                  <a:pt x="5994" y="1121"/>
                  <a:pt x="5993" y="1133"/>
                  <a:pt x="5991" y="1143"/>
                </a:cubicBezTo>
                <a:cubicBezTo>
                  <a:pt x="5989" y="1153"/>
                  <a:pt x="5986" y="1163"/>
                  <a:pt x="5982" y="1173"/>
                </a:cubicBezTo>
                <a:cubicBezTo>
                  <a:pt x="5978" y="1182"/>
                  <a:pt x="5973" y="1192"/>
                  <a:pt x="5967" y="1200"/>
                </a:cubicBezTo>
                <a:cubicBezTo>
                  <a:pt x="5961" y="1209"/>
                  <a:pt x="5954" y="1217"/>
                  <a:pt x="5947" y="1224"/>
                </a:cubicBezTo>
                <a:cubicBezTo>
                  <a:pt x="5940" y="1232"/>
                  <a:pt x="5932" y="1238"/>
                  <a:pt x="5923" y="1244"/>
                </a:cubicBezTo>
                <a:cubicBezTo>
                  <a:pt x="5914" y="1250"/>
                  <a:pt x="5905" y="1255"/>
                  <a:pt x="5896" y="1259"/>
                </a:cubicBezTo>
                <a:cubicBezTo>
                  <a:pt x="5886" y="1263"/>
                  <a:pt x="5876" y="1266"/>
                  <a:pt x="5866" y="1268"/>
                </a:cubicBezTo>
                <a:cubicBezTo>
                  <a:pt x="5856" y="1270"/>
                  <a:pt x="5845" y="1271"/>
                  <a:pt x="5835" y="1271"/>
                </a:cubicBezTo>
                <a:lnTo>
                  <a:pt x="119" y="1271"/>
                </a:lnTo>
                <a:cubicBezTo>
                  <a:pt x="111" y="1271"/>
                  <a:pt x="103" y="1270"/>
                  <a:pt x="96" y="1268"/>
                </a:cubicBezTo>
                <a:cubicBezTo>
                  <a:pt x="88" y="1266"/>
                  <a:pt x="81" y="1263"/>
                  <a:pt x="73" y="1259"/>
                </a:cubicBezTo>
                <a:cubicBezTo>
                  <a:pt x="66" y="1255"/>
                  <a:pt x="59" y="1250"/>
                  <a:pt x="53" y="1244"/>
                </a:cubicBezTo>
                <a:cubicBezTo>
                  <a:pt x="46" y="1238"/>
                  <a:pt x="40" y="1232"/>
                  <a:pt x="35" y="1224"/>
                </a:cubicBezTo>
                <a:cubicBezTo>
                  <a:pt x="29" y="1217"/>
                  <a:pt x="24" y="1209"/>
                  <a:pt x="20" y="1200"/>
                </a:cubicBezTo>
                <a:cubicBezTo>
                  <a:pt x="16" y="1192"/>
                  <a:pt x="12" y="1182"/>
                  <a:pt x="9" y="1173"/>
                </a:cubicBezTo>
                <a:cubicBezTo>
                  <a:pt x="6" y="1163"/>
                  <a:pt x="4" y="1153"/>
                  <a:pt x="2" y="1143"/>
                </a:cubicBezTo>
                <a:cubicBezTo>
                  <a:pt x="1" y="1133"/>
                  <a:pt x="0" y="1121"/>
                  <a:pt x="0" y="1111"/>
                </a:cubicBez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428400" y="4390920"/>
            <a:ext cx="57600" cy="457560"/>
          </a:xfrm>
          <a:custGeom>
            <a:avLst/>
            <a:gdLst/>
            <a:ahLst/>
            <a:rect l="0" t="0" r="r" b="b"/>
            <a:pathLst>
              <a:path w="160" h="1271">
                <a:moveTo>
                  <a:pt x="0" y="0"/>
                </a:moveTo>
                <a:lnTo>
                  <a:pt x="160" y="0"/>
                </a:lnTo>
                <a:lnTo>
                  <a:pt x="160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633240" y="3988800"/>
            <a:ext cx="12805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Visionary Talks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71320" y="4469040"/>
            <a:ext cx="902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Butler Lampson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728800" y="4390920"/>
            <a:ext cx="2167200" cy="457560"/>
          </a:xfrm>
          <a:custGeom>
            <a:avLst/>
            <a:gdLst/>
            <a:ahLst/>
            <a:rect l="0" t="0" r="r" b="b"/>
            <a:pathLst>
              <a:path w="6020" h="1271">
                <a:moveTo>
                  <a:pt x="0" y="1111"/>
                </a:moveTo>
                <a:lnTo>
                  <a:pt x="0" y="159"/>
                </a:lnTo>
                <a:cubicBezTo>
                  <a:pt x="0" y="148"/>
                  <a:pt x="1" y="138"/>
                  <a:pt x="2" y="128"/>
                </a:cubicBezTo>
                <a:cubicBezTo>
                  <a:pt x="4" y="117"/>
                  <a:pt x="6" y="107"/>
                  <a:pt x="9" y="98"/>
                </a:cubicBezTo>
                <a:cubicBezTo>
                  <a:pt x="12" y="88"/>
                  <a:pt x="16" y="79"/>
                  <a:pt x="20" y="70"/>
                </a:cubicBezTo>
                <a:cubicBezTo>
                  <a:pt x="24" y="62"/>
                  <a:pt x="29" y="54"/>
                  <a:pt x="35" y="46"/>
                </a:cubicBezTo>
                <a:cubicBezTo>
                  <a:pt x="40" y="39"/>
                  <a:pt x="46" y="32"/>
                  <a:pt x="53" y="27"/>
                </a:cubicBezTo>
                <a:cubicBezTo>
                  <a:pt x="59" y="21"/>
                  <a:pt x="66" y="16"/>
                  <a:pt x="73" y="12"/>
                </a:cubicBezTo>
                <a:cubicBezTo>
                  <a:pt x="81" y="8"/>
                  <a:pt x="88" y="5"/>
                  <a:pt x="96" y="3"/>
                </a:cubicBezTo>
                <a:cubicBezTo>
                  <a:pt x="103" y="1"/>
                  <a:pt x="111" y="0"/>
                  <a:pt x="119" y="0"/>
                </a:cubicBezTo>
                <a:lnTo>
                  <a:pt x="5861" y="0"/>
                </a:lnTo>
                <a:cubicBezTo>
                  <a:pt x="5872" y="0"/>
                  <a:pt x="5882" y="1"/>
                  <a:pt x="5892" y="3"/>
                </a:cubicBezTo>
                <a:cubicBezTo>
                  <a:pt x="5903" y="5"/>
                  <a:pt x="5912" y="8"/>
                  <a:pt x="5922" y="12"/>
                </a:cubicBezTo>
                <a:cubicBezTo>
                  <a:pt x="5932" y="16"/>
                  <a:pt x="5941" y="21"/>
                  <a:pt x="5950" y="27"/>
                </a:cubicBezTo>
                <a:cubicBezTo>
                  <a:pt x="5958" y="32"/>
                  <a:pt x="5966" y="39"/>
                  <a:pt x="5974" y="46"/>
                </a:cubicBezTo>
                <a:cubicBezTo>
                  <a:pt x="5981" y="54"/>
                  <a:pt x="5988" y="62"/>
                  <a:pt x="5993" y="70"/>
                </a:cubicBezTo>
                <a:cubicBezTo>
                  <a:pt x="5999" y="79"/>
                  <a:pt x="6004" y="88"/>
                  <a:pt x="6008" y="98"/>
                </a:cubicBezTo>
                <a:cubicBezTo>
                  <a:pt x="6012" y="107"/>
                  <a:pt x="6015" y="117"/>
                  <a:pt x="6017" y="128"/>
                </a:cubicBezTo>
                <a:cubicBezTo>
                  <a:pt x="6019" y="138"/>
                  <a:pt x="6020" y="148"/>
                  <a:pt x="6020" y="159"/>
                </a:cubicBezTo>
                <a:lnTo>
                  <a:pt x="6020" y="1111"/>
                </a:lnTo>
                <a:cubicBezTo>
                  <a:pt x="6020" y="1121"/>
                  <a:pt x="6019" y="1133"/>
                  <a:pt x="6017" y="1143"/>
                </a:cubicBezTo>
                <a:cubicBezTo>
                  <a:pt x="6015" y="1153"/>
                  <a:pt x="6012" y="1163"/>
                  <a:pt x="6008" y="1173"/>
                </a:cubicBezTo>
                <a:cubicBezTo>
                  <a:pt x="6004" y="1182"/>
                  <a:pt x="5999" y="1192"/>
                  <a:pt x="5993" y="1200"/>
                </a:cubicBezTo>
                <a:cubicBezTo>
                  <a:pt x="5988" y="1209"/>
                  <a:pt x="5981" y="1217"/>
                  <a:pt x="5974" y="1224"/>
                </a:cubicBezTo>
                <a:cubicBezTo>
                  <a:pt x="5966" y="1232"/>
                  <a:pt x="5958" y="1238"/>
                  <a:pt x="5950" y="1244"/>
                </a:cubicBezTo>
                <a:cubicBezTo>
                  <a:pt x="5941" y="1250"/>
                  <a:pt x="5932" y="1255"/>
                  <a:pt x="5922" y="1259"/>
                </a:cubicBezTo>
                <a:cubicBezTo>
                  <a:pt x="5912" y="1263"/>
                  <a:pt x="5903" y="1266"/>
                  <a:pt x="5892" y="1268"/>
                </a:cubicBezTo>
                <a:cubicBezTo>
                  <a:pt x="5882" y="1270"/>
                  <a:pt x="5872" y="1271"/>
                  <a:pt x="5861" y="1271"/>
                </a:cubicBezTo>
                <a:lnTo>
                  <a:pt x="119" y="1271"/>
                </a:lnTo>
                <a:cubicBezTo>
                  <a:pt x="111" y="1271"/>
                  <a:pt x="103" y="1270"/>
                  <a:pt x="96" y="1268"/>
                </a:cubicBezTo>
                <a:cubicBezTo>
                  <a:pt x="88" y="1266"/>
                  <a:pt x="81" y="1263"/>
                  <a:pt x="73" y="1259"/>
                </a:cubicBezTo>
                <a:cubicBezTo>
                  <a:pt x="66" y="1255"/>
                  <a:pt x="59" y="1250"/>
                  <a:pt x="53" y="1244"/>
                </a:cubicBezTo>
                <a:cubicBezTo>
                  <a:pt x="46" y="1238"/>
                  <a:pt x="40" y="1232"/>
                  <a:pt x="35" y="1224"/>
                </a:cubicBezTo>
                <a:cubicBezTo>
                  <a:pt x="29" y="1217"/>
                  <a:pt x="24" y="1209"/>
                  <a:pt x="20" y="1200"/>
                </a:cubicBezTo>
                <a:cubicBezTo>
                  <a:pt x="16" y="1192"/>
                  <a:pt x="12" y="1182"/>
                  <a:pt x="9" y="1173"/>
                </a:cubicBezTo>
                <a:cubicBezTo>
                  <a:pt x="6" y="1163"/>
                  <a:pt x="4" y="1153"/>
                  <a:pt x="2" y="1143"/>
                </a:cubicBezTo>
                <a:cubicBezTo>
                  <a:pt x="1" y="1133"/>
                  <a:pt x="0" y="1121"/>
                  <a:pt x="0" y="1111"/>
                </a:cubicBez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714400" y="4390920"/>
            <a:ext cx="57600" cy="457560"/>
          </a:xfrm>
          <a:custGeom>
            <a:avLst/>
            <a:gdLst/>
            <a:ahLst/>
            <a:rect l="0" t="0" r="r" b="b"/>
            <a:pathLst>
              <a:path w="160" h="1271">
                <a:moveTo>
                  <a:pt x="0" y="0"/>
                </a:moveTo>
                <a:lnTo>
                  <a:pt x="160" y="0"/>
                </a:lnTo>
                <a:lnTo>
                  <a:pt x="160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71320" y="4621320"/>
            <a:ext cx="1129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Protection &amp; Security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2861280" y="4469040"/>
            <a:ext cx="8492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Barbara Liskov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024160" y="4390920"/>
            <a:ext cx="2157840" cy="457560"/>
          </a:xfrm>
          <a:custGeom>
            <a:avLst/>
            <a:gdLst/>
            <a:ahLst/>
            <a:rect l="0" t="0" r="r" b="b"/>
            <a:pathLst>
              <a:path w="5994" h="1271">
                <a:moveTo>
                  <a:pt x="0" y="111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4" y="117"/>
                  <a:pt x="6" y="107"/>
                  <a:pt x="9" y="98"/>
                </a:cubicBezTo>
                <a:cubicBezTo>
                  <a:pt x="12" y="88"/>
                  <a:pt x="16" y="79"/>
                  <a:pt x="20" y="70"/>
                </a:cubicBezTo>
                <a:cubicBezTo>
                  <a:pt x="25" y="62"/>
                  <a:pt x="30" y="54"/>
                  <a:pt x="35" y="46"/>
                </a:cubicBezTo>
                <a:cubicBezTo>
                  <a:pt x="41" y="39"/>
                  <a:pt x="47" y="32"/>
                  <a:pt x="53" y="27"/>
                </a:cubicBezTo>
                <a:cubicBezTo>
                  <a:pt x="60" y="21"/>
                  <a:pt x="67" y="16"/>
                  <a:pt x="74" y="12"/>
                </a:cubicBezTo>
                <a:cubicBezTo>
                  <a:pt x="81" y="8"/>
                  <a:pt x="88" y="5"/>
                  <a:pt x="96" y="3"/>
                </a:cubicBezTo>
                <a:cubicBezTo>
                  <a:pt x="104" y="1"/>
                  <a:pt x="112" y="0"/>
                  <a:pt x="119" y="0"/>
                </a:cubicBezTo>
                <a:lnTo>
                  <a:pt x="5835" y="0"/>
                </a:lnTo>
                <a:cubicBezTo>
                  <a:pt x="5846" y="0"/>
                  <a:pt x="5856" y="1"/>
                  <a:pt x="5866" y="3"/>
                </a:cubicBezTo>
                <a:cubicBezTo>
                  <a:pt x="5877" y="5"/>
                  <a:pt x="5886" y="8"/>
                  <a:pt x="5896" y="12"/>
                </a:cubicBezTo>
                <a:cubicBezTo>
                  <a:pt x="5906" y="16"/>
                  <a:pt x="5915" y="21"/>
                  <a:pt x="5924" y="27"/>
                </a:cubicBezTo>
                <a:cubicBezTo>
                  <a:pt x="5932" y="32"/>
                  <a:pt x="5940" y="39"/>
                  <a:pt x="5948" y="46"/>
                </a:cubicBezTo>
                <a:cubicBezTo>
                  <a:pt x="5955" y="54"/>
                  <a:pt x="5962" y="62"/>
                  <a:pt x="5967" y="70"/>
                </a:cubicBezTo>
                <a:cubicBezTo>
                  <a:pt x="5973" y="79"/>
                  <a:pt x="5978" y="88"/>
                  <a:pt x="5982" y="98"/>
                </a:cubicBezTo>
                <a:cubicBezTo>
                  <a:pt x="5986" y="107"/>
                  <a:pt x="5989" y="117"/>
                  <a:pt x="5991" y="128"/>
                </a:cubicBezTo>
                <a:cubicBezTo>
                  <a:pt x="5993" y="138"/>
                  <a:pt x="5994" y="148"/>
                  <a:pt x="5994" y="159"/>
                </a:cubicBezTo>
                <a:lnTo>
                  <a:pt x="5994" y="1111"/>
                </a:lnTo>
                <a:cubicBezTo>
                  <a:pt x="5994" y="1121"/>
                  <a:pt x="5993" y="1133"/>
                  <a:pt x="5991" y="1143"/>
                </a:cubicBezTo>
                <a:cubicBezTo>
                  <a:pt x="5989" y="1153"/>
                  <a:pt x="5986" y="1163"/>
                  <a:pt x="5982" y="1173"/>
                </a:cubicBezTo>
                <a:cubicBezTo>
                  <a:pt x="5978" y="1182"/>
                  <a:pt x="5973" y="1192"/>
                  <a:pt x="5967" y="1200"/>
                </a:cubicBezTo>
                <a:cubicBezTo>
                  <a:pt x="5962" y="1209"/>
                  <a:pt x="5955" y="1217"/>
                  <a:pt x="5948" y="1224"/>
                </a:cubicBezTo>
                <a:cubicBezTo>
                  <a:pt x="5940" y="1232"/>
                  <a:pt x="5932" y="1238"/>
                  <a:pt x="5924" y="1244"/>
                </a:cubicBezTo>
                <a:cubicBezTo>
                  <a:pt x="5915" y="1250"/>
                  <a:pt x="5906" y="1255"/>
                  <a:pt x="5896" y="1259"/>
                </a:cubicBezTo>
                <a:cubicBezTo>
                  <a:pt x="5886" y="1263"/>
                  <a:pt x="5877" y="1266"/>
                  <a:pt x="5866" y="1268"/>
                </a:cubicBezTo>
                <a:cubicBezTo>
                  <a:pt x="5856" y="1270"/>
                  <a:pt x="5846" y="1271"/>
                  <a:pt x="5835" y="1271"/>
                </a:cubicBezTo>
                <a:lnTo>
                  <a:pt x="119" y="1271"/>
                </a:lnTo>
                <a:cubicBezTo>
                  <a:pt x="112" y="1271"/>
                  <a:pt x="104" y="1270"/>
                  <a:pt x="96" y="1268"/>
                </a:cubicBezTo>
                <a:cubicBezTo>
                  <a:pt x="88" y="1266"/>
                  <a:pt x="81" y="1263"/>
                  <a:pt x="74" y="1259"/>
                </a:cubicBezTo>
                <a:cubicBezTo>
                  <a:pt x="67" y="1255"/>
                  <a:pt x="60" y="1250"/>
                  <a:pt x="53" y="1244"/>
                </a:cubicBezTo>
                <a:cubicBezTo>
                  <a:pt x="47" y="1238"/>
                  <a:pt x="41" y="1232"/>
                  <a:pt x="35" y="1224"/>
                </a:cubicBezTo>
                <a:cubicBezTo>
                  <a:pt x="30" y="1217"/>
                  <a:pt x="25" y="1209"/>
                  <a:pt x="20" y="1200"/>
                </a:cubicBezTo>
                <a:cubicBezTo>
                  <a:pt x="16" y="1192"/>
                  <a:pt x="12" y="1182"/>
                  <a:pt x="9" y="1173"/>
                </a:cubicBezTo>
                <a:cubicBezTo>
                  <a:pt x="6" y="1163"/>
                  <a:pt x="4" y="1153"/>
                  <a:pt x="3" y="1143"/>
                </a:cubicBezTo>
                <a:cubicBezTo>
                  <a:pt x="1" y="1133"/>
                  <a:pt x="0" y="1121"/>
                  <a:pt x="0" y="1111"/>
                </a:cubicBez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010120" y="4390920"/>
            <a:ext cx="57240" cy="457560"/>
          </a:xfrm>
          <a:custGeom>
            <a:avLst/>
            <a:gdLst/>
            <a:ahLst/>
            <a:rect l="0" t="0" r="r" b="b"/>
            <a:pathLst>
              <a:path w="159" h="1271">
                <a:moveTo>
                  <a:pt x="0" y="0"/>
                </a:moveTo>
                <a:lnTo>
                  <a:pt x="159" y="0"/>
                </a:lnTo>
                <a:lnTo>
                  <a:pt x="15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2861280" y="4621320"/>
            <a:ext cx="1349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Languages &amp; Abstraction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151240" y="4469040"/>
            <a:ext cx="3153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Satya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7310160" y="4390920"/>
            <a:ext cx="2167560" cy="457560"/>
          </a:xfrm>
          <a:custGeom>
            <a:avLst/>
            <a:gdLst/>
            <a:ahLst/>
            <a:rect l="0" t="0" r="r" b="b"/>
            <a:pathLst>
              <a:path w="6021" h="1271">
                <a:moveTo>
                  <a:pt x="0" y="111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4" y="117"/>
                  <a:pt x="6" y="107"/>
                  <a:pt x="9" y="98"/>
                </a:cubicBezTo>
                <a:cubicBezTo>
                  <a:pt x="12" y="88"/>
                  <a:pt x="16" y="79"/>
                  <a:pt x="20" y="70"/>
                </a:cubicBezTo>
                <a:cubicBezTo>
                  <a:pt x="25" y="62"/>
                  <a:pt x="30" y="54"/>
                  <a:pt x="35" y="46"/>
                </a:cubicBezTo>
                <a:cubicBezTo>
                  <a:pt x="41" y="39"/>
                  <a:pt x="47" y="32"/>
                  <a:pt x="53" y="27"/>
                </a:cubicBezTo>
                <a:cubicBezTo>
                  <a:pt x="60" y="21"/>
                  <a:pt x="67" y="16"/>
                  <a:pt x="74" y="12"/>
                </a:cubicBezTo>
                <a:cubicBezTo>
                  <a:pt x="81" y="8"/>
                  <a:pt x="88" y="5"/>
                  <a:pt x="96" y="3"/>
                </a:cubicBezTo>
                <a:cubicBezTo>
                  <a:pt x="104" y="1"/>
                  <a:pt x="112" y="0"/>
                  <a:pt x="119" y="0"/>
                </a:cubicBezTo>
                <a:lnTo>
                  <a:pt x="5862" y="0"/>
                </a:lnTo>
                <a:cubicBezTo>
                  <a:pt x="5872" y="0"/>
                  <a:pt x="5883" y="1"/>
                  <a:pt x="5893" y="3"/>
                </a:cubicBezTo>
                <a:cubicBezTo>
                  <a:pt x="5903" y="5"/>
                  <a:pt x="5913" y="8"/>
                  <a:pt x="5923" y="12"/>
                </a:cubicBezTo>
                <a:cubicBezTo>
                  <a:pt x="5932" y="16"/>
                  <a:pt x="5941" y="21"/>
                  <a:pt x="5950" y="27"/>
                </a:cubicBezTo>
                <a:cubicBezTo>
                  <a:pt x="5959" y="32"/>
                  <a:pt x="5967" y="39"/>
                  <a:pt x="5974" y="46"/>
                </a:cubicBezTo>
                <a:cubicBezTo>
                  <a:pt x="5981" y="54"/>
                  <a:pt x="5988" y="62"/>
                  <a:pt x="5994" y="70"/>
                </a:cubicBezTo>
                <a:cubicBezTo>
                  <a:pt x="6000" y="79"/>
                  <a:pt x="6004" y="88"/>
                  <a:pt x="6008" y="98"/>
                </a:cubicBezTo>
                <a:cubicBezTo>
                  <a:pt x="6012" y="107"/>
                  <a:pt x="6015" y="117"/>
                  <a:pt x="6017" y="128"/>
                </a:cubicBezTo>
                <a:cubicBezTo>
                  <a:pt x="6020" y="138"/>
                  <a:pt x="6021" y="148"/>
                  <a:pt x="6021" y="159"/>
                </a:cubicBezTo>
                <a:lnTo>
                  <a:pt x="6021" y="1111"/>
                </a:lnTo>
                <a:cubicBezTo>
                  <a:pt x="6021" y="1121"/>
                  <a:pt x="6020" y="1133"/>
                  <a:pt x="6017" y="1143"/>
                </a:cubicBezTo>
                <a:cubicBezTo>
                  <a:pt x="6015" y="1153"/>
                  <a:pt x="6012" y="1163"/>
                  <a:pt x="6008" y="1173"/>
                </a:cubicBezTo>
                <a:cubicBezTo>
                  <a:pt x="6004" y="1182"/>
                  <a:pt x="6000" y="1192"/>
                  <a:pt x="5994" y="1200"/>
                </a:cubicBezTo>
                <a:cubicBezTo>
                  <a:pt x="5988" y="1209"/>
                  <a:pt x="5981" y="1217"/>
                  <a:pt x="5974" y="1224"/>
                </a:cubicBezTo>
                <a:cubicBezTo>
                  <a:pt x="5967" y="1232"/>
                  <a:pt x="5959" y="1238"/>
                  <a:pt x="5950" y="1244"/>
                </a:cubicBezTo>
                <a:cubicBezTo>
                  <a:pt x="5941" y="1250"/>
                  <a:pt x="5932" y="1255"/>
                  <a:pt x="5923" y="1259"/>
                </a:cubicBezTo>
                <a:cubicBezTo>
                  <a:pt x="5913" y="1263"/>
                  <a:pt x="5903" y="1266"/>
                  <a:pt x="5893" y="1268"/>
                </a:cubicBezTo>
                <a:cubicBezTo>
                  <a:pt x="5883" y="1270"/>
                  <a:pt x="5872" y="1271"/>
                  <a:pt x="5862" y="1271"/>
                </a:cubicBezTo>
                <a:lnTo>
                  <a:pt x="119" y="1271"/>
                </a:lnTo>
                <a:cubicBezTo>
                  <a:pt x="112" y="1271"/>
                  <a:pt x="104" y="1270"/>
                  <a:pt x="96" y="1268"/>
                </a:cubicBezTo>
                <a:cubicBezTo>
                  <a:pt x="88" y="1266"/>
                  <a:pt x="81" y="1263"/>
                  <a:pt x="74" y="1259"/>
                </a:cubicBezTo>
                <a:cubicBezTo>
                  <a:pt x="67" y="1255"/>
                  <a:pt x="60" y="1250"/>
                  <a:pt x="53" y="1244"/>
                </a:cubicBezTo>
                <a:cubicBezTo>
                  <a:pt x="47" y="1238"/>
                  <a:pt x="41" y="1232"/>
                  <a:pt x="35" y="1224"/>
                </a:cubicBezTo>
                <a:cubicBezTo>
                  <a:pt x="30" y="1217"/>
                  <a:pt x="25" y="1209"/>
                  <a:pt x="20" y="1200"/>
                </a:cubicBezTo>
                <a:cubicBezTo>
                  <a:pt x="16" y="1192"/>
                  <a:pt x="12" y="1182"/>
                  <a:pt x="9" y="1173"/>
                </a:cubicBezTo>
                <a:cubicBezTo>
                  <a:pt x="6" y="1163"/>
                  <a:pt x="4" y="1153"/>
                  <a:pt x="3" y="1143"/>
                </a:cubicBezTo>
                <a:cubicBezTo>
                  <a:pt x="1" y="1133"/>
                  <a:pt x="0" y="1121"/>
                  <a:pt x="0" y="1111"/>
                </a:cubicBez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7296120" y="4390920"/>
            <a:ext cx="57240" cy="457560"/>
          </a:xfrm>
          <a:custGeom>
            <a:avLst/>
            <a:gdLst/>
            <a:ahLst/>
            <a:rect l="0" t="0" r="r" b="b"/>
            <a:pathLst>
              <a:path w="159" h="1271">
                <a:moveTo>
                  <a:pt x="0" y="0"/>
                </a:moveTo>
                <a:lnTo>
                  <a:pt x="159" y="0"/>
                </a:lnTo>
                <a:lnTo>
                  <a:pt x="15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5151240" y="4621320"/>
            <a:ext cx="11282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File &amp; Memory Mgmt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440840" y="4469040"/>
            <a:ext cx="664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Ken Birman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9605880" y="4390920"/>
            <a:ext cx="2157840" cy="457560"/>
          </a:xfrm>
          <a:custGeom>
            <a:avLst/>
            <a:gdLst/>
            <a:ahLst/>
            <a:rect l="0" t="0" r="r" b="b"/>
            <a:pathLst>
              <a:path w="5994" h="1271">
                <a:moveTo>
                  <a:pt x="0" y="1111"/>
                </a:moveTo>
                <a:lnTo>
                  <a:pt x="0" y="159"/>
                </a:lnTo>
                <a:cubicBezTo>
                  <a:pt x="0" y="148"/>
                  <a:pt x="0" y="138"/>
                  <a:pt x="2" y="128"/>
                </a:cubicBezTo>
                <a:cubicBezTo>
                  <a:pt x="4" y="117"/>
                  <a:pt x="6" y="107"/>
                  <a:pt x="9" y="98"/>
                </a:cubicBezTo>
                <a:cubicBezTo>
                  <a:pt x="12" y="88"/>
                  <a:pt x="15" y="79"/>
                  <a:pt x="20" y="70"/>
                </a:cubicBezTo>
                <a:cubicBezTo>
                  <a:pt x="24" y="62"/>
                  <a:pt x="29" y="54"/>
                  <a:pt x="35" y="46"/>
                </a:cubicBezTo>
                <a:cubicBezTo>
                  <a:pt x="40" y="39"/>
                  <a:pt x="46" y="32"/>
                  <a:pt x="53" y="27"/>
                </a:cubicBezTo>
                <a:cubicBezTo>
                  <a:pt x="59" y="21"/>
                  <a:pt x="66" y="16"/>
                  <a:pt x="73" y="12"/>
                </a:cubicBezTo>
                <a:cubicBezTo>
                  <a:pt x="80" y="8"/>
                  <a:pt x="88" y="5"/>
                  <a:pt x="96" y="3"/>
                </a:cubicBezTo>
                <a:cubicBezTo>
                  <a:pt x="103" y="1"/>
                  <a:pt x="111" y="0"/>
                  <a:pt x="119" y="0"/>
                </a:cubicBezTo>
                <a:lnTo>
                  <a:pt x="5835" y="0"/>
                </a:lnTo>
                <a:cubicBezTo>
                  <a:pt x="5845" y="0"/>
                  <a:pt x="5856" y="1"/>
                  <a:pt x="5866" y="3"/>
                </a:cubicBezTo>
                <a:cubicBezTo>
                  <a:pt x="5876" y="5"/>
                  <a:pt x="5886" y="8"/>
                  <a:pt x="5896" y="12"/>
                </a:cubicBezTo>
                <a:cubicBezTo>
                  <a:pt x="5905" y="16"/>
                  <a:pt x="5914" y="21"/>
                  <a:pt x="5923" y="27"/>
                </a:cubicBezTo>
                <a:cubicBezTo>
                  <a:pt x="5932" y="32"/>
                  <a:pt x="5940" y="39"/>
                  <a:pt x="5947" y="46"/>
                </a:cubicBezTo>
                <a:cubicBezTo>
                  <a:pt x="5954" y="54"/>
                  <a:pt x="5961" y="62"/>
                  <a:pt x="5967" y="70"/>
                </a:cubicBezTo>
                <a:cubicBezTo>
                  <a:pt x="5973" y="79"/>
                  <a:pt x="5977" y="88"/>
                  <a:pt x="5981" y="98"/>
                </a:cubicBezTo>
                <a:cubicBezTo>
                  <a:pt x="5985" y="107"/>
                  <a:pt x="5988" y="117"/>
                  <a:pt x="5990" y="128"/>
                </a:cubicBezTo>
                <a:cubicBezTo>
                  <a:pt x="5993" y="138"/>
                  <a:pt x="5994" y="148"/>
                  <a:pt x="5994" y="159"/>
                </a:cubicBezTo>
                <a:lnTo>
                  <a:pt x="5994" y="1111"/>
                </a:lnTo>
                <a:cubicBezTo>
                  <a:pt x="5994" y="1121"/>
                  <a:pt x="5993" y="1133"/>
                  <a:pt x="5990" y="1143"/>
                </a:cubicBezTo>
                <a:cubicBezTo>
                  <a:pt x="5988" y="1153"/>
                  <a:pt x="5985" y="1163"/>
                  <a:pt x="5981" y="1173"/>
                </a:cubicBezTo>
                <a:cubicBezTo>
                  <a:pt x="5977" y="1182"/>
                  <a:pt x="5973" y="1192"/>
                  <a:pt x="5967" y="1200"/>
                </a:cubicBezTo>
                <a:cubicBezTo>
                  <a:pt x="5961" y="1209"/>
                  <a:pt x="5954" y="1217"/>
                  <a:pt x="5947" y="1224"/>
                </a:cubicBezTo>
                <a:cubicBezTo>
                  <a:pt x="5940" y="1232"/>
                  <a:pt x="5932" y="1238"/>
                  <a:pt x="5923" y="1244"/>
                </a:cubicBezTo>
                <a:cubicBezTo>
                  <a:pt x="5914" y="1250"/>
                  <a:pt x="5905" y="1255"/>
                  <a:pt x="5896" y="1259"/>
                </a:cubicBezTo>
                <a:cubicBezTo>
                  <a:pt x="5886" y="1263"/>
                  <a:pt x="5876" y="1266"/>
                  <a:pt x="5866" y="1268"/>
                </a:cubicBezTo>
                <a:cubicBezTo>
                  <a:pt x="5856" y="1270"/>
                  <a:pt x="5845" y="1271"/>
                  <a:pt x="5835" y="1271"/>
                </a:cubicBezTo>
                <a:lnTo>
                  <a:pt x="119" y="1271"/>
                </a:lnTo>
                <a:cubicBezTo>
                  <a:pt x="111" y="1271"/>
                  <a:pt x="103" y="1270"/>
                  <a:pt x="96" y="1268"/>
                </a:cubicBezTo>
                <a:cubicBezTo>
                  <a:pt x="88" y="1266"/>
                  <a:pt x="80" y="1263"/>
                  <a:pt x="73" y="1259"/>
                </a:cubicBezTo>
                <a:cubicBezTo>
                  <a:pt x="66" y="1255"/>
                  <a:pt x="59" y="1250"/>
                  <a:pt x="53" y="1244"/>
                </a:cubicBezTo>
                <a:cubicBezTo>
                  <a:pt x="46" y="1238"/>
                  <a:pt x="40" y="1232"/>
                  <a:pt x="35" y="1224"/>
                </a:cubicBezTo>
                <a:cubicBezTo>
                  <a:pt x="29" y="1217"/>
                  <a:pt x="24" y="1209"/>
                  <a:pt x="20" y="1200"/>
                </a:cubicBezTo>
                <a:cubicBezTo>
                  <a:pt x="15" y="1192"/>
                  <a:pt x="12" y="1182"/>
                  <a:pt x="9" y="1173"/>
                </a:cubicBezTo>
                <a:cubicBezTo>
                  <a:pt x="6" y="1163"/>
                  <a:pt x="4" y="1153"/>
                  <a:pt x="2" y="1143"/>
                </a:cubicBezTo>
                <a:cubicBezTo>
                  <a:pt x="0" y="1133"/>
                  <a:pt x="0" y="1121"/>
                  <a:pt x="0" y="1111"/>
                </a:cubicBez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9591480" y="4390920"/>
            <a:ext cx="57600" cy="457560"/>
          </a:xfrm>
          <a:custGeom>
            <a:avLst/>
            <a:gdLst/>
            <a:ahLst/>
            <a:rect l="0" t="0" r="r" b="b"/>
            <a:pathLst>
              <a:path w="160" h="1271">
                <a:moveTo>
                  <a:pt x="0" y="0"/>
                </a:moveTo>
                <a:lnTo>
                  <a:pt x="160" y="0"/>
                </a:lnTo>
                <a:lnTo>
                  <a:pt x="160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440840" y="4621320"/>
            <a:ext cx="823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Fault Tolerance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9730800" y="4469040"/>
            <a:ext cx="877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Dave Patterson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433080" y="5000400"/>
            <a:ext cx="5544000" cy="1310040"/>
          </a:xfrm>
          <a:custGeom>
            <a:avLst/>
            <a:gdLst/>
            <a:ahLst/>
            <a:rect l="0" t="0" r="r" b="b"/>
            <a:pathLst>
              <a:path w="15400" h="3639">
                <a:moveTo>
                  <a:pt x="0" y="3547"/>
                </a:moveTo>
                <a:lnTo>
                  <a:pt x="0" y="0"/>
                </a:lnTo>
                <a:lnTo>
                  <a:pt x="15400" y="0"/>
                </a:lnTo>
                <a:lnTo>
                  <a:pt x="15400" y="3547"/>
                </a:lnTo>
                <a:cubicBezTo>
                  <a:pt x="15400" y="3559"/>
                  <a:pt x="15398" y="3571"/>
                  <a:pt x="15393" y="3582"/>
                </a:cubicBezTo>
                <a:cubicBezTo>
                  <a:pt x="15388" y="3593"/>
                  <a:pt x="15382" y="3603"/>
                  <a:pt x="15373" y="3612"/>
                </a:cubicBezTo>
                <a:cubicBezTo>
                  <a:pt x="15364" y="3621"/>
                  <a:pt x="15354" y="3627"/>
                  <a:pt x="15343" y="3632"/>
                </a:cubicBezTo>
                <a:cubicBezTo>
                  <a:pt x="15332" y="3637"/>
                  <a:pt x="15320" y="3639"/>
                  <a:pt x="15307" y="3639"/>
                </a:cubicBezTo>
                <a:lnTo>
                  <a:pt x="93" y="3639"/>
                </a:lnTo>
                <a:cubicBezTo>
                  <a:pt x="81" y="3639"/>
                  <a:pt x="69" y="3637"/>
                  <a:pt x="58" y="3632"/>
                </a:cubicBezTo>
                <a:cubicBezTo>
                  <a:pt x="46" y="3627"/>
                  <a:pt x="36" y="3621"/>
                  <a:pt x="27" y="3612"/>
                </a:cubicBezTo>
                <a:cubicBezTo>
                  <a:pt x="19" y="3603"/>
                  <a:pt x="12" y="3593"/>
                  <a:pt x="7" y="3582"/>
                </a:cubicBezTo>
                <a:cubicBezTo>
                  <a:pt x="3" y="3571"/>
                  <a:pt x="0" y="3559"/>
                  <a:pt x="0" y="35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438120" y="5019480"/>
            <a:ext cx="5533920" cy="0"/>
          </a:xfrm>
          <a:custGeom>
            <a:avLst/>
            <a:gdLst/>
            <a:ahLst/>
            <a:rect l="0" t="0" r="r" b="b"/>
            <a:pathLst>
              <a:path w="15372" h="0">
                <a:moveTo>
                  <a:pt x="0" y="0"/>
                </a:moveTo>
                <a:lnTo>
                  <a:pt x="15372" y="0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446400" y="6291000"/>
            <a:ext cx="5517720" cy="14760"/>
          </a:xfrm>
          <a:custGeom>
            <a:avLst/>
            <a:gdLst/>
            <a:ahLst/>
            <a:rect l="0" t="0" r="r" b="b"/>
            <a:pathLst>
              <a:path w="15327" h="41">
                <a:moveTo>
                  <a:pt x="16" y="0"/>
                </a:moveTo>
                <a:lnTo>
                  <a:pt x="15310" y="0"/>
                </a:lnTo>
                <a:lnTo>
                  <a:pt x="15327" y="18"/>
                </a:lnTo>
                <a:cubicBezTo>
                  <a:pt x="15311" y="33"/>
                  <a:pt x="15292" y="41"/>
                  <a:pt x="15270" y="41"/>
                </a:cubicBezTo>
                <a:lnTo>
                  <a:pt x="56" y="41"/>
                </a:lnTo>
                <a:cubicBezTo>
                  <a:pt x="34" y="41"/>
                  <a:pt x="15" y="33"/>
                  <a:pt x="0" y="18"/>
                </a:cubicBezTo>
                <a:lnTo>
                  <a:pt x="16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957640" y="5019480"/>
            <a:ext cx="14760" cy="1278360"/>
          </a:xfrm>
          <a:custGeom>
            <a:avLst/>
            <a:gdLst/>
            <a:ahLst/>
            <a:rect l="0" t="0" r="r" b="b"/>
            <a:pathLst>
              <a:path w="41" h="3551">
                <a:moveTo>
                  <a:pt x="0" y="3536"/>
                </a:moveTo>
                <a:lnTo>
                  <a:pt x="0" y="156"/>
                </a:lnTo>
                <a:lnTo>
                  <a:pt x="40" y="0"/>
                </a:lnTo>
                <a:lnTo>
                  <a:pt x="41" y="0"/>
                </a:lnTo>
                <a:lnTo>
                  <a:pt x="41" y="3494"/>
                </a:lnTo>
                <a:cubicBezTo>
                  <a:pt x="41" y="3515"/>
                  <a:pt x="33" y="3534"/>
                  <a:pt x="18" y="3550"/>
                </a:cubicBezTo>
                <a:cubicBezTo>
                  <a:pt x="17" y="3550"/>
                  <a:pt x="17" y="3551"/>
                  <a:pt x="16" y="3551"/>
                </a:cubicBezTo>
                <a:lnTo>
                  <a:pt x="0" y="353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438120" y="5019480"/>
            <a:ext cx="14400" cy="1278360"/>
          </a:xfrm>
          <a:custGeom>
            <a:avLst/>
            <a:gdLst/>
            <a:ahLst/>
            <a:rect l="0" t="0" r="r" b="b"/>
            <a:pathLst>
              <a:path w="40" h="3551">
                <a:moveTo>
                  <a:pt x="40" y="156"/>
                </a:moveTo>
                <a:lnTo>
                  <a:pt x="40" y="3536"/>
                </a:lnTo>
                <a:lnTo>
                  <a:pt x="25" y="3551"/>
                </a:lnTo>
                <a:lnTo>
                  <a:pt x="24" y="3550"/>
                </a:lnTo>
                <a:cubicBezTo>
                  <a:pt x="7" y="3534"/>
                  <a:pt x="0" y="3515"/>
                  <a:pt x="0" y="3494"/>
                </a:cubicBezTo>
                <a:lnTo>
                  <a:pt x="0" y="0"/>
                </a:lnTo>
                <a:lnTo>
                  <a:pt x="40" y="15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28560" y="5248080"/>
            <a:ext cx="190800" cy="152640"/>
          </a:xfrm>
          <a:custGeom>
            <a:avLst/>
            <a:gdLst/>
            <a:ahLst/>
            <a:rect l="0" t="0" r="r" b="b"/>
            <a:pathLst>
              <a:path w="530" h="424">
                <a:moveTo>
                  <a:pt x="173" y="292"/>
                </a:moveTo>
                <a:cubicBezTo>
                  <a:pt x="268" y="292"/>
                  <a:pt x="345" y="227"/>
                  <a:pt x="345" y="147"/>
                </a:cubicBezTo>
                <a:cubicBezTo>
                  <a:pt x="345" y="66"/>
                  <a:pt x="268" y="0"/>
                  <a:pt x="173" y="0"/>
                </a:cubicBezTo>
                <a:cubicBezTo>
                  <a:pt x="77" y="0"/>
                  <a:pt x="0" y="66"/>
                  <a:pt x="0" y="147"/>
                </a:cubicBezTo>
                <a:cubicBezTo>
                  <a:pt x="0" y="178"/>
                  <a:pt x="12" y="208"/>
                  <a:pt x="32" y="232"/>
                </a:cubicBezTo>
                <a:cubicBezTo>
                  <a:pt x="30" y="240"/>
                  <a:pt x="25" y="247"/>
                  <a:pt x="21" y="252"/>
                </a:cubicBezTo>
                <a:cubicBezTo>
                  <a:pt x="17" y="258"/>
                  <a:pt x="13" y="262"/>
                  <a:pt x="10" y="264"/>
                </a:cubicBezTo>
                <a:cubicBezTo>
                  <a:pt x="8" y="266"/>
                  <a:pt x="7" y="267"/>
                  <a:pt x="6" y="267"/>
                </a:cubicBezTo>
                <a:cubicBezTo>
                  <a:pt x="6" y="268"/>
                  <a:pt x="5" y="268"/>
                  <a:pt x="5" y="268"/>
                </a:cubicBezTo>
                <a:cubicBezTo>
                  <a:pt x="1" y="272"/>
                  <a:pt x="-1" y="278"/>
                  <a:pt x="0" y="283"/>
                </a:cubicBezTo>
                <a:cubicBezTo>
                  <a:pt x="2" y="288"/>
                  <a:pt x="7" y="292"/>
                  <a:pt x="13" y="292"/>
                </a:cubicBezTo>
                <a:cubicBezTo>
                  <a:pt x="31" y="292"/>
                  <a:pt x="49" y="287"/>
                  <a:pt x="64" y="282"/>
                </a:cubicBezTo>
                <a:cubicBezTo>
                  <a:pt x="72" y="279"/>
                  <a:pt x="79" y="276"/>
                  <a:pt x="85" y="272"/>
                </a:cubicBezTo>
                <a:cubicBezTo>
                  <a:pt x="112" y="285"/>
                  <a:pt x="141" y="292"/>
                  <a:pt x="173" y="292"/>
                </a:cubicBezTo>
                <a:moveTo>
                  <a:pt x="371" y="147"/>
                </a:moveTo>
                <a:cubicBezTo>
                  <a:pt x="371" y="239"/>
                  <a:pt x="289" y="309"/>
                  <a:pt x="192" y="318"/>
                </a:cubicBezTo>
                <a:cubicBezTo>
                  <a:pt x="212" y="379"/>
                  <a:pt x="279" y="424"/>
                  <a:pt x="358" y="424"/>
                </a:cubicBezTo>
                <a:cubicBezTo>
                  <a:pt x="390" y="424"/>
                  <a:pt x="419" y="417"/>
                  <a:pt x="445" y="405"/>
                </a:cubicBezTo>
                <a:cubicBezTo>
                  <a:pt x="451" y="408"/>
                  <a:pt x="458" y="411"/>
                  <a:pt x="465" y="414"/>
                </a:cubicBezTo>
                <a:cubicBezTo>
                  <a:pt x="480" y="420"/>
                  <a:pt x="499" y="424"/>
                  <a:pt x="517" y="424"/>
                </a:cubicBezTo>
                <a:cubicBezTo>
                  <a:pt x="522" y="424"/>
                  <a:pt x="528" y="421"/>
                  <a:pt x="529" y="415"/>
                </a:cubicBezTo>
                <a:cubicBezTo>
                  <a:pt x="531" y="410"/>
                  <a:pt x="529" y="404"/>
                  <a:pt x="524" y="400"/>
                </a:cubicBezTo>
                <a:lnTo>
                  <a:pt x="523" y="400"/>
                </a:lnTo>
                <a:cubicBezTo>
                  <a:pt x="523" y="399"/>
                  <a:pt x="521" y="398"/>
                  <a:pt x="520" y="397"/>
                </a:cubicBezTo>
                <a:cubicBezTo>
                  <a:pt x="517" y="394"/>
                  <a:pt x="513" y="390"/>
                  <a:pt x="509" y="385"/>
                </a:cubicBezTo>
                <a:cubicBezTo>
                  <a:pt x="504" y="379"/>
                  <a:pt x="500" y="372"/>
                  <a:pt x="497" y="364"/>
                </a:cubicBezTo>
                <a:cubicBezTo>
                  <a:pt x="518" y="340"/>
                  <a:pt x="530" y="311"/>
                  <a:pt x="530" y="279"/>
                </a:cubicBezTo>
                <a:cubicBezTo>
                  <a:pt x="530" y="202"/>
                  <a:pt x="460" y="139"/>
                  <a:pt x="371" y="134"/>
                </a:cubicBezTo>
                <a:cubicBezTo>
                  <a:pt x="371" y="138"/>
                  <a:pt x="371" y="142"/>
                  <a:pt x="371" y="146"/>
                </a:cubicBezTo>
                <a:lnTo>
                  <a:pt x="371" y="147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9730800" y="4621320"/>
            <a:ext cx="13352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Hardware &amp; Architecture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628560" y="5591160"/>
            <a:ext cx="152640" cy="152640"/>
          </a:xfrm>
          <a:custGeom>
            <a:avLst/>
            <a:gdLst/>
            <a:ahLst/>
            <a:rect l="0" t="0" r="r" b="b"/>
            <a:pathLst>
              <a:path w="424" h="424">
                <a:moveTo>
                  <a:pt x="212" y="424"/>
                </a:moveTo>
                <a:cubicBezTo>
                  <a:pt x="226" y="424"/>
                  <a:pt x="240" y="423"/>
                  <a:pt x="254" y="420"/>
                </a:cubicBezTo>
                <a:cubicBezTo>
                  <a:pt x="267" y="417"/>
                  <a:pt x="281" y="413"/>
                  <a:pt x="293" y="408"/>
                </a:cubicBezTo>
                <a:cubicBezTo>
                  <a:pt x="306" y="402"/>
                  <a:pt x="318" y="396"/>
                  <a:pt x="330" y="388"/>
                </a:cubicBezTo>
                <a:cubicBezTo>
                  <a:pt x="342" y="380"/>
                  <a:pt x="352" y="372"/>
                  <a:pt x="362" y="362"/>
                </a:cubicBezTo>
                <a:cubicBezTo>
                  <a:pt x="372" y="352"/>
                  <a:pt x="381" y="341"/>
                  <a:pt x="388" y="329"/>
                </a:cubicBezTo>
                <a:cubicBezTo>
                  <a:pt x="396" y="317"/>
                  <a:pt x="403" y="305"/>
                  <a:pt x="408" y="292"/>
                </a:cubicBezTo>
                <a:cubicBezTo>
                  <a:pt x="413" y="279"/>
                  <a:pt x="417" y="266"/>
                  <a:pt x="420" y="253"/>
                </a:cubicBezTo>
                <a:cubicBezTo>
                  <a:pt x="423" y="239"/>
                  <a:pt x="424" y="225"/>
                  <a:pt x="424" y="211"/>
                </a:cubicBezTo>
                <a:cubicBezTo>
                  <a:pt x="424" y="197"/>
                  <a:pt x="423" y="184"/>
                  <a:pt x="420" y="170"/>
                </a:cubicBezTo>
                <a:cubicBezTo>
                  <a:pt x="417" y="156"/>
                  <a:pt x="413" y="143"/>
                  <a:pt x="408" y="130"/>
                </a:cubicBezTo>
                <a:cubicBezTo>
                  <a:pt x="403" y="117"/>
                  <a:pt x="396" y="105"/>
                  <a:pt x="388" y="94"/>
                </a:cubicBezTo>
                <a:cubicBezTo>
                  <a:pt x="381" y="82"/>
                  <a:pt x="372" y="71"/>
                  <a:pt x="362" y="62"/>
                </a:cubicBezTo>
                <a:cubicBezTo>
                  <a:pt x="352" y="52"/>
                  <a:pt x="342" y="43"/>
                  <a:pt x="330" y="35"/>
                </a:cubicBezTo>
                <a:cubicBezTo>
                  <a:pt x="318" y="27"/>
                  <a:pt x="306" y="21"/>
                  <a:pt x="293" y="16"/>
                </a:cubicBezTo>
                <a:cubicBezTo>
                  <a:pt x="281" y="10"/>
                  <a:pt x="267" y="6"/>
                  <a:pt x="254" y="4"/>
                </a:cubicBezTo>
                <a:cubicBezTo>
                  <a:pt x="240" y="1"/>
                  <a:pt x="226" y="0"/>
                  <a:pt x="212" y="0"/>
                </a:cubicBezTo>
                <a:cubicBezTo>
                  <a:pt x="199" y="0"/>
                  <a:pt x="185" y="1"/>
                  <a:pt x="171" y="4"/>
                </a:cubicBezTo>
                <a:cubicBezTo>
                  <a:pt x="156" y="6"/>
                  <a:pt x="143" y="10"/>
                  <a:pt x="130" y="16"/>
                </a:cubicBezTo>
                <a:cubicBezTo>
                  <a:pt x="118" y="21"/>
                  <a:pt x="105" y="27"/>
                  <a:pt x="94" y="35"/>
                </a:cubicBezTo>
                <a:cubicBezTo>
                  <a:pt x="82" y="43"/>
                  <a:pt x="72" y="52"/>
                  <a:pt x="62" y="62"/>
                </a:cubicBezTo>
                <a:cubicBezTo>
                  <a:pt x="52" y="71"/>
                  <a:pt x="43" y="82"/>
                  <a:pt x="35" y="94"/>
                </a:cubicBezTo>
                <a:cubicBezTo>
                  <a:pt x="28" y="105"/>
                  <a:pt x="21" y="117"/>
                  <a:pt x="16" y="130"/>
                </a:cubicBezTo>
                <a:cubicBezTo>
                  <a:pt x="11" y="143"/>
                  <a:pt x="7" y="156"/>
                  <a:pt x="4" y="170"/>
                </a:cubicBezTo>
                <a:cubicBezTo>
                  <a:pt x="1" y="184"/>
                  <a:pt x="0" y="197"/>
                  <a:pt x="0" y="211"/>
                </a:cubicBezTo>
                <a:cubicBezTo>
                  <a:pt x="0" y="225"/>
                  <a:pt x="1" y="239"/>
                  <a:pt x="4" y="253"/>
                </a:cubicBezTo>
                <a:cubicBezTo>
                  <a:pt x="7" y="266"/>
                  <a:pt x="11" y="279"/>
                  <a:pt x="16" y="292"/>
                </a:cubicBezTo>
                <a:cubicBezTo>
                  <a:pt x="21" y="305"/>
                  <a:pt x="28" y="317"/>
                  <a:pt x="35" y="329"/>
                </a:cubicBezTo>
                <a:cubicBezTo>
                  <a:pt x="43" y="341"/>
                  <a:pt x="52" y="352"/>
                  <a:pt x="62" y="362"/>
                </a:cubicBezTo>
                <a:cubicBezTo>
                  <a:pt x="72" y="372"/>
                  <a:pt x="82" y="380"/>
                  <a:pt x="94" y="388"/>
                </a:cubicBezTo>
                <a:cubicBezTo>
                  <a:pt x="105" y="396"/>
                  <a:pt x="118" y="402"/>
                  <a:pt x="130" y="408"/>
                </a:cubicBezTo>
                <a:cubicBezTo>
                  <a:pt x="143" y="413"/>
                  <a:pt x="156" y="417"/>
                  <a:pt x="171" y="420"/>
                </a:cubicBezTo>
                <a:cubicBezTo>
                  <a:pt x="185" y="423"/>
                  <a:pt x="199" y="424"/>
                  <a:pt x="212" y="424"/>
                </a:cubicBezTo>
                <a:moveTo>
                  <a:pt x="140" y="136"/>
                </a:moveTo>
                <a:cubicBezTo>
                  <a:pt x="147" y="118"/>
                  <a:pt x="165" y="105"/>
                  <a:pt x="185" y="105"/>
                </a:cubicBezTo>
                <a:lnTo>
                  <a:pt x="233" y="105"/>
                </a:lnTo>
                <a:cubicBezTo>
                  <a:pt x="262" y="105"/>
                  <a:pt x="285" y="129"/>
                  <a:pt x="285" y="158"/>
                </a:cubicBezTo>
                <a:cubicBezTo>
                  <a:pt x="285" y="176"/>
                  <a:pt x="275" y="194"/>
                  <a:pt x="259" y="203"/>
                </a:cubicBezTo>
                <a:lnTo>
                  <a:pt x="232" y="218"/>
                </a:lnTo>
                <a:cubicBezTo>
                  <a:pt x="232" y="229"/>
                  <a:pt x="223" y="238"/>
                  <a:pt x="212" y="238"/>
                </a:cubicBezTo>
                <a:cubicBezTo>
                  <a:pt x="201" y="238"/>
                  <a:pt x="193" y="229"/>
                  <a:pt x="193" y="218"/>
                </a:cubicBezTo>
                <a:lnTo>
                  <a:pt x="193" y="207"/>
                </a:lnTo>
                <a:cubicBezTo>
                  <a:pt x="193" y="200"/>
                  <a:pt x="196" y="193"/>
                  <a:pt x="203" y="189"/>
                </a:cubicBezTo>
                <a:lnTo>
                  <a:pt x="239" y="168"/>
                </a:lnTo>
                <a:cubicBezTo>
                  <a:pt x="243" y="166"/>
                  <a:pt x="245" y="162"/>
                  <a:pt x="245" y="158"/>
                </a:cubicBezTo>
                <a:cubicBezTo>
                  <a:pt x="245" y="151"/>
                  <a:pt x="240" y="145"/>
                  <a:pt x="233" y="145"/>
                </a:cubicBezTo>
                <a:lnTo>
                  <a:pt x="185" y="145"/>
                </a:lnTo>
                <a:cubicBezTo>
                  <a:pt x="182" y="145"/>
                  <a:pt x="180" y="147"/>
                  <a:pt x="179" y="150"/>
                </a:cubicBezTo>
                <a:lnTo>
                  <a:pt x="178" y="151"/>
                </a:lnTo>
                <a:cubicBezTo>
                  <a:pt x="175" y="161"/>
                  <a:pt x="163" y="166"/>
                  <a:pt x="152" y="163"/>
                </a:cubicBezTo>
                <a:cubicBezTo>
                  <a:pt x="142" y="159"/>
                  <a:pt x="136" y="148"/>
                  <a:pt x="140" y="137"/>
                </a:cubicBezTo>
                <a:lnTo>
                  <a:pt x="140" y="136"/>
                </a:lnTo>
                <a:moveTo>
                  <a:pt x="186" y="291"/>
                </a:moveTo>
                <a:cubicBezTo>
                  <a:pt x="186" y="283"/>
                  <a:pt x="189" y="277"/>
                  <a:pt x="194" y="272"/>
                </a:cubicBezTo>
                <a:cubicBezTo>
                  <a:pt x="199" y="267"/>
                  <a:pt x="205" y="264"/>
                  <a:pt x="212" y="264"/>
                </a:cubicBezTo>
                <a:cubicBezTo>
                  <a:pt x="220" y="264"/>
                  <a:pt x="226" y="267"/>
                  <a:pt x="231" y="272"/>
                </a:cubicBezTo>
                <a:cubicBezTo>
                  <a:pt x="236" y="277"/>
                  <a:pt x="239" y="283"/>
                  <a:pt x="239" y="291"/>
                </a:cubicBezTo>
                <a:cubicBezTo>
                  <a:pt x="239" y="298"/>
                  <a:pt x="236" y="304"/>
                  <a:pt x="231" y="309"/>
                </a:cubicBezTo>
                <a:cubicBezTo>
                  <a:pt x="226" y="314"/>
                  <a:pt x="220" y="317"/>
                  <a:pt x="212" y="317"/>
                </a:cubicBezTo>
                <a:cubicBezTo>
                  <a:pt x="205" y="317"/>
                  <a:pt x="199" y="314"/>
                  <a:pt x="194" y="309"/>
                </a:cubicBezTo>
                <a:cubicBezTo>
                  <a:pt x="189" y="304"/>
                  <a:pt x="186" y="298"/>
                  <a:pt x="186" y="291"/>
                </a:cubicBezTo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895320" y="5218560"/>
            <a:ext cx="2005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Thought-Provoking Panels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628560" y="5857560"/>
            <a:ext cx="190800" cy="153000"/>
          </a:xfrm>
          <a:custGeom>
            <a:avLst/>
            <a:gdLst/>
            <a:ahLst/>
            <a:rect l="0" t="0" r="r" b="b"/>
            <a:pathLst>
              <a:path w="530" h="425">
                <a:moveTo>
                  <a:pt x="120" y="0"/>
                </a:moveTo>
                <a:cubicBezTo>
                  <a:pt x="129" y="0"/>
                  <a:pt x="137" y="2"/>
                  <a:pt x="145" y="5"/>
                </a:cubicBezTo>
                <a:cubicBezTo>
                  <a:pt x="153" y="9"/>
                  <a:pt x="160" y="14"/>
                  <a:pt x="167" y="21"/>
                </a:cubicBezTo>
                <a:cubicBezTo>
                  <a:pt x="173" y="27"/>
                  <a:pt x="178" y="34"/>
                  <a:pt x="181" y="42"/>
                </a:cubicBezTo>
                <a:cubicBezTo>
                  <a:pt x="184" y="50"/>
                  <a:pt x="186" y="59"/>
                  <a:pt x="186" y="68"/>
                </a:cubicBezTo>
                <a:cubicBezTo>
                  <a:pt x="186" y="76"/>
                  <a:pt x="184" y="85"/>
                  <a:pt x="181" y="93"/>
                </a:cubicBezTo>
                <a:cubicBezTo>
                  <a:pt x="178" y="101"/>
                  <a:pt x="173" y="108"/>
                  <a:pt x="167" y="114"/>
                </a:cubicBezTo>
                <a:cubicBezTo>
                  <a:pt x="160" y="120"/>
                  <a:pt x="153" y="125"/>
                  <a:pt x="145" y="129"/>
                </a:cubicBezTo>
                <a:cubicBezTo>
                  <a:pt x="137" y="132"/>
                  <a:pt x="129" y="134"/>
                  <a:pt x="120" y="134"/>
                </a:cubicBezTo>
                <a:cubicBezTo>
                  <a:pt x="111" y="134"/>
                  <a:pt x="102" y="132"/>
                  <a:pt x="93" y="129"/>
                </a:cubicBezTo>
                <a:cubicBezTo>
                  <a:pt x="85" y="125"/>
                  <a:pt x="78" y="120"/>
                  <a:pt x="72" y="114"/>
                </a:cubicBezTo>
                <a:cubicBezTo>
                  <a:pt x="66" y="108"/>
                  <a:pt x="61" y="101"/>
                  <a:pt x="58" y="93"/>
                </a:cubicBezTo>
                <a:cubicBezTo>
                  <a:pt x="54" y="85"/>
                  <a:pt x="53" y="76"/>
                  <a:pt x="53" y="68"/>
                </a:cubicBezTo>
                <a:cubicBezTo>
                  <a:pt x="53" y="59"/>
                  <a:pt x="54" y="50"/>
                  <a:pt x="58" y="42"/>
                </a:cubicBezTo>
                <a:cubicBezTo>
                  <a:pt x="61" y="34"/>
                  <a:pt x="66" y="27"/>
                  <a:pt x="72" y="21"/>
                </a:cubicBezTo>
                <a:cubicBezTo>
                  <a:pt x="78" y="14"/>
                  <a:pt x="85" y="9"/>
                  <a:pt x="93" y="5"/>
                </a:cubicBezTo>
                <a:cubicBezTo>
                  <a:pt x="102" y="2"/>
                  <a:pt x="111" y="0"/>
                  <a:pt x="120" y="0"/>
                </a:cubicBezTo>
                <a:moveTo>
                  <a:pt x="424" y="0"/>
                </a:moveTo>
                <a:cubicBezTo>
                  <a:pt x="433" y="0"/>
                  <a:pt x="441" y="2"/>
                  <a:pt x="449" y="5"/>
                </a:cubicBezTo>
                <a:cubicBezTo>
                  <a:pt x="457" y="9"/>
                  <a:pt x="465" y="14"/>
                  <a:pt x="471" y="21"/>
                </a:cubicBezTo>
                <a:cubicBezTo>
                  <a:pt x="477" y="27"/>
                  <a:pt x="482" y="34"/>
                  <a:pt x="485" y="42"/>
                </a:cubicBezTo>
                <a:cubicBezTo>
                  <a:pt x="489" y="50"/>
                  <a:pt x="490" y="59"/>
                  <a:pt x="490" y="68"/>
                </a:cubicBezTo>
                <a:cubicBezTo>
                  <a:pt x="490" y="76"/>
                  <a:pt x="489" y="85"/>
                  <a:pt x="485" y="93"/>
                </a:cubicBezTo>
                <a:cubicBezTo>
                  <a:pt x="482" y="101"/>
                  <a:pt x="477" y="108"/>
                  <a:pt x="471" y="114"/>
                </a:cubicBezTo>
                <a:cubicBezTo>
                  <a:pt x="465" y="120"/>
                  <a:pt x="457" y="125"/>
                  <a:pt x="449" y="129"/>
                </a:cubicBezTo>
                <a:cubicBezTo>
                  <a:pt x="441" y="132"/>
                  <a:pt x="433" y="134"/>
                  <a:pt x="424" y="134"/>
                </a:cubicBezTo>
                <a:cubicBezTo>
                  <a:pt x="415" y="134"/>
                  <a:pt x="407" y="132"/>
                  <a:pt x="399" y="129"/>
                </a:cubicBezTo>
                <a:cubicBezTo>
                  <a:pt x="391" y="125"/>
                  <a:pt x="384" y="120"/>
                  <a:pt x="377" y="114"/>
                </a:cubicBezTo>
                <a:cubicBezTo>
                  <a:pt x="371" y="108"/>
                  <a:pt x="366" y="101"/>
                  <a:pt x="363" y="93"/>
                </a:cubicBezTo>
                <a:cubicBezTo>
                  <a:pt x="360" y="85"/>
                  <a:pt x="358" y="76"/>
                  <a:pt x="358" y="68"/>
                </a:cubicBezTo>
                <a:cubicBezTo>
                  <a:pt x="358" y="59"/>
                  <a:pt x="360" y="50"/>
                  <a:pt x="363" y="42"/>
                </a:cubicBezTo>
                <a:cubicBezTo>
                  <a:pt x="366" y="34"/>
                  <a:pt x="371" y="27"/>
                  <a:pt x="377" y="21"/>
                </a:cubicBezTo>
                <a:cubicBezTo>
                  <a:pt x="384" y="14"/>
                  <a:pt x="391" y="9"/>
                  <a:pt x="399" y="5"/>
                </a:cubicBezTo>
                <a:cubicBezTo>
                  <a:pt x="407" y="2"/>
                  <a:pt x="415" y="0"/>
                  <a:pt x="424" y="0"/>
                </a:cubicBezTo>
                <a:moveTo>
                  <a:pt x="0" y="248"/>
                </a:moveTo>
                <a:cubicBezTo>
                  <a:pt x="0" y="200"/>
                  <a:pt x="39" y="160"/>
                  <a:pt x="88" y="160"/>
                </a:cubicBezTo>
                <a:lnTo>
                  <a:pt x="124" y="160"/>
                </a:lnTo>
                <a:cubicBezTo>
                  <a:pt x="137" y="160"/>
                  <a:pt x="150" y="163"/>
                  <a:pt x="161" y="168"/>
                </a:cubicBezTo>
                <a:cubicBezTo>
                  <a:pt x="160" y="174"/>
                  <a:pt x="160" y="180"/>
                  <a:pt x="160" y="187"/>
                </a:cubicBezTo>
                <a:cubicBezTo>
                  <a:pt x="160" y="218"/>
                  <a:pt x="173" y="247"/>
                  <a:pt x="195" y="266"/>
                </a:cubicBezTo>
                <a:lnTo>
                  <a:pt x="17" y="266"/>
                </a:lnTo>
                <a:cubicBezTo>
                  <a:pt x="8" y="266"/>
                  <a:pt x="0" y="258"/>
                  <a:pt x="0" y="248"/>
                </a:cubicBezTo>
                <a:moveTo>
                  <a:pt x="336" y="266"/>
                </a:moveTo>
                <a:lnTo>
                  <a:pt x="335" y="266"/>
                </a:lnTo>
                <a:cubicBezTo>
                  <a:pt x="357" y="247"/>
                  <a:pt x="371" y="218"/>
                  <a:pt x="371" y="187"/>
                </a:cubicBezTo>
                <a:cubicBezTo>
                  <a:pt x="371" y="180"/>
                  <a:pt x="371" y="174"/>
                  <a:pt x="370" y="168"/>
                </a:cubicBezTo>
                <a:cubicBezTo>
                  <a:pt x="381" y="163"/>
                  <a:pt x="393" y="160"/>
                  <a:pt x="406" y="160"/>
                </a:cubicBezTo>
                <a:lnTo>
                  <a:pt x="442" y="160"/>
                </a:lnTo>
                <a:cubicBezTo>
                  <a:pt x="490" y="160"/>
                  <a:pt x="530" y="200"/>
                  <a:pt x="530" y="248"/>
                </a:cubicBezTo>
                <a:cubicBezTo>
                  <a:pt x="530" y="258"/>
                  <a:pt x="522" y="266"/>
                  <a:pt x="512" y="266"/>
                </a:cubicBezTo>
                <a:lnTo>
                  <a:pt x="336" y="266"/>
                </a:lnTo>
                <a:moveTo>
                  <a:pt x="186" y="187"/>
                </a:moveTo>
                <a:cubicBezTo>
                  <a:pt x="186" y="176"/>
                  <a:pt x="188" y="166"/>
                  <a:pt x="192" y="156"/>
                </a:cubicBezTo>
                <a:cubicBezTo>
                  <a:pt x="196" y="146"/>
                  <a:pt x="202" y="138"/>
                  <a:pt x="209" y="130"/>
                </a:cubicBezTo>
                <a:cubicBezTo>
                  <a:pt x="217" y="123"/>
                  <a:pt x="225" y="117"/>
                  <a:pt x="235" y="113"/>
                </a:cubicBezTo>
                <a:cubicBezTo>
                  <a:pt x="245" y="109"/>
                  <a:pt x="255" y="107"/>
                  <a:pt x="265" y="107"/>
                </a:cubicBezTo>
                <a:cubicBezTo>
                  <a:pt x="276" y="107"/>
                  <a:pt x="286" y="109"/>
                  <a:pt x="296" y="113"/>
                </a:cubicBezTo>
                <a:cubicBezTo>
                  <a:pt x="305" y="117"/>
                  <a:pt x="314" y="123"/>
                  <a:pt x="321" y="130"/>
                </a:cubicBezTo>
                <a:cubicBezTo>
                  <a:pt x="329" y="138"/>
                  <a:pt x="335" y="146"/>
                  <a:pt x="339" y="156"/>
                </a:cubicBezTo>
                <a:cubicBezTo>
                  <a:pt x="343" y="166"/>
                  <a:pt x="345" y="176"/>
                  <a:pt x="345" y="187"/>
                </a:cubicBezTo>
                <a:cubicBezTo>
                  <a:pt x="345" y="197"/>
                  <a:pt x="343" y="207"/>
                  <a:pt x="339" y="217"/>
                </a:cubicBezTo>
                <a:cubicBezTo>
                  <a:pt x="335" y="227"/>
                  <a:pt x="329" y="235"/>
                  <a:pt x="321" y="243"/>
                </a:cubicBezTo>
                <a:cubicBezTo>
                  <a:pt x="314" y="250"/>
                  <a:pt x="305" y="256"/>
                  <a:pt x="296" y="260"/>
                </a:cubicBezTo>
                <a:cubicBezTo>
                  <a:pt x="286" y="264"/>
                  <a:pt x="276" y="266"/>
                  <a:pt x="265" y="266"/>
                </a:cubicBezTo>
                <a:cubicBezTo>
                  <a:pt x="255" y="266"/>
                  <a:pt x="245" y="264"/>
                  <a:pt x="235" y="260"/>
                </a:cubicBezTo>
                <a:cubicBezTo>
                  <a:pt x="225" y="256"/>
                  <a:pt x="217" y="250"/>
                  <a:pt x="209" y="243"/>
                </a:cubicBezTo>
                <a:cubicBezTo>
                  <a:pt x="202" y="235"/>
                  <a:pt x="196" y="227"/>
                  <a:pt x="192" y="217"/>
                </a:cubicBezTo>
                <a:cubicBezTo>
                  <a:pt x="188" y="207"/>
                  <a:pt x="186" y="197"/>
                  <a:pt x="186" y="187"/>
                </a:cubicBezTo>
                <a:moveTo>
                  <a:pt x="107" y="403"/>
                </a:moveTo>
                <a:cubicBezTo>
                  <a:pt x="107" y="342"/>
                  <a:pt x="156" y="292"/>
                  <a:pt x="217" y="292"/>
                </a:cubicBezTo>
                <a:lnTo>
                  <a:pt x="314" y="292"/>
                </a:lnTo>
                <a:cubicBezTo>
                  <a:pt x="375" y="292"/>
                  <a:pt x="424" y="342"/>
                  <a:pt x="424" y="403"/>
                </a:cubicBezTo>
                <a:cubicBezTo>
                  <a:pt x="424" y="415"/>
                  <a:pt x="414" y="425"/>
                  <a:pt x="402" y="425"/>
                </a:cubicBezTo>
                <a:lnTo>
                  <a:pt x="129" y="425"/>
                </a:lnTo>
                <a:cubicBezTo>
                  <a:pt x="117" y="425"/>
                  <a:pt x="107" y="415"/>
                  <a:pt x="107" y="403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857160" y="5553360"/>
            <a:ext cx="2508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"Is achieving security a hopeless quest?"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6229080" y="4981320"/>
            <a:ext cx="5534640" cy="1333800"/>
          </a:xfrm>
          <a:custGeom>
            <a:avLst/>
            <a:gdLst/>
            <a:ahLst/>
            <a:rect l="0" t="0" r="r" b="b"/>
            <a:pathLst>
              <a:path w="15374" h="3705">
                <a:moveTo>
                  <a:pt x="0" y="3705"/>
                </a:moveTo>
                <a:lnTo>
                  <a:pt x="0" y="0"/>
                </a:lnTo>
                <a:lnTo>
                  <a:pt x="15268" y="0"/>
                </a:lnTo>
                <a:cubicBezTo>
                  <a:pt x="15282" y="0"/>
                  <a:pt x="15295" y="3"/>
                  <a:pt x="15308" y="8"/>
                </a:cubicBezTo>
                <a:cubicBezTo>
                  <a:pt x="15321" y="14"/>
                  <a:pt x="15333" y="21"/>
                  <a:pt x="15343" y="31"/>
                </a:cubicBezTo>
                <a:cubicBezTo>
                  <a:pt x="15352" y="41"/>
                  <a:pt x="15360" y="53"/>
                  <a:pt x="15365" y="66"/>
                </a:cubicBezTo>
                <a:cubicBezTo>
                  <a:pt x="15371" y="79"/>
                  <a:pt x="15374" y="92"/>
                  <a:pt x="15374" y="106"/>
                </a:cubicBezTo>
                <a:lnTo>
                  <a:pt x="15374" y="3600"/>
                </a:lnTo>
                <a:cubicBezTo>
                  <a:pt x="15374" y="3614"/>
                  <a:pt x="15371" y="3627"/>
                  <a:pt x="15365" y="3640"/>
                </a:cubicBezTo>
                <a:cubicBezTo>
                  <a:pt x="15360" y="3653"/>
                  <a:pt x="15352" y="3664"/>
                  <a:pt x="15343" y="3674"/>
                </a:cubicBezTo>
                <a:cubicBezTo>
                  <a:pt x="15333" y="3684"/>
                  <a:pt x="15321" y="3692"/>
                  <a:pt x="15308" y="3697"/>
                </a:cubicBezTo>
                <a:cubicBezTo>
                  <a:pt x="15295" y="3703"/>
                  <a:pt x="15282" y="3705"/>
                  <a:pt x="15268" y="3705"/>
                </a:cubicBezTo>
                <a:lnTo>
                  <a:pt x="0" y="3705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6210000" y="4981320"/>
            <a:ext cx="38520" cy="1333800"/>
          </a:xfrm>
          <a:custGeom>
            <a:avLst/>
            <a:gdLst/>
            <a:ahLst/>
            <a:rect l="0" t="0" r="r" b="b"/>
            <a:pathLst>
              <a:path w="107" h="3705">
                <a:moveTo>
                  <a:pt x="0" y="0"/>
                </a:moveTo>
                <a:lnTo>
                  <a:pt x="107" y="0"/>
                </a:lnTo>
                <a:lnTo>
                  <a:pt x="107" y="3705"/>
                </a:lnTo>
                <a:lnTo>
                  <a:pt x="0" y="3705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438600" y="5209920"/>
            <a:ext cx="153000" cy="153000"/>
          </a:xfrm>
          <a:custGeom>
            <a:avLst/>
            <a:gdLst/>
            <a:ahLst/>
            <a:rect l="0" t="0" r="r" b="b"/>
            <a:pathLst>
              <a:path w="425" h="425">
                <a:moveTo>
                  <a:pt x="292" y="80"/>
                </a:moveTo>
                <a:cubicBezTo>
                  <a:pt x="292" y="91"/>
                  <a:pt x="290" y="103"/>
                  <a:pt x="285" y="113"/>
                </a:cubicBezTo>
                <a:lnTo>
                  <a:pt x="329" y="189"/>
                </a:lnTo>
                <a:cubicBezTo>
                  <a:pt x="309" y="210"/>
                  <a:pt x="284" y="226"/>
                  <a:pt x="256" y="234"/>
                </a:cubicBezTo>
                <a:lnTo>
                  <a:pt x="213" y="160"/>
                </a:lnTo>
                <a:lnTo>
                  <a:pt x="157" y="257"/>
                </a:lnTo>
                <a:cubicBezTo>
                  <a:pt x="175" y="263"/>
                  <a:pt x="193" y="266"/>
                  <a:pt x="213" y="266"/>
                </a:cubicBezTo>
                <a:cubicBezTo>
                  <a:pt x="272" y="266"/>
                  <a:pt x="324" y="239"/>
                  <a:pt x="358" y="196"/>
                </a:cubicBezTo>
                <a:cubicBezTo>
                  <a:pt x="367" y="185"/>
                  <a:pt x="383" y="183"/>
                  <a:pt x="395" y="192"/>
                </a:cubicBezTo>
                <a:cubicBezTo>
                  <a:pt x="406" y="201"/>
                  <a:pt x="408" y="218"/>
                  <a:pt x="399" y="229"/>
                </a:cubicBezTo>
                <a:cubicBezTo>
                  <a:pt x="355" y="284"/>
                  <a:pt x="288" y="319"/>
                  <a:pt x="213" y="319"/>
                </a:cubicBezTo>
                <a:cubicBezTo>
                  <a:pt x="184" y="319"/>
                  <a:pt x="156" y="313"/>
                  <a:pt x="130" y="304"/>
                </a:cubicBezTo>
                <a:lnTo>
                  <a:pt x="82" y="385"/>
                </a:lnTo>
                <a:cubicBezTo>
                  <a:pt x="78" y="391"/>
                  <a:pt x="72" y="397"/>
                  <a:pt x="65" y="400"/>
                </a:cubicBezTo>
                <a:lnTo>
                  <a:pt x="20" y="423"/>
                </a:lnTo>
                <a:cubicBezTo>
                  <a:pt x="15" y="425"/>
                  <a:pt x="11" y="425"/>
                  <a:pt x="7" y="423"/>
                </a:cubicBezTo>
                <a:cubicBezTo>
                  <a:pt x="3" y="420"/>
                  <a:pt x="0" y="416"/>
                  <a:pt x="0" y="411"/>
                </a:cubicBezTo>
                <a:lnTo>
                  <a:pt x="0" y="366"/>
                </a:lnTo>
                <a:cubicBezTo>
                  <a:pt x="0" y="359"/>
                  <a:pt x="2" y="352"/>
                  <a:pt x="6" y="346"/>
                </a:cubicBezTo>
                <a:lnTo>
                  <a:pt x="55" y="260"/>
                </a:lnTo>
                <a:cubicBezTo>
                  <a:pt x="45" y="251"/>
                  <a:pt x="35" y="240"/>
                  <a:pt x="26" y="229"/>
                </a:cubicBezTo>
                <a:cubicBezTo>
                  <a:pt x="17" y="218"/>
                  <a:pt x="19" y="201"/>
                  <a:pt x="30" y="192"/>
                </a:cubicBezTo>
                <a:cubicBezTo>
                  <a:pt x="42" y="183"/>
                  <a:pt x="58" y="185"/>
                  <a:pt x="67" y="196"/>
                </a:cubicBezTo>
                <a:cubicBezTo>
                  <a:pt x="72" y="202"/>
                  <a:pt x="77" y="208"/>
                  <a:pt x="83" y="213"/>
                </a:cubicBezTo>
                <a:lnTo>
                  <a:pt x="141" y="113"/>
                </a:lnTo>
                <a:cubicBezTo>
                  <a:pt x="136" y="103"/>
                  <a:pt x="134" y="91"/>
                  <a:pt x="134" y="80"/>
                </a:cubicBezTo>
                <a:cubicBezTo>
                  <a:pt x="134" y="36"/>
                  <a:pt x="169" y="0"/>
                  <a:pt x="213" y="0"/>
                </a:cubicBezTo>
                <a:cubicBezTo>
                  <a:pt x="257" y="0"/>
                  <a:pt x="292" y="36"/>
                  <a:pt x="292" y="80"/>
                </a:cubicBezTo>
                <a:moveTo>
                  <a:pt x="310" y="327"/>
                </a:moveTo>
                <a:cubicBezTo>
                  <a:pt x="337" y="316"/>
                  <a:pt x="361" y="301"/>
                  <a:pt x="383" y="283"/>
                </a:cubicBezTo>
                <a:lnTo>
                  <a:pt x="419" y="346"/>
                </a:lnTo>
                <a:cubicBezTo>
                  <a:pt x="423" y="352"/>
                  <a:pt x="425" y="358"/>
                  <a:pt x="425" y="366"/>
                </a:cubicBezTo>
                <a:lnTo>
                  <a:pt x="425" y="411"/>
                </a:lnTo>
                <a:cubicBezTo>
                  <a:pt x="425" y="416"/>
                  <a:pt x="422" y="420"/>
                  <a:pt x="418" y="423"/>
                </a:cubicBezTo>
                <a:cubicBezTo>
                  <a:pt x="415" y="425"/>
                  <a:pt x="410" y="425"/>
                  <a:pt x="406" y="423"/>
                </a:cubicBezTo>
                <a:lnTo>
                  <a:pt x="360" y="400"/>
                </a:lnTo>
                <a:cubicBezTo>
                  <a:pt x="353" y="397"/>
                  <a:pt x="347" y="391"/>
                  <a:pt x="343" y="385"/>
                </a:cubicBezTo>
                <a:lnTo>
                  <a:pt x="310" y="327"/>
                </a:lnTo>
                <a:moveTo>
                  <a:pt x="213" y="106"/>
                </a:moveTo>
                <a:cubicBezTo>
                  <a:pt x="220" y="106"/>
                  <a:pt x="227" y="103"/>
                  <a:pt x="232" y="98"/>
                </a:cubicBezTo>
                <a:cubicBezTo>
                  <a:pt x="237" y="93"/>
                  <a:pt x="239" y="87"/>
                  <a:pt x="239" y="80"/>
                </a:cubicBezTo>
                <a:cubicBezTo>
                  <a:pt x="239" y="72"/>
                  <a:pt x="237" y="66"/>
                  <a:pt x="232" y="61"/>
                </a:cubicBezTo>
                <a:cubicBezTo>
                  <a:pt x="227" y="56"/>
                  <a:pt x="220" y="53"/>
                  <a:pt x="213" y="53"/>
                </a:cubicBezTo>
                <a:cubicBezTo>
                  <a:pt x="206" y="53"/>
                  <a:pt x="199" y="56"/>
                  <a:pt x="194" y="61"/>
                </a:cubicBezTo>
                <a:cubicBezTo>
                  <a:pt x="189" y="66"/>
                  <a:pt x="187" y="72"/>
                  <a:pt x="187" y="80"/>
                </a:cubicBezTo>
                <a:cubicBezTo>
                  <a:pt x="187" y="87"/>
                  <a:pt x="189" y="93"/>
                  <a:pt x="194" y="98"/>
                </a:cubicBezTo>
                <a:cubicBezTo>
                  <a:pt x="199" y="103"/>
                  <a:pt x="206" y="106"/>
                  <a:pt x="213" y="10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95320" y="5820120"/>
            <a:ext cx="2153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Interactive community discussions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6667560" y="5180760"/>
            <a:ext cx="1180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Legacy for 2025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438960" y="5486760"/>
            <a:ext cx="4483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2015 History Day </a:t>
            </a:r>
            <a:r>
              <a:rPr b="1" lang="en-US" sz="10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inspired today's Strategic Workshop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bridging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438960" y="5705640"/>
            <a:ext cx="4527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historical wisdom with forward-looking vision for the next era of systems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438960" y="5915520"/>
            <a:ext cx="578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research.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1382480" y="6521040"/>
            <a:ext cx="35856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MicrosoftYaHei"/>
              </a:rPr>
              <a:t>4 / 10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28760" y="251280"/>
            <a:ext cx="787608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2025 Strategic Workshop: History Meets Future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428760" y="969120"/>
            <a:ext cx="109234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Not a repeat — a </a:t>
            </a:r>
            <a:r>
              <a:rPr b="1" lang="en-US" sz="13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fusion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of 2015's wisdom and 2025's challenges. This workshop bridges historical legacy with forward-looking vision for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434520" y="1780920"/>
            <a:ext cx="131040" cy="190800"/>
          </a:xfrm>
          <a:custGeom>
            <a:avLst/>
            <a:gdLst/>
            <a:ahLst/>
            <a:rect l="0" t="0" r="r" b="b"/>
            <a:pathLst>
              <a:path w="364" h="530">
                <a:moveTo>
                  <a:pt x="83" y="100"/>
                </a:moveTo>
                <a:lnTo>
                  <a:pt x="83" y="266"/>
                </a:lnTo>
                <a:cubicBezTo>
                  <a:pt x="83" y="321"/>
                  <a:pt x="128" y="365"/>
                  <a:pt x="183" y="365"/>
                </a:cubicBezTo>
                <a:cubicBezTo>
                  <a:pt x="237" y="365"/>
                  <a:pt x="282" y="321"/>
                  <a:pt x="282" y="266"/>
                </a:cubicBezTo>
                <a:lnTo>
                  <a:pt x="199" y="266"/>
                </a:lnTo>
                <a:cubicBezTo>
                  <a:pt x="190" y="266"/>
                  <a:pt x="183" y="258"/>
                  <a:pt x="183" y="249"/>
                </a:cubicBezTo>
                <a:cubicBezTo>
                  <a:pt x="183" y="240"/>
                  <a:pt x="190" y="233"/>
                  <a:pt x="199" y="233"/>
                </a:cubicBezTo>
                <a:lnTo>
                  <a:pt x="282" y="233"/>
                </a:lnTo>
                <a:lnTo>
                  <a:pt x="282" y="200"/>
                </a:lnTo>
                <a:lnTo>
                  <a:pt x="199" y="200"/>
                </a:lnTo>
                <a:cubicBezTo>
                  <a:pt x="190" y="200"/>
                  <a:pt x="183" y="192"/>
                  <a:pt x="183" y="183"/>
                </a:cubicBezTo>
                <a:cubicBezTo>
                  <a:pt x="183" y="174"/>
                  <a:pt x="190" y="167"/>
                  <a:pt x="199" y="167"/>
                </a:cubicBezTo>
                <a:lnTo>
                  <a:pt x="282" y="167"/>
                </a:lnTo>
                <a:lnTo>
                  <a:pt x="282" y="133"/>
                </a:lnTo>
                <a:lnTo>
                  <a:pt x="199" y="133"/>
                </a:lnTo>
                <a:cubicBezTo>
                  <a:pt x="190" y="133"/>
                  <a:pt x="183" y="126"/>
                  <a:pt x="183" y="117"/>
                </a:cubicBezTo>
                <a:cubicBezTo>
                  <a:pt x="183" y="108"/>
                  <a:pt x="190" y="100"/>
                  <a:pt x="199" y="100"/>
                </a:cubicBezTo>
                <a:lnTo>
                  <a:pt x="282" y="100"/>
                </a:lnTo>
                <a:cubicBezTo>
                  <a:pt x="282" y="45"/>
                  <a:pt x="237" y="0"/>
                  <a:pt x="183" y="0"/>
                </a:cubicBezTo>
                <a:cubicBezTo>
                  <a:pt x="128" y="0"/>
                  <a:pt x="83" y="45"/>
                  <a:pt x="83" y="100"/>
                </a:cubicBezTo>
                <a:moveTo>
                  <a:pt x="315" y="249"/>
                </a:moveTo>
                <a:lnTo>
                  <a:pt x="315" y="266"/>
                </a:lnTo>
                <a:cubicBezTo>
                  <a:pt x="315" y="339"/>
                  <a:pt x="256" y="398"/>
                  <a:pt x="183" y="398"/>
                </a:cubicBezTo>
                <a:cubicBezTo>
                  <a:pt x="109" y="398"/>
                  <a:pt x="49" y="339"/>
                  <a:pt x="49" y="266"/>
                </a:cubicBezTo>
                <a:lnTo>
                  <a:pt x="49" y="224"/>
                </a:lnTo>
                <a:cubicBezTo>
                  <a:pt x="49" y="211"/>
                  <a:pt x="38" y="200"/>
                  <a:pt x="24" y="200"/>
                </a:cubicBezTo>
                <a:cubicBezTo>
                  <a:pt x="11" y="200"/>
                  <a:pt x="0" y="211"/>
                  <a:pt x="0" y="224"/>
                </a:cubicBezTo>
                <a:lnTo>
                  <a:pt x="0" y="266"/>
                </a:lnTo>
                <a:cubicBezTo>
                  <a:pt x="0" y="358"/>
                  <a:pt x="69" y="434"/>
                  <a:pt x="158" y="446"/>
                </a:cubicBezTo>
                <a:lnTo>
                  <a:pt x="158" y="481"/>
                </a:lnTo>
                <a:lnTo>
                  <a:pt x="108" y="481"/>
                </a:lnTo>
                <a:cubicBezTo>
                  <a:pt x="94" y="481"/>
                  <a:pt x="83" y="492"/>
                  <a:pt x="83" y="506"/>
                </a:cubicBezTo>
                <a:cubicBezTo>
                  <a:pt x="83" y="519"/>
                  <a:pt x="94" y="530"/>
                  <a:pt x="108" y="530"/>
                </a:cubicBezTo>
                <a:lnTo>
                  <a:pt x="183" y="530"/>
                </a:lnTo>
                <a:lnTo>
                  <a:pt x="257" y="530"/>
                </a:lnTo>
                <a:cubicBezTo>
                  <a:pt x="271" y="530"/>
                  <a:pt x="282" y="519"/>
                  <a:pt x="282" y="506"/>
                </a:cubicBezTo>
                <a:cubicBezTo>
                  <a:pt x="282" y="492"/>
                  <a:pt x="271" y="481"/>
                  <a:pt x="257" y="481"/>
                </a:cubicBezTo>
                <a:lnTo>
                  <a:pt x="207" y="481"/>
                </a:lnTo>
                <a:lnTo>
                  <a:pt x="207" y="446"/>
                </a:lnTo>
                <a:cubicBezTo>
                  <a:pt x="296" y="434"/>
                  <a:pt x="364" y="358"/>
                  <a:pt x="364" y="266"/>
                </a:cubicBezTo>
                <a:lnTo>
                  <a:pt x="364" y="224"/>
                </a:lnTo>
                <a:cubicBezTo>
                  <a:pt x="364" y="211"/>
                  <a:pt x="353" y="200"/>
                  <a:pt x="340" y="200"/>
                </a:cubicBezTo>
                <a:cubicBezTo>
                  <a:pt x="326" y="200"/>
                  <a:pt x="315" y="211"/>
                  <a:pt x="315" y="224"/>
                </a:cubicBezTo>
                <a:lnTo>
                  <a:pt x="315" y="249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428760" y="1245600"/>
            <a:ext cx="25531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next decade of OS research.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428760" y="2638440"/>
            <a:ext cx="105696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"/>
          <p:cNvSpPr/>
          <p:nvPr/>
        </p:nvSpPr>
        <p:spPr>
          <a:xfrm>
            <a:off x="1643040" y="2643120"/>
            <a:ext cx="800280" cy="219240"/>
          </a:xfrm>
          <a:custGeom>
            <a:avLst/>
            <a:gdLst/>
            <a:ahLst/>
            <a:rect l="0" t="0" r="r" b="b"/>
            <a:pathLst>
              <a:path w="2223" h="609">
                <a:moveTo>
                  <a:pt x="0" y="517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130" y="0"/>
                </a:lnTo>
                <a:cubicBezTo>
                  <a:pt x="2143" y="0"/>
                  <a:pt x="2155" y="2"/>
                  <a:pt x="2166" y="7"/>
                </a:cubicBezTo>
                <a:cubicBezTo>
                  <a:pt x="2177" y="11"/>
                  <a:pt x="2187" y="18"/>
                  <a:pt x="2196" y="27"/>
                </a:cubicBezTo>
                <a:cubicBezTo>
                  <a:pt x="2205" y="35"/>
                  <a:pt x="2211" y="46"/>
                  <a:pt x="2216" y="57"/>
                </a:cubicBezTo>
                <a:cubicBezTo>
                  <a:pt x="2221" y="68"/>
                  <a:pt x="2223" y="80"/>
                  <a:pt x="2223" y="92"/>
                </a:cubicBezTo>
                <a:lnTo>
                  <a:pt x="2223" y="517"/>
                </a:lnTo>
                <a:cubicBezTo>
                  <a:pt x="2223" y="529"/>
                  <a:pt x="2221" y="541"/>
                  <a:pt x="2216" y="552"/>
                </a:cubicBezTo>
                <a:cubicBezTo>
                  <a:pt x="2211" y="563"/>
                  <a:pt x="2205" y="573"/>
                  <a:pt x="2196" y="582"/>
                </a:cubicBezTo>
                <a:cubicBezTo>
                  <a:pt x="2187" y="591"/>
                  <a:pt x="2177" y="597"/>
                  <a:pt x="2166" y="602"/>
                </a:cubicBezTo>
                <a:cubicBezTo>
                  <a:pt x="2155" y="607"/>
                  <a:pt x="2143" y="609"/>
                  <a:pt x="2130" y="609"/>
                </a:cubicBezTo>
                <a:lnTo>
                  <a:pt x="92" y="609"/>
                </a:lnTo>
                <a:cubicBezTo>
                  <a:pt x="80" y="609"/>
                  <a:pt x="68" y="607"/>
                  <a:pt x="57" y="602"/>
                </a:cubicBezTo>
                <a:cubicBezTo>
                  <a:pt x="45" y="597"/>
                  <a:pt x="35" y="591"/>
                  <a:pt x="27" y="582"/>
                </a:cubicBezTo>
                <a:cubicBezTo>
                  <a:pt x="18" y="573"/>
                  <a:pt x="11" y="563"/>
                  <a:pt x="7" y="552"/>
                </a:cubicBezTo>
                <a:cubicBezTo>
                  <a:pt x="2" y="541"/>
                  <a:pt x="0" y="529"/>
                  <a:pt x="0" y="51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1643040" y="2643120"/>
            <a:ext cx="800280" cy="219240"/>
          </a:xfrm>
          <a:custGeom>
            <a:avLst/>
            <a:gdLst/>
            <a:ahLst/>
            <a:rect l="0" t="0" r="r" b="b"/>
            <a:pathLst>
              <a:path fill="none" w="2223" h="609">
                <a:moveTo>
                  <a:pt x="0" y="517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130" y="0"/>
                </a:lnTo>
                <a:cubicBezTo>
                  <a:pt x="2143" y="0"/>
                  <a:pt x="2155" y="2"/>
                  <a:pt x="2166" y="7"/>
                </a:cubicBezTo>
                <a:cubicBezTo>
                  <a:pt x="2177" y="11"/>
                  <a:pt x="2187" y="18"/>
                  <a:pt x="2196" y="27"/>
                </a:cubicBezTo>
                <a:cubicBezTo>
                  <a:pt x="2205" y="35"/>
                  <a:pt x="2211" y="46"/>
                  <a:pt x="2216" y="57"/>
                </a:cubicBezTo>
                <a:cubicBezTo>
                  <a:pt x="2221" y="68"/>
                  <a:pt x="2223" y="80"/>
                  <a:pt x="2223" y="92"/>
                </a:cubicBezTo>
                <a:lnTo>
                  <a:pt x="2223" y="517"/>
                </a:lnTo>
                <a:cubicBezTo>
                  <a:pt x="2223" y="529"/>
                  <a:pt x="2221" y="541"/>
                  <a:pt x="2216" y="552"/>
                </a:cubicBezTo>
                <a:cubicBezTo>
                  <a:pt x="2211" y="563"/>
                  <a:pt x="2205" y="573"/>
                  <a:pt x="2196" y="582"/>
                </a:cubicBezTo>
                <a:cubicBezTo>
                  <a:pt x="2187" y="591"/>
                  <a:pt x="2177" y="597"/>
                  <a:pt x="2166" y="602"/>
                </a:cubicBezTo>
                <a:cubicBezTo>
                  <a:pt x="2155" y="607"/>
                  <a:pt x="2143" y="609"/>
                  <a:pt x="2130" y="609"/>
                </a:cubicBezTo>
                <a:lnTo>
                  <a:pt x="92" y="609"/>
                </a:lnTo>
                <a:cubicBezTo>
                  <a:pt x="80" y="609"/>
                  <a:pt x="68" y="607"/>
                  <a:pt x="57" y="602"/>
                </a:cubicBezTo>
                <a:cubicBezTo>
                  <a:pt x="45" y="597"/>
                  <a:pt x="35" y="591"/>
                  <a:pt x="27" y="582"/>
                </a:cubicBezTo>
                <a:cubicBezTo>
                  <a:pt x="18" y="573"/>
                  <a:pt x="11" y="563"/>
                  <a:pt x="7" y="552"/>
                </a:cubicBezTo>
                <a:cubicBezTo>
                  <a:pt x="2" y="541"/>
                  <a:pt x="0" y="529"/>
                  <a:pt x="0" y="517"/>
                </a:cubicBezTo>
              </a:path>
            </a:pathLst>
          </a:custGeom>
          <a:ln w="9360">
            <a:solidFill>
              <a:srgbClr val="bfdb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685800" y="1748880"/>
            <a:ext cx="884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Keynotes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719720" y="2678040"/>
            <a:ext cx="620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KEYNOTE 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2527560" y="2657880"/>
            <a:ext cx="638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9:00 - 9:45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634040" y="2913480"/>
            <a:ext cx="1220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David Patterson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634040" y="3134160"/>
            <a:ext cx="2208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"Computer Architecture 101 and Its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634040" y="3324600"/>
            <a:ext cx="464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Future"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2"/>
          <a:stretch/>
        </p:blipFill>
        <p:spPr>
          <a:xfrm>
            <a:off x="428760" y="4829040"/>
            <a:ext cx="6854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"/>
          <p:cNvSpPr/>
          <p:nvPr/>
        </p:nvSpPr>
        <p:spPr>
          <a:xfrm>
            <a:off x="1271520" y="4833720"/>
            <a:ext cx="810000" cy="219600"/>
          </a:xfrm>
          <a:custGeom>
            <a:avLst/>
            <a:gdLst/>
            <a:ahLst/>
            <a:rect l="0" t="0" r="r" b="b"/>
            <a:pathLst>
              <a:path w="2250" h="610">
                <a:moveTo>
                  <a:pt x="0" y="517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157" y="0"/>
                </a:lnTo>
                <a:cubicBezTo>
                  <a:pt x="2169" y="0"/>
                  <a:pt x="2181" y="2"/>
                  <a:pt x="2192" y="7"/>
                </a:cubicBezTo>
                <a:cubicBezTo>
                  <a:pt x="2204" y="12"/>
                  <a:pt x="2214" y="19"/>
                  <a:pt x="2223" y="27"/>
                </a:cubicBezTo>
                <a:cubicBezTo>
                  <a:pt x="2231" y="36"/>
                  <a:pt x="2238" y="46"/>
                  <a:pt x="2243" y="57"/>
                </a:cubicBezTo>
                <a:cubicBezTo>
                  <a:pt x="2247" y="69"/>
                  <a:pt x="2250" y="80"/>
                  <a:pt x="2250" y="93"/>
                </a:cubicBezTo>
                <a:lnTo>
                  <a:pt x="2250" y="517"/>
                </a:lnTo>
                <a:cubicBezTo>
                  <a:pt x="2250" y="529"/>
                  <a:pt x="2247" y="541"/>
                  <a:pt x="2243" y="552"/>
                </a:cubicBezTo>
                <a:cubicBezTo>
                  <a:pt x="2238" y="564"/>
                  <a:pt x="2231" y="574"/>
                  <a:pt x="2223" y="583"/>
                </a:cubicBezTo>
                <a:cubicBezTo>
                  <a:pt x="2214" y="591"/>
                  <a:pt x="2204" y="598"/>
                  <a:pt x="2192" y="603"/>
                </a:cubicBezTo>
                <a:cubicBezTo>
                  <a:pt x="2181" y="607"/>
                  <a:pt x="2169" y="610"/>
                  <a:pt x="2157" y="610"/>
                </a:cubicBezTo>
                <a:lnTo>
                  <a:pt x="92" y="610"/>
                </a:lnTo>
                <a:cubicBezTo>
                  <a:pt x="80" y="610"/>
                  <a:pt x="68" y="607"/>
                  <a:pt x="57" y="603"/>
                </a:cubicBezTo>
                <a:cubicBezTo>
                  <a:pt x="46" y="598"/>
                  <a:pt x="35" y="591"/>
                  <a:pt x="27" y="583"/>
                </a:cubicBezTo>
                <a:cubicBezTo>
                  <a:pt x="18" y="574"/>
                  <a:pt x="11" y="564"/>
                  <a:pt x="7" y="552"/>
                </a:cubicBezTo>
                <a:cubicBezTo>
                  <a:pt x="2" y="541"/>
                  <a:pt x="0" y="529"/>
                  <a:pt x="0" y="51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271520" y="4833720"/>
            <a:ext cx="810000" cy="219600"/>
          </a:xfrm>
          <a:custGeom>
            <a:avLst/>
            <a:gdLst/>
            <a:ahLst/>
            <a:rect l="0" t="0" r="r" b="b"/>
            <a:pathLst>
              <a:path fill="none" w="2250" h="610">
                <a:moveTo>
                  <a:pt x="0" y="517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157" y="0"/>
                </a:lnTo>
                <a:cubicBezTo>
                  <a:pt x="2169" y="0"/>
                  <a:pt x="2181" y="2"/>
                  <a:pt x="2192" y="7"/>
                </a:cubicBezTo>
                <a:cubicBezTo>
                  <a:pt x="2204" y="12"/>
                  <a:pt x="2214" y="19"/>
                  <a:pt x="2223" y="27"/>
                </a:cubicBezTo>
                <a:cubicBezTo>
                  <a:pt x="2231" y="36"/>
                  <a:pt x="2238" y="46"/>
                  <a:pt x="2243" y="57"/>
                </a:cubicBezTo>
                <a:cubicBezTo>
                  <a:pt x="2247" y="69"/>
                  <a:pt x="2250" y="80"/>
                  <a:pt x="2250" y="93"/>
                </a:cubicBezTo>
                <a:lnTo>
                  <a:pt x="2250" y="517"/>
                </a:lnTo>
                <a:cubicBezTo>
                  <a:pt x="2250" y="529"/>
                  <a:pt x="2247" y="541"/>
                  <a:pt x="2243" y="552"/>
                </a:cubicBezTo>
                <a:cubicBezTo>
                  <a:pt x="2238" y="564"/>
                  <a:pt x="2231" y="574"/>
                  <a:pt x="2223" y="583"/>
                </a:cubicBezTo>
                <a:cubicBezTo>
                  <a:pt x="2214" y="591"/>
                  <a:pt x="2204" y="598"/>
                  <a:pt x="2192" y="603"/>
                </a:cubicBezTo>
                <a:cubicBezTo>
                  <a:pt x="2181" y="607"/>
                  <a:pt x="2169" y="610"/>
                  <a:pt x="2157" y="610"/>
                </a:cubicBezTo>
                <a:lnTo>
                  <a:pt x="92" y="610"/>
                </a:lnTo>
                <a:cubicBezTo>
                  <a:pt x="80" y="610"/>
                  <a:pt x="68" y="607"/>
                  <a:pt x="57" y="603"/>
                </a:cubicBezTo>
                <a:cubicBezTo>
                  <a:pt x="46" y="598"/>
                  <a:pt x="35" y="591"/>
                  <a:pt x="27" y="583"/>
                </a:cubicBezTo>
                <a:cubicBezTo>
                  <a:pt x="18" y="574"/>
                  <a:pt x="11" y="564"/>
                  <a:pt x="7" y="552"/>
                </a:cubicBezTo>
                <a:cubicBezTo>
                  <a:pt x="2" y="541"/>
                  <a:pt x="0" y="529"/>
                  <a:pt x="0" y="517"/>
                </a:cubicBezTo>
              </a:path>
            </a:pathLst>
          </a:custGeom>
          <a:ln w="9360">
            <a:solidFill>
              <a:srgbClr val="bfdb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634040" y="3554640"/>
            <a:ext cx="218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Turing Award 2017 • Hardware Evolution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355400" y="4869000"/>
            <a:ext cx="620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KEYNOTE 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162880" y="4848480"/>
            <a:ext cx="790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10:00 - 10:45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269360" y="5104440"/>
            <a:ext cx="1203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Butler Lampson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269360" y="5324760"/>
            <a:ext cx="2491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"How does a computer system get to be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269360" y="5515200"/>
            <a:ext cx="846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way it is?"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4317120" y="178092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240" y="6"/>
                </a:moveTo>
                <a:cubicBezTo>
                  <a:pt x="255" y="-2"/>
                  <a:pt x="273" y="-2"/>
                  <a:pt x="289" y="6"/>
                </a:cubicBezTo>
                <a:lnTo>
                  <a:pt x="516" y="111"/>
                </a:lnTo>
                <a:cubicBezTo>
                  <a:pt x="524" y="115"/>
                  <a:pt x="530" y="124"/>
                  <a:pt x="530" y="133"/>
                </a:cubicBezTo>
                <a:cubicBezTo>
                  <a:pt x="530" y="143"/>
                  <a:pt x="524" y="152"/>
                  <a:pt x="516" y="156"/>
                </a:cubicBezTo>
                <a:lnTo>
                  <a:pt x="289" y="260"/>
                </a:lnTo>
                <a:cubicBezTo>
                  <a:pt x="273" y="268"/>
                  <a:pt x="255" y="268"/>
                  <a:pt x="240" y="260"/>
                </a:cubicBezTo>
                <a:lnTo>
                  <a:pt x="14" y="156"/>
                </a:lnTo>
                <a:cubicBezTo>
                  <a:pt x="5" y="152"/>
                  <a:pt x="0" y="143"/>
                  <a:pt x="0" y="133"/>
                </a:cubicBezTo>
                <a:cubicBezTo>
                  <a:pt x="0" y="124"/>
                  <a:pt x="5" y="115"/>
                  <a:pt x="14" y="111"/>
                </a:cubicBezTo>
                <a:lnTo>
                  <a:pt x="240" y="6"/>
                </a:lnTo>
                <a:moveTo>
                  <a:pt x="461" y="218"/>
                </a:moveTo>
                <a:lnTo>
                  <a:pt x="516" y="243"/>
                </a:lnTo>
                <a:cubicBezTo>
                  <a:pt x="524" y="247"/>
                  <a:pt x="530" y="256"/>
                  <a:pt x="530" y="266"/>
                </a:cubicBezTo>
                <a:cubicBezTo>
                  <a:pt x="530" y="276"/>
                  <a:pt x="524" y="284"/>
                  <a:pt x="516" y="288"/>
                </a:cubicBezTo>
                <a:lnTo>
                  <a:pt x="289" y="393"/>
                </a:lnTo>
                <a:cubicBezTo>
                  <a:pt x="273" y="400"/>
                  <a:pt x="255" y="400"/>
                  <a:pt x="240" y="393"/>
                </a:cubicBezTo>
                <a:lnTo>
                  <a:pt x="14" y="288"/>
                </a:lnTo>
                <a:cubicBezTo>
                  <a:pt x="5" y="284"/>
                  <a:pt x="0" y="275"/>
                  <a:pt x="0" y="266"/>
                </a:cubicBezTo>
                <a:cubicBezTo>
                  <a:pt x="0" y="256"/>
                  <a:pt x="5" y="247"/>
                  <a:pt x="14" y="243"/>
                </a:cubicBezTo>
                <a:lnTo>
                  <a:pt x="69" y="218"/>
                </a:lnTo>
                <a:lnTo>
                  <a:pt x="226" y="290"/>
                </a:lnTo>
                <a:cubicBezTo>
                  <a:pt x="250" y="302"/>
                  <a:pt x="278" y="302"/>
                  <a:pt x="302" y="290"/>
                </a:cubicBezTo>
                <a:lnTo>
                  <a:pt x="461" y="218"/>
                </a:lnTo>
                <a:moveTo>
                  <a:pt x="302" y="423"/>
                </a:moveTo>
                <a:lnTo>
                  <a:pt x="461" y="350"/>
                </a:lnTo>
                <a:lnTo>
                  <a:pt x="516" y="376"/>
                </a:lnTo>
                <a:cubicBezTo>
                  <a:pt x="524" y="380"/>
                  <a:pt x="530" y="388"/>
                  <a:pt x="530" y="398"/>
                </a:cubicBezTo>
                <a:cubicBezTo>
                  <a:pt x="530" y="408"/>
                  <a:pt x="524" y="417"/>
                  <a:pt x="516" y="421"/>
                </a:cubicBezTo>
                <a:lnTo>
                  <a:pt x="289" y="525"/>
                </a:lnTo>
                <a:cubicBezTo>
                  <a:pt x="273" y="532"/>
                  <a:pt x="255" y="532"/>
                  <a:pt x="240" y="525"/>
                </a:cubicBezTo>
                <a:lnTo>
                  <a:pt x="14" y="421"/>
                </a:lnTo>
                <a:cubicBezTo>
                  <a:pt x="5" y="416"/>
                  <a:pt x="0" y="408"/>
                  <a:pt x="0" y="398"/>
                </a:cubicBezTo>
                <a:cubicBezTo>
                  <a:pt x="0" y="388"/>
                  <a:pt x="5" y="380"/>
                  <a:pt x="14" y="376"/>
                </a:cubicBezTo>
                <a:lnTo>
                  <a:pt x="69" y="350"/>
                </a:lnTo>
                <a:lnTo>
                  <a:pt x="226" y="423"/>
                </a:lnTo>
                <a:cubicBezTo>
                  <a:pt x="250" y="434"/>
                  <a:pt x="278" y="434"/>
                  <a:pt x="302" y="42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269360" y="5745240"/>
            <a:ext cx="25322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Turing Award 1992 • System Design Philosophy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4305240" y="259056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6"/>
                </a:moveTo>
                <a:cubicBezTo>
                  <a:pt x="371" y="199"/>
                  <a:pt x="370" y="211"/>
                  <a:pt x="368" y="223"/>
                </a:cubicBezTo>
                <a:cubicBezTo>
                  <a:pt x="365" y="234"/>
                  <a:pt x="362" y="246"/>
                  <a:pt x="357" y="257"/>
                </a:cubicBezTo>
                <a:cubicBezTo>
                  <a:pt x="352" y="268"/>
                  <a:pt x="347" y="279"/>
                  <a:pt x="340" y="289"/>
                </a:cubicBezTo>
                <a:cubicBezTo>
                  <a:pt x="333" y="299"/>
                  <a:pt x="325" y="309"/>
                  <a:pt x="317" y="317"/>
                </a:cubicBezTo>
                <a:cubicBezTo>
                  <a:pt x="308" y="326"/>
                  <a:pt x="299" y="334"/>
                  <a:pt x="289" y="340"/>
                </a:cubicBezTo>
                <a:cubicBezTo>
                  <a:pt x="279" y="347"/>
                  <a:pt x="268" y="353"/>
                  <a:pt x="257" y="357"/>
                </a:cubicBezTo>
                <a:cubicBezTo>
                  <a:pt x="246" y="362"/>
                  <a:pt x="234" y="366"/>
                  <a:pt x="222" y="368"/>
                </a:cubicBezTo>
                <a:cubicBezTo>
                  <a:pt x="210" y="370"/>
                  <a:pt x="198" y="372"/>
                  <a:pt x="186" y="372"/>
                </a:cubicBezTo>
                <a:cubicBezTo>
                  <a:pt x="174" y="372"/>
                  <a:pt x="162" y="370"/>
                  <a:pt x="150" y="368"/>
                </a:cubicBezTo>
                <a:cubicBezTo>
                  <a:pt x="138" y="366"/>
                  <a:pt x="126" y="362"/>
                  <a:pt x="115" y="357"/>
                </a:cubicBezTo>
                <a:cubicBezTo>
                  <a:pt x="104" y="353"/>
                  <a:pt x="93" y="347"/>
                  <a:pt x="83" y="340"/>
                </a:cubicBezTo>
                <a:cubicBezTo>
                  <a:pt x="73" y="334"/>
                  <a:pt x="63" y="326"/>
                  <a:pt x="54" y="317"/>
                </a:cubicBezTo>
                <a:cubicBezTo>
                  <a:pt x="45" y="309"/>
                  <a:pt x="38" y="299"/>
                  <a:pt x="31" y="289"/>
                </a:cubicBezTo>
                <a:cubicBezTo>
                  <a:pt x="24" y="279"/>
                  <a:pt x="18" y="268"/>
                  <a:pt x="14" y="257"/>
                </a:cubicBezTo>
                <a:cubicBezTo>
                  <a:pt x="9" y="246"/>
                  <a:pt x="6" y="234"/>
                  <a:pt x="3" y="223"/>
                </a:cubicBezTo>
                <a:cubicBezTo>
                  <a:pt x="1" y="211"/>
                  <a:pt x="0" y="199"/>
                  <a:pt x="0" y="186"/>
                </a:cubicBez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7"/>
                  <a:pt x="14" y="115"/>
                </a:cubicBezTo>
                <a:cubicBezTo>
                  <a:pt x="18" y="104"/>
                  <a:pt x="24" y="94"/>
                  <a:pt x="31" y="83"/>
                </a:cubicBezTo>
                <a:cubicBezTo>
                  <a:pt x="38" y="73"/>
                  <a:pt x="45" y="64"/>
                  <a:pt x="54" y="55"/>
                </a:cubicBezTo>
                <a:cubicBezTo>
                  <a:pt x="63" y="47"/>
                  <a:pt x="73" y="39"/>
                  <a:pt x="83" y="32"/>
                </a:cubicBezTo>
                <a:cubicBezTo>
                  <a:pt x="93" y="26"/>
                  <a:pt x="104" y="20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4"/>
                </a:cubicBezTo>
                <a:cubicBezTo>
                  <a:pt x="234" y="6"/>
                  <a:pt x="246" y="10"/>
                  <a:pt x="257" y="14"/>
                </a:cubicBezTo>
                <a:cubicBezTo>
                  <a:pt x="268" y="20"/>
                  <a:pt x="279" y="26"/>
                  <a:pt x="289" y="32"/>
                </a:cubicBezTo>
                <a:cubicBezTo>
                  <a:pt x="299" y="39"/>
                  <a:pt x="308" y="47"/>
                  <a:pt x="317" y="55"/>
                </a:cubicBezTo>
                <a:cubicBezTo>
                  <a:pt x="325" y="64"/>
                  <a:pt x="333" y="73"/>
                  <a:pt x="340" y="83"/>
                </a:cubicBezTo>
                <a:cubicBezTo>
                  <a:pt x="347" y="94"/>
                  <a:pt x="352" y="104"/>
                  <a:pt x="357" y="115"/>
                </a:cubicBezTo>
                <a:cubicBezTo>
                  <a:pt x="362" y="127"/>
                  <a:pt x="365" y="138"/>
                  <a:pt x="368" y="150"/>
                </a:cubicBezTo>
                <a:cubicBezTo>
                  <a:pt x="370" y="162"/>
                  <a:pt x="371" y="174"/>
                  <a:pt x="371" y="18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637160" y="1748880"/>
            <a:ext cx="2336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Three Thematic Sessions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594320" y="2561400"/>
            <a:ext cx="1640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Intelligent Nexus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4594320" y="2781720"/>
            <a:ext cx="3116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AI and Systems — Ion Stoica, Haibo Chen, Junfeng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4305240" y="400032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198"/>
                  <a:pt x="370" y="210"/>
                  <a:pt x="368" y="222"/>
                </a:cubicBezTo>
                <a:cubicBezTo>
                  <a:pt x="365" y="234"/>
                  <a:pt x="362" y="246"/>
                  <a:pt x="357" y="257"/>
                </a:cubicBezTo>
                <a:cubicBezTo>
                  <a:pt x="352" y="268"/>
                  <a:pt x="347" y="279"/>
                  <a:pt x="340" y="289"/>
                </a:cubicBezTo>
                <a:cubicBezTo>
                  <a:pt x="333" y="299"/>
                  <a:pt x="325" y="309"/>
                  <a:pt x="317" y="317"/>
                </a:cubicBezTo>
                <a:cubicBezTo>
                  <a:pt x="308" y="326"/>
                  <a:pt x="299" y="333"/>
                  <a:pt x="289" y="340"/>
                </a:cubicBezTo>
                <a:cubicBezTo>
                  <a:pt x="279" y="347"/>
                  <a:pt x="268" y="353"/>
                  <a:pt x="257" y="357"/>
                </a:cubicBezTo>
                <a:cubicBezTo>
                  <a:pt x="246" y="362"/>
                  <a:pt x="234" y="365"/>
                  <a:pt x="222" y="368"/>
                </a:cubicBezTo>
                <a:cubicBezTo>
                  <a:pt x="210" y="370"/>
                  <a:pt x="198" y="371"/>
                  <a:pt x="186" y="371"/>
                </a:cubicBezTo>
                <a:cubicBezTo>
                  <a:pt x="174" y="371"/>
                  <a:pt x="162" y="370"/>
                  <a:pt x="150" y="368"/>
                </a:cubicBezTo>
                <a:cubicBezTo>
                  <a:pt x="138" y="365"/>
                  <a:pt x="126" y="362"/>
                  <a:pt x="115" y="357"/>
                </a:cubicBezTo>
                <a:cubicBezTo>
                  <a:pt x="104" y="353"/>
                  <a:pt x="93" y="347"/>
                  <a:pt x="83" y="340"/>
                </a:cubicBezTo>
                <a:cubicBezTo>
                  <a:pt x="73" y="333"/>
                  <a:pt x="63" y="326"/>
                  <a:pt x="54" y="317"/>
                </a:cubicBezTo>
                <a:cubicBezTo>
                  <a:pt x="45" y="309"/>
                  <a:pt x="38" y="299"/>
                  <a:pt x="31" y="289"/>
                </a:cubicBezTo>
                <a:cubicBezTo>
                  <a:pt x="24" y="279"/>
                  <a:pt x="18" y="268"/>
                  <a:pt x="14" y="257"/>
                </a:cubicBezTo>
                <a:cubicBezTo>
                  <a:pt x="9" y="246"/>
                  <a:pt x="6" y="234"/>
                  <a:pt x="3" y="222"/>
                </a:cubicBezTo>
                <a:cubicBezTo>
                  <a:pt x="1" y="210"/>
                  <a:pt x="0" y="198"/>
                  <a:pt x="0" y="186"/>
                </a:cubicBezTo>
                <a:cubicBezTo>
                  <a:pt x="0" y="174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4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9"/>
                  <a:pt x="279" y="24"/>
                  <a:pt x="289" y="31"/>
                </a:cubicBezTo>
                <a:cubicBezTo>
                  <a:pt x="299" y="38"/>
                  <a:pt x="308" y="46"/>
                  <a:pt x="317" y="54"/>
                </a:cubicBezTo>
                <a:cubicBezTo>
                  <a:pt x="325" y="63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6"/>
                  <a:pt x="365" y="137"/>
                  <a:pt x="368" y="149"/>
                </a:cubicBezTo>
                <a:cubicBezTo>
                  <a:pt x="370" y="161"/>
                  <a:pt x="371" y="174"/>
                  <a:pt x="371" y="18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594320" y="2972160"/>
            <a:ext cx="1448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Yang, Byung-Gon Chun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594320" y="3970800"/>
            <a:ext cx="2745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Building Blocks for a Reliable Future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4594320" y="4191480"/>
            <a:ext cx="3177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Resilience — Peter Chen, Jeff Mogul, Lorenzo Alvisi,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4305240" y="541008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09"/>
                  <a:pt x="368" y="221"/>
                </a:cubicBezTo>
                <a:cubicBezTo>
                  <a:pt x="365" y="233"/>
                  <a:pt x="362" y="245"/>
                  <a:pt x="357" y="256"/>
                </a:cubicBezTo>
                <a:cubicBezTo>
                  <a:pt x="352" y="267"/>
                  <a:pt x="347" y="278"/>
                  <a:pt x="340" y="288"/>
                </a:cubicBezTo>
                <a:cubicBezTo>
                  <a:pt x="333" y="298"/>
                  <a:pt x="325" y="307"/>
                  <a:pt x="317" y="316"/>
                </a:cubicBezTo>
                <a:cubicBezTo>
                  <a:pt x="308" y="325"/>
                  <a:pt x="299" y="333"/>
                  <a:pt x="289" y="340"/>
                </a:cubicBezTo>
                <a:cubicBezTo>
                  <a:pt x="279" y="347"/>
                  <a:pt x="268" y="352"/>
                  <a:pt x="257" y="357"/>
                </a:cubicBezTo>
                <a:cubicBezTo>
                  <a:pt x="246" y="362"/>
                  <a:pt x="234" y="365"/>
                  <a:pt x="222" y="368"/>
                </a:cubicBezTo>
                <a:cubicBezTo>
                  <a:pt x="210" y="370"/>
                  <a:pt x="198" y="371"/>
                  <a:pt x="186" y="371"/>
                </a:cubicBezTo>
                <a:cubicBezTo>
                  <a:pt x="174" y="371"/>
                  <a:pt x="162" y="370"/>
                  <a:pt x="150" y="368"/>
                </a:cubicBezTo>
                <a:cubicBezTo>
                  <a:pt x="138" y="365"/>
                  <a:pt x="126" y="362"/>
                  <a:pt x="115" y="357"/>
                </a:cubicBezTo>
                <a:cubicBezTo>
                  <a:pt x="104" y="352"/>
                  <a:pt x="93" y="347"/>
                  <a:pt x="83" y="340"/>
                </a:cubicBezTo>
                <a:cubicBezTo>
                  <a:pt x="73" y="333"/>
                  <a:pt x="63" y="325"/>
                  <a:pt x="54" y="316"/>
                </a:cubicBezTo>
                <a:cubicBezTo>
                  <a:pt x="45" y="307"/>
                  <a:pt x="38" y="298"/>
                  <a:pt x="31" y="288"/>
                </a:cubicBezTo>
                <a:cubicBezTo>
                  <a:pt x="24" y="278"/>
                  <a:pt x="18" y="267"/>
                  <a:pt x="14" y="256"/>
                </a:cubicBezTo>
                <a:cubicBezTo>
                  <a:pt x="9" y="245"/>
                  <a:pt x="6" y="233"/>
                  <a:pt x="3" y="221"/>
                </a:cubicBezTo>
                <a:cubicBezTo>
                  <a:pt x="1" y="209"/>
                  <a:pt x="0" y="197"/>
                  <a:pt x="0" y="185"/>
                </a:cubicBez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9"/>
                  <a:pt x="279" y="24"/>
                  <a:pt x="289" y="31"/>
                </a:cubicBezTo>
                <a:cubicBezTo>
                  <a:pt x="299" y="38"/>
                  <a:pt x="308" y="45"/>
                  <a:pt x="317" y="54"/>
                </a:cubicBezTo>
                <a:cubicBezTo>
                  <a:pt x="325" y="63"/>
                  <a:pt x="333" y="72"/>
                  <a:pt x="340" y="82"/>
                </a:cubicBezTo>
                <a:cubicBezTo>
                  <a:pt x="347" y="92"/>
                  <a:pt x="352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4594320" y="4381920"/>
            <a:ext cx="980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Frans Kaashoek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4594320" y="5380560"/>
            <a:ext cx="1848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Core of the Machine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4594320" y="5600880"/>
            <a:ext cx="3154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OS in a New Era — Gernot Heiser, Timothy Roscoe,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8191440" y="1780920"/>
            <a:ext cx="238320" cy="190800"/>
          </a:xfrm>
          <a:custGeom>
            <a:avLst/>
            <a:gdLst/>
            <a:ahLst/>
            <a:rect l="0" t="0" r="r" b="b"/>
            <a:pathLst>
              <a:path w="662" h="530">
                <a:moveTo>
                  <a:pt x="149" y="0"/>
                </a:moveTo>
                <a:cubicBezTo>
                  <a:pt x="160" y="0"/>
                  <a:pt x="171" y="2"/>
                  <a:pt x="181" y="7"/>
                </a:cubicBezTo>
                <a:cubicBezTo>
                  <a:pt x="191" y="11"/>
                  <a:pt x="200" y="17"/>
                  <a:pt x="208" y="24"/>
                </a:cubicBezTo>
                <a:cubicBezTo>
                  <a:pt x="216" y="32"/>
                  <a:pt x="222" y="41"/>
                  <a:pt x="226" y="51"/>
                </a:cubicBezTo>
                <a:cubicBezTo>
                  <a:pt x="230" y="61"/>
                  <a:pt x="232" y="72"/>
                  <a:pt x="232" y="84"/>
                </a:cubicBezTo>
                <a:cubicBezTo>
                  <a:pt x="232" y="95"/>
                  <a:pt x="230" y="105"/>
                  <a:pt x="226" y="116"/>
                </a:cubicBezTo>
                <a:cubicBezTo>
                  <a:pt x="222" y="126"/>
                  <a:pt x="216" y="135"/>
                  <a:pt x="208" y="142"/>
                </a:cubicBezTo>
                <a:cubicBezTo>
                  <a:pt x="200" y="150"/>
                  <a:pt x="191" y="156"/>
                  <a:pt x="181" y="160"/>
                </a:cubicBezTo>
                <a:cubicBezTo>
                  <a:pt x="171" y="164"/>
                  <a:pt x="160" y="167"/>
                  <a:pt x="149" y="167"/>
                </a:cubicBezTo>
                <a:cubicBezTo>
                  <a:pt x="139" y="167"/>
                  <a:pt x="128" y="164"/>
                  <a:pt x="118" y="160"/>
                </a:cubicBezTo>
                <a:cubicBezTo>
                  <a:pt x="108" y="156"/>
                  <a:pt x="99" y="150"/>
                  <a:pt x="91" y="142"/>
                </a:cubicBezTo>
                <a:cubicBezTo>
                  <a:pt x="83" y="135"/>
                  <a:pt x="77" y="126"/>
                  <a:pt x="73" y="116"/>
                </a:cubicBezTo>
                <a:cubicBezTo>
                  <a:pt x="69" y="105"/>
                  <a:pt x="67" y="95"/>
                  <a:pt x="67" y="84"/>
                </a:cubicBezTo>
                <a:cubicBezTo>
                  <a:pt x="67" y="72"/>
                  <a:pt x="69" y="61"/>
                  <a:pt x="73" y="51"/>
                </a:cubicBezTo>
                <a:cubicBezTo>
                  <a:pt x="77" y="41"/>
                  <a:pt x="83" y="32"/>
                  <a:pt x="91" y="24"/>
                </a:cubicBezTo>
                <a:cubicBezTo>
                  <a:pt x="99" y="17"/>
                  <a:pt x="108" y="11"/>
                  <a:pt x="118" y="7"/>
                </a:cubicBezTo>
                <a:cubicBezTo>
                  <a:pt x="128" y="2"/>
                  <a:pt x="139" y="0"/>
                  <a:pt x="149" y="0"/>
                </a:cubicBezTo>
                <a:moveTo>
                  <a:pt x="530" y="0"/>
                </a:moveTo>
                <a:cubicBezTo>
                  <a:pt x="541" y="0"/>
                  <a:pt x="551" y="2"/>
                  <a:pt x="561" y="7"/>
                </a:cubicBezTo>
                <a:cubicBezTo>
                  <a:pt x="572" y="11"/>
                  <a:pt x="581" y="17"/>
                  <a:pt x="588" y="24"/>
                </a:cubicBezTo>
                <a:cubicBezTo>
                  <a:pt x="596" y="32"/>
                  <a:pt x="602" y="41"/>
                  <a:pt x="606" y="51"/>
                </a:cubicBezTo>
                <a:cubicBezTo>
                  <a:pt x="610" y="61"/>
                  <a:pt x="613" y="72"/>
                  <a:pt x="613" y="84"/>
                </a:cubicBezTo>
                <a:cubicBezTo>
                  <a:pt x="613" y="95"/>
                  <a:pt x="610" y="105"/>
                  <a:pt x="606" y="116"/>
                </a:cubicBezTo>
                <a:cubicBezTo>
                  <a:pt x="602" y="126"/>
                  <a:pt x="596" y="135"/>
                  <a:pt x="588" y="142"/>
                </a:cubicBezTo>
                <a:cubicBezTo>
                  <a:pt x="581" y="150"/>
                  <a:pt x="572" y="156"/>
                  <a:pt x="561" y="160"/>
                </a:cubicBezTo>
                <a:cubicBezTo>
                  <a:pt x="551" y="164"/>
                  <a:pt x="541" y="167"/>
                  <a:pt x="530" y="167"/>
                </a:cubicBezTo>
                <a:cubicBezTo>
                  <a:pt x="519" y="167"/>
                  <a:pt x="508" y="164"/>
                  <a:pt x="498" y="160"/>
                </a:cubicBezTo>
                <a:cubicBezTo>
                  <a:pt x="488" y="156"/>
                  <a:pt x="479" y="150"/>
                  <a:pt x="471" y="142"/>
                </a:cubicBezTo>
                <a:cubicBezTo>
                  <a:pt x="464" y="135"/>
                  <a:pt x="458" y="126"/>
                  <a:pt x="453" y="116"/>
                </a:cubicBezTo>
                <a:cubicBezTo>
                  <a:pt x="449" y="105"/>
                  <a:pt x="447" y="95"/>
                  <a:pt x="447" y="84"/>
                </a:cubicBezTo>
                <a:cubicBezTo>
                  <a:pt x="447" y="72"/>
                  <a:pt x="449" y="61"/>
                  <a:pt x="453" y="51"/>
                </a:cubicBezTo>
                <a:cubicBezTo>
                  <a:pt x="458" y="41"/>
                  <a:pt x="464" y="32"/>
                  <a:pt x="471" y="24"/>
                </a:cubicBezTo>
                <a:cubicBezTo>
                  <a:pt x="479" y="17"/>
                  <a:pt x="488" y="11"/>
                  <a:pt x="498" y="7"/>
                </a:cubicBezTo>
                <a:cubicBezTo>
                  <a:pt x="508" y="2"/>
                  <a:pt x="519" y="0"/>
                  <a:pt x="530" y="0"/>
                </a:cubicBezTo>
                <a:moveTo>
                  <a:pt x="0" y="310"/>
                </a:moveTo>
                <a:cubicBezTo>
                  <a:pt x="0" y="249"/>
                  <a:pt x="49" y="200"/>
                  <a:pt x="111" y="200"/>
                </a:cubicBezTo>
                <a:lnTo>
                  <a:pt x="155" y="200"/>
                </a:lnTo>
                <a:cubicBezTo>
                  <a:pt x="172" y="200"/>
                  <a:pt x="187" y="203"/>
                  <a:pt x="201" y="210"/>
                </a:cubicBezTo>
                <a:cubicBezTo>
                  <a:pt x="200" y="217"/>
                  <a:pt x="199" y="225"/>
                  <a:pt x="199" y="233"/>
                </a:cubicBezTo>
                <a:cubicBezTo>
                  <a:pt x="199" y="272"/>
                  <a:pt x="217" y="308"/>
                  <a:pt x="244" y="332"/>
                </a:cubicBezTo>
                <a:lnTo>
                  <a:pt x="243" y="332"/>
                </a:lnTo>
                <a:lnTo>
                  <a:pt x="22" y="332"/>
                </a:lnTo>
                <a:cubicBezTo>
                  <a:pt x="10" y="332"/>
                  <a:pt x="0" y="322"/>
                  <a:pt x="0" y="310"/>
                </a:cubicBezTo>
                <a:moveTo>
                  <a:pt x="420" y="332"/>
                </a:moveTo>
                <a:cubicBezTo>
                  <a:pt x="419" y="332"/>
                  <a:pt x="419" y="332"/>
                  <a:pt x="419" y="332"/>
                </a:cubicBezTo>
                <a:cubicBezTo>
                  <a:pt x="446" y="308"/>
                  <a:pt x="464" y="272"/>
                  <a:pt x="464" y="233"/>
                </a:cubicBezTo>
                <a:cubicBezTo>
                  <a:pt x="464" y="225"/>
                  <a:pt x="463" y="217"/>
                  <a:pt x="462" y="210"/>
                </a:cubicBezTo>
                <a:cubicBezTo>
                  <a:pt x="476" y="203"/>
                  <a:pt x="491" y="200"/>
                  <a:pt x="508" y="200"/>
                </a:cubicBezTo>
                <a:lnTo>
                  <a:pt x="552" y="200"/>
                </a:lnTo>
                <a:cubicBezTo>
                  <a:pt x="613" y="200"/>
                  <a:pt x="662" y="249"/>
                  <a:pt x="662" y="310"/>
                </a:cubicBezTo>
                <a:cubicBezTo>
                  <a:pt x="662" y="322"/>
                  <a:pt x="652" y="332"/>
                  <a:pt x="640" y="332"/>
                </a:cubicBezTo>
                <a:lnTo>
                  <a:pt x="420" y="332"/>
                </a:lnTo>
                <a:moveTo>
                  <a:pt x="232" y="233"/>
                </a:moveTo>
                <a:cubicBezTo>
                  <a:pt x="232" y="220"/>
                  <a:pt x="235" y="207"/>
                  <a:pt x="240" y="195"/>
                </a:cubicBezTo>
                <a:cubicBezTo>
                  <a:pt x="245" y="183"/>
                  <a:pt x="252" y="172"/>
                  <a:pt x="261" y="163"/>
                </a:cubicBezTo>
                <a:cubicBezTo>
                  <a:pt x="271" y="153"/>
                  <a:pt x="281" y="146"/>
                  <a:pt x="293" y="141"/>
                </a:cubicBezTo>
                <a:cubicBezTo>
                  <a:pt x="306" y="136"/>
                  <a:pt x="318" y="133"/>
                  <a:pt x="331" y="133"/>
                </a:cubicBezTo>
                <a:cubicBezTo>
                  <a:pt x="345" y="133"/>
                  <a:pt x="357" y="136"/>
                  <a:pt x="369" y="141"/>
                </a:cubicBezTo>
                <a:cubicBezTo>
                  <a:pt x="382" y="146"/>
                  <a:pt x="392" y="153"/>
                  <a:pt x="402" y="163"/>
                </a:cubicBezTo>
                <a:cubicBezTo>
                  <a:pt x="411" y="172"/>
                  <a:pt x="418" y="183"/>
                  <a:pt x="423" y="195"/>
                </a:cubicBezTo>
                <a:cubicBezTo>
                  <a:pt x="428" y="207"/>
                  <a:pt x="431" y="220"/>
                  <a:pt x="431" y="233"/>
                </a:cubicBezTo>
                <a:cubicBezTo>
                  <a:pt x="431" y="246"/>
                  <a:pt x="428" y="259"/>
                  <a:pt x="423" y="271"/>
                </a:cubicBezTo>
                <a:cubicBezTo>
                  <a:pt x="418" y="283"/>
                  <a:pt x="411" y="294"/>
                  <a:pt x="402" y="303"/>
                </a:cubicBezTo>
                <a:cubicBezTo>
                  <a:pt x="392" y="312"/>
                  <a:pt x="382" y="319"/>
                  <a:pt x="369" y="324"/>
                </a:cubicBezTo>
                <a:cubicBezTo>
                  <a:pt x="357" y="329"/>
                  <a:pt x="345" y="332"/>
                  <a:pt x="331" y="332"/>
                </a:cubicBezTo>
                <a:cubicBezTo>
                  <a:pt x="318" y="332"/>
                  <a:pt x="306" y="329"/>
                  <a:pt x="293" y="324"/>
                </a:cubicBezTo>
                <a:cubicBezTo>
                  <a:pt x="281" y="319"/>
                  <a:pt x="271" y="312"/>
                  <a:pt x="261" y="303"/>
                </a:cubicBezTo>
                <a:cubicBezTo>
                  <a:pt x="252" y="294"/>
                  <a:pt x="245" y="283"/>
                  <a:pt x="240" y="271"/>
                </a:cubicBezTo>
                <a:cubicBezTo>
                  <a:pt x="235" y="259"/>
                  <a:pt x="232" y="246"/>
                  <a:pt x="232" y="233"/>
                </a:cubicBezTo>
                <a:moveTo>
                  <a:pt x="133" y="503"/>
                </a:moveTo>
                <a:cubicBezTo>
                  <a:pt x="133" y="427"/>
                  <a:pt x="195" y="365"/>
                  <a:pt x="271" y="365"/>
                </a:cubicBezTo>
                <a:lnTo>
                  <a:pt x="392" y="365"/>
                </a:lnTo>
                <a:cubicBezTo>
                  <a:pt x="468" y="365"/>
                  <a:pt x="530" y="427"/>
                  <a:pt x="530" y="503"/>
                </a:cubicBezTo>
                <a:cubicBezTo>
                  <a:pt x="530" y="518"/>
                  <a:pt x="518" y="530"/>
                  <a:pt x="502" y="530"/>
                </a:cubicBezTo>
                <a:lnTo>
                  <a:pt x="161" y="530"/>
                </a:lnTo>
                <a:cubicBezTo>
                  <a:pt x="145" y="530"/>
                  <a:pt x="133" y="518"/>
                  <a:pt x="133" y="50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594320" y="5791680"/>
            <a:ext cx="1719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Yubin Xia, Jeanna Matthews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8191440" y="2733480"/>
            <a:ext cx="38160" cy="876600"/>
          </a:xfrm>
          <a:custGeom>
            <a:avLst/>
            <a:gdLst/>
            <a:ahLst/>
            <a:rect l="0" t="0" r="r" b="b"/>
            <a:pathLst>
              <a:path w="106" h="2435">
                <a:moveTo>
                  <a:pt x="0" y="0"/>
                </a:moveTo>
                <a:lnTo>
                  <a:pt x="106" y="0"/>
                </a:lnTo>
                <a:lnTo>
                  <a:pt x="106" y="2435"/>
                </a:lnTo>
                <a:lnTo>
                  <a:pt x="0" y="2435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8386560" y="2738160"/>
            <a:ext cx="638640" cy="219600"/>
          </a:xfrm>
          <a:custGeom>
            <a:avLst/>
            <a:gdLst/>
            <a:ahLst/>
            <a:rect l="0" t="0" r="r" b="b"/>
            <a:pathLst>
              <a:path w="1774" h="610">
                <a:moveTo>
                  <a:pt x="0" y="516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0" y="0"/>
                  <a:pt x="93" y="0"/>
                </a:cubicBezTo>
                <a:lnTo>
                  <a:pt x="1681" y="0"/>
                </a:lnTo>
                <a:cubicBezTo>
                  <a:pt x="1693" y="0"/>
                  <a:pt x="1705" y="3"/>
                  <a:pt x="1717" y="7"/>
                </a:cubicBezTo>
                <a:cubicBezTo>
                  <a:pt x="1728" y="12"/>
                  <a:pt x="1738" y="19"/>
                  <a:pt x="1747" y="27"/>
                </a:cubicBezTo>
                <a:cubicBezTo>
                  <a:pt x="1755" y="36"/>
                  <a:pt x="1762" y="46"/>
                  <a:pt x="1767" y="57"/>
                </a:cubicBezTo>
                <a:cubicBezTo>
                  <a:pt x="1771" y="69"/>
                  <a:pt x="1774" y="81"/>
                  <a:pt x="1774" y="93"/>
                </a:cubicBezTo>
                <a:lnTo>
                  <a:pt x="1774" y="516"/>
                </a:lnTo>
                <a:cubicBezTo>
                  <a:pt x="1774" y="528"/>
                  <a:pt x="1771" y="540"/>
                  <a:pt x="1767" y="552"/>
                </a:cubicBezTo>
                <a:cubicBezTo>
                  <a:pt x="1762" y="563"/>
                  <a:pt x="1755" y="573"/>
                  <a:pt x="1747" y="582"/>
                </a:cubicBezTo>
                <a:cubicBezTo>
                  <a:pt x="1738" y="590"/>
                  <a:pt x="1728" y="597"/>
                  <a:pt x="1717" y="603"/>
                </a:cubicBezTo>
                <a:cubicBezTo>
                  <a:pt x="1705" y="607"/>
                  <a:pt x="1693" y="610"/>
                  <a:pt x="1681" y="610"/>
                </a:cubicBezTo>
                <a:lnTo>
                  <a:pt x="93" y="610"/>
                </a:lnTo>
                <a:cubicBezTo>
                  <a:pt x="80" y="610"/>
                  <a:pt x="69" y="607"/>
                  <a:pt x="57" y="603"/>
                </a:cubicBezTo>
                <a:cubicBezTo>
                  <a:pt x="46" y="597"/>
                  <a:pt x="36" y="590"/>
                  <a:pt x="27" y="582"/>
                </a:cubicBezTo>
                <a:cubicBezTo>
                  <a:pt x="18" y="573"/>
                  <a:pt x="12" y="563"/>
                  <a:pt x="7" y="552"/>
                </a:cubicBezTo>
                <a:cubicBezTo>
                  <a:pt x="2" y="540"/>
                  <a:pt x="0" y="528"/>
                  <a:pt x="0" y="51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8386560" y="2738160"/>
            <a:ext cx="638640" cy="219600"/>
          </a:xfrm>
          <a:custGeom>
            <a:avLst/>
            <a:gdLst/>
            <a:ahLst/>
            <a:rect l="0" t="0" r="r" b="b"/>
            <a:pathLst>
              <a:path fill="none" w="1774" h="610">
                <a:moveTo>
                  <a:pt x="0" y="516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0" y="0"/>
                  <a:pt x="93" y="0"/>
                </a:cubicBezTo>
                <a:lnTo>
                  <a:pt x="1681" y="0"/>
                </a:lnTo>
                <a:cubicBezTo>
                  <a:pt x="1693" y="0"/>
                  <a:pt x="1705" y="3"/>
                  <a:pt x="1717" y="7"/>
                </a:cubicBezTo>
                <a:cubicBezTo>
                  <a:pt x="1728" y="12"/>
                  <a:pt x="1738" y="19"/>
                  <a:pt x="1747" y="27"/>
                </a:cubicBezTo>
                <a:cubicBezTo>
                  <a:pt x="1755" y="36"/>
                  <a:pt x="1762" y="46"/>
                  <a:pt x="1767" y="57"/>
                </a:cubicBezTo>
                <a:cubicBezTo>
                  <a:pt x="1771" y="69"/>
                  <a:pt x="1774" y="81"/>
                  <a:pt x="1774" y="93"/>
                </a:cubicBezTo>
                <a:lnTo>
                  <a:pt x="1774" y="516"/>
                </a:lnTo>
                <a:cubicBezTo>
                  <a:pt x="1774" y="528"/>
                  <a:pt x="1771" y="540"/>
                  <a:pt x="1767" y="552"/>
                </a:cubicBezTo>
                <a:cubicBezTo>
                  <a:pt x="1762" y="563"/>
                  <a:pt x="1755" y="573"/>
                  <a:pt x="1747" y="582"/>
                </a:cubicBezTo>
                <a:cubicBezTo>
                  <a:pt x="1738" y="590"/>
                  <a:pt x="1728" y="597"/>
                  <a:pt x="1717" y="603"/>
                </a:cubicBezTo>
                <a:cubicBezTo>
                  <a:pt x="1705" y="607"/>
                  <a:pt x="1693" y="610"/>
                  <a:pt x="1681" y="610"/>
                </a:cubicBezTo>
                <a:lnTo>
                  <a:pt x="93" y="610"/>
                </a:lnTo>
                <a:cubicBezTo>
                  <a:pt x="80" y="610"/>
                  <a:pt x="69" y="607"/>
                  <a:pt x="57" y="603"/>
                </a:cubicBezTo>
                <a:cubicBezTo>
                  <a:pt x="46" y="597"/>
                  <a:pt x="36" y="590"/>
                  <a:pt x="27" y="582"/>
                </a:cubicBezTo>
                <a:cubicBezTo>
                  <a:pt x="18" y="573"/>
                  <a:pt x="12" y="563"/>
                  <a:pt x="7" y="552"/>
                </a:cubicBezTo>
                <a:cubicBezTo>
                  <a:pt x="2" y="540"/>
                  <a:pt x="0" y="528"/>
                  <a:pt x="0" y="516"/>
                </a:cubicBezTo>
              </a:path>
            </a:pathLst>
          </a:custGeom>
          <a:ln w="9360">
            <a:solidFill>
              <a:srgbClr val="bfdb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8540640" y="1748880"/>
            <a:ext cx="1064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Two Panels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8464320" y="2773440"/>
            <a:ext cx="466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PANEL 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9109440" y="2752920"/>
            <a:ext cx="790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11:40 - 12:30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8378640" y="3008880"/>
            <a:ext cx="2451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System Research in the Era of AI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8378640" y="3229200"/>
            <a:ext cx="1873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Moderator: Christos Kozyrakis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8191440" y="4924080"/>
            <a:ext cx="38160" cy="876960"/>
          </a:xfrm>
          <a:custGeom>
            <a:avLst/>
            <a:gdLst/>
            <a:ahLst/>
            <a:rect l="0" t="0" r="r" b="b"/>
            <a:pathLst>
              <a:path w="106" h="2436">
                <a:moveTo>
                  <a:pt x="0" y="0"/>
                </a:moveTo>
                <a:lnTo>
                  <a:pt x="106" y="0"/>
                </a:lnTo>
                <a:lnTo>
                  <a:pt x="106" y="2436"/>
                </a:lnTo>
                <a:lnTo>
                  <a:pt x="0" y="2436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8386560" y="4929120"/>
            <a:ext cx="638640" cy="219240"/>
          </a:xfrm>
          <a:custGeom>
            <a:avLst/>
            <a:gdLst/>
            <a:ahLst/>
            <a:rect l="0" t="0" r="r" b="b"/>
            <a:pathLst>
              <a:path w="1774" h="609">
                <a:moveTo>
                  <a:pt x="0" y="516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1681" y="0"/>
                </a:lnTo>
                <a:cubicBezTo>
                  <a:pt x="1693" y="0"/>
                  <a:pt x="1705" y="2"/>
                  <a:pt x="1717" y="7"/>
                </a:cubicBezTo>
                <a:cubicBezTo>
                  <a:pt x="1728" y="11"/>
                  <a:pt x="1738" y="18"/>
                  <a:pt x="1747" y="27"/>
                </a:cubicBezTo>
                <a:cubicBezTo>
                  <a:pt x="1755" y="35"/>
                  <a:pt x="1762" y="46"/>
                  <a:pt x="1767" y="57"/>
                </a:cubicBezTo>
                <a:cubicBezTo>
                  <a:pt x="1771" y="68"/>
                  <a:pt x="1774" y="80"/>
                  <a:pt x="1774" y="92"/>
                </a:cubicBezTo>
                <a:lnTo>
                  <a:pt x="1774" y="516"/>
                </a:lnTo>
                <a:cubicBezTo>
                  <a:pt x="1774" y="528"/>
                  <a:pt x="1771" y="540"/>
                  <a:pt x="1767" y="551"/>
                </a:cubicBezTo>
                <a:cubicBezTo>
                  <a:pt x="1762" y="562"/>
                  <a:pt x="1755" y="572"/>
                  <a:pt x="1747" y="581"/>
                </a:cubicBezTo>
                <a:cubicBezTo>
                  <a:pt x="1738" y="590"/>
                  <a:pt x="1728" y="597"/>
                  <a:pt x="1717" y="602"/>
                </a:cubicBezTo>
                <a:cubicBezTo>
                  <a:pt x="1705" y="607"/>
                  <a:pt x="1693" y="609"/>
                  <a:pt x="1681" y="609"/>
                </a:cubicBezTo>
                <a:lnTo>
                  <a:pt x="93" y="609"/>
                </a:lnTo>
                <a:cubicBezTo>
                  <a:pt x="80" y="609"/>
                  <a:pt x="69" y="607"/>
                  <a:pt x="57" y="602"/>
                </a:cubicBezTo>
                <a:cubicBezTo>
                  <a:pt x="46" y="597"/>
                  <a:pt x="36" y="590"/>
                  <a:pt x="27" y="581"/>
                </a:cubicBezTo>
                <a:cubicBezTo>
                  <a:pt x="18" y="572"/>
                  <a:pt x="12" y="562"/>
                  <a:pt x="7" y="551"/>
                </a:cubicBezTo>
                <a:cubicBezTo>
                  <a:pt x="2" y="540"/>
                  <a:pt x="0" y="528"/>
                  <a:pt x="0" y="51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8386560" y="4929120"/>
            <a:ext cx="638640" cy="219240"/>
          </a:xfrm>
          <a:custGeom>
            <a:avLst/>
            <a:gdLst/>
            <a:ahLst/>
            <a:rect l="0" t="0" r="r" b="b"/>
            <a:pathLst>
              <a:path fill="none" w="1774" h="609">
                <a:moveTo>
                  <a:pt x="0" y="516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1681" y="0"/>
                </a:lnTo>
                <a:cubicBezTo>
                  <a:pt x="1693" y="0"/>
                  <a:pt x="1705" y="2"/>
                  <a:pt x="1717" y="7"/>
                </a:cubicBezTo>
                <a:cubicBezTo>
                  <a:pt x="1728" y="11"/>
                  <a:pt x="1738" y="18"/>
                  <a:pt x="1747" y="27"/>
                </a:cubicBezTo>
                <a:cubicBezTo>
                  <a:pt x="1755" y="35"/>
                  <a:pt x="1762" y="46"/>
                  <a:pt x="1767" y="57"/>
                </a:cubicBezTo>
                <a:cubicBezTo>
                  <a:pt x="1771" y="68"/>
                  <a:pt x="1774" y="80"/>
                  <a:pt x="1774" y="92"/>
                </a:cubicBezTo>
                <a:lnTo>
                  <a:pt x="1774" y="516"/>
                </a:lnTo>
                <a:cubicBezTo>
                  <a:pt x="1774" y="528"/>
                  <a:pt x="1771" y="540"/>
                  <a:pt x="1767" y="551"/>
                </a:cubicBezTo>
                <a:cubicBezTo>
                  <a:pt x="1762" y="562"/>
                  <a:pt x="1755" y="572"/>
                  <a:pt x="1747" y="581"/>
                </a:cubicBezTo>
                <a:cubicBezTo>
                  <a:pt x="1738" y="590"/>
                  <a:pt x="1728" y="597"/>
                  <a:pt x="1717" y="602"/>
                </a:cubicBezTo>
                <a:cubicBezTo>
                  <a:pt x="1705" y="607"/>
                  <a:pt x="1693" y="609"/>
                  <a:pt x="1681" y="609"/>
                </a:cubicBezTo>
                <a:lnTo>
                  <a:pt x="93" y="609"/>
                </a:lnTo>
                <a:cubicBezTo>
                  <a:pt x="80" y="609"/>
                  <a:pt x="69" y="607"/>
                  <a:pt x="57" y="602"/>
                </a:cubicBezTo>
                <a:cubicBezTo>
                  <a:pt x="46" y="597"/>
                  <a:pt x="36" y="590"/>
                  <a:pt x="27" y="581"/>
                </a:cubicBezTo>
                <a:cubicBezTo>
                  <a:pt x="18" y="572"/>
                  <a:pt x="12" y="562"/>
                  <a:pt x="7" y="551"/>
                </a:cubicBezTo>
                <a:cubicBezTo>
                  <a:pt x="2" y="540"/>
                  <a:pt x="0" y="528"/>
                  <a:pt x="0" y="516"/>
                </a:cubicBezTo>
              </a:path>
            </a:pathLst>
          </a:custGeom>
          <a:ln w="9360">
            <a:solidFill>
              <a:srgbClr val="bfdb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8378640" y="3459240"/>
            <a:ext cx="2733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Maintaining principled research amid AI disruption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8464320" y="4964040"/>
            <a:ext cx="466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PANEL 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9109440" y="4943880"/>
            <a:ext cx="790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17:10 - 18:00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8378640" y="5199480"/>
            <a:ext cx="2849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Building a Community in the Era of AI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8378640" y="5420160"/>
            <a:ext cx="1812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Moderator: Jeanna Matthews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8378640" y="5649840"/>
            <a:ext cx="30106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Fostering cohesion across generations and geographies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11687040" y="6521040"/>
            <a:ext cx="1368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"/>
              </a:rPr>
              <a:t>4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0202400" y="381240"/>
            <a:ext cx="1533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Chair: Christos Kozyrakis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428400" y="1342800"/>
            <a:ext cx="5553360" cy="1352880"/>
          </a:xfrm>
          <a:custGeom>
            <a:avLst/>
            <a:gdLst/>
            <a:ahLst/>
            <a:rect l="0" t="0" r="r" b="b"/>
            <a:pathLst>
              <a:path w="15426" h="3758">
                <a:moveTo>
                  <a:pt x="0" y="0"/>
                </a:moveTo>
                <a:lnTo>
                  <a:pt x="15426" y="0"/>
                </a:lnTo>
                <a:lnTo>
                  <a:pt x="15426" y="3758"/>
                </a:lnTo>
                <a:lnTo>
                  <a:pt x="0" y="37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428400" y="1342800"/>
            <a:ext cx="5553360" cy="38520"/>
          </a:xfrm>
          <a:custGeom>
            <a:avLst/>
            <a:gdLst/>
            <a:ahLst/>
            <a:rect l="0" t="0" r="r" b="b"/>
            <a:pathLst>
              <a:path w="15426" h="107">
                <a:moveTo>
                  <a:pt x="0" y="0"/>
                </a:moveTo>
                <a:lnTo>
                  <a:pt x="15426" y="0"/>
                </a:lnTo>
                <a:lnTo>
                  <a:pt x="1542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428400" y="2685960"/>
            <a:ext cx="5553360" cy="9720"/>
          </a:xfrm>
          <a:custGeom>
            <a:avLst/>
            <a:gdLst/>
            <a:ahLst/>
            <a:rect l="0" t="0" r="r" b="b"/>
            <a:pathLst>
              <a:path w="15426" h="27">
                <a:moveTo>
                  <a:pt x="0" y="0"/>
                </a:moveTo>
                <a:lnTo>
                  <a:pt x="15426" y="0"/>
                </a:lnTo>
                <a:lnTo>
                  <a:pt x="154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972040" y="1342800"/>
            <a:ext cx="9720" cy="1352880"/>
          </a:xfrm>
          <a:custGeom>
            <a:avLst/>
            <a:gdLst/>
            <a:ahLst/>
            <a:rect l="0" t="0" r="r" b="b"/>
            <a:pathLst>
              <a:path w="27" h="3758">
                <a:moveTo>
                  <a:pt x="0" y="106"/>
                </a:moveTo>
                <a:lnTo>
                  <a:pt x="0" y="3758"/>
                </a:lnTo>
                <a:lnTo>
                  <a:pt x="27" y="375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428400" y="1342800"/>
            <a:ext cx="10080" cy="1352880"/>
          </a:xfrm>
          <a:custGeom>
            <a:avLst/>
            <a:gdLst/>
            <a:ahLst/>
            <a:rect l="0" t="0" r="r" b="b"/>
            <a:pathLst>
              <a:path w="28" h="3758">
                <a:moveTo>
                  <a:pt x="0" y="0"/>
                </a:moveTo>
                <a:lnTo>
                  <a:pt x="0" y="3758"/>
                </a:lnTo>
                <a:lnTo>
                  <a:pt x="28" y="375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628560" y="157140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1059" y="530"/>
                </a:moveTo>
                <a:cubicBezTo>
                  <a:pt x="1059" y="565"/>
                  <a:pt x="1056" y="599"/>
                  <a:pt x="1049" y="634"/>
                </a:cubicBezTo>
                <a:cubicBezTo>
                  <a:pt x="1042" y="668"/>
                  <a:pt x="1032" y="701"/>
                  <a:pt x="1019" y="733"/>
                </a:cubicBezTo>
                <a:cubicBezTo>
                  <a:pt x="1006" y="765"/>
                  <a:pt x="989" y="795"/>
                  <a:pt x="970" y="824"/>
                </a:cubicBezTo>
                <a:cubicBezTo>
                  <a:pt x="951" y="853"/>
                  <a:pt x="929" y="880"/>
                  <a:pt x="904" y="904"/>
                </a:cubicBezTo>
                <a:cubicBezTo>
                  <a:pt x="879" y="929"/>
                  <a:pt x="852" y="951"/>
                  <a:pt x="823" y="970"/>
                </a:cubicBezTo>
                <a:cubicBezTo>
                  <a:pt x="794" y="990"/>
                  <a:pt x="764" y="1006"/>
                  <a:pt x="731" y="1019"/>
                </a:cubicBezTo>
                <a:cubicBezTo>
                  <a:pt x="699" y="1032"/>
                  <a:pt x="666" y="1043"/>
                  <a:pt x="632" y="1049"/>
                </a:cubicBezTo>
                <a:cubicBezTo>
                  <a:pt x="598" y="1056"/>
                  <a:pt x="564" y="1059"/>
                  <a:pt x="529" y="1059"/>
                </a:cubicBezTo>
                <a:cubicBezTo>
                  <a:pt x="494" y="1059"/>
                  <a:pt x="460" y="1056"/>
                  <a:pt x="426" y="1049"/>
                </a:cubicBezTo>
                <a:cubicBezTo>
                  <a:pt x="392" y="1043"/>
                  <a:pt x="359" y="1032"/>
                  <a:pt x="326" y="1019"/>
                </a:cubicBezTo>
                <a:cubicBezTo>
                  <a:pt x="294" y="1006"/>
                  <a:pt x="264" y="990"/>
                  <a:pt x="235" y="970"/>
                </a:cubicBezTo>
                <a:cubicBezTo>
                  <a:pt x="206" y="951"/>
                  <a:pt x="179" y="929"/>
                  <a:pt x="155" y="904"/>
                </a:cubicBezTo>
                <a:cubicBezTo>
                  <a:pt x="130" y="880"/>
                  <a:pt x="108" y="853"/>
                  <a:pt x="89" y="824"/>
                </a:cubicBezTo>
                <a:cubicBezTo>
                  <a:pt x="70" y="795"/>
                  <a:pt x="53" y="765"/>
                  <a:pt x="40" y="733"/>
                </a:cubicBezTo>
                <a:cubicBezTo>
                  <a:pt x="27" y="701"/>
                  <a:pt x="17" y="668"/>
                  <a:pt x="10" y="634"/>
                </a:cubicBezTo>
                <a:cubicBezTo>
                  <a:pt x="3" y="599"/>
                  <a:pt x="0" y="565"/>
                  <a:pt x="0" y="530"/>
                </a:cubicBezTo>
                <a:cubicBezTo>
                  <a:pt x="0" y="496"/>
                  <a:pt x="3" y="461"/>
                  <a:pt x="10" y="427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3" y="295"/>
                  <a:pt x="70" y="264"/>
                  <a:pt x="89" y="235"/>
                </a:cubicBezTo>
                <a:cubicBezTo>
                  <a:pt x="108" y="206"/>
                  <a:pt x="130" y="180"/>
                  <a:pt x="155" y="155"/>
                </a:cubicBezTo>
                <a:cubicBezTo>
                  <a:pt x="179" y="131"/>
                  <a:pt x="206" y="109"/>
                  <a:pt x="235" y="89"/>
                </a:cubicBezTo>
                <a:cubicBezTo>
                  <a:pt x="264" y="70"/>
                  <a:pt x="294" y="54"/>
                  <a:pt x="326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4"/>
                  <a:pt x="494" y="0"/>
                  <a:pt x="529" y="0"/>
                </a:cubicBezTo>
                <a:cubicBezTo>
                  <a:pt x="564" y="0"/>
                  <a:pt x="598" y="4"/>
                  <a:pt x="632" y="10"/>
                </a:cubicBezTo>
                <a:cubicBezTo>
                  <a:pt x="666" y="17"/>
                  <a:pt x="699" y="27"/>
                  <a:pt x="731" y="40"/>
                </a:cubicBezTo>
                <a:cubicBezTo>
                  <a:pt x="764" y="54"/>
                  <a:pt x="794" y="70"/>
                  <a:pt x="823" y="89"/>
                </a:cubicBezTo>
                <a:cubicBezTo>
                  <a:pt x="852" y="109"/>
                  <a:pt x="879" y="131"/>
                  <a:pt x="904" y="155"/>
                </a:cubicBezTo>
                <a:cubicBezTo>
                  <a:pt x="929" y="180"/>
                  <a:pt x="951" y="206"/>
                  <a:pt x="970" y="235"/>
                </a:cubicBezTo>
                <a:cubicBezTo>
                  <a:pt x="989" y="264"/>
                  <a:pt x="1006" y="295"/>
                  <a:pt x="1019" y="327"/>
                </a:cubicBezTo>
                <a:cubicBezTo>
                  <a:pt x="1032" y="359"/>
                  <a:pt x="1042" y="392"/>
                  <a:pt x="1049" y="427"/>
                </a:cubicBezTo>
                <a:cubicBezTo>
                  <a:pt x="1056" y="461"/>
                  <a:pt x="1059" y="496"/>
                  <a:pt x="1059" y="53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723600" y="1685880"/>
            <a:ext cx="190800" cy="152640"/>
          </a:xfrm>
          <a:custGeom>
            <a:avLst/>
            <a:gdLst/>
            <a:ahLst/>
            <a:rect l="0" t="0" r="r" b="b"/>
            <a:pathLst>
              <a:path w="530" h="424">
                <a:moveTo>
                  <a:pt x="265" y="0"/>
                </a:moveTo>
                <a:cubicBezTo>
                  <a:pt x="280" y="0"/>
                  <a:pt x="291" y="11"/>
                  <a:pt x="291" y="26"/>
                </a:cubicBezTo>
                <a:lnTo>
                  <a:pt x="291" y="79"/>
                </a:lnTo>
                <a:lnTo>
                  <a:pt x="392" y="79"/>
                </a:lnTo>
                <a:cubicBezTo>
                  <a:pt x="425" y="79"/>
                  <a:pt x="451" y="106"/>
                  <a:pt x="451" y="139"/>
                </a:cubicBezTo>
                <a:lnTo>
                  <a:pt x="451" y="364"/>
                </a:lnTo>
                <a:cubicBezTo>
                  <a:pt x="451" y="397"/>
                  <a:pt x="425" y="424"/>
                  <a:pt x="392" y="424"/>
                </a:cubicBezTo>
                <a:lnTo>
                  <a:pt x="139" y="424"/>
                </a:lnTo>
                <a:cubicBezTo>
                  <a:pt x="106" y="424"/>
                  <a:pt x="80" y="397"/>
                  <a:pt x="80" y="364"/>
                </a:cubicBezTo>
                <a:lnTo>
                  <a:pt x="80" y="139"/>
                </a:lnTo>
                <a:cubicBezTo>
                  <a:pt x="80" y="106"/>
                  <a:pt x="106" y="79"/>
                  <a:pt x="139" y="79"/>
                </a:cubicBezTo>
                <a:lnTo>
                  <a:pt x="238" y="79"/>
                </a:lnTo>
                <a:lnTo>
                  <a:pt x="238" y="26"/>
                </a:lnTo>
                <a:cubicBezTo>
                  <a:pt x="238" y="11"/>
                  <a:pt x="250" y="0"/>
                  <a:pt x="265" y="0"/>
                </a:cubicBezTo>
                <a:moveTo>
                  <a:pt x="172" y="318"/>
                </a:moveTo>
                <a:cubicBezTo>
                  <a:pt x="165" y="318"/>
                  <a:pt x="159" y="324"/>
                  <a:pt x="159" y="331"/>
                </a:cubicBezTo>
                <a:cubicBezTo>
                  <a:pt x="159" y="339"/>
                  <a:pt x="165" y="345"/>
                  <a:pt x="172" y="345"/>
                </a:cubicBezTo>
                <a:lnTo>
                  <a:pt x="199" y="345"/>
                </a:lnTo>
                <a:cubicBezTo>
                  <a:pt x="206" y="345"/>
                  <a:pt x="212" y="339"/>
                  <a:pt x="212" y="331"/>
                </a:cubicBezTo>
                <a:cubicBezTo>
                  <a:pt x="212" y="324"/>
                  <a:pt x="206" y="318"/>
                  <a:pt x="199" y="318"/>
                </a:cubicBezTo>
                <a:lnTo>
                  <a:pt x="172" y="318"/>
                </a:lnTo>
                <a:moveTo>
                  <a:pt x="252" y="318"/>
                </a:moveTo>
                <a:cubicBezTo>
                  <a:pt x="244" y="318"/>
                  <a:pt x="238" y="324"/>
                  <a:pt x="238" y="331"/>
                </a:cubicBezTo>
                <a:cubicBezTo>
                  <a:pt x="238" y="339"/>
                  <a:pt x="244" y="345"/>
                  <a:pt x="252" y="345"/>
                </a:cubicBezTo>
                <a:lnTo>
                  <a:pt x="278" y="345"/>
                </a:lnTo>
                <a:cubicBezTo>
                  <a:pt x="285" y="345"/>
                  <a:pt x="291" y="339"/>
                  <a:pt x="291" y="331"/>
                </a:cubicBezTo>
                <a:cubicBezTo>
                  <a:pt x="291" y="324"/>
                  <a:pt x="285" y="318"/>
                  <a:pt x="278" y="318"/>
                </a:cubicBezTo>
                <a:lnTo>
                  <a:pt x="252" y="318"/>
                </a:lnTo>
                <a:moveTo>
                  <a:pt x="331" y="318"/>
                </a:moveTo>
                <a:cubicBezTo>
                  <a:pt x="324" y="318"/>
                  <a:pt x="318" y="324"/>
                  <a:pt x="318" y="331"/>
                </a:cubicBezTo>
                <a:cubicBezTo>
                  <a:pt x="318" y="339"/>
                  <a:pt x="324" y="345"/>
                  <a:pt x="331" y="345"/>
                </a:cubicBezTo>
                <a:lnTo>
                  <a:pt x="358" y="345"/>
                </a:lnTo>
                <a:cubicBezTo>
                  <a:pt x="365" y="345"/>
                  <a:pt x="372" y="339"/>
                  <a:pt x="372" y="331"/>
                </a:cubicBezTo>
                <a:cubicBezTo>
                  <a:pt x="372" y="324"/>
                  <a:pt x="365" y="318"/>
                  <a:pt x="358" y="318"/>
                </a:cubicBezTo>
                <a:lnTo>
                  <a:pt x="331" y="318"/>
                </a:lnTo>
                <a:moveTo>
                  <a:pt x="219" y="212"/>
                </a:moveTo>
                <a:cubicBezTo>
                  <a:pt x="219" y="203"/>
                  <a:pt x="215" y="195"/>
                  <a:pt x="209" y="189"/>
                </a:cubicBezTo>
                <a:cubicBezTo>
                  <a:pt x="202" y="181"/>
                  <a:pt x="195" y="178"/>
                  <a:pt x="186" y="178"/>
                </a:cubicBezTo>
                <a:cubicBezTo>
                  <a:pt x="176" y="178"/>
                  <a:pt x="169" y="181"/>
                  <a:pt x="162" y="189"/>
                </a:cubicBezTo>
                <a:cubicBezTo>
                  <a:pt x="156" y="195"/>
                  <a:pt x="152" y="203"/>
                  <a:pt x="152" y="212"/>
                </a:cubicBezTo>
                <a:cubicBezTo>
                  <a:pt x="152" y="221"/>
                  <a:pt x="156" y="229"/>
                  <a:pt x="162" y="236"/>
                </a:cubicBezTo>
                <a:cubicBezTo>
                  <a:pt x="169" y="242"/>
                  <a:pt x="176" y="245"/>
                  <a:pt x="186" y="245"/>
                </a:cubicBezTo>
                <a:cubicBezTo>
                  <a:pt x="195" y="245"/>
                  <a:pt x="202" y="242"/>
                  <a:pt x="209" y="236"/>
                </a:cubicBezTo>
                <a:cubicBezTo>
                  <a:pt x="215" y="229"/>
                  <a:pt x="219" y="221"/>
                  <a:pt x="219" y="212"/>
                </a:cubicBezTo>
                <a:moveTo>
                  <a:pt x="344" y="245"/>
                </a:moveTo>
                <a:cubicBezTo>
                  <a:pt x="353" y="245"/>
                  <a:pt x="361" y="242"/>
                  <a:pt x="368" y="236"/>
                </a:cubicBezTo>
                <a:cubicBezTo>
                  <a:pt x="375" y="229"/>
                  <a:pt x="378" y="221"/>
                  <a:pt x="378" y="212"/>
                </a:cubicBezTo>
                <a:cubicBezTo>
                  <a:pt x="378" y="203"/>
                  <a:pt x="375" y="195"/>
                  <a:pt x="368" y="189"/>
                </a:cubicBezTo>
                <a:cubicBezTo>
                  <a:pt x="361" y="181"/>
                  <a:pt x="353" y="178"/>
                  <a:pt x="344" y="178"/>
                </a:cubicBezTo>
                <a:cubicBezTo>
                  <a:pt x="335" y="178"/>
                  <a:pt x="327" y="181"/>
                  <a:pt x="321" y="189"/>
                </a:cubicBezTo>
                <a:cubicBezTo>
                  <a:pt x="314" y="195"/>
                  <a:pt x="311" y="203"/>
                  <a:pt x="311" y="212"/>
                </a:cubicBezTo>
                <a:cubicBezTo>
                  <a:pt x="311" y="221"/>
                  <a:pt x="314" y="229"/>
                  <a:pt x="321" y="236"/>
                </a:cubicBezTo>
                <a:cubicBezTo>
                  <a:pt x="327" y="242"/>
                  <a:pt x="335" y="245"/>
                  <a:pt x="344" y="245"/>
                </a:cubicBezTo>
                <a:moveTo>
                  <a:pt x="40" y="186"/>
                </a:moveTo>
                <a:lnTo>
                  <a:pt x="53" y="186"/>
                </a:lnTo>
                <a:lnTo>
                  <a:pt x="53" y="345"/>
                </a:lnTo>
                <a:lnTo>
                  <a:pt x="40" y="345"/>
                </a:lnTo>
                <a:cubicBezTo>
                  <a:pt x="18" y="345"/>
                  <a:pt x="0" y="327"/>
                  <a:pt x="0" y="305"/>
                </a:cubicBezTo>
                <a:lnTo>
                  <a:pt x="0" y="226"/>
                </a:lnTo>
                <a:cubicBezTo>
                  <a:pt x="0" y="204"/>
                  <a:pt x="18" y="186"/>
                  <a:pt x="40" y="186"/>
                </a:cubicBezTo>
                <a:moveTo>
                  <a:pt x="491" y="186"/>
                </a:moveTo>
                <a:cubicBezTo>
                  <a:pt x="513" y="186"/>
                  <a:pt x="530" y="204"/>
                  <a:pt x="530" y="226"/>
                </a:cubicBezTo>
                <a:lnTo>
                  <a:pt x="530" y="305"/>
                </a:lnTo>
                <a:cubicBezTo>
                  <a:pt x="530" y="327"/>
                  <a:pt x="513" y="345"/>
                  <a:pt x="491" y="345"/>
                </a:cubicBezTo>
                <a:lnTo>
                  <a:pt x="478" y="345"/>
                </a:lnTo>
                <a:lnTo>
                  <a:pt x="478" y="186"/>
                </a:lnTo>
                <a:lnTo>
                  <a:pt x="491" y="186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428760" y="251280"/>
            <a:ext cx="838116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Session 1: The Intelligent Nexus — AI and Systems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123920" y="1580040"/>
            <a:ext cx="754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Ion Stoica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123920" y="1801800"/>
            <a:ext cx="6498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UC Berkeley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628560" y="2076840"/>
            <a:ext cx="5008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AI as a co-designer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redefining the researcher's role from manual engineer to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6210000" y="1342800"/>
            <a:ext cx="5553720" cy="1352880"/>
          </a:xfrm>
          <a:custGeom>
            <a:avLst/>
            <a:gdLst/>
            <a:ahLst/>
            <a:rect l="0" t="0" r="r" b="b"/>
            <a:pathLst>
              <a:path w="15427" h="3758">
                <a:moveTo>
                  <a:pt x="0" y="0"/>
                </a:moveTo>
                <a:lnTo>
                  <a:pt x="15427" y="0"/>
                </a:lnTo>
                <a:lnTo>
                  <a:pt x="15427" y="3758"/>
                </a:lnTo>
                <a:lnTo>
                  <a:pt x="0" y="37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210000" y="1342800"/>
            <a:ext cx="5553720" cy="38520"/>
          </a:xfrm>
          <a:custGeom>
            <a:avLst/>
            <a:gdLst/>
            <a:ahLst/>
            <a:rect l="0" t="0" r="r" b="b"/>
            <a:pathLst>
              <a:path w="15427" h="107">
                <a:moveTo>
                  <a:pt x="0" y="0"/>
                </a:moveTo>
                <a:lnTo>
                  <a:pt x="15427" y="0"/>
                </a:lnTo>
                <a:lnTo>
                  <a:pt x="1542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6210000" y="2685960"/>
            <a:ext cx="5553720" cy="9720"/>
          </a:xfrm>
          <a:custGeom>
            <a:avLst/>
            <a:gdLst/>
            <a:ahLst/>
            <a:rect l="0" t="0" r="r" b="b"/>
            <a:pathLst>
              <a:path w="15427" h="27">
                <a:moveTo>
                  <a:pt x="0" y="0"/>
                </a:moveTo>
                <a:lnTo>
                  <a:pt x="15427" y="0"/>
                </a:lnTo>
                <a:lnTo>
                  <a:pt x="154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1753640" y="1342800"/>
            <a:ext cx="10080" cy="1352880"/>
          </a:xfrm>
          <a:custGeom>
            <a:avLst/>
            <a:gdLst/>
            <a:ahLst/>
            <a:rect l="0" t="0" r="r" b="b"/>
            <a:pathLst>
              <a:path w="28" h="3758">
                <a:moveTo>
                  <a:pt x="0" y="106"/>
                </a:moveTo>
                <a:lnTo>
                  <a:pt x="0" y="3758"/>
                </a:lnTo>
                <a:lnTo>
                  <a:pt x="28" y="375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210000" y="1342800"/>
            <a:ext cx="10440" cy="1352880"/>
          </a:xfrm>
          <a:custGeom>
            <a:avLst/>
            <a:gdLst/>
            <a:ahLst/>
            <a:rect l="0" t="0" r="r" b="b"/>
            <a:pathLst>
              <a:path w="29" h="3758">
                <a:moveTo>
                  <a:pt x="0" y="0"/>
                </a:moveTo>
                <a:lnTo>
                  <a:pt x="0" y="3758"/>
                </a:lnTo>
                <a:lnTo>
                  <a:pt x="29" y="3758"/>
                </a:lnTo>
                <a:lnTo>
                  <a:pt x="29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410160" y="157140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1059" y="530"/>
                </a:moveTo>
                <a:cubicBezTo>
                  <a:pt x="1059" y="565"/>
                  <a:pt x="1056" y="599"/>
                  <a:pt x="1049" y="634"/>
                </a:cubicBezTo>
                <a:cubicBezTo>
                  <a:pt x="1042" y="668"/>
                  <a:pt x="1032" y="701"/>
                  <a:pt x="1019" y="733"/>
                </a:cubicBezTo>
                <a:cubicBezTo>
                  <a:pt x="1006" y="765"/>
                  <a:pt x="989" y="795"/>
                  <a:pt x="970" y="824"/>
                </a:cubicBezTo>
                <a:cubicBezTo>
                  <a:pt x="951" y="853"/>
                  <a:pt x="929" y="880"/>
                  <a:pt x="904" y="904"/>
                </a:cubicBezTo>
                <a:cubicBezTo>
                  <a:pt x="880" y="929"/>
                  <a:pt x="853" y="951"/>
                  <a:pt x="824" y="970"/>
                </a:cubicBezTo>
                <a:cubicBezTo>
                  <a:pt x="795" y="990"/>
                  <a:pt x="765" y="1006"/>
                  <a:pt x="733" y="1019"/>
                </a:cubicBezTo>
                <a:cubicBezTo>
                  <a:pt x="700" y="1032"/>
                  <a:pt x="666" y="1043"/>
                  <a:pt x="632" y="1049"/>
                </a:cubicBezTo>
                <a:cubicBezTo>
                  <a:pt x="598" y="1056"/>
                  <a:pt x="564" y="1059"/>
                  <a:pt x="529" y="1059"/>
                </a:cubicBezTo>
                <a:cubicBezTo>
                  <a:pt x="494" y="1059"/>
                  <a:pt x="460" y="1056"/>
                  <a:pt x="426" y="1049"/>
                </a:cubicBezTo>
                <a:cubicBezTo>
                  <a:pt x="392" y="1043"/>
                  <a:pt x="359" y="1032"/>
                  <a:pt x="327" y="1019"/>
                </a:cubicBezTo>
                <a:cubicBezTo>
                  <a:pt x="295" y="1006"/>
                  <a:pt x="264" y="990"/>
                  <a:pt x="235" y="970"/>
                </a:cubicBezTo>
                <a:cubicBezTo>
                  <a:pt x="206" y="951"/>
                  <a:pt x="180" y="929"/>
                  <a:pt x="155" y="904"/>
                </a:cubicBezTo>
                <a:cubicBezTo>
                  <a:pt x="130" y="880"/>
                  <a:pt x="108" y="853"/>
                  <a:pt x="89" y="824"/>
                </a:cubicBezTo>
                <a:cubicBezTo>
                  <a:pt x="70" y="795"/>
                  <a:pt x="54" y="765"/>
                  <a:pt x="40" y="733"/>
                </a:cubicBezTo>
                <a:cubicBezTo>
                  <a:pt x="27" y="701"/>
                  <a:pt x="17" y="668"/>
                  <a:pt x="10" y="634"/>
                </a:cubicBezTo>
                <a:cubicBezTo>
                  <a:pt x="3" y="599"/>
                  <a:pt x="0" y="565"/>
                  <a:pt x="0" y="530"/>
                </a:cubicBezTo>
                <a:cubicBezTo>
                  <a:pt x="0" y="496"/>
                  <a:pt x="3" y="461"/>
                  <a:pt x="10" y="427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4" y="295"/>
                  <a:pt x="70" y="264"/>
                  <a:pt x="89" y="235"/>
                </a:cubicBezTo>
                <a:cubicBezTo>
                  <a:pt x="108" y="206"/>
                  <a:pt x="130" y="180"/>
                  <a:pt x="155" y="155"/>
                </a:cubicBezTo>
                <a:cubicBezTo>
                  <a:pt x="180" y="131"/>
                  <a:pt x="206" y="109"/>
                  <a:pt x="235" y="89"/>
                </a:cubicBezTo>
                <a:cubicBezTo>
                  <a:pt x="264" y="70"/>
                  <a:pt x="295" y="54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4"/>
                  <a:pt x="494" y="0"/>
                  <a:pt x="529" y="0"/>
                </a:cubicBezTo>
                <a:cubicBezTo>
                  <a:pt x="564" y="0"/>
                  <a:pt x="598" y="4"/>
                  <a:pt x="632" y="10"/>
                </a:cubicBezTo>
                <a:cubicBezTo>
                  <a:pt x="666" y="17"/>
                  <a:pt x="700" y="27"/>
                  <a:pt x="733" y="40"/>
                </a:cubicBezTo>
                <a:cubicBezTo>
                  <a:pt x="765" y="54"/>
                  <a:pt x="795" y="70"/>
                  <a:pt x="824" y="89"/>
                </a:cubicBezTo>
                <a:cubicBezTo>
                  <a:pt x="853" y="109"/>
                  <a:pt x="880" y="131"/>
                  <a:pt x="904" y="155"/>
                </a:cubicBezTo>
                <a:cubicBezTo>
                  <a:pt x="929" y="180"/>
                  <a:pt x="951" y="206"/>
                  <a:pt x="970" y="235"/>
                </a:cubicBezTo>
                <a:cubicBezTo>
                  <a:pt x="989" y="264"/>
                  <a:pt x="1006" y="295"/>
                  <a:pt x="1019" y="327"/>
                </a:cubicBezTo>
                <a:cubicBezTo>
                  <a:pt x="1032" y="359"/>
                  <a:pt x="1042" y="392"/>
                  <a:pt x="1049" y="427"/>
                </a:cubicBezTo>
                <a:cubicBezTo>
                  <a:pt x="1056" y="461"/>
                  <a:pt x="1059" y="496"/>
                  <a:pt x="1059" y="53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6524280" y="1685880"/>
            <a:ext cx="153000" cy="152640"/>
          </a:xfrm>
          <a:custGeom>
            <a:avLst/>
            <a:gdLst/>
            <a:ahLst/>
            <a:rect l="0" t="0" r="r" b="b"/>
            <a:pathLst>
              <a:path w="425" h="424">
                <a:moveTo>
                  <a:pt x="146" y="19"/>
                </a:moveTo>
                <a:cubicBezTo>
                  <a:pt x="146" y="8"/>
                  <a:pt x="137" y="0"/>
                  <a:pt x="126" y="0"/>
                </a:cubicBezTo>
                <a:cubicBezTo>
                  <a:pt x="115" y="0"/>
                  <a:pt x="106" y="8"/>
                  <a:pt x="106" y="19"/>
                </a:cubicBezTo>
                <a:lnTo>
                  <a:pt x="106" y="53"/>
                </a:lnTo>
                <a:cubicBezTo>
                  <a:pt x="77" y="53"/>
                  <a:pt x="53" y="76"/>
                  <a:pt x="53" y="105"/>
                </a:cubicBezTo>
                <a:lnTo>
                  <a:pt x="20" y="105"/>
                </a:lnTo>
                <a:cubicBezTo>
                  <a:pt x="9" y="105"/>
                  <a:pt x="0" y="114"/>
                  <a:pt x="0" y="125"/>
                </a:cubicBezTo>
                <a:cubicBezTo>
                  <a:pt x="0" y="136"/>
                  <a:pt x="9" y="145"/>
                  <a:pt x="20" y="145"/>
                </a:cubicBezTo>
                <a:lnTo>
                  <a:pt x="53" y="145"/>
                </a:lnTo>
                <a:lnTo>
                  <a:pt x="53" y="192"/>
                </a:lnTo>
                <a:lnTo>
                  <a:pt x="20" y="192"/>
                </a:lnTo>
                <a:cubicBezTo>
                  <a:pt x="9" y="192"/>
                  <a:pt x="0" y="201"/>
                  <a:pt x="0" y="212"/>
                </a:cubicBezTo>
                <a:cubicBezTo>
                  <a:pt x="0" y="223"/>
                  <a:pt x="9" y="232"/>
                  <a:pt x="20" y="232"/>
                </a:cubicBezTo>
                <a:lnTo>
                  <a:pt x="53" y="232"/>
                </a:lnTo>
                <a:lnTo>
                  <a:pt x="53" y="278"/>
                </a:lnTo>
                <a:lnTo>
                  <a:pt x="20" y="278"/>
                </a:lnTo>
                <a:cubicBezTo>
                  <a:pt x="9" y="278"/>
                  <a:pt x="0" y="287"/>
                  <a:pt x="0" y="298"/>
                </a:cubicBezTo>
                <a:cubicBezTo>
                  <a:pt x="0" y="309"/>
                  <a:pt x="9" y="318"/>
                  <a:pt x="20" y="318"/>
                </a:cubicBezTo>
                <a:lnTo>
                  <a:pt x="53" y="318"/>
                </a:lnTo>
                <a:cubicBezTo>
                  <a:pt x="53" y="347"/>
                  <a:pt x="77" y="371"/>
                  <a:pt x="106" y="371"/>
                </a:cubicBezTo>
                <a:lnTo>
                  <a:pt x="106" y="404"/>
                </a:lnTo>
                <a:cubicBezTo>
                  <a:pt x="106" y="415"/>
                  <a:pt x="115" y="424"/>
                  <a:pt x="126" y="424"/>
                </a:cubicBezTo>
                <a:cubicBezTo>
                  <a:pt x="137" y="424"/>
                  <a:pt x="146" y="415"/>
                  <a:pt x="146" y="404"/>
                </a:cubicBezTo>
                <a:lnTo>
                  <a:pt x="146" y="371"/>
                </a:lnTo>
                <a:lnTo>
                  <a:pt x="192" y="371"/>
                </a:lnTo>
                <a:lnTo>
                  <a:pt x="192" y="404"/>
                </a:lnTo>
                <a:cubicBezTo>
                  <a:pt x="192" y="415"/>
                  <a:pt x="201" y="424"/>
                  <a:pt x="212" y="424"/>
                </a:cubicBezTo>
                <a:cubicBezTo>
                  <a:pt x="223" y="424"/>
                  <a:pt x="232" y="415"/>
                  <a:pt x="232" y="404"/>
                </a:cubicBezTo>
                <a:lnTo>
                  <a:pt x="232" y="371"/>
                </a:lnTo>
                <a:lnTo>
                  <a:pt x="279" y="371"/>
                </a:lnTo>
                <a:lnTo>
                  <a:pt x="279" y="404"/>
                </a:lnTo>
                <a:cubicBezTo>
                  <a:pt x="279" y="415"/>
                  <a:pt x="288" y="424"/>
                  <a:pt x="299" y="424"/>
                </a:cubicBezTo>
                <a:cubicBezTo>
                  <a:pt x="310" y="424"/>
                  <a:pt x="319" y="415"/>
                  <a:pt x="319" y="404"/>
                </a:cubicBezTo>
                <a:lnTo>
                  <a:pt x="319" y="371"/>
                </a:lnTo>
                <a:cubicBezTo>
                  <a:pt x="348" y="371"/>
                  <a:pt x="372" y="347"/>
                  <a:pt x="372" y="318"/>
                </a:cubicBezTo>
                <a:lnTo>
                  <a:pt x="405" y="318"/>
                </a:lnTo>
                <a:cubicBezTo>
                  <a:pt x="416" y="318"/>
                  <a:pt x="425" y="309"/>
                  <a:pt x="425" y="298"/>
                </a:cubicBezTo>
                <a:cubicBezTo>
                  <a:pt x="425" y="287"/>
                  <a:pt x="416" y="278"/>
                  <a:pt x="405" y="278"/>
                </a:cubicBezTo>
                <a:lnTo>
                  <a:pt x="372" y="278"/>
                </a:lnTo>
                <a:lnTo>
                  <a:pt x="372" y="232"/>
                </a:lnTo>
                <a:lnTo>
                  <a:pt x="405" y="232"/>
                </a:lnTo>
                <a:cubicBezTo>
                  <a:pt x="416" y="232"/>
                  <a:pt x="425" y="223"/>
                  <a:pt x="425" y="212"/>
                </a:cubicBezTo>
                <a:cubicBezTo>
                  <a:pt x="425" y="201"/>
                  <a:pt x="416" y="192"/>
                  <a:pt x="405" y="192"/>
                </a:cubicBezTo>
                <a:lnTo>
                  <a:pt x="372" y="192"/>
                </a:lnTo>
                <a:lnTo>
                  <a:pt x="372" y="145"/>
                </a:lnTo>
                <a:lnTo>
                  <a:pt x="405" y="145"/>
                </a:lnTo>
                <a:cubicBezTo>
                  <a:pt x="416" y="145"/>
                  <a:pt x="425" y="136"/>
                  <a:pt x="425" y="125"/>
                </a:cubicBezTo>
                <a:cubicBezTo>
                  <a:pt x="425" y="114"/>
                  <a:pt x="416" y="105"/>
                  <a:pt x="405" y="105"/>
                </a:cubicBezTo>
                <a:lnTo>
                  <a:pt x="372" y="105"/>
                </a:lnTo>
                <a:cubicBezTo>
                  <a:pt x="372" y="76"/>
                  <a:pt x="348" y="53"/>
                  <a:pt x="319" y="53"/>
                </a:cubicBezTo>
                <a:lnTo>
                  <a:pt x="319" y="19"/>
                </a:lnTo>
                <a:cubicBezTo>
                  <a:pt x="319" y="8"/>
                  <a:pt x="310" y="0"/>
                  <a:pt x="299" y="0"/>
                </a:cubicBezTo>
                <a:cubicBezTo>
                  <a:pt x="288" y="0"/>
                  <a:pt x="279" y="8"/>
                  <a:pt x="279" y="19"/>
                </a:cubicBezTo>
                <a:lnTo>
                  <a:pt x="279" y="53"/>
                </a:lnTo>
                <a:lnTo>
                  <a:pt x="232" y="53"/>
                </a:lnTo>
                <a:lnTo>
                  <a:pt x="232" y="19"/>
                </a:lnTo>
                <a:cubicBezTo>
                  <a:pt x="232" y="8"/>
                  <a:pt x="223" y="0"/>
                  <a:pt x="212" y="0"/>
                </a:cubicBezTo>
                <a:cubicBezTo>
                  <a:pt x="201" y="0"/>
                  <a:pt x="192" y="8"/>
                  <a:pt x="192" y="19"/>
                </a:cubicBezTo>
                <a:lnTo>
                  <a:pt x="192" y="53"/>
                </a:lnTo>
                <a:lnTo>
                  <a:pt x="146" y="53"/>
                </a:lnTo>
                <a:lnTo>
                  <a:pt x="146" y="19"/>
                </a:lnTo>
                <a:moveTo>
                  <a:pt x="133" y="105"/>
                </a:moveTo>
                <a:lnTo>
                  <a:pt x="292" y="105"/>
                </a:lnTo>
                <a:cubicBezTo>
                  <a:pt x="307" y="105"/>
                  <a:pt x="319" y="117"/>
                  <a:pt x="319" y="132"/>
                </a:cubicBezTo>
                <a:lnTo>
                  <a:pt x="319" y="292"/>
                </a:lnTo>
                <a:cubicBezTo>
                  <a:pt x="319" y="306"/>
                  <a:pt x="307" y="318"/>
                  <a:pt x="292" y="318"/>
                </a:cubicBezTo>
                <a:lnTo>
                  <a:pt x="133" y="318"/>
                </a:lnTo>
                <a:cubicBezTo>
                  <a:pt x="118" y="318"/>
                  <a:pt x="106" y="306"/>
                  <a:pt x="106" y="292"/>
                </a:cubicBezTo>
                <a:lnTo>
                  <a:pt x="106" y="132"/>
                </a:lnTo>
                <a:cubicBezTo>
                  <a:pt x="106" y="117"/>
                  <a:pt x="118" y="105"/>
                  <a:pt x="133" y="105"/>
                </a:cubicBezTo>
                <a:moveTo>
                  <a:pt x="292" y="132"/>
                </a:moveTo>
                <a:lnTo>
                  <a:pt x="133" y="132"/>
                </a:lnTo>
                <a:lnTo>
                  <a:pt x="133" y="292"/>
                </a:lnTo>
                <a:lnTo>
                  <a:pt x="292" y="292"/>
                </a:lnTo>
                <a:lnTo>
                  <a:pt x="292" y="132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628560" y="2295720"/>
            <a:ext cx="3434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"strategic advisor"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who guides powerful AI assistants.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6905520" y="1580040"/>
            <a:ext cx="911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Haibo Chen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7844760" y="1620720"/>
            <a:ext cx="788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(SIGOPS Chair)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6905520" y="1801800"/>
            <a:ext cx="1597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Shanghai Jiao Tong University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410160" y="2076840"/>
            <a:ext cx="4906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Model-native OS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unifying AI uncertainty with system reliability through full-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428400" y="3476520"/>
            <a:ext cx="5553360" cy="1352880"/>
          </a:xfrm>
          <a:custGeom>
            <a:avLst/>
            <a:gdLst/>
            <a:ahLst/>
            <a:rect l="0" t="0" r="r" b="b"/>
            <a:pathLst>
              <a:path w="15426" h="3758">
                <a:moveTo>
                  <a:pt x="0" y="0"/>
                </a:moveTo>
                <a:lnTo>
                  <a:pt x="15426" y="0"/>
                </a:lnTo>
                <a:lnTo>
                  <a:pt x="15426" y="3758"/>
                </a:lnTo>
                <a:lnTo>
                  <a:pt x="0" y="37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428400" y="3476520"/>
            <a:ext cx="5553360" cy="38520"/>
          </a:xfrm>
          <a:custGeom>
            <a:avLst/>
            <a:gdLst/>
            <a:ahLst/>
            <a:rect l="0" t="0" r="r" b="b"/>
            <a:pathLst>
              <a:path w="15426" h="107">
                <a:moveTo>
                  <a:pt x="0" y="0"/>
                </a:moveTo>
                <a:lnTo>
                  <a:pt x="15426" y="0"/>
                </a:lnTo>
                <a:lnTo>
                  <a:pt x="1542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428400" y="4819320"/>
            <a:ext cx="5553360" cy="10080"/>
          </a:xfrm>
          <a:custGeom>
            <a:avLst/>
            <a:gdLst/>
            <a:ahLst/>
            <a:rect l="0" t="0" r="r" b="b"/>
            <a:pathLst>
              <a:path w="15426" h="28">
                <a:moveTo>
                  <a:pt x="0" y="0"/>
                </a:moveTo>
                <a:lnTo>
                  <a:pt x="15426" y="0"/>
                </a:lnTo>
                <a:lnTo>
                  <a:pt x="154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5972040" y="3476520"/>
            <a:ext cx="9720" cy="1352880"/>
          </a:xfrm>
          <a:custGeom>
            <a:avLst/>
            <a:gdLst/>
            <a:ahLst/>
            <a:rect l="0" t="0" r="r" b="b"/>
            <a:pathLst>
              <a:path w="27" h="3758">
                <a:moveTo>
                  <a:pt x="0" y="106"/>
                </a:moveTo>
                <a:lnTo>
                  <a:pt x="0" y="3758"/>
                </a:lnTo>
                <a:lnTo>
                  <a:pt x="27" y="375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428400" y="3476520"/>
            <a:ext cx="10080" cy="1352880"/>
          </a:xfrm>
          <a:custGeom>
            <a:avLst/>
            <a:gdLst/>
            <a:ahLst/>
            <a:rect l="0" t="0" r="r" b="b"/>
            <a:pathLst>
              <a:path w="28" h="3758">
                <a:moveTo>
                  <a:pt x="0" y="0"/>
                </a:moveTo>
                <a:lnTo>
                  <a:pt x="0" y="3758"/>
                </a:lnTo>
                <a:lnTo>
                  <a:pt x="28" y="375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628560" y="370512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1059" y="529"/>
                </a:moveTo>
                <a:cubicBezTo>
                  <a:pt x="1059" y="564"/>
                  <a:pt x="1056" y="598"/>
                  <a:pt x="1049" y="632"/>
                </a:cubicBezTo>
                <a:cubicBezTo>
                  <a:pt x="1042" y="666"/>
                  <a:pt x="1032" y="699"/>
                  <a:pt x="1019" y="731"/>
                </a:cubicBezTo>
                <a:cubicBezTo>
                  <a:pt x="1006" y="764"/>
                  <a:pt x="989" y="794"/>
                  <a:pt x="970" y="824"/>
                </a:cubicBezTo>
                <a:cubicBezTo>
                  <a:pt x="951" y="853"/>
                  <a:pt x="929" y="880"/>
                  <a:pt x="904" y="904"/>
                </a:cubicBezTo>
                <a:cubicBezTo>
                  <a:pt x="879" y="929"/>
                  <a:pt x="852" y="951"/>
                  <a:pt x="823" y="970"/>
                </a:cubicBezTo>
                <a:cubicBezTo>
                  <a:pt x="794" y="989"/>
                  <a:pt x="764" y="1006"/>
                  <a:pt x="731" y="1019"/>
                </a:cubicBezTo>
                <a:cubicBezTo>
                  <a:pt x="699" y="1032"/>
                  <a:pt x="666" y="1042"/>
                  <a:pt x="632" y="1049"/>
                </a:cubicBezTo>
                <a:cubicBezTo>
                  <a:pt x="598" y="1056"/>
                  <a:pt x="564" y="1059"/>
                  <a:pt x="529" y="1059"/>
                </a:cubicBezTo>
                <a:cubicBezTo>
                  <a:pt x="494" y="1059"/>
                  <a:pt x="460" y="1056"/>
                  <a:pt x="426" y="1049"/>
                </a:cubicBezTo>
                <a:cubicBezTo>
                  <a:pt x="392" y="1042"/>
                  <a:pt x="359" y="1032"/>
                  <a:pt x="326" y="1019"/>
                </a:cubicBezTo>
                <a:cubicBezTo>
                  <a:pt x="294" y="1006"/>
                  <a:pt x="264" y="989"/>
                  <a:pt x="235" y="970"/>
                </a:cubicBezTo>
                <a:cubicBezTo>
                  <a:pt x="206" y="951"/>
                  <a:pt x="179" y="929"/>
                  <a:pt x="155" y="904"/>
                </a:cubicBezTo>
                <a:cubicBezTo>
                  <a:pt x="130" y="880"/>
                  <a:pt x="108" y="853"/>
                  <a:pt x="89" y="824"/>
                </a:cubicBezTo>
                <a:cubicBezTo>
                  <a:pt x="70" y="794"/>
                  <a:pt x="53" y="764"/>
                  <a:pt x="40" y="731"/>
                </a:cubicBezTo>
                <a:cubicBezTo>
                  <a:pt x="27" y="699"/>
                  <a:pt x="17" y="666"/>
                  <a:pt x="10" y="632"/>
                </a:cubicBezTo>
                <a:cubicBezTo>
                  <a:pt x="3" y="598"/>
                  <a:pt x="0" y="564"/>
                  <a:pt x="0" y="529"/>
                </a:cubicBezTo>
                <a:cubicBezTo>
                  <a:pt x="0" y="494"/>
                  <a:pt x="3" y="460"/>
                  <a:pt x="10" y="426"/>
                </a:cubicBezTo>
                <a:cubicBezTo>
                  <a:pt x="17" y="392"/>
                  <a:pt x="27" y="359"/>
                  <a:pt x="40" y="326"/>
                </a:cubicBezTo>
                <a:cubicBezTo>
                  <a:pt x="53" y="294"/>
                  <a:pt x="70" y="264"/>
                  <a:pt x="89" y="235"/>
                </a:cubicBezTo>
                <a:cubicBezTo>
                  <a:pt x="108" y="206"/>
                  <a:pt x="130" y="179"/>
                  <a:pt x="155" y="155"/>
                </a:cubicBezTo>
                <a:cubicBezTo>
                  <a:pt x="179" y="130"/>
                  <a:pt x="206" y="108"/>
                  <a:pt x="235" y="89"/>
                </a:cubicBezTo>
                <a:cubicBezTo>
                  <a:pt x="264" y="70"/>
                  <a:pt x="294" y="53"/>
                  <a:pt x="326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4" y="0"/>
                  <a:pt x="529" y="0"/>
                </a:cubicBezTo>
                <a:cubicBezTo>
                  <a:pt x="564" y="0"/>
                  <a:pt x="598" y="3"/>
                  <a:pt x="632" y="10"/>
                </a:cubicBezTo>
                <a:cubicBezTo>
                  <a:pt x="666" y="17"/>
                  <a:pt x="699" y="27"/>
                  <a:pt x="731" y="40"/>
                </a:cubicBezTo>
                <a:cubicBezTo>
                  <a:pt x="764" y="53"/>
                  <a:pt x="794" y="70"/>
                  <a:pt x="823" y="89"/>
                </a:cubicBezTo>
                <a:cubicBezTo>
                  <a:pt x="852" y="108"/>
                  <a:pt x="879" y="130"/>
                  <a:pt x="904" y="155"/>
                </a:cubicBezTo>
                <a:cubicBezTo>
                  <a:pt x="929" y="179"/>
                  <a:pt x="951" y="206"/>
                  <a:pt x="970" y="235"/>
                </a:cubicBezTo>
                <a:cubicBezTo>
                  <a:pt x="989" y="264"/>
                  <a:pt x="1006" y="294"/>
                  <a:pt x="1019" y="326"/>
                </a:cubicBezTo>
                <a:cubicBezTo>
                  <a:pt x="1032" y="359"/>
                  <a:pt x="1042" y="392"/>
                  <a:pt x="1049" y="426"/>
                </a:cubicBezTo>
                <a:cubicBezTo>
                  <a:pt x="1056" y="460"/>
                  <a:pt x="1059" y="494"/>
                  <a:pt x="1059" y="529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747360" y="3819240"/>
            <a:ext cx="143280" cy="151920"/>
          </a:xfrm>
          <a:custGeom>
            <a:avLst/>
            <a:gdLst/>
            <a:ahLst/>
            <a:rect l="0" t="0" r="r" b="b"/>
            <a:pathLst>
              <a:path w="398" h="422">
                <a:moveTo>
                  <a:pt x="200" y="0"/>
                </a:moveTo>
                <a:cubicBezTo>
                  <a:pt x="204" y="0"/>
                  <a:pt x="208" y="1"/>
                  <a:pt x="211" y="3"/>
                </a:cubicBezTo>
                <a:lnTo>
                  <a:pt x="367" y="69"/>
                </a:lnTo>
                <a:cubicBezTo>
                  <a:pt x="385" y="76"/>
                  <a:pt x="398" y="94"/>
                  <a:pt x="398" y="116"/>
                </a:cubicBezTo>
                <a:cubicBezTo>
                  <a:pt x="398" y="199"/>
                  <a:pt x="364" y="349"/>
                  <a:pt x="222" y="417"/>
                </a:cubicBezTo>
                <a:cubicBezTo>
                  <a:pt x="208" y="424"/>
                  <a:pt x="192" y="424"/>
                  <a:pt x="178" y="417"/>
                </a:cubicBezTo>
                <a:cubicBezTo>
                  <a:pt x="35" y="349"/>
                  <a:pt x="1" y="199"/>
                  <a:pt x="0" y="116"/>
                </a:cubicBezTo>
                <a:cubicBezTo>
                  <a:pt x="0" y="94"/>
                  <a:pt x="14" y="76"/>
                  <a:pt x="32" y="69"/>
                </a:cubicBezTo>
                <a:lnTo>
                  <a:pt x="189" y="3"/>
                </a:lnTo>
                <a:cubicBezTo>
                  <a:pt x="192" y="1"/>
                  <a:pt x="196" y="0"/>
                  <a:pt x="200" y="0"/>
                </a:cubicBezTo>
                <a:moveTo>
                  <a:pt x="200" y="56"/>
                </a:moveTo>
                <a:lnTo>
                  <a:pt x="200" y="369"/>
                </a:lnTo>
                <a:cubicBezTo>
                  <a:pt x="314" y="314"/>
                  <a:pt x="345" y="192"/>
                  <a:pt x="345" y="117"/>
                </a:cubicBezTo>
                <a:lnTo>
                  <a:pt x="200" y="56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6410160" y="2295720"/>
            <a:ext cx="2694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stack co-design for the era of large models.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123920" y="3713760"/>
            <a:ext cx="1016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Junfeng Yang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123920" y="3935520"/>
            <a:ext cx="1080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Columbia University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28560" y="4210200"/>
            <a:ext cx="4841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Trustworthy AI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treating AI systems with traditional software rigor: testing,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6210000" y="3476520"/>
            <a:ext cx="5553720" cy="1352880"/>
          </a:xfrm>
          <a:custGeom>
            <a:avLst/>
            <a:gdLst/>
            <a:ahLst/>
            <a:rect l="0" t="0" r="r" b="b"/>
            <a:pathLst>
              <a:path w="15427" h="3758">
                <a:moveTo>
                  <a:pt x="0" y="0"/>
                </a:moveTo>
                <a:lnTo>
                  <a:pt x="15427" y="0"/>
                </a:lnTo>
                <a:lnTo>
                  <a:pt x="15427" y="3758"/>
                </a:lnTo>
                <a:lnTo>
                  <a:pt x="0" y="37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210000" y="3476520"/>
            <a:ext cx="5553720" cy="38520"/>
          </a:xfrm>
          <a:custGeom>
            <a:avLst/>
            <a:gdLst/>
            <a:ahLst/>
            <a:rect l="0" t="0" r="r" b="b"/>
            <a:pathLst>
              <a:path w="15427" h="107">
                <a:moveTo>
                  <a:pt x="0" y="0"/>
                </a:moveTo>
                <a:lnTo>
                  <a:pt x="15427" y="0"/>
                </a:lnTo>
                <a:lnTo>
                  <a:pt x="1542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6210000" y="4819320"/>
            <a:ext cx="5553720" cy="10080"/>
          </a:xfrm>
          <a:custGeom>
            <a:avLst/>
            <a:gdLst/>
            <a:ahLst/>
            <a:rect l="0" t="0" r="r" b="b"/>
            <a:pathLst>
              <a:path w="15427" h="28">
                <a:moveTo>
                  <a:pt x="0" y="0"/>
                </a:moveTo>
                <a:lnTo>
                  <a:pt x="15427" y="0"/>
                </a:lnTo>
                <a:lnTo>
                  <a:pt x="154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11753640" y="3476520"/>
            <a:ext cx="10080" cy="1352880"/>
          </a:xfrm>
          <a:custGeom>
            <a:avLst/>
            <a:gdLst/>
            <a:ahLst/>
            <a:rect l="0" t="0" r="r" b="b"/>
            <a:pathLst>
              <a:path w="28" h="3758">
                <a:moveTo>
                  <a:pt x="0" y="106"/>
                </a:moveTo>
                <a:lnTo>
                  <a:pt x="0" y="3758"/>
                </a:lnTo>
                <a:lnTo>
                  <a:pt x="28" y="375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6210000" y="3476520"/>
            <a:ext cx="10440" cy="1352880"/>
          </a:xfrm>
          <a:custGeom>
            <a:avLst/>
            <a:gdLst/>
            <a:ahLst/>
            <a:rect l="0" t="0" r="r" b="b"/>
            <a:pathLst>
              <a:path w="29" h="3758">
                <a:moveTo>
                  <a:pt x="0" y="0"/>
                </a:moveTo>
                <a:lnTo>
                  <a:pt x="0" y="3758"/>
                </a:lnTo>
                <a:lnTo>
                  <a:pt x="29" y="3758"/>
                </a:lnTo>
                <a:lnTo>
                  <a:pt x="29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6410160" y="370512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1059" y="529"/>
                </a:moveTo>
                <a:cubicBezTo>
                  <a:pt x="1059" y="564"/>
                  <a:pt x="1056" y="598"/>
                  <a:pt x="1049" y="632"/>
                </a:cubicBezTo>
                <a:cubicBezTo>
                  <a:pt x="1042" y="666"/>
                  <a:pt x="1032" y="699"/>
                  <a:pt x="1019" y="731"/>
                </a:cubicBezTo>
                <a:cubicBezTo>
                  <a:pt x="1006" y="764"/>
                  <a:pt x="989" y="794"/>
                  <a:pt x="970" y="824"/>
                </a:cubicBezTo>
                <a:cubicBezTo>
                  <a:pt x="951" y="853"/>
                  <a:pt x="929" y="880"/>
                  <a:pt x="904" y="904"/>
                </a:cubicBezTo>
                <a:cubicBezTo>
                  <a:pt x="880" y="929"/>
                  <a:pt x="853" y="951"/>
                  <a:pt x="824" y="970"/>
                </a:cubicBezTo>
                <a:cubicBezTo>
                  <a:pt x="795" y="989"/>
                  <a:pt x="765" y="1006"/>
                  <a:pt x="733" y="1019"/>
                </a:cubicBezTo>
                <a:cubicBezTo>
                  <a:pt x="700" y="1032"/>
                  <a:pt x="666" y="1042"/>
                  <a:pt x="632" y="1049"/>
                </a:cubicBezTo>
                <a:cubicBezTo>
                  <a:pt x="598" y="1056"/>
                  <a:pt x="564" y="1059"/>
                  <a:pt x="529" y="1059"/>
                </a:cubicBezTo>
                <a:cubicBezTo>
                  <a:pt x="494" y="1059"/>
                  <a:pt x="460" y="1056"/>
                  <a:pt x="426" y="1049"/>
                </a:cubicBezTo>
                <a:cubicBezTo>
                  <a:pt x="392" y="1042"/>
                  <a:pt x="359" y="1032"/>
                  <a:pt x="327" y="1019"/>
                </a:cubicBezTo>
                <a:cubicBezTo>
                  <a:pt x="295" y="1006"/>
                  <a:pt x="264" y="989"/>
                  <a:pt x="235" y="970"/>
                </a:cubicBezTo>
                <a:cubicBezTo>
                  <a:pt x="206" y="951"/>
                  <a:pt x="180" y="929"/>
                  <a:pt x="155" y="904"/>
                </a:cubicBezTo>
                <a:cubicBezTo>
                  <a:pt x="130" y="880"/>
                  <a:pt x="108" y="853"/>
                  <a:pt x="89" y="824"/>
                </a:cubicBezTo>
                <a:cubicBezTo>
                  <a:pt x="70" y="794"/>
                  <a:pt x="54" y="764"/>
                  <a:pt x="40" y="731"/>
                </a:cubicBezTo>
                <a:cubicBezTo>
                  <a:pt x="27" y="699"/>
                  <a:pt x="17" y="666"/>
                  <a:pt x="10" y="632"/>
                </a:cubicBezTo>
                <a:cubicBezTo>
                  <a:pt x="3" y="598"/>
                  <a:pt x="0" y="564"/>
                  <a:pt x="0" y="529"/>
                </a:cubicBezTo>
                <a:cubicBezTo>
                  <a:pt x="0" y="494"/>
                  <a:pt x="3" y="460"/>
                  <a:pt x="10" y="426"/>
                </a:cubicBezTo>
                <a:cubicBezTo>
                  <a:pt x="17" y="392"/>
                  <a:pt x="27" y="359"/>
                  <a:pt x="40" y="326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8" y="206"/>
                  <a:pt x="130" y="179"/>
                  <a:pt x="155" y="155"/>
                </a:cubicBezTo>
                <a:cubicBezTo>
                  <a:pt x="180" y="130"/>
                  <a:pt x="206" y="108"/>
                  <a:pt x="235" y="89"/>
                </a:cubicBezTo>
                <a:cubicBezTo>
                  <a:pt x="264" y="70"/>
                  <a:pt x="295" y="53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4" y="0"/>
                  <a:pt x="529" y="0"/>
                </a:cubicBezTo>
                <a:cubicBezTo>
                  <a:pt x="564" y="0"/>
                  <a:pt x="598" y="3"/>
                  <a:pt x="632" y="10"/>
                </a:cubicBezTo>
                <a:cubicBezTo>
                  <a:pt x="666" y="17"/>
                  <a:pt x="700" y="27"/>
                  <a:pt x="733" y="40"/>
                </a:cubicBezTo>
                <a:cubicBezTo>
                  <a:pt x="765" y="53"/>
                  <a:pt x="795" y="70"/>
                  <a:pt x="824" y="89"/>
                </a:cubicBezTo>
                <a:cubicBezTo>
                  <a:pt x="853" y="108"/>
                  <a:pt x="880" y="130"/>
                  <a:pt x="904" y="155"/>
                </a:cubicBezTo>
                <a:cubicBezTo>
                  <a:pt x="929" y="179"/>
                  <a:pt x="951" y="206"/>
                  <a:pt x="970" y="235"/>
                </a:cubicBezTo>
                <a:cubicBezTo>
                  <a:pt x="989" y="264"/>
                  <a:pt x="1006" y="294"/>
                  <a:pt x="1019" y="326"/>
                </a:cubicBezTo>
                <a:cubicBezTo>
                  <a:pt x="1032" y="359"/>
                  <a:pt x="1042" y="392"/>
                  <a:pt x="1049" y="426"/>
                </a:cubicBezTo>
                <a:cubicBezTo>
                  <a:pt x="1056" y="460"/>
                  <a:pt x="1059" y="494"/>
                  <a:pt x="1059" y="529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6506640" y="3821760"/>
            <a:ext cx="187200" cy="149040"/>
          </a:xfrm>
          <a:custGeom>
            <a:avLst/>
            <a:gdLst/>
            <a:ahLst/>
            <a:rect l="0" t="0" r="r" b="b"/>
            <a:pathLst>
              <a:path w="520" h="414">
                <a:moveTo>
                  <a:pt x="252" y="105"/>
                </a:moveTo>
                <a:cubicBezTo>
                  <a:pt x="257" y="100"/>
                  <a:pt x="260" y="92"/>
                  <a:pt x="257" y="84"/>
                </a:cubicBezTo>
                <a:cubicBezTo>
                  <a:pt x="255" y="80"/>
                  <a:pt x="253" y="76"/>
                  <a:pt x="250" y="72"/>
                </a:cubicBezTo>
                <a:lnTo>
                  <a:pt x="248" y="67"/>
                </a:lnTo>
                <a:cubicBezTo>
                  <a:pt x="245" y="63"/>
                  <a:pt x="243" y="59"/>
                  <a:pt x="240" y="55"/>
                </a:cubicBezTo>
                <a:cubicBezTo>
                  <a:pt x="235" y="49"/>
                  <a:pt x="227" y="47"/>
                  <a:pt x="219" y="49"/>
                </a:cubicBezTo>
                <a:lnTo>
                  <a:pt x="196" y="57"/>
                </a:lnTo>
                <a:cubicBezTo>
                  <a:pt x="187" y="50"/>
                  <a:pt x="177" y="44"/>
                  <a:pt x="166" y="40"/>
                </a:cubicBezTo>
                <a:lnTo>
                  <a:pt x="161" y="16"/>
                </a:lnTo>
                <a:cubicBezTo>
                  <a:pt x="160" y="8"/>
                  <a:pt x="154" y="2"/>
                  <a:pt x="146" y="1"/>
                </a:cubicBezTo>
                <a:cubicBezTo>
                  <a:pt x="140" y="0"/>
                  <a:pt x="135" y="0"/>
                  <a:pt x="129" y="0"/>
                </a:cubicBezTo>
                <a:cubicBezTo>
                  <a:pt x="123" y="0"/>
                  <a:pt x="117" y="0"/>
                  <a:pt x="112" y="1"/>
                </a:cubicBezTo>
                <a:cubicBezTo>
                  <a:pt x="104" y="2"/>
                  <a:pt x="98" y="8"/>
                  <a:pt x="97" y="16"/>
                </a:cubicBezTo>
                <a:lnTo>
                  <a:pt x="92" y="40"/>
                </a:lnTo>
                <a:cubicBezTo>
                  <a:pt x="81" y="44"/>
                  <a:pt x="71" y="50"/>
                  <a:pt x="62" y="57"/>
                </a:cubicBezTo>
                <a:lnTo>
                  <a:pt x="38" y="49"/>
                </a:lnTo>
                <a:cubicBezTo>
                  <a:pt x="31" y="47"/>
                  <a:pt x="23" y="49"/>
                  <a:pt x="18" y="55"/>
                </a:cubicBezTo>
                <a:cubicBezTo>
                  <a:pt x="15" y="59"/>
                  <a:pt x="12" y="63"/>
                  <a:pt x="10" y="67"/>
                </a:cubicBezTo>
                <a:lnTo>
                  <a:pt x="7" y="72"/>
                </a:lnTo>
                <a:cubicBezTo>
                  <a:pt x="5" y="76"/>
                  <a:pt x="3" y="80"/>
                  <a:pt x="1" y="85"/>
                </a:cubicBezTo>
                <a:cubicBezTo>
                  <a:pt x="-2" y="92"/>
                  <a:pt x="0" y="100"/>
                  <a:pt x="6" y="105"/>
                </a:cubicBezTo>
                <a:lnTo>
                  <a:pt x="24" y="122"/>
                </a:lnTo>
                <a:cubicBezTo>
                  <a:pt x="23" y="127"/>
                  <a:pt x="23" y="133"/>
                  <a:pt x="23" y="139"/>
                </a:cubicBezTo>
                <a:cubicBezTo>
                  <a:pt x="23" y="145"/>
                  <a:pt x="23" y="150"/>
                  <a:pt x="24" y="156"/>
                </a:cubicBezTo>
                <a:lnTo>
                  <a:pt x="6" y="172"/>
                </a:lnTo>
                <a:cubicBezTo>
                  <a:pt x="0" y="178"/>
                  <a:pt x="-2" y="186"/>
                  <a:pt x="1" y="193"/>
                </a:cubicBezTo>
                <a:cubicBezTo>
                  <a:pt x="3" y="198"/>
                  <a:pt x="5" y="202"/>
                  <a:pt x="7" y="206"/>
                </a:cubicBezTo>
                <a:lnTo>
                  <a:pt x="10" y="210"/>
                </a:lnTo>
                <a:cubicBezTo>
                  <a:pt x="12" y="215"/>
                  <a:pt x="15" y="219"/>
                  <a:pt x="18" y="222"/>
                </a:cubicBezTo>
                <a:cubicBezTo>
                  <a:pt x="23" y="229"/>
                  <a:pt x="31" y="231"/>
                  <a:pt x="38" y="228"/>
                </a:cubicBezTo>
                <a:lnTo>
                  <a:pt x="62" y="221"/>
                </a:lnTo>
                <a:cubicBezTo>
                  <a:pt x="70" y="228"/>
                  <a:pt x="81" y="234"/>
                  <a:pt x="92" y="238"/>
                </a:cubicBezTo>
                <a:lnTo>
                  <a:pt x="97" y="262"/>
                </a:lnTo>
                <a:cubicBezTo>
                  <a:pt x="98" y="270"/>
                  <a:pt x="104" y="276"/>
                  <a:pt x="112" y="277"/>
                </a:cubicBezTo>
                <a:cubicBezTo>
                  <a:pt x="117" y="277"/>
                  <a:pt x="123" y="278"/>
                  <a:pt x="129" y="278"/>
                </a:cubicBezTo>
                <a:cubicBezTo>
                  <a:pt x="134" y="278"/>
                  <a:pt x="140" y="277"/>
                  <a:pt x="146" y="277"/>
                </a:cubicBezTo>
                <a:cubicBezTo>
                  <a:pt x="153" y="276"/>
                  <a:pt x="159" y="270"/>
                  <a:pt x="161" y="262"/>
                </a:cubicBezTo>
                <a:lnTo>
                  <a:pt x="166" y="238"/>
                </a:lnTo>
                <a:cubicBezTo>
                  <a:pt x="177" y="234"/>
                  <a:pt x="187" y="228"/>
                  <a:pt x="196" y="221"/>
                </a:cubicBezTo>
                <a:lnTo>
                  <a:pt x="219" y="228"/>
                </a:lnTo>
                <a:cubicBezTo>
                  <a:pt x="227" y="231"/>
                  <a:pt x="235" y="229"/>
                  <a:pt x="240" y="222"/>
                </a:cubicBezTo>
                <a:cubicBezTo>
                  <a:pt x="243" y="219"/>
                  <a:pt x="245" y="215"/>
                  <a:pt x="248" y="210"/>
                </a:cubicBezTo>
                <a:lnTo>
                  <a:pt x="250" y="206"/>
                </a:lnTo>
                <a:cubicBezTo>
                  <a:pt x="253" y="202"/>
                  <a:pt x="255" y="197"/>
                  <a:pt x="257" y="193"/>
                </a:cubicBezTo>
                <a:cubicBezTo>
                  <a:pt x="260" y="186"/>
                  <a:pt x="257" y="178"/>
                  <a:pt x="251" y="172"/>
                </a:cubicBezTo>
                <a:lnTo>
                  <a:pt x="233" y="156"/>
                </a:lnTo>
                <a:cubicBezTo>
                  <a:pt x="234" y="150"/>
                  <a:pt x="235" y="145"/>
                  <a:pt x="235" y="139"/>
                </a:cubicBezTo>
                <a:cubicBezTo>
                  <a:pt x="235" y="133"/>
                  <a:pt x="234" y="127"/>
                  <a:pt x="233" y="121"/>
                </a:cubicBezTo>
                <a:lnTo>
                  <a:pt x="251" y="105"/>
                </a:lnTo>
                <a:lnTo>
                  <a:pt x="252" y="105"/>
                </a:lnTo>
                <a:moveTo>
                  <a:pt x="89" y="139"/>
                </a:moveTo>
                <a:cubicBezTo>
                  <a:pt x="89" y="134"/>
                  <a:pt x="90" y="128"/>
                  <a:pt x="92" y="124"/>
                </a:cubicBezTo>
                <a:cubicBezTo>
                  <a:pt x="94" y="119"/>
                  <a:pt x="97" y="114"/>
                  <a:pt x="101" y="111"/>
                </a:cubicBezTo>
                <a:cubicBezTo>
                  <a:pt x="104" y="107"/>
                  <a:pt x="109" y="104"/>
                  <a:pt x="114" y="102"/>
                </a:cubicBezTo>
                <a:cubicBezTo>
                  <a:pt x="119" y="100"/>
                  <a:pt x="124" y="99"/>
                  <a:pt x="129" y="99"/>
                </a:cubicBezTo>
                <a:cubicBezTo>
                  <a:pt x="134" y="99"/>
                  <a:pt x="139" y="100"/>
                  <a:pt x="144" y="102"/>
                </a:cubicBezTo>
                <a:cubicBezTo>
                  <a:pt x="149" y="104"/>
                  <a:pt x="153" y="107"/>
                  <a:pt x="157" y="111"/>
                </a:cubicBezTo>
                <a:cubicBezTo>
                  <a:pt x="161" y="114"/>
                  <a:pt x="163" y="119"/>
                  <a:pt x="165" y="124"/>
                </a:cubicBezTo>
                <a:cubicBezTo>
                  <a:pt x="168" y="128"/>
                  <a:pt x="169" y="134"/>
                  <a:pt x="169" y="139"/>
                </a:cubicBezTo>
                <a:cubicBezTo>
                  <a:pt x="169" y="144"/>
                  <a:pt x="168" y="149"/>
                  <a:pt x="165" y="154"/>
                </a:cubicBezTo>
                <a:cubicBezTo>
                  <a:pt x="163" y="159"/>
                  <a:pt x="161" y="163"/>
                  <a:pt x="157" y="167"/>
                </a:cubicBezTo>
                <a:cubicBezTo>
                  <a:pt x="153" y="171"/>
                  <a:pt x="149" y="173"/>
                  <a:pt x="144" y="175"/>
                </a:cubicBezTo>
                <a:cubicBezTo>
                  <a:pt x="139" y="177"/>
                  <a:pt x="134" y="178"/>
                  <a:pt x="129" y="178"/>
                </a:cubicBezTo>
                <a:cubicBezTo>
                  <a:pt x="124" y="178"/>
                  <a:pt x="119" y="177"/>
                  <a:pt x="114" y="175"/>
                </a:cubicBezTo>
                <a:cubicBezTo>
                  <a:pt x="109" y="173"/>
                  <a:pt x="104" y="171"/>
                  <a:pt x="101" y="167"/>
                </a:cubicBezTo>
                <a:cubicBezTo>
                  <a:pt x="97" y="163"/>
                  <a:pt x="94" y="159"/>
                  <a:pt x="92" y="154"/>
                </a:cubicBezTo>
                <a:cubicBezTo>
                  <a:pt x="90" y="149"/>
                  <a:pt x="89" y="144"/>
                  <a:pt x="89" y="139"/>
                </a:cubicBezTo>
                <a:moveTo>
                  <a:pt x="415" y="408"/>
                </a:moveTo>
                <a:cubicBezTo>
                  <a:pt x="420" y="414"/>
                  <a:pt x="428" y="416"/>
                  <a:pt x="436" y="413"/>
                </a:cubicBezTo>
                <a:cubicBezTo>
                  <a:pt x="440" y="411"/>
                  <a:pt x="444" y="409"/>
                  <a:pt x="448" y="407"/>
                </a:cubicBezTo>
                <a:lnTo>
                  <a:pt x="453" y="404"/>
                </a:lnTo>
                <a:cubicBezTo>
                  <a:pt x="457" y="402"/>
                  <a:pt x="461" y="399"/>
                  <a:pt x="465" y="396"/>
                </a:cubicBezTo>
                <a:cubicBezTo>
                  <a:pt x="471" y="392"/>
                  <a:pt x="473" y="383"/>
                  <a:pt x="471" y="376"/>
                </a:cubicBezTo>
                <a:lnTo>
                  <a:pt x="463" y="353"/>
                </a:lnTo>
                <a:cubicBezTo>
                  <a:pt x="470" y="344"/>
                  <a:pt x="476" y="334"/>
                  <a:pt x="480" y="322"/>
                </a:cubicBezTo>
                <a:lnTo>
                  <a:pt x="504" y="317"/>
                </a:lnTo>
                <a:cubicBezTo>
                  <a:pt x="512" y="315"/>
                  <a:pt x="518" y="309"/>
                  <a:pt x="519" y="301"/>
                </a:cubicBezTo>
                <a:cubicBezTo>
                  <a:pt x="520" y="296"/>
                  <a:pt x="520" y="290"/>
                  <a:pt x="520" y="284"/>
                </a:cubicBezTo>
                <a:cubicBezTo>
                  <a:pt x="520" y="279"/>
                  <a:pt x="520" y="273"/>
                  <a:pt x="519" y="268"/>
                </a:cubicBezTo>
                <a:cubicBezTo>
                  <a:pt x="518" y="260"/>
                  <a:pt x="512" y="254"/>
                  <a:pt x="504" y="252"/>
                </a:cubicBezTo>
                <a:lnTo>
                  <a:pt x="480" y="247"/>
                </a:lnTo>
                <a:cubicBezTo>
                  <a:pt x="476" y="236"/>
                  <a:pt x="470" y="226"/>
                  <a:pt x="463" y="217"/>
                </a:cubicBezTo>
                <a:lnTo>
                  <a:pt x="471" y="194"/>
                </a:lnTo>
                <a:cubicBezTo>
                  <a:pt x="473" y="186"/>
                  <a:pt x="471" y="178"/>
                  <a:pt x="465" y="173"/>
                </a:cubicBezTo>
                <a:cubicBezTo>
                  <a:pt x="461" y="171"/>
                  <a:pt x="457" y="168"/>
                  <a:pt x="453" y="165"/>
                </a:cubicBezTo>
                <a:lnTo>
                  <a:pt x="448" y="163"/>
                </a:lnTo>
                <a:cubicBezTo>
                  <a:pt x="444" y="160"/>
                  <a:pt x="440" y="158"/>
                  <a:pt x="436" y="157"/>
                </a:cubicBezTo>
                <a:cubicBezTo>
                  <a:pt x="428" y="153"/>
                  <a:pt x="420" y="156"/>
                  <a:pt x="415" y="162"/>
                </a:cubicBezTo>
                <a:lnTo>
                  <a:pt x="398" y="180"/>
                </a:lnTo>
                <a:cubicBezTo>
                  <a:pt x="393" y="179"/>
                  <a:pt x="387" y="179"/>
                  <a:pt x="381" y="179"/>
                </a:cubicBezTo>
                <a:cubicBezTo>
                  <a:pt x="375" y="179"/>
                  <a:pt x="370" y="179"/>
                  <a:pt x="364" y="180"/>
                </a:cubicBezTo>
                <a:lnTo>
                  <a:pt x="347" y="162"/>
                </a:lnTo>
                <a:cubicBezTo>
                  <a:pt x="341" y="156"/>
                  <a:pt x="333" y="153"/>
                  <a:pt x="326" y="157"/>
                </a:cubicBezTo>
                <a:cubicBezTo>
                  <a:pt x="321" y="158"/>
                  <a:pt x="317" y="160"/>
                  <a:pt x="313" y="163"/>
                </a:cubicBezTo>
                <a:lnTo>
                  <a:pt x="309" y="165"/>
                </a:lnTo>
                <a:cubicBezTo>
                  <a:pt x="304" y="168"/>
                  <a:pt x="300" y="170"/>
                  <a:pt x="297" y="173"/>
                </a:cubicBezTo>
                <a:cubicBezTo>
                  <a:pt x="290" y="178"/>
                  <a:pt x="288" y="186"/>
                  <a:pt x="291" y="194"/>
                </a:cubicBezTo>
                <a:lnTo>
                  <a:pt x="298" y="217"/>
                </a:lnTo>
                <a:cubicBezTo>
                  <a:pt x="291" y="226"/>
                  <a:pt x="285" y="236"/>
                  <a:pt x="281" y="247"/>
                </a:cubicBezTo>
                <a:lnTo>
                  <a:pt x="257" y="252"/>
                </a:lnTo>
                <a:cubicBezTo>
                  <a:pt x="249" y="254"/>
                  <a:pt x="243" y="260"/>
                  <a:pt x="242" y="267"/>
                </a:cubicBezTo>
                <a:cubicBezTo>
                  <a:pt x="242" y="273"/>
                  <a:pt x="241" y="279"/>
                  <a:pt x="241" y="284"/>
                </a:cubicBezTo>
                <a:cubicBezTo>
                  <a:pt x="241" y="290"/>
                  <a:pt x="242" y="296"/>
                  <a:pt x="242" y="301"/>
                </a:cubicBezTo>
                <a:cubicBezTo>
                  <a:pt x="243" y="309"/>
                  <a:pt x="249" y="315"/>
                  <a:pt x="257" y="316"/>
                </a:cubicBezTo>
                <a:lnTo>
                  <a:pt x="281" y="321"/>
                </a:lnTo>
                <a:cubicBezTo>
                  <a:pt x="285" y="333"/>
                  <a:pt x="291" y="344"/>
                  <a:pt x="298" y="352"/>
                </a:cubicBezTo>
                <a:lnTo>
                  <a:pt x="291" y="376"/>
                </a:lnTo>
                <a:cubicBezTo>
                  <a:pt x="288" y="383"/>
                  <a:pt x="290" y="391"/>
                  <a:pt x="297" y="396"/>
                </a:cubicBezTo>
                <a:cubicBezTo>
                  <a:pt x="300" y="399"/>
                  <a:pt x="304" y="402"/>
                  <a:pt x="309" y="404"/>
                </a:cubicBezTo>
                <a:lnTo>
                  <a:pt x="313" y="407"/>
                </a:lnTo>
                <a:cubicBezTo>
                  <a:pt x="317" y="409"/>
                  <a:pt x="322" y="411"/>
                  <a:pt x="326" y="413"/>
                </a:cubicBezTo>
                <a:cubicBezTo>
                  <a:pt x="333" y="416"/>
                  <a:pt x="341" y="414"/>
                  <a:pt x="347" y="408"/>
                </a:cubicBezTo>
                <a:lnTo>
                  <a:pt x="364" y="390"/>
                </a:lnTo>
                <a:cubicBezTo>
                  <a:pt x="370" y="391"/>
                  <a:pt x="375" y="391"/>
                  <a:pt x="381" y="391"/>
                </a:cubicBezTo>
                <a:cubicBezTo>
                  <a:pt x="387" y="391"/>
                  <a:pt x="393" y="391"/>
                  <a:pt x="399" y="390"/>
                </a:cubicBezTo>
                <a:lnTo>
                  <a:pt x="415" y="408"/>
                </a:lnTo>
                <a:moveTo>
                  <a:pt x="381" y="245"/>
                </a:moveTo>
                <a:cubicBezTo>
                  <a:pt x="386" y="245"/>
                  <a:pt x="392" y="246"/>
                  <a:pt x="396" y="248"/>
                </a:cubicBezTo>
                <a:cubicBezTo>
                  <a:pt x="401" y="250"/>
                  <a:pt x="406" y="253"/>
                  <a:pt x="409" y="256"/>
                </a:cubicBezTo>
                <a:cubicBezTo>
                  <a:pt x="413" y="260"/>
                  <a:pt x="416" y="264"/>
                  <a:pt x="418" y="269"/>
                </a:cubicBezTo>
                <a:cubicBezTo>
                  <a:pt x="420" y="274"/>
                  <a:pt x="421" y="279"/>
                  <a:pt x="421" y="284"/>
                </a:cubicBezTo>
                <a:cubicBezTo>
                  <a:pt x="421" y="290"/>
                  <a:pt x="420" y="295"/>
                  <a:pt x="418" y="300"/>
                </a:cubicBezTo>
                <a:cubicBezTo>
                  <a:pt x="416" y="304"/>
                  <a:pt x="413" y="309"/>
                  <a:pt x="409" y="312"/>
                </a:cubicBezTo>
                <a:cubicBezTo>
                  <a:pt x="406" y="316"/>
                  <a:pt x="401" y="319"/>
                  <a:pt x="396" y="321"/>
                </a:cubicBezTo>
                <a:cubicBezTo>
                  <a:pt x="392" y="323"/>
                  <a:pt x="386" y="324"/>
                  <a:pt x="381" y="324"/>
                </a:cubicBezTo>
                <a:cubicBezTo>
                  <a:pt x="376" y="324"/>
                  <a:pt x="371" y="323"/>
                  <a:pt x="366" y="321"/>
                </a:cubicBezTo>
                <a:cubicBezTo>
                  <a:pt x="361" y="319"/>
                  <a:pt x="357" y="316"/>
                  <a:pt x="353" y="312"/>
                </a:cubicBezTo>
                <a:cubicBezTo>
                  <a:pt x="348" y="309"/>
                  <a:pt x="346" y="304"/>
                  <a:pt x="344" y="300"/>
                </a:cubicBezTo>
                <a:cubicBezTo>
                  <a:pt x="342" y="295"/>
                  <a:pt x="340" y="290"/>
                  <a:pt x="340" y="284"/>
                </a:cubicBezTo>
                <a:cubicBezTo>
                  <a:pt x="340" y="279"/>
                  <a:pt x="342" y="274"/>
                  <a:pt x="344" y="269"/>
                </a:cubicBezTo>
                <a:cubicBezTo>
                  <a:pt x="346" y="264"/>
                  <a:pt x="348" y="260"/>
                  <a:pt x="353" y="256"/>
                </a:cubicBezTo>
                <a:cubicBezTo>
                  <a:pt x="357" y="253"/>
                  <a:pt x="361" y="250"/>
                  <a:pt x="366" y="248"/>
                </a:cubicBezTo>
                <a:cubicBezTo>
                  <a:pt x="371" y="246"/>
                  <a:pt x="376" y="245"/>
                  <a:pt x="381" y="245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628560" y="4429440"/>
            <a:ext cx="3666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verification, monitoring, and adaptation </a:t>
            </a:r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beyond accuracy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6905520" y="3713760"/>
            <a:ext cx="1271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Byung-Gon Chun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6905520" y="3935520"/>
            <a:ext cx="2004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Seoul National University &amp; FriendliAI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6410160" y="4210200"/>
            <a:ext cx="4833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Production AI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prioritizing </a:t>
            </a:r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efficiency, scalability, and reliability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over pure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456840" y="5452920"/>
            <a:ext cx="11301840" cy="924120"/>
          </a:xfrm>
          <a:custGeom>
            <a:avLst/>
            <a:gdLst/>
            <a:ahLst/>
            <a:rect l="0" t="0" r="r" b="b"/>
            <a:pathLst>
              <a:path w="31394" h="2567">
                <a:moveTo>
                  <a:pt x="0" y="2567"/>
                </a:moveTo>
                <a:lnTo>
                  <a:pt x="0" y="0"/>
                </a:lnTo>
                <a:lnTo>
                  <a:pt x="31302" y="0"/>
                </a:lnTo>
                <a:cubicBezTo>
                  <a:pt x="31314" y="0"/>
                  <a:pt x="31326" y="2"/>
                  <a:pt x="31337" y="7"/>
                </a:cubicBezTo>
                <a:cubicBezTo>
                  <a:pt x="31348" y="12"/>
                  <a:pt x="31359" y="18"/>
                  <a:pt x="31367" y="27"/>
                </a:cubicBezTo>
                <a:cubicBezTo>
                  <a:pt x="31376" y="36"/>
                  <a:pt x="31383" y="46"/>
                  <a:pt x="31387" y="57"/>
                </a:cubicBezTo>
                <a:cubicBezTo>
                  <a:pt x="31392" y="68"/>
                  <a:pt x="31394" y="80"/>
                  <a:pt x="31394" y="92"/>
                </a:cubicBezTo>
                <a:lnTo>
                  <a:pt x="31394" y="2475"/>
                </a:lnTo>
                <a:cubicBezTo>
                  <a:pt x="31394" y="2487"/>
                  <a:pt x="31392" y="2499"/>
                  <a:pt x="31387" y="2510"/>
                </a:cubicBezTo>
                <a:cubicBezTo>
                  <a:pt x="31383" y="2522"/>
                  <a:pt x="31376" y="2532"/>
                  <a:pt x="31367" y="2540"/>
                </a:cubicBezTo>
                <a:cubicBezTo>
                  <a:pt x="31359" y="2549"/>
                  <a:pt x="31348" y="2556"/>
                  <a:pt x="31337" y="2560"/>
                </a:cubicBezTo>
                <a:cubicBezTo>
                  <a:pt x="31326" y="2565"/>
                  <a:pt x="31314" y="2567"/>
                  <a:pt x="31302" y="2567"/>
                </a:cubicBezTo>
                <a:lnTo>
                  <a:pt x="0" y="2567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428400" y="5448240"/>
            <a:ext cx="11324520" cy="18720"/>
          </a:xfrm>
          <a:custGeom>
            <a:avLst/>
            <a:gdLst/>
            <a:ahLst/>
            <a:rect l="0" t="0" r="r" b="b"/>
            <a:pathLst>
              <a:path w="31457" h="52">
                <a:moveTo>
                  <a:pt x="31438" y="52"/>
                </a:moveTo>
                <a:cubicBezTo>
                  <a:pt x="31438" y="51"/>
                  <a:pt x="31437" y="51"/>
                  <a:pt x="31437" y="50"/>
                </a:cubicBezTo>
                <a:cubicBezTo>
                  <a:pt x="31421" y="34"/>
                  <a:pt x="31403" y="26"/>
                  <a:pt x="31381" y="26"/>
                </a:cubicBezTo>
                <a:lnTo>
                  <a:pt x="159" y="26"/>
                </a:lnTo>
                <a:lnTo>
                  <a:pt x="159" y="27"/>
                </a:lnTo>
                <a:lnTo>
                  <a:pt x="0" y="0"/>
                </a:lnTo>
                <a:lnTo>
                  <a:pt x="31381" y="0"/>
                </a:lnTo>
                <a:cubicBezTo>
                  <a:pt x="31410" y="0"/>
                  <a:pt x="31435" y="10"/>
                  <a:pt x="31456" y="31"/>
                </a:cubicBezTo>
                <a:cubicBezTo>
                  <a:pt x="31456" y="31"/>
                  <a:pt x="31456" y="32"/>
                  <a:pt x="31457" y="32"/>
                </a:cubicBezTo>
                <a:lnTo>
                  <a:pt x="31438" y="52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428400" y="6363360"/>
            <a:ext cx="11324520" cy="18720"/>
          </a:xfrm>
          <a:custGeom>
            <a:avLst/>
            <a:gdLst/>
            <a:ahLst/>
            <a:rect l="0" t="0" r="r" b="b"/>
            <a:pathLst>
              <a:path w="31457" h="52">
                <a:moveTo>
                  <a:pt x="159" y="24"/>
                </a:moveTo>
                <a:lnTo>
                  <a:pt x="31381" y="24"/>
                </a:lnTo>
                <a:cubicBezTo>
                  <a:pt x="31403" y="24"/>
                  <a:pt x="31421" y="16"/>
                  <a:pt x="31437" y="1"/>
                </a:cubicBezTo>
                <a:cubicBezTo>
                  <a:pt x="31437" y="0"/>
                  <a:pt x="31438" y="0"/>
                  <a:pt x="31438" y="0"/>
                </a:cubicBezTo>
                <a:lnTo>
                  <a:pt x="31457" y="18"/>
                </a:lnTo>
                <a:cubicBezTo>
                  <a:pt x="31456" y="19"/>
                  <a:pt x="31456" y="19"/>
                  <a:pt x="31456" y="20"/>
                </a:cubicBezTo>
                <a:cubicBezTo>
                  <a:pt x="31435" y="40"/>
                  <a:pt x="31410" y="52"/>
                  <a:pt x="31381" y="52"/>
                </a:cubicBezTo>
                <a:lnTo>
                  <a:pt x="0" y="52"/>
                </a:lnTo>
                <a:lnTo>
                  <a:pt x="0" y="51"/>
                </a:lnTo>
                <a:lnTo>
                  <a:pt x="159" y="24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11745360" y="5459400"/>
            <a:ext cx="18360" cy="911520"/>
          </a:xfrm>
          <a:custGeom>
            <a:avLst/>
            <a:gdLst/>
            <a:ahLst/>
            <a:rect l="0" t="0" r="r" b="b"/>
            <a:pathLst>
              <a:path w="51" h="2532">
                <a:moveTo>
                  <a:pt x="0" y="2513"/>
                </a:moveTo>
                <a:cubicBezTo>
                  <a:pt x="15" y="2497"/>
                  <a:pt x="23" y="2479"/>
                  <a:pt x="23" y="2457"/>
                </a:cubicBezTo>
                <a:lnTo>
                  <a:pt x="23" y="74"/>
                </a:lnTo>
                <a:cubicBezTo>
                  <a:pt x="23" y="53"/>
                  <a:pt x="15" y="34"/>
                  <a:pt x="0" y="18"/>
                </a:cubicBezTo>
                <a:lnTo>
                  <a:pt x="19" y="0"/>
                </a:lnTo>
                <a:cubicBezTo>
                  <a:pt x="40" y="20"/>
                  <a:pt x="51" y="45"/>
                  <a:pt x="51" y="74"/>
                </a:cubicBezTo>
                <a:lnTo>
                  <a:pt x="51" y="2457"/>
                </a:lnTo>
                <a:cubicBezTo>
                  <a:pt x="51" y="2486"/>
                  <a:pt x="40" y="2511"/>
                  <a:pt x="19" y="2532"/>
                </a:cubicBezTo>
                <a:lnTo>
                  <a:pt x="0" y="2513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721440" y="5800680"/>
            <a:ext cx="157320" cy="229320"/>
          </a:xfrm>
          <a:custGeom>
            <a:avLst/>
            <a:gdLst/>
            <a:ahLst/>
            <a:rect l="0" t="0" r="r" b="b"/>
            <a:pathLst>
              <a:path w="437" h="637">
                <a:moveTo>
                  <a:pt x="317" y="477"/>
                </a:moveTo>
                <a:cubicBezTo>
                  <a:pt x="329" y="437"/>
                  <a:pt x="354" y="404"/>
                  <a:pt x="378" y="370"/>
                </a:cubicBezTo>
                <a:cubicBezTo>
                  <a:pt x="385" y="361"/>
                  <a:pt x="391" y="352"/>
                  <a:pt x="398" y="343"/>
                </a:cubicBezTo>
                <a:cubicBezTo>
                  <a:pt x="423" y="308"/>
                  <a:pt x="437" y="265"/>
                  <a:pt x="437" y="219"/>
                </a:cubicBezTo>
                <a:cubicBezTo>
                  <a:pt x="437" y="97"/>
                  <a:pt x="339" y="0"/>
                  <a:pt x="218" y="0"/>
                </a:cubicBezTo>
                <a:cubicBezTo>
                  <a:pt x="97" y="0"/>
                  <a:pt x="0" y="97"/>
                  <a:pt x="0" y="219"/>
                </a:cubicBezTo>
                <a:cubicBezTo>
                  <a:pt x="0" y="265"/>
                  <a:pt x="14" y="308"/>
                  <a:pt x="39" y="343"/>
                </a:cubicBezTo>
                <a:cubicBezTo>
                  <a:pt x="45" y="352"/>
                  <a:pt x="51" y="361"/>
                  <a:pt x="58" y="370"/>
                </a:cubicBezTo>
                <a:cubicBezTo>
                  <a:pt x="82" y="403"/>
                  <a:pt x="107" y="437"/>
                  <a:pt x="119" y="477"/>
                </a:cubicBezTo>
                <a:lnTo>
                  <a:pt x="317" y="477"/>
                </a:lnTo>
                <a:moveTo>
                  <a:pt x="218" y="637"/>
                </a:moveTo>
                <a:cubicBezTo>
                  <a:pt x="273" y="637"/>
                  <a:pt x="317" y="592"/>
                  <a:pt x="317" y="537"/>
                </a:cubicBezTo>
                <a:lnTo>
                  <a:pt x="317" y="517"/>
                </a:lnTo>
                <a:lnTo>
                  <a:pt x="119" y="517"/>
                </a:lnTo>
                <a:lnTo>
                  <a:pt x="119" y="537"/>
                </a:lnTo>
                <a:cubicBezTo>
                  <a:pt x="119" y="592"/>
                  <a:pt x="163" y="637"/>
                  <a:pt x="218" y="637"/>
                </a:cubicBezTo>
                <a:moveTo>
                  <a:pt x="119" y="219"/>
                </a:moveTo>
                <a:cubicBezTo>
                  <a:pt x="119" y="230"/>
                  <a:pt x="110" y="239"/>
                  <a:pt x="99" y="239"/>
                </a:cubicBezTo>
                <a:cubicBezTo>
                  <a:pt x="88" y="239"/>
                  <a:pt x="79" y="230"/>
                  <a:pt x="79" y="219"/>
                </a:cubicBezTo>
                <a:cubicBezTo>
                  <a:pt x="79" y="141"/>
                  <a:pt x="141" y="79"/>
                  <a:pt x="218" y="79"/>
                </a:cubicBezTo>
                <a:cubicBezTo>
                  <a:pt x="229" y="79"/>
                  <a:pt x="238" y="88"/>
                  <a:pt x="238" y="99"/>
                </a:cubicBezTo>
                <a:cubicBezTo>
                  <a:pt x="238" y="110"/>
                  <a:pt x="229" y="119"/>
                  <a:pt x="218" y="119"/>
                </a:cubicBezTo>
                <a:cubicBezTo>
                  <a:pt x="163" y="119"/>
                  <a:pt x="119" y="163"/>
                  <a:pt x="119" y="219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6410160" y="4429440"/>
            <a:ext cx="2247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accuracy in real-world deployments.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038240" y="5688000"/>
            <a:ext cx="722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KEY INSIGHT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1089000" y="5882760"/>
            <a:ext cx="595260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4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"AI is not replacing systems — it's </a:t>
            </a:r>
            <a:r>
              <a:rPr b="1" lang="en-US" sz="154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demanding new systems</a:t>
            </a:r>
            <a:r>
              <a:rPr b="1" lang="en-US" sz="154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."</a:t>
            </a:r>
            <a:endParaRPr b="0" lang="en-US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9636840" y="6525000"/>
            <a:ext cx="2066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SIGOPS Strategic Workshop 2025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0358280" y="299880"/>
            <a:ext cx="1400400" cy="352800"/>
          </a:xfrm>
          <a:custGeom>
            <a:avLst/>
            <a:gdLst/>
            <a:ahLst/>
            <a:rect l="0" t="0" r="r" b="b"/>
            <a:pathLst>
              <a:path w="3890" h="980">
                <a:moveTo>
                  <a:pt x="0" y="887"/>
                </a:moveTo>
                <a:lnTo>
                  <a:pt x="0" y="93"/>
                </a:ln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lnTo>
                  <a:pt x="3798" y="0"/>
                </a:lnTo>
                <a:cubicBezTo>
                  <a:pt x="3810" y="0"/>
                  <a:pt x="3822" y="2"/>
                  <a:pt x="3833" y="7"/>
                </a:cubicBezTo>
                <a:cubicBezTo>
                  <a:pt x="3844" y="12"/>
                  <a:pt x="3855" y="18"/>
                  <a:pt x="3863" y="27"/>
                </a:cubicBezTo>
                <a:cubicBezTo>
                  <a:pt x="3872" y="36"/>
                  <a:pt x="3879" y="46"/>
                  <a:pt x="3883" y="57"/>
                </a:cubicBezTo>
                <a:cubicBezTo>
                  <a:pt x="3888" y="68"/>
                  <a:pt x="3890" y="80"/>
                  <a:pt x="3890" y="93"/>
                </a:cubicBezTo>
                <a:lnTo>
                  <a:pt x="3890" y="887"/>
                </a:lnTo>
                <a:cubicBezTo>
                  <a:pt x="3890" y="900"/>
                  <a:pt x="3888" y="911"/>
                  <a:pt x="3883" y="923"/>
                </a:cubicBezTo>
                <a:cubicBezTo>
                  <a:pt x="3879" y="934"/>
                  <a:pt x="3872" y="944"/>
                  <a:pt x="3863" y="953"/>
                </a:cubicBezTo>
                <a:cubicBezTo>
                  <a:pt x="3855" y="961"/>
                  <a:pt x="3844" y="968"/>
                  <a:pt x="3833" y="973"/>
                </a:cubicBezTo>
                <a:cubicBezTo>
                  <a:pt x="3822" y="978"/>
                  <a:pt x="3810" y="980"/>
                  <a:pt x="3798" y="980"/>
                </a:cubicBezTo>
                <a:lnTo>
                  <a:pt x="93" y="980"/>
                </a:lnTo>
                <a:cubicBezTo>
                  <a:pt x="80" y="980"/>
                  <a:pt x="68" y="978"/>
                  <a:pt x="57" y="973"/>
                </a:cubicBezTo>
                <a:cubicBezTo>
                  <a:pt x="46" y="968"/>
                  <a:pt x="36" y="961"/>
                  <a:pt x="27" y="953"/>
                </a:cubicBezTo>
                <a:cubicBezTo>
                  <a:pt x="18" y="944"/>
                  <a:pt x="12" y="934"/>
                  <a:pt x="7" y="923"/>
                </a:cubicBezTo>
                <a:cubicBezTo>
                  <a:pt x="2" y="911"/>
                  <a:pt x="0" y="900"/>
                  <a:pt x="0" y="88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0358280" y="299880"/>
            <a:ext cx="1400400" cy="352800"/>
          </a:xfrm>
          <a:custGeom>
            <a:avLst/>
            <a:gdLst/>
            <a:ahLst/>
            <a:rect l="0" t="0" r="r" b="b"/>
            <a:pathLst>
              <a:path fill="none" w="3890" h="980">
                <a:moveTo>
                  <a:pt x="0" y="887"/>
                </a:moveTo>
                <a:lnTo>
                  <a:pt x="0" y="93"/>
                </a:ln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lnTo>
                  <a:pt x="3798" y="0"/>
                </a:lnTo>
                <a:cubicBezTo>
                  <a:pt x="3810" y="0"/>
                  <a:pt x="3822" y="2"/>
                  <a:pt x="3833" y="7"/>
                </a:cubicBezTo>
                <a:cubicBezTo>
                  <a:pt x="3844" y="12"/>
                  <a:pt x="3855" y="18"/>
                  <a:pt x="3863" y="27"/>
                </a:cubicBezTo>
                <a:cubicBezTo>
                  <a:pt x="3872" y="36"/>
                  <a:pt x="3879" y="46"/>
                  <a:pt x="3883" y="57"/>
                </a:cubicBezTo>
                <a:cubicBezTo>
                  <a:pt x="3888" y="68"/>
                  <a:pt x="3890" y="80"/>
                  <a:pt x="3890" y="93"/>
                </a:cubicBezTo>
                <a:lnTo>
                  <a:pt x="3890" y="887"/>
                </a:lnTo>
                <a:cubicBezTo>
                  <a:pt x="3890" y="900"/>
                  <a:pt x="3888" y="911"/>
                  <a:pt x="3883" y="923"/>
                </a:cubicBezTo>
                <a:cubicBezTo>
                  <a:pt x="3879" y="934"/>
                  <a:pt x="3872" y="944"/>
                  <a:pt x="3863" y="953"/>
                </a:cubicBezTo>
                <a:cubicBezTo>
                  <a:pt x="3855" y="961"/>
                  <a:pt x="3844" y="968"/>
                  <a:pt x="3833" y="973"/>
                </a:cubicBezTo>
                <a:cubicBezTo>
                  <a:pt x="3822" y="978"/>
                  <a:pt x="3810" y="980"/>
                  <a:pt x="3798" y="980"/>
                </a:cubicBezTo>
                <a:lnTo>
                  <a:pt x="93" y="980"/>
                </a:lnTo>
                <a:cubicBezTo>
                  <a:pt x="80" y="980"/>
                  <a:pt x="68" y="978"/>
                  <a:pt x="57" y="973"/>
                </a:cubicBezTo>
                <a:cubicBezTo>
                  <a:pt x="46" y="968"/>
                  <a:pt x="36" y="961"/>
                  <a:pt x="27" y="953"/>
                </a:cubicBezTo>
                <a:cubicBezTo>
                  <a:pt x="18" y="944"/>
                  <a:pt x="12" y="934"/>
                  <a:pt x="7" y="923"/>
                </a:cubicBezTo>
                <a:cubicBezTo>
                  <a:pt x="2" y="911"/>
                  <a:pt x="0" y="900"/>
                  <a:pt x="0" y="887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0515240" y="409320"/>
            <a:ext cx="133920" cy="133920"/>
          </a:xfrm>
          <a:custGeom>
            <a:avLst/>
            <a:gdLst/>
            <a:ahLst/>
            <a:rect l="0" t="0" r="r" b="b"/>
            <a:pathLst>
              <a:path w="372" h="372">
                <a:moveTo>
                  <a:pt x="186" y="0"/>
                </a:moveTo>
                <a:cubicBezTo>
                  <a:pt x="198" y="0"/>
                  <a:pt x="211" y="1"/>
                  <a:pt x="223" y="4"/>
                </a:cubicBezTo>
                <a:cubicBezTo>
                  <a:pt x="235" y="6"/>
                  <a:pt x="246" y="10"/>
                  <a:pt x="258" y="14"/>
                </a:cubicBezTo>
                <a:cubicBezTo>
                  <a:pt x="269" y="19"/>
                  <a:pt x="279" y="25"/>
                  <a:pt x="290" y="31"/>
                </a:cubicBezTo>
                <a:cubicBezTo>
                  <a:pt x="300" y="38"/>
                  <a:pt x="309" y="46"/>
                  <a:pt x="318" y="54"/>
                </a:cubicBezTo>
                <a:cubicBezTo>
                  <a:pt x="326" y="63"/>
                  <a:pt x="334" y="72"/>
                  <a:pt x="341" y="83"/>
                </a:cubicBezTo>
                <a:cubicBezTo>
                  <a:pt x="347" y="93"/>
                  <a:pt x="353" y="103"/>
                  <a:pt x="358" y="115"/>
                </a:cubicBezTo>
                <a:cubicBezTo>
                  <a:pt x="362" y="126"/>
                  <a:pt x="366" y="137"/>
                  <a:pt x="368" y="149"/>
                </a:cubicBezTo>
                <a:cubicBezTo>
                  <a:pt x="371" y="162"/>
                  <a:pt x="372" y="174"/>
                  <a:pt x="372" y="186"/>
                </a:cubicBezTo>
                <a:cubicBezTo>
                  <a:pt x="372" y="199"/>
                  <a:pt x="371" y="211"/>
                  <a:pt x="368" y="223"/>
                </a:cubicBezTo>
                <a:cubicBezTo>
                  <a:pt x="366" y="234"/>
                  <a:pt x="362" y="246"/>
                  <a:pt x="358" y="257"/>
                </a:cubicBezTo>
                <a:cubicBezTo>
                  <a:pt x="353" y="269"/>
                  <a:pt x="347" y="279"/>
                  <a:pt x="341" y="289"/>
                </a:cubicBezTo>
                <a:cubicBezTo>
                  <a:pt x="334" y="299"/>
                  <a:pt x="326" y="309"/>
                  <a:pt x="318" y="317"/>
                </a:cubicBezTo>
                <a:cubicBezTo>
                  <a:pt x="309" y="326"/>
                  <a:pt x="300" y="334"/>
                  <a:pt x="290" y="340"/>
                </a:cubicBezTo>
                <a:cubicBezTo>
                  <a:pt x="279" y="347"/>
                  <a:pt x="269" y="353"/>
                  <a:pt x="258" y="358"/>
                </a:cubicBezTo>
                <a:cubicBezTo>
                  <a:pt x="246" y="362"/>
                  <a:pt x="235" y="366"/>
                  <a:pt x="223" y="368"/>
                </a:cubicBezTo>
                <a:cubicBezTo>
                  <a:pt x="211" y="370"/>
                  <a:pt x="198" y="372"/>
                  <a:pt x="186" y="372"/>
                </a:cubicBezTo>
                <a:cubicBezTo>
                  <a:pt x="174" y="372"/>
                  <a:pt x="162" y="370"/>
                  <a:pt x="150" y="368"/>
                </a:cubicBezTo>
                <a:cubicBezTo>
                  <a:pt x="138" y="366"/>
                  <a:pt x="126" y="362"/>
                  <a:pt x="115" y="358"/>
                </a:cubicBezTo>
                <a:cubicBezTo>
                  <a:pt x="104" y="353"/>
                  <a:pt x="93" y="347"/>
                  <a:pt x="83" y="340"/>
                </a:cubicBezTo>
                <a:cubicBezTo>
                  <a:pt x="73" y="334"/>
                  <a:pt x="63" y="326"/>
                  <a:pt x="55" y="317"/>
                </a:cubicBezTo>
                <a:cubicBezTo>
                  <a:pt x="46" y="309"/>
                  <a:pt x="38" y="299"/>
                  <a:pt x="32" y="289"/>
                </a:cubicBezTo>
                <a:cubicBezTo>
                  <a:pt x="25" y="279"/>
                  <a:pt x="19" y="269"/>
                  <a:pt x="15" y="257"/>
                </a:cubicBezTo>
                <a:cubicBezTo>
                  <a:pt x="10" y="246"/>
                  <a:pt x="6" y="234"/>
                  <a:pt x="4" y="223"/>
                </a:cubicBezTo>
                <a:cubicBezTo>
                  <a:pt x="2" y="211"/>
                  <a:pt x="0" y="199"/>
                  <a:pt x="0" y="186"/>
                </a:cubicBezTo>
                <a:cubicBezTo>
                  <a:pt x="0" y="174"/>
                  <a:pt x="2" y="162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moveTo>
                  <a:pt x="168" y="87"/>
                </a:moveTo>
                <a:lnTo>
                  <a:pt x="168" y="186"/>
                </a:lnTo>
                <a:cubicBezTo>
                  <a:pt x="168" y="192"/>
                  <a:pt x="171" y="198"/>
                  <a:pt x="176" y="201"/>
                </a:cubicBezTo>
                <a:lnTo>
                  <a:pt x="247" y="247"/>
                </a:lnTo>
                <a:cubicBezTo>
                  <a:pt x="254" y="253"/>
                  <a:pt x="265" y="250"/>
                  <a:pt x="271" y="242"/>
                </a:cubicBezTo>
                <a:cubicBezTo>
                  <a:pt x="276" y="234"/>
                  <a:pt x="274" y="224"/>
                  <a:pt x="266" y="218"/>
                </a:cubicBezTo>
                <a:lnTo>
                  <a:pt x="203" y="177"/>
                </a:lnTo>
                <a:lnTo>
                  <a:pt x="203" y="87"/>
                </a:lnTo>
                <a:cubicBezTo>
                  <a:pt x="203" y="77"/>
                  <a:pt x="195" y="70"/>
                  <a:pt x="186" y="70"/>
                </a:cubicBezTo>
                <a:cubicBezTo>
                  <a:pt x="176" y="70"/>
                  <a:pt x="168" y="77"/>
                  <a:pt x="168" y="87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0729440" y="381240"/>
            <a:ext cx="793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14:00 - 15:00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428400" y="990360"/>
            <a:ext cx="238680" cy="190800"/>
          </a:xfrm>
          <a:custGeom>
            <a:avLst/>
            <a:gdLst/>
            <a:ahLst/>
            <a:rect l="0" t="0" r="r" b="b"/>
            <a:pathLst>
              <a:path w="663" h="530">
                <a:moveTo>
                  <a:pt x="149" y="0"/>
                </a:moveTo>
                <a:cubicBezTo>
                  <a:pt x="160" y="0"/>
                  <a:pt x="170" y="2"/>
                  <a:pt x="181" y="6"/>
                </a:cubicBezTo>
                <a:cubicBezTo>
                  <a:pt x="191" y="11"/>
                  <a:pt x="200" y="17"/>
                  <a:pt x="207" y="24"/>
                </a:cubicBezTo>
                <a:cubicBezTo>
                  <a:pt x="215" y="32"/>
                  <a:pt x="221" y="41"/>
                  <a:pt x="225" y="51"/>
                </a:cubicBezTo>
                <a:cubicBezTo>
                  <a:pt x="230" y="61"/>
                  <a:pt x="232" y="72"/>
                  <a:pt x="232" y="83"/>
                </a:cubicBezTo>
                <a:cubicBezTo>
                  <a:pt x="232" y="94"/>
                  <a:pt x="230" y="104"/>
                  <a:pt x="225" y="114"/>
                </a:cubicBezTo>
                <a:cubicBezTo>
                  <a:pt x="221" y="125"/>
                  <a:pt x="215" y="134"/>
                  <a:pt x="207" y="141"/>
                </a:cubicBezTo>
                <a:cubicBezTo>
                  <a:pt x="200" y="149"/>
                  <a:pt x="191" y="155"/>
                  <a:pt x="181" y="160"/>
                </a:cubicBezTo>
                <a:cubicBezTo>
                  <a:pt x="170" y="164"/>
                  <a:pt x="160" y="167"/>
                  <a:pt x="149" y="167"/>
                </a:cubicBezTo>
                <a:cubicBezTo>
                  <a:pt x="138" y="167"/>
                  <a:pt x="127" y="164"/>
                  <a:pt x="117" y="160"/>
                </a:cubicBezTo>
                <a:cubicBezTo>
                  <a:pt x="107" y="155"/>
                  <a:pt x="98" y="149"/>
                  <a:pt x="90" y="141"/>
                </a:cubicBezTo>
                <a:cubicBezTo>
                  <a:pt x="83" y="134"/>
                  <a:pt x="77" y="125"/>
                  <a:pt x="73" y="114"/>
                </a:cubicBezTo>
                <a:cubicBezTo>
                  <a:pt x="68" y="104"/>
                  <a:pt x="66" y="94"/>
                  <a:pt x="66" y="83"/>
                </a:cubicBezTo>
                <a:cubicBezTo>
                  <a:pt x="66" y="72"/>
                  <a:pt x="68" y="61"/>
                  <a:pt x="73" y="51"/>
                </a:cubicBezTo>
                <a:cubicBezTo>
                  <a:pt x="77" y="41"/>
                  <a:pt x="83" y="32"/>
                  <a:pt x="90" y="24"/>
                </a:cubicBezTo>
                <a:cubicBezTo>
                  <a:pt x="98" y="17"/>
                  <a:pt x="107" y="11"/>
                  <a:pt x="117" y="6"/>
                </a:cubicBezTo>
                <a:cubicBezTo>
                  <a:pt x="127" y="2"/>
                  <a:pt x="138" y="0"/>
                  <a:pt x="149" y="0"/>
                </a:cubicBezTo>
                <a:moveTo>
                  <a:pt x="530" y="0"/>
                </a:moveTo>
                <a:cubicBezTo>
                  <a:pt x="541" y="0"/>
                  <a:pt x="552" y="2"/>
                  <a:pt x="562" y="6"/>
                </a:cubicBezTo>
                <a:cubicBezTo>
                  <a:pt x="572" y="11"/>
                  <a:pt x="581" y="17"/>
                  <a:pt x="589" y="24"/>
                </a:cubicBezTo>
                <a:cubicBezTo>
                  <a:pt x="597" y="32"/>
                  <a:pt x="602" y="41"/>
                  <a:pt x="607" y="51"/>
                </a:cubicBezTo>
                <a:cubicBezTo>
                  <a:pt x="611" y="61"/>
                  <a:pt x="613" y="72"/>
                  <a:pt x="613" y="83"/>
                </a:cubicBezTo>
                <a:cubicBezTo>
                  <a:pt x="613" y="94"/>
                  <a:pt x="611" y="104"/>
                  <a:pt x="607" y="114"/>
                </a:cubicBezTo>
                <a:cubicBezTo>
                  <a:pt x="602" y="125"/>
                  <a:pt x="597" y="134"/>
                  <a:pt x="589" y="141"/>
                </a:cubicBezTo>
                <a:cubicBezTo>
                  <a:pt x="581" y="149"/>
                  <a:pt x="572" y="155"/>
                  <a:pt x="562" y="160"/>
                </a:cubicBezTo>
                <a:cubicBezTo>
                  <a:pt x="552" y="164"/>
                  <a:pt x="541" y="167"/>
                  <a:pt x="530" y="167"/>
                </a:cubicBezTo>
                <a:cubicBezTo>
                  <a:pt x="519" y="167"/>
                  <a:pt x="509" y="164"/>
                  <a:pt x="499" y="160"/>
                </a:cubicBezTo>
                <a:cubicBezTo>
                  <a:pt x="489" y="155"/>
                  <a:pt x="480" y="149"/>
                  <a:pt x="472" y="141"/>
                </a:cubicBezTo>
                <a:cubicBezTo>
                  <a:pt x="464" y="134"/>
                  <a:pt x="457" y="125"/>
                  <a:pt x="453" y="114"/>
                </a:cubicBezTo>
                <a:cubicBezTo>
                  <a:pt x="449" y="104"/>
                  <a:pt x="447" y="94"/>
                  <a:pt x="447" y="83"/>
                </a:cubicBezTo>
                <a:cubicBezTo>
                  <a:pt x="447" y="72"/>
                  <a:pt x="449" y="61"/>
                  <a:pt x="453" y="51"/>
                </a:cubicBezTo>
                <a:cubicBezTo>
                  <a:pt x="457" y="41"/>
                  <a:pt x="464" y="32"/>
                  <a:pt x="472" y="24"/>
                </a:cubicBezTo>
                <a:cubicBezTo>
                  <a:pt x="480" y="17"/>
                  <a:pt x="489" y="11"/>
                  <a:pt x="499" y="6"/>
                </a:cubicBezTo>
                <a:cubicBezTo>
                  <a:pt x="509" y="2"/>
                  <a:pt x="519" y="0"/>
                  <a:pt x="530" y="0"/>
                </a:cubicBezTo>
                <a:moveTo>
                  <a:pt x="0" y="310"/>
                </a:moveTo>
                <a:cubicBezTo>
                  <a:pt x="0" y="249"/>
                  <a:pt x="50" y="200"/>
                  <a:pt x="110" y="200"/>
                </a:cubicBezTo>
                <a:lnTo>
                  <a:pt x="155" y="200"/>
                </a:lnTo>
                <a:cubicBezTo>
                  <a:pt x="171" y="200"/>
                  <a:pt x="187" y="203"/>
                  <a:pt x="201" y="210"/>
                </a:cubicBezTo>
                <a:cubicBezTo>
                  <a:pt x="199" y="217"/>
                  <a:pt x="199" y="225"/>
                  <a:pt x="199" y="233"/>
                </a:cubicBezTo>
                <a:cubicBezTo>
                  <a:pt x="199" y="272"/>
                  <a:pt x="216" y="308"/>
                  <a:pt x="243" y="332"/>
                </a:cubicBezTo>
                <a:lnTo>
                  <a:pt x="22" y="332"/>
                </a:lnTo>
                <a:cubicBezTo>
                  <a:pt x="10" y="332"/>
                  <a:pt x="0" y="322"/>
                  <a:pt x="0" y="310"/>
                </a:cubicBezTo>
                <a:moveTo>
                  <a:pt x="419" y="332"/>
                </a:moveTo>
                <a:lnTo>
                  <a:pt x="418" y="332"/>
                </a:lnTo>
                <a:cubicBezTo>
                  <a:pt x="446" y="308"/>
                  <a:pt x="464" y="272"/>
                  <a:pt x="464" y="233"/>
                </a:cubicBezTo>
                <a:cubicBezTo>
                  <a:pt x="464" y="225"/>
                  <a:pt x="462" y="217"/>
                  <a:pt x="461" y="210"/>
                </a:cubicBezTo>
                <a:cubicBezTo>
                  <a:pt x="476" y="203"/>
                  <a:pt x="492" y="200"/>
                  <a:pt x="508" y="200"/>
                </a:cubicBezTo>
                <a:lnTo>
                  <a:pt x="552" y="200"/>
                </a:lnTo>
                <a:cubicBezTo>
                  <a:pt x="613" y="200"/>
                  <a:pt x="663" y="249"/>
                  <a:pt x="663" y="310"/>
                </a:cubicBezTo>
                <a:cubicBezTo>
                  <a:pt x="663" y="322"/>
                  <a:pt x="653" y="332"/>
                  <a:pt x="641" y="332"/>
                </a:cubicBezTo>
                <a:lnTo>
                  <a:pt x="419" y="332"/>
                </a:lnTo>
                <a:moveTo>
                  <a:pt x="232" y="233"/>
                </a:moveTo>
                <a:cubicBezTo>
                  <a:pt x="232" y="220"/>
                  <a:pt x="234" y="207"/>
                  <a:pt x="239" y="195"/>
                </a:cubicBezTo>
                <a:cubicBezTo>
                  <a:pt x="244" y="183"/>
                  <a:pt x="251" y="172"/>
                  <a:pt x="261" y="163"/>
                </a:cubicBezTo>
                <a:cubicBezTo>
                  <a:pt x="270" y="152"/>
                  <a:pt x="281" y="145"/>
                  <a:pt x="293" y="140"/>
                </a:cubicBezTo>
                <a:cubicBezTo>
                  <a:pt x="305" y="135"/>
                  <a:pt x="318" y="132"/>
                  <a:pt x="331" y="132"/>
                </a:cubicBezTo>
                <a:cubicBezTo>
                  <a:pt x="344" y="132"/>
                  <a:pt x="357" y="135"/>
                  <a:pt x="369" y="140"/>
                </a:cubicBezTo>
                <a:cubicBezTo>
                  <a:pt x="381" y="145"/>
                  <a:pt x="392" y="152"/>
                  <a:pt x="401" y="163"/>
                </a:cubicBezTo>
                <a:cubicBezTo>
                  <a:pt x="410" y="172"/>
                  <a:pt x="417" y="183"/>
                  <a:pt x="423" y="195"/>
                </a:cubicBezTo>
                <a:cubicBezTo>
                  <a:pt x="428" y="207"/>
                  <a:pt x="430" y="220"/>
                  <a:pt x="430" y="233"/>
                </a:cubicBezTo>
                <a:cubicBezTo>
                  <a:pt x="430" y="246"/>
                  <a:pt x="428" y="258"/>
                  <a:pt x="423" y="271"/>
                </a:cubicBezTo>
                <a:cubicBezTo>
                  <a:pt x="417" y="283"/>
                  <a:pt x="410" y="294"/>
                  <a:pt x="401" y="303"/>
                </a:cubicBezTo>
                <a:cubicBezTo>
                  <a:pt x="392" y="312"/>
                  <a:pt x="381" y="319"/>
                  <a:pt x="369" y="324"/>
                </a:cubicBezTo>
                <a:cubicBezTo>
                  <a:pt x="357" y="329"/>
                  <a:pt x="344" y="332"/>
                  <a:pt x="331" y="332"/>
                </a:cubicBezTo>
                <a:cubicBezTo>
                  <a:pt x="318" y="332"/>
                  <a:pt x="305" y="329"/>
                  <a:pt x="293" y="324"/>
                </a:cubicBezTo>
                <a:cubicBezTo>
                  <a:pt x="281" y="319"/>
                  <a:pt x="270" y="312"/>
                  <a:pt x="261" y="303"/>
                </a:cubicBezTo>
                <a:cubicBezTo>
                  <a:pt x="251" y="294"/>
                  <a:pt x="244" y="283"/>
                  <a:pt x="239" y="271"/>
                </a:cubicBezTo>
                <a:cubicBezTo>
                  <a:pt x="234" y="258"/>
                  <a:pt x="232" y="246"/>
                  <a:pt x="232" y="233"/>
                </a:cubicBezTo>
                <a:moveTo>
                  <a:pt x="132" y="503"/>
                </a:moveTo>
                <a:cubicBezTo>
                  <a:pt x="132" y="427"/>
                  <a:pt x="194" y="365"/>
                  <a:pt x="270" y="365"/>
                </a:cubicBezTo>
                <a:lnTo>
                  <a:pt x="392" y="365"/>
                </a:lnTo>
                <a:cubicBezTo>
                  <a:pt x="469" y="365"/>
                  <a:pt x="530" y="427"/>
                  <a:pt x="530" y="503"/>
                </a:cubicBezTo>
                <a:cubicBezTo>
                  <a:pt x="530" y="518"/>
                  <a:pt x="518" y="530"/>
                  <a:pt x="503" y="530"/>
                </a:cubicBezTo>
                <a:lnTo>
                  <a:pt x="160" y="530"/>
                </a:lnTo>
                <a:cubicBezTo>
                  <a:pt x="145" y="530"/>
                  <a:pt x="132" y="518"/>
                  <a:pt x="132" y="50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428760" y="251280"/>
            <a:ext cx="774936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Session 2: Building Blocks for a Reliable Future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428400" y="1371240"/>
            <a:ext cx="5591520" cy="1086480"/>
          </a:xfrm>
          <a:custGeom>
            <a:avLst/>
            <a:gdLst/>
            <a:ahLst/>
            <a:rect l="0" t="0" r="r" b="b"/>
            <a:pathLst>
              <a:path w="15532" h="3018">
                <a:moveTo>
                  <a:pt x="0" y="0"/>
                </a:moveTo>
                <a:lnTo>
                  <a:pt x="15532" y="0"/>
                </a:lnTo>
                <a:lnTo>
                  <a:pt x="15532" y="3018"/>
                </a:lnTo>
                <a:lnTo>
                  <a:pt x="0" y="30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428400" y="1371240"/>
            <a:ext cx="5591520" cy="10080"/>
          </a:xfrm>
          <a:custGeom>
            <a:avLst/>
            <a:gdLst/>
            <a:ahLst/>
            <a:rect l="0" t="0" r="r" b="b"/>
            <a:pathLst>
              <a:path w="15532" h="28">
                <a:moveTo>
                  <a:pt x="0" y="0"/>
                </a:moveTo>
                <a:lnTo>
                  <a:pt x="15532" y="0"/>
                </a:lnTo>
                <a:lnTo>
                  <a:pt x="155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428400" y="2447640"/>
            <a:ext cx="5591520" cy="10080"/>
          </a:xfrm>
          <a:custGeom>
            <a:avLst/>
            <a:gdLst/>
            <a:ahLst/>
            <a:rect l="0" t="0" r="r" b="b"/>
            <a:pathLst>
              <a:path w="15532" h="28">
                <a:moveTo>
                  <a:pt x="0" y="0"/>
                </a:moveTo>
                <a:lnTo>
                  <a:pt x="15532" y="0"/>
                </a:lnTo>
                <a:lnTo>
                  <a:pt x="155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6010200" y="1371240"/>
            <a:ext cx="9720" cy="1086480"/>
          </a:xfrm>
          <a:custGeom>
            <a:avLst/>
            <a:gdLst/>
            <a:ahLst/>
            <a:rect l="0" t="0" r="r" b="b"/>
            <a:pathLst>
              <a:path w="27" h="3018">
                <a:moveTo>
                  <a:pt x="0" y="0"/>
                </a:moveTo>
                <a:lnTo>
                  <a:pt x="27" y="0"/>
                </a:lnTo>
                <a:lnTo>
                  <a:pt x="27" y="3018"/>
                </a:lnTo>
                <a:lnTo>
                  <a:pt x="0" y="301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428400" y="1371240"/>
            <a:ext cx="38520" cy="1086480"/>
          </a:xfrm>
          <a:custGeom>
            <a:avLst/>
            <a:gdLst/>
            <a:ahLst/>
            <a:rect l="0" t="0" r="r" b="b"/>
            <a:pathLst>
              <a:path w="107" h="3018">
                <a:moveTo>
                  <a:pt x="0" y="0"/>
                </a:moveTo>
                <a:lnTo>
                  <a:pt x="0" y="3018"/>
                </a:lnTo>
                <a:lnTo>
                  <a:pt x="107" y="2991"/>
                </a:lnTo>
                <a:lnTo>
                  <a:pt x="107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52" name="" descr=""/>
          <p:cNvPicPr/>
          <p:nvPr/>
        </p:nvPicPr>
        <p:blipFill>
          <a:blip r:embed="rId1"/>
          <a:stretch/>
        </p:blipFill>
        <p:spPr>
          <a:xfrm>
            <a:off x="619200" y="1533600"/>
            <a:ext cx="74268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"/>
          <p:cNvSpPr txBox="1"/>
          <p:nvPr/>
        </p:nvSpPr>
        <p:spPr>
          <a:xfrm>
            <a:off x="781200" y="969120"/>
            <a:ext cx="33364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Four Perspectives on System Resilience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514880" y="1541880"/>
            <a:ext cx="838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Peter Chen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2424600" y="1573200"/>
            <a:ext cx="11991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University of Michigan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1514880" y="1800720"/>
            <a:ext cx="4021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Challenges in building large, trustworthy systems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bridging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6171840" y="1371240"/>
            <a:ext cx="5591880" cy="1086480"/>
          </a:xfrm>
          <a:custGeom>
            <a:avLst/>
            <a:gdLst/>
            <a:ahLst/>
            <a:rect l="0" t="0" r="r" b="b"/>
            <a:pathLst>
              <a:path w="15533" h="3018">
                <a:moveTo>
                  <a:pt x="0" y="0"/>
                </a:moveTo>
                <a:lnTo>
                  <a:pt x="15533" y="0"/>
                </a:lnTo>
                <a:lnTo>
                  <a:pt x="15533" y="3018"/>
                </a:lnTo>
                <a:lnTo>
                  <a:pt x="0" y="30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171840" y="1371240"/>
            <a:ext cx="5591880" cy="10080"/>
          </a:xfrm>
          <a:custGeom>
            <a:avLst/>
            <a:gdLst/>
            <a:ahLst/>
            <a:rect l="0" t="0" r="r" b="b"/>
            <a:pathLst>
              <a:path w="15533" h="28">
                <a:moveTo>
                  <a:pt x="0" y="0"/>
                </a:moveTo>
                <a:lnTo>
                  <a:pt x="15533" y="0"/>
                </a:lnTo>
                <a:lnTo>
                  <a:pt x="155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6171840" y="2447640"/>
            <a:ext cx="5591880" cy="10080"/>
          </a:xfrm>
          <a:custGeom>
            <a:avLst/>
            <a:gdLst/>
            <a:ahLst/>
            <a:rect l="0" t="0" r="r" b="b"/>
            <a:pathLst>
              <a:path w="15533" h="28">
                <a:moveTo>
                  <a:pt x="0" y="0"/>
                </a:moveTo>
                <a:lnTo>
                  <a:pt x="15533" y="0"/>
                </a:lnTo>
                <a:lnTo>
                  <a:pt x="155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1753640" y="1371240"/>
            <a:ext cx="10080" cy="1086480"/>
          </a:xfrm>
          <a:custGeom>
            <a:avLst/>
            <a:gdLst/>
            <a:ahLst/>
            <a:rect l="0" t="0" r="r" b="b"/>
            <a:pathLst>
              <a:path w="28" h="3018">
                <a:moveTo>
                  <a:pt x="0" y="0"/>
                </a:moveTo>
                <a:lnTo>
                  <a:pt x="28" y="0"/>
                </a:lnTo>
                <a:lnTo>
                  <a:pt x="28" y="3018"/>
                </a:lnTo>
                <a:lnTo>
                  <a:pt x="0" y="301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6171840" y="1371240"/>
            <a:ext cx="38520" cy="1086480"/>
          </a:xfrm>
          <a:custGeom>
            <a:avLst/>
            <a:gdLst/>
            <a:ahLst/>
            <a:rect l="0" t="0" r="r" b="b"/>
            <a:pathLst>
              <a:path w="107" h="3018">
                <a:moveTo>
                  <a:pt x="0" y="0"/>
                </a:moveTo>
                <a:lnTo>
                  <a:pt x="0" y="3018"/>
                </a:lnTo>
                <a:lnTo>
                  <a:pt x="107" y="2991"/>
                </a:lnTo>
                <a:lnTo>
                  <a:pt x="107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6362640" y="1533240"/>
            <a:ext cx="609840" cy="762480"/>
          </a:xfrm>
          <a:custGeom>
            <a:avLst/>
            <a:gdLst/>
            <a:ahLst/>
            <a:rect l="0" t="0" r="r" b="b"/>
            <a:pathLst>
              <a:path w="1694" h="2118">
                <a:moveTo>
                  <a:pt x="0" y="2012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6" y="0"/>
                </a:cubicBezTo>
                <a:lnTo>
                  <a:pt x="1588" y="0"/>
                </a:lnTo>
                <a:cubicBezTo>
                  <a:pt x="1602" y="0"/>
                  <a:pt x="1616" y="3"/>
                  <a:pt x="1629" y="8"/>
                </a:cubicBezTo>
                <a:cubicBezTo>
                  <a:pt x="1642" y="14"/>
                  <a:pt x="1653" y="21"/>
                  <a:pt x="1663" y="31"/>
                </a:cubicBezTo>
                <a:cubicBezTo>
                  <a:pt x="1673" y="41"/>
                  <a:pt x="1681" y="53"/>
                  <a:pt x="1686" y="66"/>
                </a:cubicBezTo>
                <a:cubicBezTo>
                  <a:pt x="1691" y="79"/>
                  <a:pt x="1694" y="92"/>
                  <a:pt x="1694" y="106"/>
                </a:cubicBezTo>
                <a:lnTo>
                  <a:pt x="1694" y="2012"/>
                </a:lnTo>
                <a:cubicBezTo>
                  <a:pt x="1694" y="2026"/>
                  <a:pt x="1691" y="2040"/>
                  <a:pt x="1686" y="2053"/>
                </a:cubicBezTo>
                <a:cubicBezTo>
                  <a:pt x="1681" y="2066"/>
                  <a:pt x="1673" y="2077"/>
                  <a:pt x="1663" y="2087"/>
                </a:cubicBezTo>
                <a:cubicBezTo>
                  <a:pt x="1653" y="2097"/>
                  <a:pt x="1642" y="2105"/>
                  <a:pt x="1629" y="2110"/>
                </a:cubicBezTo>
                <a:cubicBezTo>
                  <a:pt x="1616" y="2115"/>
                  <a:pt x="1602" y="2118"/>
                  <a:pt x="1588" y="2118"/>
                </a:cubicBezTo>
                <a:lnTo>
                  <a:pt x="106" y="2118"/>
                </a:lnTo>
                <a:cubicBezTo>
                  <a:pt x="91" y="2118"/>
                  <a:pt x="78" y="2115"/>
                  <a:pt x="65" y="2110"/>
                </a:cubicBezTo>
                <a:cubicBezTo>
                  <a:pt x="52" y="2105"/>
                  <a:pt x="41" y="2097"/>
                  <a:pt x="31" y="2087"/>
                </a:cubicBezTo>
                <a:cubicBezTo>
                  <a:pt x="21" y="2077"/>
                  <a:pt x="13" y="2066"/>
                  <a:pt x="8" y="2053"/>
                </a:cubicBezTo>
                <a:cubicBezTo>
                  <a:pt x="2" y="2040"/>
                  <a:pt x="0" y="2026"/>
                  <a:pt x="0" y="2012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6572160" y="1800000"/>
            <a:ext cx="200160" cy="229320"/>
          </a:xfrm>
          <a:custGeom>
            <a:avLst/>
            <a:gdLst/>
            <a:ahLst/>
            <a:rect l="0" t="0" r="r" b="b"/>
            <a:pathLst>
              <a:path w="556" h="637">
                <a:moveTo>
                  <a:pt x="278" y="319"/>
                </a:moveTo>
                <a:cubicBezTo>
                  <a:pt x="288" y="319"/>
                  <a:pt x="298" y="318"/>
                  <a:pt x="309" y="316"/>
                </a:cubicBezTo>
                <a:cubicBezTo>
                  <a:pt x="319" y="314"/>
                  <a:pt x="329" y="311"/>
                  <a:pt x="339" y="307"/>
                </a:cubicBezTo>
                <a:cubicBezTo>
                  <a:pt x="349" y="303"/>
                  <a:pt x="358" y="298"/>
                  <a:pt x="367" y="292"/>
                </a:cubicBezTo>
                <a:cubicBezTo>
                  <a:pt x="375" y="286"/>
                  <a:pt x="383" y="279"/>
                  <a:pt x="391" y="272"/>
                </a:cubicBezTo>
                <a:cubicBezTo>
                  <a:pt x="398" y="265"/>
                  <a:pt x="405" y="257"/>
                  <a:pt x="411" y="248"/>
                </a:cubicBezTo>
                <a:cubicBezTo>
                  <a:pt x="416" y="239"/>
                  <a:pt x="421" y="229"/>
                  <a:pt x="425" y="220"/>
                </a:cubicBezTo>
                <a:cubicBezTo>
                  <a:pt x="429" y="210"/>
                  <a:pt x="432" y="200"/>
                  <a:pt x="434" y="190"/>
                </a:cubicBezTo>
                <a:cubicBezTo>
                  <a:pt x="436" y="180"/>
                  <a:pt x="437" y="169"/>
                  <a:pt x="437" y="159"/>
                </a:cubicBezTo>
                <a:cubicBezTo>
                  <a:pt x="437" y="148"/>
                  <a:pt x="436" y="138"/>
                  <a:pt x="434" y="128"/>
                </a:cubicBezTo>
                <a:cubicBezTo>
                  <a:pt x="432" y="118"/>
                  <a:pt x="429" y="108"/>
                  <a:pt x="425" y="98"/>
                </a:cubicBezTo>
                <a:cubicBezTo>
                  <a:pt x="421" y="88"/>
                  <a:pt x="416" y="79"/>
                  <a:pt x="411" y="71"/>
                </a:cubicBezTo>
                <a:cubicBezTo>
                  <a:pt x="405" y="62"/>
                  <a:pt x="398" y="54"/>
                  <a:pt x="391" y="47"/>
                </a:cubicBezTo>
                <a:cubicBezTo>
                  <a:pt x="383" y="39"/>
                  <a:pt x="375" y="33"/>
                  <a:pt x="367" y="27"/>
                </a:cubicBezTo>
                <a:cubicBezTo>
                  <a:pt x="358" y="21"/>
                  <a:pt x="349" y="16"/>
                  <a:pt x="339" y="12"/>
                </a:cubicBezTo>
                <a:cubicBezTo>
                  <a:pt x="329" y="8"/>
                  <a:pt x="319" y="5"/>
                  <a:pt x="309" y="3"/>
                </a:cubicBezTo>
                <a:cubicBezTo>
                  <a:pt x="298" y="1"/>
                  <a:pt x="288" y="0"/>
                  <a:pt x="278" y="0"/>
                </a:cubicBezTo>
                <a:cubicBezTo>
                  <a:pt x="267" y="0"/>
                  <a:pt x="257" y="1"/>
                  <a:pt x="247" y="3"/>
                </a:cubicBezTo>
                <a:cubicBezTo>
                  <a:pt x="236" y="5"/>
                  <a:pt x="226" y="8"/>
                  <a:pt x="217" y="12"/>
                </a:cubicBezTo>
                <a:cubicBezTo>
                  <a:pt x="207" y="16"/>
                  <a:pt x="198" y="21"/>
                  <a:pt x="189" y="27"/>
                </a:cubicBezTo>
                <a:cubicBezTo>
                  <a:pt x="181" y="33"/>
                  <a:pt x="173" y="39"/>
                  <a:pt x="165" y="47"/>
                </a:cubicBezTo>
                <a:cubicBezTo>
                  <a:pt x="158" y="54"/>
                  <a:pt x="151" y="62"/>
                  <a:pt x="146" y="71"/>
                </a:cubicBezTo>
                <a:cubicBezTo>
                  <a:pt x="140" y="79"/>
                  <a:pt x="135" y="88"/>
                  <a:pt x="131" y="98"/>
                </a:cubicBezTo>
                <a:cubicBezTo>
                  <a:pt x="127" y="108"/>
                  <a:pt x="124" y="118"/>
                  <a:pt x="122" y="128"/>
                </a:cubicBezTo>
                <a:cubicBezTo>
                  <a:pt x="120" y="138"/>
                  <a:pt x="119" y="148"/>
                  <a:pt x="119" y="159"/>
                </a:cubicBezTo>
                <a:cubicBezTo>
                  <a:pt x="119" y="169"/>
                  <a:pt x="120" y="180"/>
                  <a:pt x="122" y="190"/>
                </a:cubicBezTo>
                <a:cubicBezTo>
                  <a:pt x="124" y="200"/>
                  <a:pt x="127" y="210"/>
                  <a:pt x="131" y="220"/>
                </a:cubicBezTo>
                <a:cubicBezTo>
                  <a:pt x="135" y="229"/>
                  <a:pt x="140" y="239"/>
                  <a:pt x="146" y="248"/>
                </a:cubicBezTo>
                <a:cubicBezTo>
                  <a:pt x="151" y="257"/>
                  <a:pt x="158" y="265"/>
                  <a:pt x="165" y="272"/>
                </a:cubicBezTo>
                <a:cubicBezTo>
                  <a:pt x="173" y="279"/>
                  <a:pt x="181" y="286"/>
                  <a:pt x="189" y="292"/>
                </a:cubicBezTo>
                <a:cubicBezTo>
                  <a:pt x="198" y="298"/>
                  <a:pt x="207" y="303"/>
                  <a:pt x="217" y="307"/>
                </a:cubicBezTo>
                <a:cubicBezTo>
                  <a:pt x="226" y="311"/>
                  <a:pt x="236" y="314"/>
                  <a:pt x="247" y="316"/>
                </a:cubicBezTo>
                <a:cubicBezTo>
                  <a:pt x="257" y="318"/>
                  <a:pt x="267" y="319"/>
                  <a:pt x="278" y="319"/>
                </a:cubicBezTo>
                <a:moveTo>
                  <a:pt x="221" y="378"/>
                </a:moveTo>
                <a:cubicBezTo>
                  <a:pt x="99" y="378"/>
                  <a:pt x="0" y="477"/>
                  <a:pt x="0" y="600"/>
                </a:cubicBezTo>
                <a:cubicBezTo>
                  <a:pt x="0" y="621"/>
                  <a:pt x="16" y="637"/>
                  <a:pt x="37" y="637"/>
                </a:cubicBezTo>
                <a:lnTo>
                  <a:pt x="520" y="637"/>
                </a:lnTo>
                <a:cubicBezTo>
                  <a:pt x="540" y="637"/>
                  <a:pt x="556" y="621"/>
                  <a:pt x="556" y="600"/>
                </a:cubicBezTo>
                <a:cubicBezTo>
                  <a:pt x="556" y="477"/>
                  <a:pt x="457" y="378"/>
                  <a:pt x="334" y="378"/>
                </a:cubicBezTo>
                <a:lnTo>
                  <a:pt x="221" y="378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1514880" y="1981440"/>
            <a:ext cx="3886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functionality and trustworthiness in modern complex systems.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7124760" y="1541880"/>
            <a:ext cx="779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Jeff Mogul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8032320" y="1573200"/>
            <a:ext cx="386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Google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7124760" y="1800720"/>
            <a:ext cx="4311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Reliability is harder than ever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complexity, hardware failures, and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428400" y="2609640"/>
            <a:ext cx="5591520" cy="1086120"/>
          </a:xfrm>
          <a:custGeom>
            <a:avLst/>
            <a:gdLst/>
            <a:ahLst/>
            <a:rect l="0" t="0" r="r" b="b"/>
            <a:pathLst>
              <a:path w="15532" h="3017">
                <a:moveTo>
                  <a:pt x="0" y="0"/>
                </a:moveTo>
                <a:lnTo>
                  <a:pt x="15532" y="0"/>
                </a:lnTo>
                <a:lnTo>
                  <a:pt x="15532" y="3017"/>
                </a:lnTo>
                <a:lnTo>
                  <a:pt x="0" y="3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428400" y="2609640"/>
            <a:ext cx="5591520" cy="10080"/>
          </a:xfrm>
          <a:custGeom>
            <a:avLst/>
            <a:gdLst/>
            <a:ahLst/>
            <a:rect l="0" t="0" r="r" b="b"/>
            <a:pathLst>
              <a:path w="15532" h="28">
                <a:moveTo>
                  <a:pt x="0" y="0"/>
                </a:moveTo>
                <a:lnTo>
                  <a:pt x="15532" y="0"/>
                </a:lnTo>
                <a:lnTo>
                  <a:pt x="155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428400" y="3686040"/>
            <a:ext cx="5591520" cy="9720"/>
          </a:xfrm>
          <a:custGeom>
            <a:avLst/>
            <a:gdLst/>
            <a:ahLst/>
            <a:rect l="0" t="0" r="r" b="b"/>
            <a:pathLst>
              <a:path w="15532" h="27">
                <a:moveTo>
                  <a:pt x="0" y="0"/>
                </a:moveTo>
                <a:lnTo>
                  <a:pt x="15532" y="0"/>
                </a:lnTo>
                <a:lnTo>
                  <a:pt x="155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6010200" y="2609640"/>
            <a:ext cx="9720" cy="1086120"/>
          </a:xfrm>
          <a:custGeom>
            <a:avLst/>
            <a:gdLst/>
            <a:ahLst/>
            <a:rect l="0" t="0" r="r" b="b"/>
            <a:pathLst>
              <a:path w="27" h="3017">
                <a:moveTo>
                  <a:pt x="0" y="0"/>
                </a:moveTo>
                <a:lnTo>
                  <a:pt x="27" y="0"/>
                </a:lnTo>
                <a:lnTo>
                  <a:pt x="27" y="3017"/>
                </a:lnTo>
                <a:lnTo>
                  <a:pt x="0" y="301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428400" y="2609640"/>
            <a:ext cx="38520" cy="1086120"/>
          </a:xfrm>
          <a:custGeom>
            <a:avLst/>
            <a:gdLst/>
            <a:ahLst/>
            <a:rect l="0" t="0" r="r" b="b"/>
            <a:pathLst>
              <a:path w="107" h="3017">
                <a:moveTo>
                  <a:pt x="0" y="0"/>
                </a:moveTo>
                <a:lnTo>
                  <a:pt x="0" y="3017"/>
                </a:lnTo>
                <a:lnTo>
                  <a:pt x="107" y="2991"/>
                </a:lnTo>
                <a:lnTo>
                  <a:pt x="107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73" name="" descr=""/>
          <p:cNvPicPr/>
          <p:nvPr/>
        </p:nvPicPr>
        <p:blipFill>
          <a:blip r:embed="rId2"/>
          <a:stretch/>
        </p:blipFill>
        <p:spPr>
          <a:xfrm>
            <a:off x="619200" y="2771640"/>
            <a:ext cx="57096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"/>
          <p:cNvSpPr txBox="1"/>
          <p:nvPr/>
        </p:nvSpPr>
        <p:spPr>
          <a:xfrm>
            <a:off x="7124760" y="1981440"/>
            <a:ext cx="2418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ML risks threaten decades of progress.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343160" y="2780280"/>
            <a:ext cx="1054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Lorenzo Alvisi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2490840" y="2811600"/>
            <a:ext cx="950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Cornell University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1343160" y="3038760"/>
            <a:ext cx="4046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Metastable Fault Tolerance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steering systems away from self-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6171840" y="2609640"/>
            <a:ext cx="5591880" cy="1086120"/>
          </a:xfrm>
          <a:custGeom>
            <a:avLst/>
            <a:gdLst/>
            <a:ahLst/>
            <a:rect l="0" t="0" r="r" b="b"/>
            <a:pathLst>
              <a:path w="15533" h="3017">
                <a:moveTo>
                  <a:pt x="0" y="0"/>
                </a:moveTo>
                <a:lnTo>
                  <a:pt x="15533" y="0"/>
                </a:lnTo>
                <a:lnTo>
                  <a:pt x="15533" y="3017"/>
                </a:lnTo>
                <a:lnTo>
                  <a:pt x="0" y="3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6171840" y="2609640"/>
            <a:ext cx="5591880" cy="10080"/>
          </a:xfrm>
          <a:custGeom>
            <a:avLst/>
            <a:gdLst/>
            <a:ahLst/>
            <a:rect l="0" t="0" r="r" b="b"/>
            <a:pathLst>
              <a:path w="15533" h="28">
                <a:moveTo>
                  <a:pt x="0" y="0"/>
                </a:moveTo>
                <a:lnTo>
                  <a:pt x="15533" y="0"/>
                </a:lnTo>
                <a:lnTo>
                  <a:pt x="155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6171840" y="3686040"/>
            <a:ext cx="5591880" cy="9720"/>
          </a:xfrm>
          <a:custGeom>
            <a:avLst/>
            <a:gdLst/>
            <a:ahLst/>
            <a:rect l="0" t="0" r="r" b="b"/>
            <a:pathLst>
              <a:path w="15533" h="27">
                <a:moveTo>
                  <a:pt x="0" y="0"/>
                </a:moveTo>
                <a:lnTo>
                  <a:pt x="15533" y="0"/>
                </a:lnTo>
                <a:lnTo>
                  <a:pt x="155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11753640" y="2609640"/>
            <a:ext cx="10080" cy="1086120"/>
          </a:xfrm>
          <a:custGeom>
            <a:avLst/>
            <a:gdLst/>
            <a:ahLst/>
            <a:rect l="0" t="0" r="r" b="b"/>
            <a:pathLst>
              <a:path w="28" h="3017">
                <a:moveTo>
                  <a:pt x="0" y="0"/>
                </a:moveTo>
                <a:lnTo>
                  <a:pt x="28" y="0"/>
                </a:lnTo>
                <a:lnTo>
                  <a:pt x="28" y="3017"/>
                </a:lnTo>
                <a:lnTo>
                  <a:pt x="0" y="301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6171840" y="2609640"/>
            <a:ext cx="38520" cy="1086120"/>
          </a:xfrm>
          <a:custGeom>
            <a:avLst/>
            <a:gdLst/>
            <a:ahLst/>
            <a:rect l="0" t="0" r="r" b="b"/>
            <a:pathLst>
              <a:path w="107" h="3017">
                <a:moveTo>
                  <a:pt x="0" y="0"/>
                </a:moveTo>
                <a:lnTo>
                  <a:pt x="0" y="3017"/>
                </a:lnTo>
                <a:lnTo>
                  <a:pt x="107" y="2991"/>
                </a:lnTo>
                <a:lnTo>
                  <a:pt x="107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83" name="" descr=""/>
          <p:cNvPicPr/>
          <p:nvPr/>
        </p:nvPicPr>
        <p:blipFill>
          <a:blip r:embed="rId3"/>
          <a:stretch/>
        </p:blipFill>
        <p:spPr>
          <a:xfrm>
            <a:off x="6362640" y="2771640"/>
            <a:ext cx="7808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"/>
          <p:cNvSpPr txBox="1"/>
          <p:nvPr/>
        </p:nvSpPr>
        <p:spPr>
          <a:xfrm>
            <a:off x="1343160" y="3219840"/>
            <a:ext cx="2914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sustaining failures through scheduling control.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291440" y="2780280"/>
            <a:ext cx="1199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Frans Kaashoek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8559720" y="2811600"/>
            <a:ext cx="206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MIT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7291440" y="3038760"/>
            <a:ext cx="4168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Gradual verification</a:t>
            </a: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for real-world distributed systems — the etcd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428400" y="3952800"/>
            <a:ext cx="171720" cy="133560"/>
          </a:xfrm>
          <a:custGeom>
            <a:avLst/>
            <a:gdLst/>
            <a:ahLst/>
            <a:rect l="0" t="0" r="r" b="b"/>
            <a:pathLst>
              <a:path w="477" h="371">
                <a:moveTo>
                  <a:pt x="0" y="39"/>
                </a:moveTo>
                <a:cubicBezTo>
                  <a:pt x="0" y="17"/>
                  <a:pt x="18" y="0"/>
                  <a:pt x="40" y="0"/>
                </a:cubicBezTo>
                <a:lnTo>
                  <a:pt x="119" y="0"/>
                </a:lnTo>
                <a:cubicBezTo>
                  <a:pt x="141" y="0"/>
                  <a:pt x="159" y="17"/>
                  <a:pt x="159" y="39"/>
                </a:cubicBezTo>
                <a:lnTo>
                  <a:pt x="159" y="53"/>
                </a:lnTo>
                <a:lnTo>
                  <a:pt x="318" y="53"/>
                </a:lnTo>
                <a:lnTo>
                  <a:pt x="318" y="39"/>
                </a:lnTo>
                <a:cubicBezTo>
                  <a:pt x="318" y="17"/>
                  <a:pt x="335" y="0"/>
                  <a:pt x="357" y="0"/>
                </a:cubicBezTo>
                <a:lnTo>
                  <a:pt x="437" y="0"/>
                </a:lnTo>
                <a:cubicBezTo>
                  <a:pt x="459" y="0"/>
                  <a:pt x="477" y="17"/>
                  <a:pt x="477" y="39"/>
                </a:cubicBezTo>
                <a:lnTo>
                  <a:pt x="477" y="119"/>
                </a:lnTo>
                <a:cubicBezTo>
                  <a:pt x="477" y="141"/>
                  <a:pt x="459" y="158"/>
                  <a:pt x="437" y="158"/>
                </a:cubicBezTo>
                <a:lnTo>
                  <a:pt x="357" y="158"/>
                </a:lnTo>
                <a:cubicBezTo>
                  <a:pt x="335" y="158"/>
                  <a:pt x="318" y="141"/>
                  <a:pt x="318" y="119"/>
                </a:cubicBezTo>
                <a:lnTo>
                  <a:pt x="318" y="106"/>
                </a:lnTo>
                <a:lnTo>
                  <a:pt x="159" y="106"/>
                </a:lnTo>
                <a:lnTo>
                  <a:pt x="159" y="119"/>
                </a:lnTo>
                <a:cubicBezTo>
                  <a:pt x="159" y="120"/>
                  <a:pt x="159" y="122"/>
                  <a:pt x="159" y="123"/>
                </a:cubicBezTo>
                <a:lnTo>
                  <a:pt x="225" y="211"/>
                </a:lnTo>
                <a:lnTo>
                  <a:pt x="304" y="211"/>
                </a:lnTo>
                <a:cubicBezTo>
                  <a:pt x="326" y="211"/>
                  <a:pt x="344" y="229"/>
                  <a:pt x="344" y="251"/>
                </a:cubicBezTo>
                <a:lnTo>
                  <a:pt x="344" y="331"/>
                </a:lnTo>
                <a:cubicBezTo>
                  <a:pt x="344" y="353"/>
                  <a:pt x="326" y="371"/>
                  <a:pt x="304" y="371"/>
                </a:cubicBezTo>
                <a:lnTo>
                  <a:pt x="225" y="371"/>
                </a:lnTo>
                <a:cubicBezTo>
                  <a:pt x="203" y="371"/>
                  <a:pt x="185" y="353"/>
                  <a:pt x="185" y="331"/>
                </a:cubicBezTo>
                <a:lnTo>
                  <a:pt x="185" y="251"/>
                </a:lnTo>
                <a:cubicBezTo>
                  <a:pt x="185" y="250"/>
                  <a:pt x="185" y="248"/>
                  <a:pt x="186" y="247"/>
                </a:cubicBezTo>
                <a:lnTo>
                  <a:pt x="119" y="158"/>
                </a:lnTo>
                <a:lnTo>
                  <a:pt x="40" y="158"/>
                </a:lnTo>
                <a:cubicBezTo>
                  <a:pt x="18" y="158"/>
                  <a:pt x="0" y="141"/>
                  <a:pt x="0" y="119"/>
                </a:cubicBezTo>
                <a:lnTo>
                  <a:pt x="0" y="39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7291440" y="3219840"/>
            <a:ext cx="689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case study.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433080" y="4195440"/>
            <a:ext cx="5343840" cy="1953000"/>
          </a:xfrm>
          <a:custGeom>
            <a:avLst/>
            <a:gdLst/>
            <a:ahLst/>
            <a:rect l="0" t="0" r="r" b="b"/>
            <a:pathLst>
              <a:path w="14844" h="5425">
                <a:moveTo>
                  <a:pt x="0" y="5333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lnTo>
                  <a:pt x="14752" y="0"/>
                </a:lnTo>
                <a:cubicBezTo>
                  <a:pt x="14764" y="0"/>
                  <a:pt x="14776" y="3"/>
                  <a:pt x="14787" y="7"/>
                </a:cubicBezTo>
                <a:cubicBezTo>
                  <a:pt x="14799" y="12"/>
                  <a:pt x="14809" y="19"/>
                  <a:pt x="14817" y="28"/>
                </a:cubicBezTo>
                <a:cubicBezTo>
                  <a:pt x="14826" y="36"/>
                  <a:pt x="14833" y="46"/>
                  <a:pt x="14837" y="58"/>
                </a:cubicBezTo>
                <a:cubicBezTo>
                  <a:pt x="14842" y="69"/>
                  <a:pt x="14844" y="81"/>
                  <a:pt x="14844" y="93"/>
                </a:cubicBezTo>
                <a:lnTo>
                  <a:pt x="14844" y="5333"/>
                </a:lnTo>
                <a:cubicBezTo>
                  <a:pt x="14844" y="5345"/>
                  <a:pt x="14842" y="5357"/>
                  <a:pt x="14837" y="5368"/>
                </a:cubicBezTo>
                <a:cubicBezTo>
                  <a:pt x="14833" y="5380"/>
                  <a:pt x="14826" y="5390"/>
                  <a:pt x="14817" y="5398"/>
                </a:cubicBezTo>
                <a:cubicBezTo>
                  <a:pt x="14809" y="5407"/>
                  <a:pt x="14799" y="5414"/>
                  <a:pt x="14787" y="5418"/>
                </a:cubicBezTo>
                <a:cubicBezTo>
                  <a:pt x="14776" y="5423"/>
                  <a:pt x="14764" y="5425"/>
                  <a:pt x="14752" y="5425"/>
                </a:cubicBezTo>
                <a:lnTo>
                  <a:pt x="93" y="5425"/>
                </a:lnTo>
                <a:cubicBezTo>
                  <a:pt x="81" y="5425"/>
                  <a:pt x="69" y="5423"/>
                  <a:pt x="58" y="5418"/>
                </a:cubicBezTo>
                <a:cubicBezTo>
                  <a:pt x="46" y="5414"/>
                  <a:pt x="36" y="5407"/>
                  <a:pt x="27" y="5398"/>
                </a:cubicBezTo>
                <a:cubicBezTo>
                  <a:pt x="19" y="5390"/>
                  <a:pt x="12" y="5380"/>
                  <a:pt x="7" y="5368"/>
                </a:cubicBezTo>
                <a:cubicBezTo>
                  <a:pt x="3" y="5357"/>
                  <a:pt x="0" y="5345"/>
                  <a:pt x="0" y="53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433080" y="4195440"/>
            <a:ext cx="5343840" cy="1953000"/>
          </a:xfrm>
          <a:custGeom>
            <a:avLst/>
            <a:gdLst/>
            <a:ahLst/>
            <a:rect l="0" t="0" r="r" b="b"/>
            <a:pathLst>
              <a:path fill="none" w="14844" h="5425">
                <a:moveTo>
                  <a:pt x="0" y="5333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lnTo>
                  <a:pt x="14752" y="0"/>
                </a:lnTo>
                <a:cubicBezTo>
                  <a:pt x="14764" y="0"/>
                  <a:pt x="14776" y="3"/>
                  <a:pt x="14787" y="7"/>
                </a:cubicBezTo>
                <a:cubicBezTo>
                  <a:pt x="14799" y="12"/>
                  <a:pt x="14809" y="19"/>
                  <a:pt x="14817" y="28"/>
                </a:cubicBezTo>
                <a:cubicBezTo>
                  <a:pt x="14826" y="36"/>
                  <a:pt x="14833" y="46"/>
                  <a:pt x="14837" y="58"/>
                </a:cubicBezTo>
                <a:cubicBezTo>
                  <a:pt x="14842" y="69"/>
                  <a:pt x="14844" y="81"/>
                  <a:pt x="14844" y="93"/>
                </a:cubicBezTo>
                <a:lnTo>
                  <a:pt x="14844" y="5333"/>
                </a:lnTo>
                <a:cubicBezTo>
                  <a:pt x="14844" y="5345"/>
                  <a:pt x="14842" y="5357"/>
                  <a:pt x="14837" y="5368"/>
                </a:cubicBezTo>
                <a:cubicBezTo>
                  <a:pt x="14833" y="5380"/>
                  <a:pt x="14826" y="5390"/>
                  <a:pt x="14817" y="5398"/>
                </a:cubicBezTo>
                <a:cubicBezTo>
                  <a:pt x="14809" y="5407"/>
                  <a:pt x="14799" y="5414"/>
                  <a:pt x="14787" y="5418"/>
                </a:cubicBezTo>
                <a:cubicBezTo>
                  <a:pt x="14776" y="5423"/>
                  <a:pt x="14764" y="5425"/>
                  <a:pt x="14752" y="5425"/>
                </a:cubicBezTo>
                <a:lnTo>
                  <a:pt x="93" y="5425"/>
                </a:lnTo>
                <a:cubicBezTo>
                  <a:pt x="81" y="5425"/>
                  <a:pt x="69" y="5423"/>
                  <a:pt x="58" y="5418"/>
                </a:cubicBezTo>
                <a:cubicBezTo>
                  <a:pt x="46" y="5414"/>
                  <a:pt x="36" y="5407"/>
                  <a:pt x="27" y="5398"/>
                </a:cubicBezTo>
                <a:cubicBezTo>
                  <a:pt x="19" y="5390"/>
                  <a:pt x="12" y="5380"/>
                  <a:pt x="7" y="5368"/>
                </a:cubicBezTo>
                <a:cubicBezTo>
                  <a:pt x="3" y="5357"/>
                  <a:pt x="0" y="5345"/>
                  <a:pt x="0" y="5333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2" name="" descr=""/>
          <p:cNvPicPr/>
          <p:nvPr/>
        </p:nvPicPr>
        <p:blipFill>
          <a:blip r:embed="rId4"/>
          <a:stretch/>
        </p:blipFill>
        <p:spPr>
          <a:xfrm>
            <a:off x="1924200" y="4486320"/>
            <a:ext cx="236196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"/>
          <p:cNvSpPr txBox="1"/>
          <p:nvPr/>
        </p:nvSpPr>
        <p:spPr>
          <a:xfrm>
            <a:off x="676440" y="3924720"/>
            <a:ext cx="1685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Metastable Failure States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6014880" y="3929040"/>
            <a:ext cx="5743800" cy="2448000"/>
          </a:xfrm>
          <a:custGeom>
            <a:avLst/>
            <a:gdLst/>
            <a:ahLst/>
            <a:rect l="0" t="0" r="r" b="b"/>
            <a:pathLst>
              <a:path w="15955" h="6800">
                <a:moveTo>
                  <a:pt x="0" y="670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3" y="0"/>
                </a:cubicBezTo>
                <a:lnTo>
                  <a:pt x="15863" y="0"/>
                </a:lnTo>
                <a:cubicBezTo>
                  <a:pt x="15875" y="0"/>
                  <a:pt x="15887" y="2"/>
                  <a:pt x="15898" y="7"/>
                </a:cubicBezTo>
                <a:cubicBezTo>
                  <a:pt x="15909" y="11"/>
                  <a:pt x="15920" y="18"/>
                  <a:pt x="15928" y="27"/>
                </a:cubicBezTo>
                <a:cubicBezTo>
                  <a:pt x="15937" y="35"/>
                  <a:pt x="15944" y="45"/>
                  <a:pt x="15948" y="57"/>
                </a:cubicBezTo>
                <a:cubicBezTo>
                  <a:pt x="15953" y="68"/>
                  <a:pt x="15955" y="80"/>
                  <a:pt x="15955" y="92"/>
                </a:cubicBezTo>
                <a:lnTo>
                  <a:pt x="15955" y="6708"/>
                </a:lnTo>
                <a:cubicBezTo>
                  <a:pt x="15955" y="6720"/>
                  <a:pt x="15953" y="6732"/>
                  <a:pt x="15948" y="6743"/>
                </a:cubicBezTo>
                <a:cubicBezTo>
                  <a:pt x="15944" y="6755"/>
                  <a:pt x="15937" y="6765"/>
                  <a:pt x="15928" y="6773"/>
                </a:cubicBezTo>
                <a:cubicBezTo>
                  <a:pt x="15920" y="6782"/>
                  <a:pt x="15909" y="6789"/>
                  <a:pt x="15898" y="6793"/>
                </a:cubicBezTo>
                <a:cubicBezTo>
                  <a:pt x="15887" y="6798"/>
                  <a:pt x="15875" y="6800"/>
                  <a:pt x="15863" y="6800"/>
                </a:cubicBezTo>
                <a:lnTo>
                  <a:pt x="93" y="6800"/>
                </a:lnTo>
                <a:cubicBezTo>
                  <a:pt x="80" y="6800"/>
                  <a:pt x="68" y="6798"/>
                  <a:pt x="57" y="6793"/>
                </a:cubicBezTo>
                <a:cubicBezTo>
                  <a:pt x="46" y="6789"/>
                  <a:pt x="36" y="6782"/>
                  <a:pt x="27" y="6773"/>
                </a:cubicBezTo>
                <a:cubicBezTo>
                  <a:pt x="18" y="6765"/>
                  <a:pt x="12" y="6755"/>
                  <a:pt x="7" y="6743"/>
                </a:cubicBezTo>
                <a:cubicBezTo>
                  <a:pt x="2" y="6732"/>
                  <a:pt x="0" y="6720"/>
                  <a:pt x="0" y="670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6014880" y="3929040"/>
            <a:ext cx="5743800" cy="2448000"/>
          </a:xfrm>
          <a:custGeom>
            <a:avLst/>
            <a:gdLst/>
            <a:ahLst/>
            <a:rect l="0" t="0" r="r" b="b"/>
            <a:pathLst>
              <a:path fill="none" w="15955" h="6800">
                <a:moveTo>
                  <a:pt x="0" y="670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3" y="0"/>
                </a:cubicBezTo>
                <a:lnTo>
                  <a:pt x="15863" y="0"/>
                </a:lnTo>
                <a:cubicBezTo>
                  <a:pt x="15875" y="0"/>
                  <a:pt x="15887" y="2"/>
                  <a:pt x="15898" y="7"/>
                </a:cubicBezTo>
                <a:cubicBezTo>
                  <a:pt x="15909" y="11"/>
                  <a:pt x="15920" y="18"/>
                  <a:pt x="15928" y="27"/>
                </a:cubicBezTo>
                <a:cubicBezTo>
                  <a:pt x="15937" y="35"/>
                  <a:pt x="15944" y="45"/>
                  <a:pt x="15948" y="57"/>
                </a:cubicBezTo>
                <a:cubicBezTo>
                  <a:pt x="15953" y="68"/>
                  <a:pt x="15955" y="80"/>
                  <a:pt x="15955" y="92"/>
                </a:cubicBezTo>
                <a:lnTo>
                  <a:pt x="15955" y="6708"/>
                </a:lnTo>
                <a:cubicBezTo>
                  <a:pt x="15955" y="6720"/>
                  <a:pt x="15953" y="6732"/>
                  <a:pt x="15948" y="6743"/>
                </a:cubicBezTo>
                <a:cubicBezTo>
                  <a:pt x="15944" y="6755"/>
                  <a:pt x="15937" y="6765"/>
                  <a:pt x="15928" y="6773"/>
                </a:cubicBezTo>
                <a:cubicBezTo>
                  <a:pt x="15920" y="6782"/>
                  <a:pt x="15909" y="6789"/>
                  <a:pt x="15898" y="6793"/>
                </a:cubicBezTo>
                <a:cubicBezTo>
                  <a:pt x="15887" y="6798"/>
                  <a:pt x="15875" y="6800"/>
                  <a:pt x="15863" y="6800"/>
                </a:cubicBezTo>
                <a:lnTo>
                  <a:pt x="93" y="6800"/>
                </a:lnTo>
                <a:cubicBezTo>
                  <a:pt x="80" y="6800"/>
                  <a:pt x="68" y="6798"/>
                  <a:pt x="57" y="6793"/>
                </a:cubicBezTo>
                <a:cubicBezTo>
                  <a:pt x="46" y="6789"/>
                  <a:pt x="36" y="6782"/>
                  <a:pt x="27" y="6773"/>
                </a:cubicBezTo>
                <a:cubicBezTo>
                  <a:pt x="18" y="6765"/>
                  <a:pt x="12" y="6755"/>
                  <a:pt x="7" y="6743"/>
                </a:cubicBezTo>
                <a:cubicBezTo>
                  <a:pt x="2" y="6732"/>
                  <a:pt x="0" y="6720"/>
                  <a:pt x="0" y="6708"/>
                </a:cubicBezTo>
              </a:path>
            </a:pathLst>
          </a:custGeom>
          <a:ln w="9360">
            <a:solidFill>
              <a:srgbClr val="bfdb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6210000" y="4171680"/>
            <a:ext cx="172080" cy="171720"/>
          </a:xfrm>
          <a:custGeom>
            <a:avLst/>
            <a:gdLst/>
            <a:ahLst/>
            <a:rect l="0" t="0" r="r" b="b"/>
            <a:pathLst>
              <a:path w="478" h="477">
                <a:moveTo>
                  <a:pt x="418" y="239"/>
                </a:moveTo>
                <a:cubicBezTo>
                  <a:pt x="418" y="228"/>
                  <a:pt x="417" y="216"/>
                  <a:pt x="415" y="205"/>
                </a:cubicBezTo>
                <a:cubicBezTo>
                  <a:pt x="412" y="193"/>
                  <a:pt x="409" y="182"/>
                  <a:pt x="404" y="171"/>
                </a:cubicBezTo>
                <a:cubicBezTo>
                  <a:pt x="400" y="160"/>
                  <a:pt x="394" y="150"/>
                  <a:pt x="388" y="140"/>
                </a:cubicBezTo>
                <a:cubicBezTo>
                  <a:pt x="381" y="130"/>
                  <a:pt x="374" y="121"/>
                  <a:pt x="366" y="113"/>
                </a:cubicBezTo>
                <a:cubicBezTo>
                  <a:pt x="357" y="105"/>
                  <a:pt x="348" y="97"/>
                  <a:pt x="339" y="91"/>
                </a:cubicBezTo>
                <a:cubicBezTo>
                  <a:pt x="329" y="84"/>
                  <a:pt x="319" y="79"/>
                  <a:pt x="308" y="73"/>
                </a:cubicBezTo>
                <a:cubicBezTo>
                  <a:pt x="297" y="69"/>
                  <a:pt x="286" y="66"/>
                  <a:pt x="274" y="63"/>
                </a:cubicBezTo>
                <a:cubicBezTo>
                  <a:pt x="263" y="61"/>
                  <a:pt x="251" y="60"/>
                  <a:pt x="239" y="60"/>
                </a:cubicBezTo>
                <a:cubicBezTo>
                  <a:pt x="228" y="60"/>
                  <a:pt x="216" y="61"/>
                  <a:pt x="205" y="63"/>
                </a:cubicBezTo>
                <a:cubicBezTo>
                  <a:pt x="193" y="66"/>
                  <a:pt x="182" y="69"/>
                  <a:pt x="171" y="73"/>
                </a:cubicBezTo>
                <a:cubicBezTo>
                  <a:pt x="160" y="79"/>
                  <a:pt x="150" y="84"/>
                  <a:pt x="140" y="91"/>
                </a:cubicBezTo>
                <a:cubicBezTo>
                  <a:pt x="130" y="97"/>
                  <a:pt x="120" y="105"/>
                  <a:pt x="112" y="113"/>
                </a:cubicBezTo>
                <a:cubicBezTo>
                  <a:pt x="104" y="121"/>
                  <a:pt x="96" y="130"/>
                  <a:pt x="90" y="140"/>
                </a:cubicBezTo>
                <a:cubicBezTo>
                  <a:pt x="83" y="150"/>
                  <a:pt x="78" y="160"/>
                  <a:pt x="73" y="171"/>
                </a:cubicBezTo>
                <a:cubicBezTo>
                  <a:pt x="69" y="182"/>
                  <a:pt x="66" y="193"/>
                  <a:pt x="63" y="205"/>
                </a:cubicBezTo>
                <a:cubicBezTo>
                  <a:pt x="61" y="216"/>
                  <a:pt x="60" y="228"/>
                  <a:pt x="60" y="239"/>
                </a:cubicBezTo>
                <a:cubicBezTo>
                  <a:pt x="60" y="251"/>
                  <a:pt x="61" y="263"/>
                  <a:pt x="63" y="274"/>
                </a:cubicBezTo>
                <a:cubicBezTo>
                  <a:pt x="66" y="286"/>
                  <a:pt x="69" y="297"/>
                  <a:pt x="73" y="308"/>
                </a:cubicBezTo>
                <a:cubicBezTo>
                  <a:pt x="78" y="319"/>
                  <a:pt x="83" y="329"/>
                  <a:pt x="90" y="339"/>
                </a:cubicBezTo>
                <a:cubicBezTo>
                  <a:pt x="96" y="348"/>
                  <a:pt x="104" y="357"/>
                  <a:pt x="112" y="366"/>
                </a:cubicBezTo>
                <a:cubicBezTo>
                  <a:pt x="120" y="374"/>
                  <a:pt x="130" y="381"/>
                  <a:pt x="140" y="388"/>
                </a:cubicBezTo>
                <a:cubicBezTo>
                  <a:pt x="150" y="394"/>
                  <a:pt x="160" y="400"/>
                  <a:pt x="171" y="404"/>
                </a:cubicBezTo>
                <a:cubicBezTo>
                  <a:pt x="182" y="409"/>
                  <a:pt x="193" y="412"/>
                  <a:pt x="205" y="415"/>
                </a:cubicBezTo>
                <a:cubicBezTo>
                  <a:pt x="216" y="417"/>
                  <a:pt x="228" y="418"/>
                  <a:pt x="239" y="418"/>
                </a:cubicBezTo>
                <a:cubicBezTo>
                  <a:pt x="251" y="418"/>
                  <a:pt x="263" y="417"/>
                  <a:pt x="274" y="415"/>
                </a:cubicBezTo>
                <a:cubicBezTo>
                  <a:pt x="286" y="412"/>
                  <a:pt x="297" y="409"/>
                  <a:pt x="308" y="404"/>
                </a:cubicBezTo>
                <a:cubicBezTo>
                  <a:pt x="319" y="400"/>
                  <a:pt x="329" y="394"/>
                  <a:pt x="339" y="388"/>
                </a:cubicBezTo>
                <a:cubicBezTo>
                  <a:pt x="348" y="381"/>
                  <a:pt x="357" y="374"/>
                  <a:pt x="366" y="366"/>
                </a:cubicBezTo>
                <a:cubicBezTo>
                  <a:pt x="374" y="357"/>
                  <a:pt x="381" y="348"/>
                  <a:pt x="388" y="339"/>
                </a:cubicBezTo>
                <a:cubicBezTo>
                  <a:pt x="394" y="329"/>
                  <a:pt x="400" y="319"/>
                  <a:pt x="404" y="308"/>
                </a:cubicBezTo>
                <a:cubicBezTo>
                  <a:pt x="409" y="297"/>
                  <a:pt x="412" y="286"/>
                  <a:pt x="415" y="274"/>
                </a:cubicBezTo>
                <a:cubicBezTo>
                  <a:pt x="417" y="263"/>
                  <a:pt x="418" y="251"/>
                  <a:pt x="418" y="239"/>
                </a:cubicBezTo>
                <a:moveTo>
                  <a:pt x="0" y="239"/>
                </a:moveTo>
                <a:cubicBezTo>
                  <a:pt x="0" y="224"/>
                  <a:pt x="2" y="208"/>
                  <a:pt x="5" y="193"/>
                </a:cubicBezTo>
                <a:cubicBezTo>
                  <a:pt x="8" y="178"/>
                  <a:pt x="12" y="163"/>
                  <a:pt x="18" y="148"/>
                </a:cubicBezTo>
                <a:cubicBezTo>
                  <a:pt x="24" y="134"/>
                  <a:pt x="32" y="120"/>
                  <a:pt x="40" y="107"/>
                </a:cubicBezTo>
                <a:cubicBezTo>
                  <a:pt x="49" y="94"/>
                  <a:pt x="59" y="82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4" y="24"/>
                  <a:pt x="148" y="18"/>
                </a:cubicBezTo>
                <a:cubicBezTo>
                  <a:pt x="163" y="12"/>
                  <a:pt x="178" y="8"/>
                  <a:pt x="193" y="5"/>
                </a:cubicBezTo>
                <a:cubicBezTo>
                  <a:pt x="208" y="2"/>
                  <a:pt x="224" y="0"/>
                  <a:pt x="239" y="0"/>
                </a:cubicBezTo>
                <a:cubicBezTo>
                  <a:pt x="255" y="0"/>
                  <a:pt x="271" y="2"/>
                  <a:pt x="286" y="5"/>
                </a:cubicBezTo>
                <a:cubicBezTo>
                  <a:pt x="301" y="8"/>
                  <a:pt x="316" y="12"/>
                  <a:pt x="331" y="18"/>
                </a:cubicBezTo>
                <a:cubicBezTo>
                  <a:pt x="345" y="24"/>
                  <a:pt x="359" y="32"/>
                  <a:pt x="372" y="40"/>
                </a:cubicBezTo>
                <a:cubicBezTo>
                  <a:pt x="385" y="49"/>
                  <a:pt x="397" y="59"/>
                  <a:pt x="408" y="70"/>
                </a:cubicBezTo>
                <a:cubicBezTo>
                  <a:pt x="419" y="82"/>
                  <a:pt x="429" y="94"/>
                  <a:pt x="437" y="107"/>
                </a:cubicBezTo>
                <a:cubicBezTo>
                  <a:pt x="446" y="120"/>
                  <a:pt x="453" y="134"/>
                  <a:pt x="459" y="148"/>
                </a:cubicBezTo>
                <a:cubicBezTo>
                  <a:pt x="465" y="163"/>
                  <a:pt x="470" y="178"/>
                  <a:pt x="473" y="193"/>
                </a:cubicBezTo>
                <a:cubicBezTo>
                  <a:pt x="476" y="208"/>
                  <a:pt x="478" y="224"/>
                  <a:pt x="478" y="239"/>
                </a:cubicBezTo>
                <a:cubicBezTo>
                  <a:pt x="478" y="255"/>
                  <a:pt x="476" y="270"/>
                  <a:pt x="473" y="286"/>
                </a:cubicBezTo>
                <a:cubicBezTo>
                  <a:pt x="470" y="301"/>
                  <a:pt x="465" y="316"/>
                  <a:pt x="459" y="331"/>
                </a:cubicBezTo>
                <a:cubicBezTo>
                  <a:pt x="453" y="345"/>
                  <a:pt x="446" y="359"/>
                  <a:pt x="437" y="372"/>
                </a:cubicBezTo>
                <a:cubicBezTo>
                  <a:pt x="429" y="385"/>
                  <a:pt x="419" y="397"/>
                  <a:pt x="408" y="408"/>
                </a:cubicBezTo>
                <a:cubicBezTo>
                  <a:pt x="397" y="419"/>
                  <a:pt x="385" y="429"/>
                  <a:pt x="372" y="437"/>
                </a:cubicBezTo>
                <a:cubicBezTo>
                  <a:pt x="359" y="446"/>
                  <a:pt x="345" y="453"/>
                  <a:pt x="331" y="459"/>
                </a:cubicBezTo>
                <a:cubicBezTo>
                  <a:pt x="316" y="465"/>
                  <a:pt x="301" y="470"/>
                  <a:pt x="286" y="473"/>
                </a:cubicBezTo>
                <a:cubicBezTo>
                  <a:pt x="271" y="476"/>
                  <a:pt x="255" y="477"/>
                  <a:pt x="239" y="477"/>
                </a:cubicBezTo>
                <a:cubicBezTo>
                  <a:pt x="224" y="477"/>
                  <a:pt x="208" y="476"/>
                  <a:pt x="193" y="473"/>
                </a:cubicBezTo>
                <a:cubicBezTo>
                  <a:pt x="178" y="470"/>
                  <a:pt x="163" y="465"/>
                  <a:pt x="148" y="459"/>
                </a:cubicBezTo>
                <a:cubicBezTo>
                  <a:pt x="134" y="453"/>
                  <a:pt x="119" y="446"/>
                  <a:pt x="106" y="437"/>
                </a:cubicBezTo>
                <a:cubicBezTo>
                  <a:pt x="93" y="429"/>
                  <a:pt x="81" y="419"/>
                  <a:pt x="70" y="408"/>
                </a:cubicBezTo>
                <a:cubicBezTo>
                  <a:pt x="59" y="397"/>
                  <a:pt x="49" y="385"/>
                  <a:pt x="40" y="372"/>
                </a:cubicBezTo>
                <a:cubicBezTo>
                  <a:pt x="32" y="359"/>
                  <a:pt x="24" y="345"/>
                  <a:pt x="18" y="331"/>
                </a:cubicBezTo>
                <a:cubicBezTo>
                  <a:pt x="12" y="316"/>
                  <a:pt x="8" y="301"/>
                  <a:pt x="5" y="286"/>
                </a:cubicBezTo>
                <a:cubicBezTo>
                  <a:pt x="2" y="270"/>
                  <a:pt x="0" y="255"/>
                  <a:pt x="0" y="239"/>
                </a:cubicBezTo>
                <a:moveTo>
                  <a:pt x="239" y="314"/>
                </a:moveTo>
                <a:cubicBezTo>
                  <a:pt x="249" y="314"/>
                  <a:pt x="259" y="312"/>
                  <a:pt x="268" y="308"/>
                </a:cubicBezTo>
                <a:cubicBezTo>
                  <a:pt x="277" y="304"/>
                  <a:pt x="285" y="299"/>
                  <a:pt x="292" y="292"/>
                </a:cubicBezTo>
                <a:cubicBezTo>
                  <a:pt x="299" y="285"/>
                  <a:pt x="304" y="277"/>
                  <a:pt x="308" y="268"/>
                </a:cubicBezTo>
                <a:cubicBezTo>
                  <a:pt x="312" y="259"/>
                  <a:pt x="314" y="249"/>
                  <a:pt x="314" y="239"/>
                </a:cubicBezTo>
                <a:cubicBezTo>
                  <a:pt x="314" y="230"/>
                  <a:pt x="312" y="220"/>
                  <a:pt x="308" y="211"/>
                </a:cubicBezTo>
                <a:cubicBezTo>
                  <a:pt x="304" y="202"/>
                  <a:pt x="299" y="194"/>
                  <a:pt x="292" y="187"/>
                </a:cubicBezTo>
                <a:cubicBezTo>
                  <a:pt x="285" y="180"/>
                  <a:pt x="277" y="174"/>
                  <a:pt x="268" y="171"/>
                </a:cubicBezTo>
                <a:cubicBezTo>
                  <a:pt x="259" y="167"/>
                  <a:pt x="249" y="165"/>
                  <a:pt x="239" y="165"/>
                </a:cubicBezTo>
                <a:cubicBezTo>
                  <a:pt x="230" y="165"/>
                  <a:pt x="220" y="167"/>
                  <a:pt x="211" y="171"/>
                </a:cubicBezTo>
                <a:cubicBezTo>
                  <a:pt x="202" y="174"/>
                  <a:pt x="194" y="180"/>
                  <a:pt x="187" y="187"/>
                </a:cubicBezTo>
                <a:cubicBezTo>
                  <a:pt x="180" y="194"/>
                  <a:pt x="174" y="202"/>
                  <a:pt x="171" y="211"/>
                </a:cubicBezTo>
                <a:cubicBezTo>
                  <a:pt x="167" y="220"/>
                  <a:pt x="165" y="230"/>
                  <a:pt x="165" y="239"/>
                </a:cubicBezTo>
                <a:cubicBezTo>
                  <a:pt x="165" y="249"/>
                  <a:pt x="167" y="259"/>
                  <a:pt x="171" y="268"/>
                </a:cubicBezTo>
                <a:cubicBezTo>
                  <a:pt x="174" y="277"/>
                  <a:pt x="180" y="285"/>
                  <a:pt x="187" y="292"/>
                </a:cubicBezTo>
                <a:cubicBezTo>
                  <a:pt x="194" y="299"/>
                  <a:pt x="202" y="304"/>
                  <a:pt x="211" y="308"/>
                </a:cubicBezTo>
                <a:cubicBezTo>
                  <a:pt x="220" y="312"/>
                  <a:pt x="230" y="314"/>
                  <a:pt x="239" y="314"/>
                </a:cubicBezTo>
                <a:moveTo>
                  <a:pt x="239" y="105"/>
                </a:moveTo>
                <a:cubicBezTo>
                  <a:pt x="257" y="105"/>
                  <a:pt x="274" y="109"/>
                  <a:pt x="291" y="116"/>
                </a:cubicBezTo>
                <a:cubicBezTo>
                  <a:pt x="307" y="122"/>
                  <a:pt x="322" y="132"/>
                  <a:pt x="334" y="145"/>
                </a:cubicBezTo>
                <a:cubicBezTo>
                  <a:pt x="347" y="157"/>
                  <a:pt x="356" y="172"/>
                  <a:pt x="363" y="188"/>
                </a:cubicBezTo>
                <a:cubicBezTo>
                  <a:pt x="370" y="205"/>
                  <a:pt x="373" y="222"/>
                  <a:pt x="373" y="239"/>
                </a:cubicBezTo>
                <a:cubicBezTo>
                  <a:pt x="373" y="257"/>
                  <a:pt x="370" y="274"/>
                  <a:pt x="363" y="291"/>
                </a:cubicBezTo>
                <a:cubicBezTo>
                  <a:pt x="356" y="307"/>
                  <a:pt x="347" y="322"/>
                  <a:pt x="334" y="334"/>
                </a:cubicBezTo>
                <a:cubicBezTo>
                  <a:pt x="322" y="347"/>
                  <a:pt x="307" y="356"/>
                  <a:pt x="291" y="363"/>
                </a:cubicBezTo>
                <a:cubicBezTo>
                  <a:pt x="274" y="370"/>
                  <a:pt x="257" y="373"/>
                  <a:pt x="239" y="373"/>
                </a:cubicBezTo>
                <a:cubicBezTo>
                  <a:pt x="222" y="373"/>
                  <a:pt x="205" y="370"/>
                  <a:pt x="188" y="363"/>
                </a:cubicBezTo>
                <a:cubicBezTo>
                  <a:pt x="172" y="356"/>
                  <a:pt x="157" y="347"/>
                  <a:pt x="145" y="334"/>
                </a:cubicBezTo>
                <a:cubicBezTo>
                  <a:pt x="132" y="322"/>
                  <a:pt x="122" y="307"/>
                  <a:pt x="115" y="291"/>
                </a:cubicBezTo>
                <a:cubicBezTo>
                  <a:pt x="108" y="274"/>
                  <a:pt x="105" y="257"/>
                  <a:pt x="105" y="239"/>
                </a:cubicBezTo>
                <a:cubicBezTo>
                  <a:pt x="105" y="222"/>
                  <a:pt x="108" y="205"/>
                  <a:pt x="115" y="188"/>
                </a:cubicBezTo>
                <a:cubicBezTo>
                  <a:pt x="122" y="172"/>
                  <a:pt x="132" y="157"/>
                  <a:pt x="145" y="145"/>
                </a:cubicBezTo>
                <a:cubicBezTo>
                  <a:pt x="157" y="132"/>
                  <a:pt x="172" y="122"/>
                  <a:pt x="188" y="116"/>
                </a:cubicBezTo>
                <a:cubicBezTo>
                  <a:pt x="205" y="109"/>
                  <a:pt x="222" y="105"/>
                  <a:pt x="239" y="105"/>
                </a:cubicBezTo>
                <a:moveTo>
                  <a:pt x="210" y="239"/>
                </a:moveTo>
                <a:cubicBezTo>
                  <a:pt x="210" y="231"/>
                  <a:pt x="213" y="224"/>
                  <a:pt x="218" y="218"/>
                </a:cubicBezTo>
                <a:cubicBezTo>
                  <a:pt x="224" y="213"/>
                  <a:pt x="231" y="210"/>
                  <a:pt x="239" y="210"/>
                </a:cubicBezTo>
                <a:cubicBezTo>
                  <a:pt x="248" y="210"/>
                  <a:pt x="255" y="213"/>
                  <a:pt x="261" y="218"/>
                </a:cubicBezTo>
                <a:cubicBezTo>
                  <a:pt x="266" y="224"/>
                  <a:pt x="269" y="231"/>
                  <a:pt x="269" y="239"/>
                </a:cubicBezTo>
                <a:cubicBezTo>
                  <a:pt x="269" y="248"/>
                  <a:pt x="266" y="255"/>
                  <a:pt x="261" y="260"/>
                </a:cubicBezTo>
                <a:cubicBezTo>
                  <a:pt x="255" y="266"/>
                  <a:pt x="248" y="269"/>
                  <a:pt x="239" y="269"/>
                </a:cubicBezTo>
                <a:cubicBezTo>
                  <a:pt x="231" y="269"/>
                  <a:pt x="224" y="266"/>
                  <a:pt x="218" y="260"/>
                </a:cubicBezTo>
                <a:cubicBezTo>
                  <a:pt x="213" y="255"/>
                  <a:pt x="210" y="248"/>
                  <a:pt x="210" y="239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842040" y="6230880"/>
            <a:ext cx="4442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Transient triggers → self-sustaining failures → recovery through scheduling control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6210000" y="450504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0" y="742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lnTo>
                  <a:pt x="742" y="0"/>
                </a:lnTo>
                <a:cubicBezTo>
                  <a:pt x="756" y="0"/>
                  <a:pt x="770" y="3"/>
                  <a:pt x="783" y="8"/>
                </a:cubicBezTo>
                <a:cubicBezTo>
                  <a:pt x="796" y="14"/>
                  <a:pt x="807" y="21"/>
                  <a:pt x="817" y="31"/>
                </a:cubicBezTo>
                <a:cubicBezTo>
                  <a:pt x="827" y="41"/>
                  <a:pt x="835" y="53"/>
                  <a:pt x="840" y="66"/>
                </a:cubicBezTo>
                <a:cubicBezTo>
                  <a:pt x="845" y="79"/>
                  <a:pt x="848" y="92"/>
                  <a:pt x="848" y="106"/>
                </a:cubicBezTo>
                <a:lnTo>
                  <a:pt x="848" y="742"/>
                </a:lnTo>
                <a:cubicBezTo>
                  <a:pt x="848" y="756"/>
                  <a:pt x="845" y="770"/>
                  <a:pt x="840" y="783"/>
                </a:cubicBezTo>
                <a:cubicBezTo>
                  <a:pt x="835" y="796"/>
                  <a:pt x="827" y="807"/>
                  <a:pt x="817" y="817"/>
                </a:cubicBezTo>
                <a:cubicBezTo>
                  <a:pt x="807" y="827"/>
                  <a:pt x="796" y="835"/>
                  <a:pt x="783" y="840"/>
                </a:cubicBezTo>
                <a:cubicBezTo>
                  <a:pt x="770" y="845"/>
                  <a:pt x="756" y="848"/>
                  <a:pt x="742" y="848"/>
                </a:cubicBezTo>
                <a:lnTo>
                  <a:pt x="107" y="848"/>
                </a:lnTo>
                <a:cubicBezTo>
                  <a:pt x="92" y="848"/>
                  <a:pt x="79" y="845"/>
                  <a:pt x="66" y="840"/>
                </a:cubicBezTo>
                <a:cubicBezTo>
                  <a:pt x="53" y="835"/>
                  <a:pt x="41" y="827"/>
                  <a:pt x="31" y="817"/>
                </a:cubicBezTo>
                <a:cubicBezTo>
                  <a:pt x="21" y="807"/>
                  <a:pt x="14" y="796"/>
                  <a:pt x="8" y="783"/>
                </a:cubicBezTo>
                <a:cubicBezTo>
                  <a:pt x="3" y="770"/>
                  <a:pt x="0" y="756"/>
                  <a:pt x="0" y="742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6458040" y="4141080"/>
            <a:ext cx="11660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Session Focus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6321600" y="456264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6210000" y="481932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0" y="742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lnTo>
                  <a:pt x="742" y="0"/>
                </a:lnTo>
                <a:cubicBezTo>
                  <a:pt x="756" y="0"/>
                  <a:pt x="770" y="3"/>
                  <a:pt x="783" y="8"/>
                </a:cubicBezTo>
                <a:cubicBezTo>
                  <a:pt x="796" y="14"/>
                  <a:pt x="807" y="21"/>
                  <a:pt x="817" y="31"/>
                </a:cubicBezTo>
                <a:cubicBezTo>
                  <a:pt x="827" y="41"/>
                  <a:pt x="835" y="53"/>
                  <a:pt x="840" y="66"/>
                </a:cubicBezTo>
                <a:cubicBezTo>
                  <a:pt x="845" y="79"/>
                  <a:pt x="848" y="92"/>
                  <a:pt x="848" y="106"/>
                </a:cubicBezTo>
                <a:lnTo>
                  <a:pt x="848" y="742"/>
                </a:lnTo>
                <a:cubicBezTo>
                  <a:pt x="848" y="756"/>
                  <a:pt x="845" y="770"/>
                  <a:pt x="840" y="783"/>
                </a:cubicBezTo>
                <a:cubicBezTo>
                  <a:pt x="835" y="796"/>
                  <a:pt x="827" y="807"/>
                  <a:pt x="817" y="817"/>
                </a:cubicBezTo>
                <a:cubicBezTo>
                  <a:pt x="807" y="827"/>
                  <a:pt x="796" y="835"/>
                  <a:pt x="783" y="840"/>
                </a:cubicBezTo>
                <a:cubicBezTo>
                  <a:pt x="770" y="845"/>
                  <a:pt x="756" y="848"/>
                  <a:pt x="742" y="848"/>
                </a:cubicBezTo>
                <a:lnTo>
                  <a:pt x="107" y="848"/>
                </a:lnTo>
                <a:cubicBezTo>
                  <a:pt x="92" y="848"/>
                  <a:pt x="79" y="845"/>
                  <a:pt x="66" y="840"/>
                </a:cubicBezTo>
                <a:cubicBezTo>
                  <a:pt x="53" y="835"/>
                  <a:pt x="41" y="827"/>
                  <a:pt x="31" y="817"/>
                </a:cubicBezTo>
                <a:cubicBezTo>
                  <a:pt x="21" y="807"/>
                  <a:pt x="14" y="796"/>
                  <a:pt x="8" y="783"/>
                </a:cubicBezTo>
                <a:cubicBezTo>
                  <a:pt x="3" y="770"/>
                  <a:pt x="0" y="756"/>
                  <a:pt x="0" y="742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6629400" y="4505760"/>
            <a:ext cx="2742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Trustworthiness gaps in large-scale systems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6321600" y="487728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6210000" y="513396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0" y="741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lnTo>
                  <a:pt x="742" y="0"/>
                </a:lnTo>
                <a:cubicBezTo>
                  <a:pt x="756" y="0"/>
                  <a:pt x="770" y="2"/>
                  <a:pt x="783" y="8"/>
                </a:cubicBezTo>
                <a:cubicBezTo>
                  <a:pt x="796" y="13"/>
                  <a:pt x="807" y="21"/>
                  <a:pt x="817" y="31"/>
                </a:cubicBezTo>
                <a:cubicBezTo>
                  <a:pt x="827" y="40"/>
                  <a:pt x="835" y="52"/>
                  <a:pt x="840" y="65"/>
                </a:cubicBezTo>
                <a:cubicBezTo>
                  <a:pt x="845" y="78"/>
                  <a:pt x="848" y="91"/>
                  <a:pt x="848" y="105"/>
                </a:cubicBezTo>
                <a:lnTo>
                  <a:pt x="848" y="741"/>
                </a:lnTo>
                <a:cubicBezTo>
                  <a:pt x="848" y="755"/>
                  <a:pt x="845" y="769"/>
                  <a:pt x="840" y="782"/>
                </a:cubicBezTo>
                <a:cubicBezTo>
                  <a:pt x="835" y="795"/>
                  <a:pt x="827" y="806"/>
                  <a:pt x="817" y="816"/>
                </a:cubicBezTo>
                <a:cubicBezTo>
                  <a:pt x="807" y="826"/>
                  <a:pt x="796" y="834"/>
                  <a:pt x="783" y="839"/>
                </a:cubicBezTo>
                <a:cubicBezTo>
                  <a:pt x="770" y="845"/>
                  <a:pt x="756" y="847"/>
                  <a:pt x="742" y="847"/>
                </a:cubicBezTo>
                <a:lnTo>
                  <a:pt x="107" y="847"/>
                </a:lnTo>
                <a:cubicBezTo>
                  <a:pt x="92" y="847"/>
                  <a:pt x="79" y="845"/>
                  <a:pt x="66" y="839"/>
                </a:cubicBezTo>
                <a:cubicBezTo>
                  <a:pt x="53" y="834"/>
                  <a:pt x="41" y="826"/>
                  <a:pt x="31" y="816"/>
                </a:cubicBezTo>
                <a:cubicBezTo>
                  <a:pt x="21" y="806"/>
                  <a:pt x="14" y="795"/>
                  <a:pt x="8" y="782"/>
                </a:cubicBezTo>
                <a:cubicBezTo>
                  <a:pt x="3" y="769"/>
                  <a:pt x="0" y="755"/>
                  <a:pt x="0" y="741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6629400" y="4820040"/>
            <a:ext cx="2676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Degrading reliability from complexity &amp; ML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6321600" y="519156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6210000" y="544824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0" y="741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lnTo>
                  <a:pt x="742" y="0"/>
                </a:lnTo>
                <a:cubicBezTo>
                  <a:pt x="756" y="0"/>
                  <a:pt x="770" y="2"/>
                  <a:pt x="783" y="8"/>
                </a:cubicBezTo>
                <a:cubicBezTo>
                  <a:pt x="796" y="13"/>
                  <a:pt x="807" y="21"/>
                  <a:pt x="817" y="31"/>
                </a:cubicBezTo>
                <a:cubicBezTo>
                  <a:pt x="827" y="41"/>
                  <a:pt x="835" y="52"/>
                  <a:pt x="840" y="65"/>
                </a:cubicBezTo>
                <a:cubicBezTo>
                  <a:pt x="845" y="78"/>
                  <a:pt x="848" y="91"/>
                  <a:pt x="848" y="105"/>
                </a:cubicBezTo>
                <a:lnTo>
                  <a:pt x="848" y="741"/>
                </a:lnTo>
                <a:cubicBezTo>
                  <a:pt x="848" y="756"/>
                  <a:pt x="845" y="769"/>
                  <a:pt x="840" y="782"/>
                </a:cubicBezTo>
                <a:cubicBezTo>
                  <a:pt x="835" y="795"/>
                  <a:pt x="827" y="806"/>
                  <a:pt x="817" y="816"/>
                </a:cubicBezTo>
                <a:cubicBezTo>
                  <a:pt x="807" y="826"/>
                  <a:pt x="796" y="834"/>
                  <a:pt x="783" y="839"/>
                </a:cubicBezTo>
                <a:cubicBezTo>
                  <a:pt x="770" y="845"/>
                  <a:pt x="756" y="847"/>
                  <a:pt x="742" y="847"/>
                </a:cubicBezTo>
                <a:lnTo>
                  <a:pt x="107" y="847"/>
                </a:lnTo>
                <a:cubicBezTo>
                  <a:pt x="92" y="847"/>
                  <a:pt x="79" y="845"/>
                  <a:pt x="66" y="839"/>
                </a:cubicBezTo>
                <a:cubicBezTo>
                  <a:pt x="53" y="834"/>
                  <a:pt x="41" y="826"/>
                  <a:pt x="31" y="816"/>
                </a:cubicBezTo>
                <a:cubicBezTo>
                  <a:pt x="21" y="806"/>
                  <a:pt x="14" y="795"/>
                  <a:pt x="8" y="782"/>
                </a:cubicBezTo>
                <a:cubicBezTo>
                  <a:pt x="3" y="769"/>
                  <a:pt x="0" y="756"/>
                  <a:pt x="0" y="741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6629400" y="5134320"/>
            <a:ext cx="2564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Composition-induced metastable failures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6321600" y="550584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6210000" y="5867280"/>
            <a:ext cx="5353560" cy="9720"/>
          </a:xfrm>
          <a:custGeom>
            <a:avLst/>
            <a:gdLst/>
            <a:ahLst/>
            <a:rect l="0" t="0" r="r" b="b"/>
            <a:pathLst>
              <a:path w="14871" h="27">
                <a:moveTo>
                  <a:pt x="0" y="0"/>
                </a:moveTo>
                <a:lnTo>
                  <a:pt x="14871" y="0"/>
                </a:lnTo>
                <a:lnTo>
                  <a:pt x="148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7157160" y="6019560"/>
            <a:ext cx="125640" cy="133200"/>
          </a:xfrm>
          <a:custGeom>
            <a:avLst/>
            <a:gdLst/>
            <a:ahLst/>
            <a:rect l="0" t="0" r="r" b="b"/>
            <a:pathLst>
              <a:path w="349" h="370">
                <a:moveTo>
                  <a:pt x="175" y="0"/>
                </a:moveTo>
                <a:cubicBezTo>
                  <a:pt x="178" y="0"/>
                  <a:pt x="182" y="1"/>
                  <a:pt x="185" y="2"/>
                </a:cubicBezTo>
                <a:lnTo>
                  <a:pt x="321" y="61"/>
                </a:lnTo>
                <a:cubicBezTo>
                  <a:pt x="337" y="68"/>
                  <a:pt x="349" y="83"/>
                  <a:pt x="349" y="102"/>
                </a:cubicBezTo>
                <a:cubicBezTo>
                  <a:pt x="348" y="174"/>
                  <a:pt x="319" y="306"/>
                  <a:pt x="194" y="365"/>
                </a:cubicBezTo>
                <a:cubicBezTo>
                  <a:pt x="182" y="371"/>
                  <a:pt x="168" y="371"/>
                  <a:pt x="156" y="365"/>
                </a:cubicBezTo>
                <a:cubicBezTo>
                  <a:pt x="30" y="306"/>
                  <a:pt x="1" y="174"/>
                  <a:pt x="0" y="102"/>
                </a:cubicBezTo>
                <a:cubicBezTo>
                  <a:pt x="0" y="83"/>
                  <a:pt x="12" y="68"/>
                  <a:pt x="28" y="61"/>
                </a:cubicBezTo>
                <a:lnTo>
                  <a:pt x="165" y="2"/>
                </a:lnTo>
                <a:cubicBezTo>
                  <a:pt x="168" y="1"/>
                  <a:pt x="172" y="0"/>
                  <a:pt x="175" y="0"/>
                </a:cubicBezTo>
                <a:moveTo>
                  <a:pt x="175" y="49"/>
                </a:moveTo>
                <a:lnTo>
                  <a:pt x="175" y="323"/>
                </a:lnTo>
                <a:cubicBezTo>
                  <a:pt x="275" y="275"/>
                  <a:pt x="302" y="168"/>
                  <a:pt x="302" y="103"/>
                </a:cubicBezTo>
                <a:lnTo>
                  <a:pt x="175" y="49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6629400" y="5448600"/>
            <a:ext cx="2732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Practical verification for production systems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359840" y="5991480"/>
            <a:ext cx="3238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Resilience in an era of increasing system fragility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11382480" y="6521040"/>
            <a:ext cx="35856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MicrosoftYaHei"/>
              </a:rPr>
              <a:t>7 / 10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428400" y="104760"/>
            <a:ext cx="6715440" cy="304920"/>
          </a:xfrm>
          <a:custGeom>
            <a:avLst/>
            <a:gdLst/>
            <a:ahLst/>
            <a:rect l="0" t="0" r="r" b="b"/>
            <a:pathLst>
              <a:path w="18654" h="847">
                <a:moveTo>
                  <a:pt x="0" y="741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548" y="0"/>
                </a:lnTo>
                <a:cubicBezTo>
                  <a:pt x="18562" y="0"/>
                  <a:pt x="18576" y="2"/>
                  <a:pt x="18589" y="8"/>
                </a:cubicBezTo>
                <a:cubicBezTo>
                  <a:pt x="18602" y="13"/>
                  <a:pt x="18613" y="21"/>
                  <a:pt x="18623" y="31"/>
                </a:cubicBezTo>
                <a:cubicBezTo>
                  <a:pt x="18633" y="40"/>
                  <a:pt x="18641" y="52"/>
                  <a:pt x="18646" y="65"/>
                </a:cubicBezTo>
                <a:cubicBezTo>
                  <a:pt x="18652" y="78"/>
                  <a:pt x="18654" y="91"/>
                  <a:pt x="18654" y="105"/>
                </a:cubicBezTo>
                <a:lnTo>
                  <a:pt x="18654" y="741"/>
                </a:lnTo>
                <a:cubicBezTo>
                  <a:pt x="18654" y="755"/>
                  <a:pt x="18652" y="769"/>
                  <a:pt x="18646" y="782"/>
                </a:cubicBezTo>
                <a:cubicBezTo>
                  <a:pt x="18641" y="795"/>
                  <a:pt x="18633" y="806"/>
                  <a:pt x="18623" y="816"/>
                </a:cubicBezTo>
                <a:cubicBezTo>
                  <a:pt x="18613" y="826"/>
                  <a:pt x="18602" y="834"/>
                  <a:pt x="18589" y="839"/>
                </a:cubicBezTo>
                <a:cubicBezTo>
                  <a:pt x="18576" y="845"/>
                  <a:pt x="18562" y="847"/>
                  <a:pt x="18548" y="847"/>
                </a:cubicBezTo>
                <a:lnTo>
                  <a:pt x="106" y="847"/>
                </a:lnTo>
                <a:cubicBezTo>
                  <a:pt x="92" y="847"/>
                  <a:pt x="78" y="845"/>
                  <a:pt x="65" y="839"/>
                </a:cubicBezTo>
                <a:cubicBezTo>
                  <a:pt x="52" y="834"/>
                  <a:pt x="41" y="826"/>
                  <a:pt x="31" y="816"/>
                </a:cubicBezTo>
                <a:cubicBezTo>
                  <a:pt x="21" y="806"/>
                  <a:pt x="14" y="795"/>
                  <a:pt x="8" y="782"/>
                </a:cubicBezTo>
                <a:cubicBezTo>
                  <a:pt x="3" y="769"/>
                  <a:pt x="0" y="755"/>
                  <a:pt x="0" y="741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581040" y="166320"/>
            <a:ext cx="6534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2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SESSION 3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428400" y="88560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428400" y="1247760"/>
            <a:ext cx="5515200" cy="1495440"/>
          </a:xfrm>
          <a:custGeom>
            <a:avLst/>
            <a:gdLst/>
            <a:ahLst/>
            <a:rect l="0" t="0" r="r" b="b"/>
            <a:pathLst>
              <a:path w="15320" h="4154">
                <a:moveTo>
                  <a:pt x="0" y="0"/>
                </a:moveTo>
                <a:lnTo>
                  <a:pt x="15320" y="0"/>
                </a:lnTo>
                <a:lnTo>
                  <a:pt x="15320" y="4154"/>
                </a:lnTo>
                <a:lnTo>
                  <a:pt x="0" y="41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428400" y="1247760"/>
            <a:ext cx="5515200" cy="38160"/>
          </a:xfrm>
          <a:custGeom>
            <a:avLst/>
            <a:gdLst/>
            <a:ahLst/>
            <a:rect l="0" t="0" r="r" b="b"/>
            <a:pathLst>
              <a:path w="15320" h="106">
                <a:moveTo>
                  <a:pt x="0" y="0"/>
                </a:moveTo>
                <a:lnTo>
                  <a:pt x="15320" y="0"/>
                </a:lnTo>
                <a:lnTo>
                  <a:pt x="15320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428400" y="2733480"/>
            <a:ext cx="5515200" cy="9720"/>
          </a:xfrm>
          <a:custGeom>
            <a:avLst/>
            <a:gdLst/>
            <a:ahLst/>
            <a:rect l="0" t="0" r="r" b="b"/>
            <a:pathLst>
              <a:path w="15320" h="27">
                <a:moveTo>
                  <a:pt x="0" y="0"/>
                </a:moveTo>
                <a:lnTo>
                  <a:pt x="15320" y="0"/>
                </a:lnTo>
                <a:lnTo>
                  <a:pt x="15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5933880" y="1247760"/>
            <a:ext cx="9720" cy="1495440"/>
          </a:xfrm>
          <a:custGeom>
            <a:avLst/>
            <a:gdLst/>
            <a:ahLst/>
            <a:rect l="0" t="0" r="r" b="b"/>
            <a:pathLst>
              <a:path w="27" h="4154">
                <a:moveTo>
                  <a:pt x="0" y="105"/>
                </a:moveTo>
                <a:lnTo>
                  <a:pt x="0" y="4154"/>
                </a:lnTo>
                <a:lnTo>
                  <a:pt x="27" y="4154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428400" y="1247760"/>
            <a:ext cx="10080" cy="1495440"/>
          </a:xfrm>
          <a:custGeom>
            <a:avLst/>
            <a:gdLst/>
            <a:ahLst/>
            <a:rect l="0" t="0" r="r" b="b"/>
            <a:pathLst>
              <a:path w="28" h="4154">
                <a:moveTo>
                  <a:pt x="0" y="0"/>
                </a:moveTo>
                <a:lnTo>
                  <a:pt x="0" y="4154"/>
                </a:lnTo>
                <a:lnTo>
                  <a:pt x="28" y="4154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6" name="" descr=""/>
          <p:cNvPicPr/>
          <p:nvPr/>
        </p:nvPicPr>
        <p:blipFill>
          <a:blip r:embed="rId1"/>
          <a:stretch/>
        </p:blipFill>
        <p:spPr>
          <a:xfrm>
            <a:off x="628560" y="1476360"/>
            <a:ext cx="1066320" cy="106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"/>
          <p:cNvSpPr txBox="1"/>
          <p:nvPr/>
        </p:nvSpPr>
        <p:spPr>
          <a:xfrm>
            <a:off x="428760" y="464760"/>
            <a:ext cx="65368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4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The Core of the Machine — OS in a New Era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1847880" y="1493280"/>
            <a:ext cx="11858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Gernot Heiser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1847880" y="1792440"/>
            <a:ext cx="754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MicrosoftYaHei"/>
              </a:rPr>
              <a:t>UNSW Sydney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1847520" y="2348640"/>
            <a:ext cx="106920" cy="91800"/>
          </a:xfrm>
          <a:custGeom>
            <a:avLst/>
            <a:gdLst/>
            <a:ahLst/>
            <a:rect l="0" t="0" r="r" b="b"/>
            <a:pathLst>
              <a:path w="297" h="255">
                <a:moveTo>
                  <a:pt x="291" y="142"/>
                </a:moveTo>
                <a:cubicBezTo>
                  <a:pt x="299" y="134"/>
                  <a:pt x="299" y="120"/>
                  <a:pt x="291" y="112"/>
                </a:cubicBezTo>
                <a:lnTo>
                  <a:pt x="185" y="6"/>
                </a:lnTo>
                <a:cubicBezTo>
                  <a:pt x="177" y="-2"/>
                  <a:pt x="164" y="-2"/>
                  <a:pt x="156" y="6"/>
                </a:cubicBezTo>
                <a:cubicBezTo>
                  <a:pt x="147" y="15"/>
                  <a:pt x="147" y="28"/>
                  <a:pt x="156" y="36"/>
                </a:cubicBezTo>
                <a:lnTo>
                  <a:pt x="225" y="106"/>
                </a:lnTo>
                <a:lnTo>
                  <a:pt x="22" y="106"/>
                </a:lnTo>
                <a:cubicBezTo>
                  <a:pt x="10" y="106"/>
                  <a:pt x="0" y="115"/>
                  <a:pt x="0" y="127"/>
                </a:cubicBezTo>
                <a:cubicBezTo>
                  <a:pt x="0" y="139"/>
                  <a:pt x="10" y="148"/>
                  <a:pt x="22" y="148"/>
                </a:cubicBezTo>
                <a:lnTo>
                  <a:pt x="225" y="148"/>
                </a:lnTo>
                <a:lnTo>
                  <a:pt x="156" y="219"/>
                </a:lnTo>
                <a:cubicBezTo>
                  <a:pt x="147" y="227"/>
                  <a:pt x="147" y="241"/>
                  <a:pt x="156" y="249"/>
                </a:cubicBezTo>
                <a:cubicBezTo>
                  <a:pt x="164" y="257"/>
                  <a:pt x="177" y="257"/>
                  <a:pt x="186" y="249"/>
                </a:cubicBezTo>
                <a:lnTo>
                  <a:pt x="291" y="142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1847880" y="2025000"/>
            <a:ext cx="285984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8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"Don't forget the OS – and the principles!"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6248160" y="1247760"/>
            <a:ext cx="5515560" cy="1495440"/>
          </a:xfrm>
          <a:custGeom>
            <a:avLst/>
            <a:gdLst/>
            <a:ahLst/>
            <a:rect l="0" t="0" r="r" b="b"/>
            <a:pathLst>
              <a:path w="15321" h="4154">
                <a:moveTo>
                  <a:pt x="0" y="0"/>
                </a:moveTo>
                <a:lnTo>
                  <a:pt x="15321" y="0"/>
                </a:lnTo>
                <a:lnTo>
                  <a:pt x="15321" y="4154"/>
                </a:lnTo>
                <a:lnTo>
                  <a:pt x="0" y="41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248160" y="1247760"/>
            <a:ext cx="5515560" cy="38160"/>
          </a:xfrm>
          <a:custGeom>
            <a:avLst/>
            <a:gdLst/>
            <a:ahLst/>
            <a:rect l="0" t="0" r="r" b="b"/>
            <a:pathLst>
              <a:path w="15321" h="106">
                <a:moveTo>
                  <a:pt x="0" y="0"/>
                </a:moveTo>
                <a:lnTo>
                  <a:pt x="15321" y="0"/>
                </a:lnTo>
                <a:lnTo>
                  <a:pt x="1532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6248160" y="2733480"/>
            <a:ext cx="5515560" cy="9720"/>
          </a:xfrm>
          <a:custGeom>
            <a:avLst/>
            <a:gdLst/>
            <a:ahLst/>
            <a:rect l="0" t="0" r="r" b="b"/>
            <a:pathLst>
              <a:path w="15321" h="27">
                <a:moveTo>
                  <a:pt x="0" y="0"/>
                </a:moveTo>
                <a:lnTo>
                  <a:pt x="15321" y="0"/>
                </a:lnTo>
                <a:lnTo>
                  <a:pt x="153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11753640" y="1247760"/>
            <a:ext cx="10080" cy="1495440"/>
          </a:xfrm>
          <a:custGeom>
            <a:avLst/>
            <a:gdLst/>
            <a:ahLst/>
            <a:rect l="0" t="0" r="r" b="b"/>
            <a:pathLst>
              <a:path w="28" h="4154">
                <a:moveTo>
                  <a:pt x="0" y="105"/>
                </a:moveTo>
                <a:lnTo>
                  <a:pt x="0" y="4154"/>
                </a:lnTo>
                <a:lnTo>
                  <a:pt x="28" y="4154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6248160" y="1247760"/>
            <a:ext cx="10080" cy="1495440"/>
          </a:xfrm>
          <a:custGeom>
            <a:avLst/>
            <a:gdLst/>
            <a:ahLst/>
            <a:rect l="0" t="0" r="r" b="b"/>
            <a:pathLst>
              <a:path w="28" h="4154">
                <a:moveTo>
                  <a:pt x="0" y="0"/>
                </a:moveTo>
                <a:lnTo>
                  <a:pt x="0" y="4154"/>
                </a:lnTo>
                <a:lnTo>
                  <a:pt x="28" y="4154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7" name="" descr=""/>
          <p:cNvPicPr/>
          <p:nvPr/>
        </p:nvPicPr>
        <p:blipFill>
          <a:blip r:embed="rId2"/>
          <a:stretch/>
        </p:blipFill>
        <p:spPr>
          <a:xfrm>
            <a:off x="6448320" y="1476360"/>
            <a:ext cx="894960" cy="106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"/>
          <p:cNvSpPr txBox="1"/>
          <p:nvPr/>
        </p:nvSpPr>
        <p:spPr>
          <a:xfrm>
            <a:off x="2063160" y="2307960"/>
            <a:ext cx="2403000" cy="171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89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Solve fundamental problems, not trends</a:t>
            </a:r>
            <a:endParaRPr b="0" lang="en-US" sz="98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7491600" y="1493280"/>
            <a:ext cx="13510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Timothy Roscoe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7491600" y="1792440"/>
            <a:ext cx="58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MicrosoftYaHei"/>
              </a:rPr>
              <a:t>ETH Zurich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7495920" y="2348640"/>
            <a:ext cx="106920" cy="91800"/>
          </a:xfrm>
          <a:custGeom>
            <a:avLst/>
            <a:gdLst/>
            <a:ahLst/>
            <a:rect l="0" t="0" r="r" b="b"/>
            <a:pathLst>
              <a:path w="297" h="255">
                <a:moveTo>
                  <a:pt x="291" y="142"/>
                </a:moveTo>
                <a:cubicBezTo>
                  <a:pt x="299" y="134"/>
                  <a:pt x="299" y="120"/>
                  <a:pt x="291" y="112"/>
                </a:cubicBezTo>
                <a:lnTo>
                  <a:pt x="184" y="6"/>
                </a:lnTo>
                <a:cubicBezTo>
                  <a:pt x="176" y="-2"/>
                  <a:pt x="163" y="-2"/>
                  <a:pt x="154" y="6"/>
                </a:cubicBezTo>
                <a:cubicBezTo>
                  <a:pt x="146" y="15"/>
                  <a:pt x="146" y="28"/>
                  <a:pt x="154" y="36"/>
                </a:cubicBezTo>
                <a:lnTo>
                  <a:pt x="224" y="106"/>
                </a:lnTo>
                <a:lnTo>
                  <a:pt x="21" y="106"/>
                </a:lnTo>
                <a:cubicBezTo>
                  <a:pt x="10" y="106"/>
                  <a:pt x="0" y="115"/>
                  <a:pt x="0" y="127"/>
                </a:cubicBezTo>
                <a:cubicBezTo>
                  <a:pt x="0" y="139"/>
                  <a:pt x="10" y="148"/>
                  <a:pt x="21" y="148"/>
                </a:cubicBezTo>
                <a:lnTo>
                  <a:pt x="224" y="148"/>
                </a:lnTo>
                <a:lnTo>
                  <a:pt x="154" y="219"/>
                </a:lnTo>
                <a:cubicBezTo>
                  <a:pt x="146" y="227"/>
                  <a:pt x="146" y="241"/>
                  <a:pt x="154" y="249"/>
                </a:cubicBezTo>
                <a:cubicBezTo>
                  <a:pt x="163" y="257"/>
                  <a:pt x="176" y="257"/>
                  <a:pt x="184" y="249"/>
                </a:cubicBezTo>
                <a:lnTo>
                  <a:pt x="291" y="142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7491600" y="2025000"/>
            <a:ext cx="377136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8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"The Aversion to Systematization in Systems Research"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428400" y="2971440"/>
            <a:ext cx="5515200" cy="1619640"/>
          </a:xfrm>
          <a:custGeom>
            <a:avLst/>
            <a:gdLst/>
            <a:ahLst/>
            <a:rect l="0" t="0" r="r" b="b"/>
            <a:pathLst>
              <a:path w="15320" h="4499">
                <a:moveTo>
                  <a:pt x="0" y="0"/>
                </a:moveTo>
                <a:lnTo>
                  <a:pt x="15320" y="0"/>
                </a:lnTo>
                <a:lnTo>
                  <a:pt x="15320" y="4499"/>
                </a:lnTo>
                <a:lnTo>
                  <a:pt x="0" y="44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428400" y="2971440"/>
            <a:ext cx="5515200" cy="38520"/>
          </a:xfrm>
          <a:custGeom>
            <a:avLst/>
            <a:gdLst/>
            <a:ahLst/>
            <a:rect l="0" t="0" r="r" b="b"/>
            <a:pathLst>
              <a:path w="15320" h="107">
                <a:moveTo>
                  <a:pt x="0" y="0"/>
                </a:moveTo>
                <a:lnTo>
                  <a:pt x="15320" y="0"/>
                </a:lnTo>
                <a:lnTo>
                  <a:pt x="1532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428400" y="4581360"/>
            <a:ext cx="5515200" cy="9720"/>
          </a:xfrm>
          <a:custGeom>
            <a:avLst/>
            <a:gdLst/>
            <a:ahLst/>
            <a:rect l="0" t="0" r="r" b="b"/>
            <a:pathLst>
              <a:path w="15320" h="27">
                <a:moveTo>
                  <a:pt x="0" y="0"/>
                </a:moveTo>
                <a:lnTo>
                  <a:pt x="15320" y="0"/>
                </a:lnTo>
                <a:lnTo>
                  <a:pt x="15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933880" y="2971440"/>
            <a:ext cx="9720" cy="1619640"/>
          </a:xfrm>
          <a:custGeom>
            <a:avLst/>
            <a:gdLst/>
            <a:ahLst/>
            <a:rect l="0" t="0" r="r" b="b"/>
            <a:pathLst>
              <a:path w="27" h="4499">
                <a:moveTo>
                  <a:pt x="0" y="106"/>
                </a:moveTo>
                <a:lnTo>
                  <a:pt x="0" y="4499"/>
                </a:lnTo>
                <a:lnTo>
                  <a:pt x="27" y="4499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428400" y="2971440"/>
            <a:ext cx="10080" cy="1619640"/>
          </a:xfrm>
          <a:custGeom>
            <a:avLst/>
            <a:gdLst/>
            <a:ahLst/>
            <a:rect l="0" t="0" r="r" b="b"/>
            <a:pathLst>
              <a:path w="28" h="4499">
                <a:moveTo>
                  <a:pt x="0" y="0"/>
                </a:moveTo>
                <a:lnTo>
                  <a:pt x="0" y="4499"/>
                </a:lnTo>
                <a:lnTo>
                  <a:pt x="28" y="449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8" name="" descr=""/>
          <p:cNvPicPr/>
          <p:nvPr/>
        </p:nvPicPr>
        <p:blipFill>
          <a:blip r:embed="rId3"/>
          <a:stretch/>
        </p:blipFill>
        <p:spPr>
          <a:xfrm>
            <a:off x="628560" y="3200400"/>
            <a:ext cx="1066320" cy="106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"/>
          <p:cNvSpPr txBox="1"/>
          <p:nvPr/>
        </p:nvSpPr>
        <p:spPr>
          <a:xfrm>
            <a:off x="7706880" y="2307960"/>
            <a:ext cx="2873160" cy="171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89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Why we resist principles and how to change that</a:t>
            </a:r>
            <a:endParaRPr b="0" lang="en-US" sz="98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847880" y="3217320"/>
            <a:ext cx="8002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Yubin Xia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1847880" y="3516480"/>
            <a:ext cx="1597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MicrosoftYaHei"/>
              </a:rPr>
              <a:t>Shanghai Jiao Tong University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1847880" y="3749040"/>
            <a:ext cx="37872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8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"Growth and Growing Pains: Systems Research in Asia's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1847520" y="4263120"/>
            <a:ext cx="106920" cy="91800"/>
          </a:xfrm>
          <a:custGeom>
            <a:avLst/>
            <a:gdLst/>
            <a:ahLst/>
            <a:rect l="0" t="0" r="r" b="b"/>
            <a:pathLst>
              <a:path w="297" h="255">
                <a:moveTo>
                  <a:pt x="291" y="142"/>
                </a:moveTo>
                <a:cubicBezTo>
                  <a:pt x="299" y="134"/>
                  <a:pt x="299" y="120"/>
                  <a:pt x="291" y="112"/>
                </a:cubicBezTo>
                <a:lnTo>
                  <a:pt x="185" y="6"/>
                </a:lnTo>
                <a:cubicBezTo>
                  <a:pt x="177" y="-2"/>
                  <a:pt x="164" y="-2"/>
                  <a:pt x="156" y="6"/>
                </a:cubicBezTo>
                <a:cubicBezTo>
                  <a:pt x="147" y="15"/>
                  <a:pt x="147" y="28"/>
                  <a:pt x="156" y="36"/>
                </a:cubicBezTo>
                <a:lnTo>
                  <a:pt x="225" y="106"/>
                </a:lnTo>
                <a:lnTo>
                  <a:pt x="22" y="106"/>
                </a:lnTo>
                <a:cubicBezTo>
                  <a:pt x="10" y="106"/>
                  <a:pt x="0" y="116"/>
                  <a:pt x="0" y="127"/>
                </a:cubicBezTo>
                <a:cubicBezTo>
                  <a:pt x="0" y="139"/>
                  <a:pt x="10" y="148"/>
                  <a:pt x="22" y="148"/>
                </a:cubicBezTo>
                <a:lnTo>
                  <a:pt x="225" y="148"/>
                </a:lnTo>
                <a:lnTo>
                  <a:pt x="156" y="219"/>
                </a:lnTo>
                <a:cubicBezTo>
                  <a:pt x="147" y="227"/>
                  <a:pt x="147" y="241"/>
                  <a:pt x="156" y="249"/>
                </a:cubicBezTo>
                <a:cubicBezTo>
                  <a:pt x="164" y="257"/>
                  <a:pt x="177" y="257"/>
                  <a:pt x="186" y="249"/>
                </a:cubicBezTo>
                <a:lnTo>
                  <a:pt x="291" y="142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1847880" y="3939480"/>
            <a:ext cx="98316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8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Next Chapter"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6248160" y="2971440"/>
            <a:ext cx="5515560" cy="1619640"/>
          </a:xfrm>
          <a:custGeom>
            <a:avLst/>
            <a:gdLst/>
            <a:ahLst/>
            <a:rect l="0" t="0" r="r" b="b"/>
            <a:pathLst>
              <a:path w="15321" h="4499">
                <a:moveTo>
                  <a:pt x="0" y="0"/>
                </a:moveTo>
                <a:lnTo>
                  <a:pt x="15321" y="0"/>
                </a:lnTo>
                <a:lnTo>
                  <a:pt x="15321" y="4499"/>
                </a:lnTo>
                <a:lnTo>
                  <a:pt x="0" y="44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6248160" y="2971440"/>
            <a:ext cx="5515560" cy="38520"/>
          </a:xfrm>
          <a:custGeom>
            <a:avLst/>
            <a:gdLst/>
            <a:ahLst/>
            <a:rect l="0" t="0" r="r" b="b"/>
            <a:pathLst>
              <a:path w="15321" h="107">
                <a:moveTo>
                  <a:pt x="0" y="0"/>
                </a:moveTo>
                <a:lnTo>
                  <a:pt x="15321" y="0"/>
                </a:lnTo>
                <a:lnTo>
                  <a:pt x="1532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6248160" y="4581360"/>
            <a:ext cx="5515560" cy="9720"/>
          </a:xfrm>
          <a:custGeom>
            <a:avLst/>
            <a:gdLst/>
            <a:ahLst/>
            <a:rect l="0" t="0" r="r" b="b"/>
            <a:pathLst>
              <a:path w="15321" h="27">
                <a:moveTo>
                  <a:pt x="0" y="0"/>
                </a:moveTo>
                <a:lnTo>
                  <a:pt x="15321" y="0"/>
                </a:lnTo>
                <a:lnTo>
                  <a:pt x="153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11753640" y="2971440"/>
            <a:ext cx="10080" cy="1619640"/>
          </a:xfrm>
          <a:custGeom>
            <a:avLst/>
            <a:gdLst/>
            <a:ahLst/>
            <a:rect l="0" t="0" r="r" b="b"/>
            <a:pathLst>
              <a:path w="28" h="4499">
                <a:moveTo>
                  <a:pt x="0" y="106"/>
                </a:moveTo>
                <a:lnTo>
                  <a:pt x="0" y="4499"/>
                </a:lnTo>
                <a:lnTo>
                  <a:pt x="28" y="449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6248160" y="2971440"/>
            <a:ext cx="10080" cy="1619640"/>
          </a:xfrm>
          <a:custGeom>
            <a:avLst/>
            <a:gdLst/>
            <a:ahLst/>
            <a:rect l="0" t="0" r="r" b="b"/>
            <a:pathLst>
              <a:path w="28" h="4499">
                <a:moveTo>
                  <a:pt x="0" y="0"/>
                </a:moveTo>
                <a:lnTo>
                  <a:pt x="0" y="4499"/>
                </a:lnTo>
                <a:lnTo>
                  <a:pt x="28" y="449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0" name="" descr=""/>
          <p:cNvPicPr/>
          <p:nvPr/>
        </p:nvPicPr>
        <p:blipFill>
          <a:blip r:embed="rId4"/>
          <a:stretch/>
        </p:blipFill>
        <p:spPr>
          <a:xfrm>
            <a:off x="6448320" y="3200400"/>
            <a:ext cx="1037880" cy="106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"/>
          <p:cNvSpPr txBox="1"/>
          <p:nvPr/>
        </p:nvSpPr>
        <p:spPr>
          <a:xfrm>
            <a:off x="2063160" y="4222440"/>
            <a:ext cx="3422880" cy="171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89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Promise, growing pains, and global community standards</a:t>
            </a:r>
            <a:endParaRPr b="0" lang="en-US" sz="98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641720" y="3217320"/>
            <a:ext cx="14857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Jeanna Matthews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7641720" y="3516480"/>
            <a:ext cx="1830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MicrosoftYaHei"/>
              </a:rPr>
              <a:t>Clarkson University / DuckDuckGo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7638840" y="4072680"/>
            <a:ext cx="106920" cy="91800"/>
          </a:xfrm>
          <a:custGeom>
            <a:avLst/>
            <a:gdLst/>
            <a:ahLst/>
            <a:rect l="0" t="0" r="r" b="b"/>
            <a:pathLst>
              <a:path w="297" h="255">
                <a:moveTo>
                  <a:pt x="291" y="142"/>
                </a:moveTo>
                <a:cubicBezTo>
                  <a:pt x="299" y="134"/>
                  <a:pt x="299" y="120"/>
                  <a:pt x="291" y="112"/>
                </a:cubicBezTo>
                <a:lnTo>
                  <a:pt x="185" y="6"/>
                </a:lnTo>
                <a:cubicBezTo>
                  <a:pt x="177" y="-2"/>
                  <a:pt x="162" y="-2"/>
                  <a:pt x="154" y="6"/>
                </a:cubicBezTo>
                <a:cubicBezTo>
                  <a:pt x="146" y="15"/>
                  <a:pt x="146" y="28"/>
                  <a:pt x="154" y="36"/>
                </a:cubicBezTo>
                <a:lnTo>
                  <a:pt x="225" y="106"/>
                </a:lnTo>
                <a:lnTo>
                  <a:pt x="21" y="106"/>
                </a:lnTo>
                <a:cubicBezTo>
                  <a:pt x="10" y="106"/>
                  <a:pt x="0" y="115"/>
                  <a:pt x="0" y="127"/>
                </a:cubicBezTo>
                <a:cubicBezTo>
                  <a:pt x="0" y="139"/>
                  <a:pt x="10" y="148"/>
                  <a:pt x="21" y="148"/>
                </a:cubicBezTo>
                <a:lnTo>
                  <a:pt x="225" y="148"/>
                </a:lnTo>
                <a:lnTo>
                  <a:pt x="154" y="219"/>
                </a:lnTo>
                <a:cubicBezTo>
                  <a:pt x="146" y="227"/>
                  <a:pt x="146" y="240"/>
                  <a:pt x="154" y="249"/>
                </a:cubicBezTo>
                <a:cubicBezTo>
                  <a:pt x="163" y="257"/>
                  <a:pt x="177" y="257"/>
                  <a:pt x="185" y="249"/>
                </a:cubicBezTo>
                <a:lnTo>
                  <a:pt x="291" y="142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7641720" y="3749040"/>
            <a:ext cx="341064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8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"Operating Systems and Socio-Technical Systems"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428400" y="5171760"/>
            <a:ext cx="11335320" cy="914760"/>
          </a:xfrm>
          <a:custGeom>
            <a:avLst/>
            <a:gdLst/>
            <a:ahLst/>
            <a:rect l="0" t="0" r="r" b="b"/>
            <a:pathLst>
              <a:path w="31487" h="2541">
                <a:moveTo>
                  <a:pt x="0" y="0"/>
                </a:moveTo>
                <a:lnTo>
                  <a:pt x="31487" y="0"/>
                </a:lnTo>
                <a:lnTo>
                  <a:pt x="31487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428400" y="5171760"/>
            <a:ext cx="57600" cy="914760"/>
          </a:xfrm>
          <a:custGeom>
            <a:avLst/>
            <a:gdLst/>
            <a:ahLst/>
            <a:rect l="0" t="0" r="r" b="b"/>
            <a:pathLst>
              <a:path w="160" h="2541">
                <a:moveTo>
                  <a:pt x="0" y="0"/>
                </a:moveTo>
                <a:lnTo>
                  <a:pt x="160" y="0"/>
                </a:lnTo>
                <a:lnTo>
                  <a:pt x="160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676080" y="5362560"/>
            <a:ext cx="533880" cy="533520"/>
          </a:xfrm>
          <a:custGeom>
            <a:avLst/>
            <a:gdLst/>
            <a:ahLst/>
            <a:rect l="0" t="0" r="r" b="b"/>
            <a:pathLst>
              <a:path w="1483" h="1482">
                <a:moveTo>
                  <a:pt x="1483" y="741"/>
                </a:moveTo>
                <a:cubicBezTo>
                  <a:pt x="1483" y="766"/>
                  <a:pt x="1482" y="790"/>
                  <a:pt x="1479" y="814"/>
                </a:cubicBezTo>
                <a:cubicBezTo>
                  <a:pt x="1477" y="838"/>
                  <a:pt x="1473" y="862"/>
                  <a:pt x="1468" y="886"/>
                </a:cubicBezTo>
                <a:cubicBezTo>
                  <a:pt x="1464" y="910"/>
                  <a:pt x="1458" y="933"/>
                  <a:pt x="1451" y="956"/>
                </a:cubicBezTo>
                <a:cubicBezTo>
                  <a:pt x="1444" y="980"/>
                  <a:pt x="1436" y="1002"/>
                  <a:pt x="1426" y="1025"/>
                </a:cubicBezTo>
                <a:cubicBezTo>
                  <a:pt x="1417" y="1047"/>
                  <a:pt x="1407" y="1069"/>
                  <a:pt x="1395" y="1091"/>
                </a:cubicBezTo>
                <a:cubicBezTo>
                  <a:pt x="1384" y="1112"/>
                  <a:pt x="1371" y="1133"/>
                  <a:pt x="1358" y="1153"/>
                </a:cubicBezTo>
                <a:cubicBezTo>
                  <a:pt x="1344" y="1173"/>
                  <a:pt x="1330" y="1193"/>
                  <a:pt x="1315" y="1211"/>
                </a:cubicBezTo>
                <a:cubicBezTo>
                  <a:pt x="1299" y="1230"/>
                  <a:pt x="1283" y="1248"/>
                  <a:pt x="1266" y="1265"/>
                </a:cubicBezTo>
                <a:cubicBezTo>
                  <a:pt x="1249" y="1282"/>
                  <a:pt x="1231" y="1299"/>
                  <a:pt x="1212" y="1314"/>
                </a:cubicBezTo>
                <a:cubicBezTo>
                  <a:pt x="1193" y="1329"/>
                  <a:pt x="1174" y="1344"/>
                  <a:pt x="1153" y="1357"/>
                </a:cubicBezTo>
                <a:cubicBezTo>
                  <a:pt x="1133" y="1371"/>
                  <a:pt x="1112" y="1383"/>
                  <a:pt x="1091" y="1395"/>
                </a:cubicBezTo>
                <a:cubicBezTo>
                  <a:pt x="1070" y="1406"/>
                  <a:pt x="1048" y="1417"/>
                  <a:pt x="1025" y="1426"/>
                </a:cubicBezTo>
                <a:cubicBezTo>
                  <a:pt x="1003" y="1435"/>
                  <a:pt x="980" y="1443"/>
                  <a:pt x="957" y="1450"/>
                </a:cubicBezTo>
                <a:cubicBezTo>
                  <a:pt x="934" y="1457"/>
                  <a:pt x="910" y="1463"/>
                  <a:pt x="886" y="1468"/>
                </a:cubicBezTo>
                <a:cubicBezTo>
                  <a:pt x="863" y="1473"/>
                  <a:pt x="839" y="1476"/>
                  <a:pt x="814" y="1479"/>
                </a:cubicBezTo>
                <a:cubicBezTo>
                  <a:pt x="790" y="1481"/>
                  <a:pt x="766" y="1482"/>
                  <a:pt x="742" y="1482"/>
                </a:cubicBezTo>
                <a:cubicBezTo>
                  <a:pt x="718" y="1482"/>
                  <a:pt x="693" y="1481"/>
                  <a:pt x="669" y="1479"/>
                </a:cubicBezTo>
                <a:cubicBezTo>
                  <a:pt x="645" y="1476"/>
                  <a:pt x="621" y="1473"/>
                  <a:pt x="597" y="1468"/>
                </a:cubicBezTo>
                <a:cubicBezTo>
                  <a:pt x="574" y="1463"/>
                  <a:pt x="550" y="1457"/>
                  <a:pt x="527" y="1450"/>
                </a:cubicBezTo>
                <a:cubicBezTo>
                  <a:pt x="504" y="1443"/>
                  <a:pt x="481" y="1435"/>
                  <a:pt x="458" y="1426"/>
                </a:cubicBezTo>
                <a:cubicBezTo>
                  <a:pt x="436" y="1417"/>
                  <a:pt x="414" y="1406"/>
                  <a:pt x="393" y="1395"/>
                </a:cubicBezTo>
                <a:cubicBezTo>
                  <a:pt x="371" y="1383"/>
                  <a:pt x="350" y="1371"/>
                  <a:pt x="329" y="1357"/>
                </a:cubicBezTo>
                <a:cubicBezTo>
                  <a:pt x="309" y="1344"/>
                  <a:pt x="290" y="1329"/>
                  <a:pt x="271" y="1314"/>
                </a:cubicBezTo>
                <a:cubicBezTo>
                  <a:pt x="252" y="1299"/>
                  <a:pt x="234" y="1282"/>
                  <a:pt x="217" y="1265"/>
                </a:cubicBezTo>
                <a:cubicBezTo>
                  <a:pt x="200" y="1248"/>
                  <a:pt x="184" y="1230"/>
                  <a:pt x="168" y="1211"/>
                </a:cubicBezTo>
                <a:cubicBezTo>
                  <a:pt x="153" y="1193"/>
                  <a:pt x="138" y="1173"/>
                  <a:pt x="125" y="1153"/>
                </a:cubicBezTo>
                <a:cubicBezTo>
                  <a:pt x="111" y="1133"/>
                  <a:pt x="99" y="1112"/>
                  <a:pt x="88" y="1091"/>
                </a:cubicBezTo>
                <a:cubicBezTo>
                  <a:pt x="76" y="1069"/>
                  <a:pt x="66" y="1047"/>
                  <a:pt x="56" y="1025"/>
                </a:cubicBezTo>
                <a:cubicBezTo>
                  <a:pt x="47" y="1002"/>
                  <a:pt x="39" y="980"/>
                  <a:pt x="32" y="956"/>
                </a:cubicBezTo>
                <a:cubicBezTo>
                  <a:pt x="25" y="933"/>
                  <a:pt x="19" y="910"/>
                  <a:pt x="14" y="886"/>
                </a:cubicBezTo>
                <a:cubicBezTo>
                  <a:pt x="10" y="862"/>
                  <a:pt x="6" y="838"/>
                  <a:pt x="4" y="814"/>
                </a:cubicBezTo>
                <a:cubicBezTo>
                  <a:pt x="1" y="790"/>
                  <a:pt x="0" y="766"/>
                  <a:pt x="0" y="741"/>
                </a:cubicBezTo>
                <a:cubicBezTo>
                  <a:pt x="0" y="717"/>
                  <a:pt x="1" y="693"/>
                  <a:pt x="4" y="669"/>
                </a:cubicBezTo>
                <a:cubicBezTo>
                  <a:pt x="6" y="644"/>
                  <a:pt x="10" y="620"/>
                  <a:pt x="14" y="596"/>
                </a:cubicBezTo>
                <a:cubicBezTo>
                  <a:pt x="19" y="572"/>
                  <a:pt x="25" y="549"/>
                  <a:pt x="32" y="525"/>
                </a:cubicBezTo>
                <a:cubicBezTo>
                  <a:pt x="39" y="502"/>
                  <a:pt x="47" y="479"/>
                  <a:pt x="56" y="457"/>
                </a:cubicBezTo>
                <a:cubicBezTo>
                  <a:pt x="66" y="434"/>
                  <a:pt x="76" y="413"/>
                  <a:pt x="88" y="391"/>
                </a:cubicBezTo>
                <a:cubicBezTo>
                  <a:pt x="99" y="370"/>
                  <a:pt x="111" y="349"/>
                  <a:pt x="125" y="329"/>
                </a:cubicBezTo>
                <a:cubicBezTo>
                  <a:pt x="138" y="309"/>
                  <a:pt x="153" y="289"/>
                  <a:pt x="168" y="270"/>
                </a:cubicBezTo>
                <a:cubicBezTo>
                  <a:pt x="184" y="252"/>
                  <a:pt x="200" y="234"/>
                  <a:pt x="217" y="217"/>
                </a:cubicBezTo>
                <a:cubicBezTo>
                  <a:pt x="234" y="199"/>
                  <a:pt x="252" y="183"/>
                  <a:pt x="271" y="168"/>
                </a:cubicBezTo>
                <a:cubicBezTo>
                  <a:pt x="290" y="152"/>
                  <a:pt x="309" y="138"/>
                  <a:pt x="329" y="124"/>
                </a:cubicBezTo>
                <a:cubicBezTo>
                  <a:pt x="350" y="111"/>
                  <a:pt x="371" y="98"/>
                  <a:pt x="393" y="87"/>
                </a:cubicBezTo>
                <a:cubicBezTo>
                  <a:pt x="414" y="76"/>
                  <a:pt x="436" y="65"/>
                  <a:pt x="458" y="56"/>
                </a:cubicBezTo>
                <a:cubicBezTo>
                  <a:pt x="481" y="47"/>
                  <a:pt x="504" y="38"/>
                  <a:pt x="527" y="31"/>
                </a:cubicBezTo>
                <a:cubicBezTo>
                  <a:pt x="550" y="24"/>
                  <a:pt x="574" y="19"/>
                  <a:pt x="597" y="14"/>
                </a:cubicBezTo>
                <a:cubicBezTo>
                  <a:pt x="621" y="9"/>
                  <a:pt x="645" y="5"/>
                  <a:pt x="669" y="3"/>
                </a:cubicBezTo>
                <a:cubicBezTo>
                  <a:pt x="693" y="1"/>
                  <a:pt x="718" y="0"/>
                  <a:pt x="742" y="0"/>
                </a:cubicBezTo>
                <a:cubicBezTo>
                  <a:pt x="766" y="0"/>
                  <a:pt x="790" y="1"/>
                  <a:pt x="814" y="3"/>
                </a:cubicBezTo>
                <a:cubicBezTo>
                  <a:pt x="839" y="5"/>
                  <a:pt x="863" y="9"/>
                  <a:pt x="886" y="14"/>
                </a:cubicBezTo>
                <a:cubicBezTo>
                  <a:pt x="910" y="19"/>
                  <a:pt x="934" y="24"/>
                  <a:pt x="957" y="31"/>
                </a:cubicBezTo>
                <a:cubicBezTo>
                  <a:pt x="980" y="38"/>
                  <a:pt x="1003" y="47"/>
                  <a:pt x="1025" y="56"/>
                </a:cubicBezTo>
                <a:cubicBezTo>
                  <a:pt x="1048" y="65"/>
                  <a:pt x="1070" y="76"/>
                  <a:pt x="1091" y="87"/>
                </a:cubicBezTo>
                <a:cubicBezTo>
                  <a:pt x="1112" y="98"/>
                  <a:pt x="1133" y="111"/>
                  <a:pt x="1153" y="124"/>
                </a:cubicBezTo>
                <a:cubicBezTo>
                  <a:pt x="1174" y="138"/>
                  <a:pt x="1193" y="152"/>
                  <a:pt x="1212" y="168"/>
                </a:cubicBezTo>
                <a:cubicBezTo>
                  <a:pt x="1231" y="183"/>
                  <a:pt x="1249" y="199"/>
                  <a:pt x="1266" y="217"/>
                </a:cubicBezTo>
                <a:cubicBezTo>
                  <a:pt x="1283" y="234"/>
                  <a:pt x="1299" y="252"/>
                  <a:pt x="1315" y="270"/>
                </a:cubicBezTo>
                <a:cubicBezTo>
                  <a:pt x="1330" y="289"/>
                  <a:pt x="1344" y="309"/>
                  <a:pt x="1358" y="329"/>
                </a:cubicBezTo>
                <a:cubicBezTo>
                  <a:pt x="1371" y="349"/>
                  <a:pt x="1384" y="370"/>
                  <a:pt x="1395" y="391"/>
                </a:cubicBezTo>
                <a:cubicBezTo>
                  <a:pt x="1407" y="413"/>
                  <a:pt x="1417" y="434"/>
                  <a:pt x="1426" y="457"/>
                </a:cubicBezTo>
                <a:cubicBezTo>
                  <a:pt x="1436" y="479"/>
                  <a:pt x="1444" y="502"/>
                  <a:pt x="1451" y="525"/>
                </a:cubicBezTo>
                <a:cubicBezTo>
                  <a:pt x="1458" y="549"/>
                  <a:pt x="1464" y="572"/>
                  <a:pt x="1468" y="596"/>
                </a:cubicBezTo>
                <a:cubicBezTo>
                  <a:pt x="1473" y="620"/>
                  <a:pt x="1477" y="644"/>
                  <a:pt x="1479" y="669"/>
                </a:cubicBezTo>
                <a:cubicBezTo>
                  <a:pt x="1482" y="693"/>
                  <a:pt x="1483" y="717"/>
                  <a:pt x="1483" y="741"/>
                </a:cubicBez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828360" y="5514840"/>
            <a:ext cx="229320" cy="228960"/>
          </a:xfrm>
          <a:custGeom>
            <a:avLst/>
            <a:gdLst/>
            <a:ahLst/>
            <a:rect l="0" t="0" r="r" b="b"/>
            <a:pathLst>
              <a:path w="637" h="636">
                <a:moveTo>
                  <a:pt x="598" y="40"/>
                </a:moveTo>
                <a:cubicBezTo>
                  <a:pt x="598" y="24"/>
                  <a:pt x="588" y="9"/>
                  <a:pt x="573" y="3"/>
                </a:cubicBezTo>
                <a:cubicBezTo>
                  <a:pt x="558" y="-3"/>
                  <a:pt x="541" y="0"/>
                  <a:pt x="530" y="11"/>
                </a:cubicBezTo>
                <a:lnTo>
                  <a:pt x="476" y="66"/>
                </a:lnTo>
                <a:cubicBezTo>
                  <a:pt x="416" y="125"/>
                  <a:pt x="335" y="159"/>
                  <a:pt x="250" y="159"/>
                </a:cubicBezTo>
                <a:lnTo>
                  <a:pt x="239" y="159"/>
                </a:lnTo>
                <a:lnTo>
                  <a:pt x="200" y="159"/>
                </a:lnTo>
                <a:lnTo>
                  <a:pt x="81" y="159"/>
                </a:lnTo>
                <a:cubicBezTo>
                  <a:pt x="36" y="159"/>
                  <a:pt x="0" y="194"/>
                  <a:pt x="0" y="238"/>
                </a:cubicBezTo>
                <a:lnTo>
                  <a:pt x="0" y="358"/>
                </a:lnTo>
                <a:cubicBezTo>
                  <a:pt x="0" y="402"/>
                  <a:pt x="36" y="437"/>
                  <a:pt x="81" y="437"/>
                </a:cubicBezTo>
                <a:lnTo>
                  <a:pt x="81" y="596"/>
                </a:lnTo>
                <a:cubicBezTo>
                  <a:pt x="81" y="618"/>
                  <a:pt x="98" y="636"/>
                  <a:pt x="120" y="636"/>
                </a:cubicBezTo>
                <a:lnTo>
                  <a:pt x="200" y="636"/>
                </a:lnTo>
                <a:cubicBezTo>
                  <a:pt x="222" y="636"/>
                  <a:pt x="239" y="618"/>
                  <a:pt x="239" y="596"/>
                </a:cubicBezTo>
                <a:lnTo>
                  <a:pt x="239" y="437"/>
                </a:lnTo>
                <a:lnTo>
                  <a:pt x="250" y="437"/>
                </a:lnTo>
                <a:cubicBezTo>
                  <a:pt x="335" y="437"/>
                  <a:pt x="416" y="471"/>
                  <a:pt x="476" y="530"/>
                </a:cubicBezTo>
                <a:lnTo>
                  <a:pt x="530" y="585"/>
                </a:lnTo>
                <a:cubicBezTo>
                  <a:pt x="541" y="596"/>
                  <a:pt x="558" y="599"/>
                  <a:pt x="573" y="593"/>
                </a:cubicBezTo>
                <a:cubicBezTo>
                  <a:pt x="588" y="587"/>
                  <a:pt x="598" y="572"/>
                  <a:pt x="598" y="556"/>
                </a:cubicBezTo>
                <a:lnTo>
                  <a:pt x="598" y="373"/>
                </a:lnTo>
                <a:cubicBezTo>
                  <a:pt x="621" y="363"/>
                  <a:pt x="637" y="333"/>
                  <a:pt x="637" y="299"/>
                </a:cubicBezTo>
                <a:cubicBezTo>
                  <a:pt x="637" y="264"/>
                  <a:pt x="621" y="234"/>
                  <a:pt x="598" y="223"/>
                </a:cubicBezTo>
                <a:lnTo>
                  <a:pt x="598" y="40"/>
                </a:lnTo>
                <a:moveTo>
                  <a:pt x="518" y="135"/>
                </a:moveTo>
                <a:lnTo>
                  <a:pt x="518" y="299"/>
                </a:lnTo>
                <a:lnTo>
                  <a:pt x="518" y="461"/>
                </a:lnTo>
                <a:cubicBezTo>
                  <a:pt x="445" y="395"/>
                  <a:pt x="349" y="358"/>
                  <a:pt x="250" y="358"/>
                </a:cubicBezTo>
                <a:lnTo>
                  <a:pt x="239" y="358"/>
                </a:lnTo>
                <a:lnTo>
                  <a:pt x="239" y="238"/>
                </a:lnTo>
                <a:lnTo>
                  <a:pt x="250" y="238"/>
                </a:lnTo>
                <a:cubicBezTo>
                  <a:pt x="349" y="238"/>
                  <a:pt x="445" y="201"/>
                  <a:pt x="518" y="13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7857000" y="4032000"/>
            <a:ext cx="1784160" cy="171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89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Building healthy communities</a:t>
            </a:r>
            <a:endParaRPr b="0" lang="en-US" sz="98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1400040" y="5379480"/>
            <a:ext cx="11325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Call to Action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1400040" y="5675760"/>
            <a:ext cx="8430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Reclaim OS as foundational, not peripheral — from principles to practice, from individuals to global community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7808400" y="6525000"/>
            <a:ext cx="3922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Chair: Frans Kaashoek (MIT) | 16:10 – 17:10 | Group Discussion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428400" y="981000"/>
            <a:ext cx="231480" cy="185040"/>
          </a:xfrm>
          <a:custGeom>
            <a:avLst/>
            <a:gdLst/>
            <a:ahLst/>
            <a:rect l="0" t="0" r="r" b="b"/>
            <a:pathLst>
              <a:path w="643" h="514">
                <a:moveTo>
                  <a:pt x="145" y="0"/>
                </a:moveTo>
                <a:cubicBezTo>
                  <a:pt x="155" y="0"/>
                  <a:pt x="165" y="2"/>
                  <a:pt x="175" y="6"/>
                </a:cubicBezTo>
                <a:cubicBezTo>
                  <a:pt x="185" y="10"/>
                  <a:pt x="194" y="16"/>
                  <a:pt x="201" y="23"/>
                </a:cubicBezTo>
                <a:cubicBezTo>
                  <a:pt x="209" y="31"/>
                  <a:pt x="215" y="40"/>
                  <a:pt x="219" y="49"/>
                </a:cubicBezTo>
                <a:cubicBezTo>
                  <a:pt x="223" y="59"/>
                  <a:pt x="225" y="69"/>
                  <a:pt x="225" y="80"/>
                </a:cubicBezTo>
                <a:cubicBezTo>
                  <a:pt x="225" y="91"/>
                  <a:pt x="223" y="102"/>
                  <a:pt x="219" y="112"/>
                </a:cubicBezTo>
                <a:cubicBezTo>
                  <a:pt x="215" y="122"/>
                  <a:pt x="209" y="130"/>
                  <a:pt x="201" y="138"/>
                </a:cubicBezTo>
                <a:cubicBezTo>
                  <a:pt x="194" y="145"/>
                  <a:pt x="185" y="151"/>
                  <a:pt x="175" y="155"/>
                </a:cubicBezTo>
                <a:cubicBezTo>
                  <a:pt x="165" y="159"/>
                  <a:pt x="155" y="161"/>
                  <a:pt x="145" y="161"/>
                </a:cubicBezTo>
                <a:cubicBezTo>
                  <a:pt x="134" y="161"/>
                  <a:pt x="124" y="159"/>
                  <a:pt x="114" y="155"/>
                </a:cubicBezTo>
                <a:cubicBezTo>
                  <a:pt x="104" y="151"/>
                  <a:pt x="95" y="145"/>
                  <a:pt x="88" y="138"/>
                </a:cubicBezTo>
                <a:cubicBezTo>
                  <a:pt x="80" y="130"/>
                  <a:pt x="75" y="122"/>
                  <a:pt x="70" y="112"/>
                </a:cubicBezTo>
                <a:cubicBezTo>
                  <a:pt x="66" y="102"/>
                  <a:pt x="64" y="91"/>
                  <a:pt x="64" y="80"/>
                </a:cubicBezTo>
                <a:cubicBezTo>
                  <a:pt x="64" y="69"/>
                  <a:pt x="66" y="59"/>
                  <a:pt x="70" y="49"/>
                </a:cubicBezTo>
                <a:cubicBezTo>
                  <a:pt x="75" y="40"/>
                  <a:pt x="80" y="31"/>
                  <a:pt x="88" y="23"/>
                </a:cubicBezTo>
                <a:cubicBezTo>
                  <a:pt x="95" y="16"/>
                  <a:pt x="104" y="10"/>
                  <a:pt x="114" y="6"/>
                </a:cubicBezTo>
                <a:cubicBezTo>
                  <a:pt x="124" y="2"/>
                  <a:pt x="134" y="0"/>
                  <a:pt x="145" y="0"/>
                </a:cubicBezTo>
                <a:moveTo>
                  <a:pt x="515" y="0"/>
                </a:moveTo>
                <a:cubicBezTo>
                  <a:pt x="525" y="0"/>
                  <a:pt x="536" y="2"/>
                  <a:pt x="545" y="6"/>
                </a:cubicBezTo>
                <a:cubicBezTo>
                  <a:pt x="555" y="10"/>
                  <a:pt x="564" y="16"/>
                  <a:pt x="571" y="23"/>
                </a:cubicBezTo>
                <a:cubicBezTo>
                  <a:pt x="579" y="31"/>
                  <a:pt x="585" y="40"/>
                  <a:pt x="589" y="49"/>
                </a:cubicBezTo>
                <a:cubicBezTo>
                  <a:pt x="593" y="59"/>
                  <a:pt x="595" y="69"/>
                  <a:pt x="595" y="80"/>
                </a:cubicBezTo>
                <a:cubicBezTo>
                  <a:pt x="595" y="91"/>
                  <a:pt x="593" y="102"/>
                  <a:pt x="589" y="112"/>
                </a:cubicBezTo>
                <a:cubicBezTo>
                  <a:pt x="585" y="122"/>
                  <a:pt x="579" y="130"/>
                  <a:pt x="571" y="138"/>
                </a:cubicBezTo>
                <a:cubicBezTo>
                  <a:pt x="564" y="145"/>
                  <a:pt x="555" y="151"/>
                  <a:pt x="545" y="155"/>
                </a:cubicBezTo>
                <a:cubicBezTo>
                  <a:pt x="536" y="159"/>
                  <a:pt x="525" y="161"/>
                  <a:pt x="515" y="161"/>
                </a:cubicBezTo>
                <a:cubicBezTo>
                  <a:pt x="504" y="161"/>
                  <a:pt x="494" y="159"/>
                  <a:pt x="484" y="155"/>
                </a:cubicBezTo>
                <a:cubicBezTo>
                  <a:pt x="474" y="151"/>
                  <a:pt x="466" y="145"/>
                  <a:pt x="458" y="138"/>
                </a:cubicBezTo>
                <a:cubicBezTo>
                  <a:pt x="450" y="130"/>
                  <a:pt x="445" y="122"/>
                  <a:pt x="441" y="112"/>
                </a:cubicBezTo>
                <a:cubicBezTo>
                  <a:pt x="437" y="102"/>
                  <a:pt x="434" y="91"/>
                  <a:pt x="434" y="80"/>
                </a:cubicBezTo>
                <a:cubicBezTo>
                  <a:pt x="434" y="69"/>
                  <a:pt x="437" y="59"/>
                  <a:pt x="441" y="49"/>
                </a:cubicBezTo>
                <a:cubicBezTo>
                  <a:pt x="445" y="40"/>
                  <a:pt x="450" y="31"/>
                  <a:pt x="458" y="23"/>
                </a:cubicBezTo>
                <a:cubicBezTo>
                  <a:pt x="466" y="16"/>
                  <a:pt x="474" y="10"/>
                  <a:pt x="484" y="6"/>
                </a:cubicBezTo>
                <a:cubicBezTo>
                  <a:pt x="494" y="2"/>
                  <a:pt x="504" y="0"/>
                  <a:pt x="515" y="0"/>
                </a:cubicBezTo>
                <a:moveTo>
                  <a:pt x="0" y="300"/>
                </a:moveTo>
                <a:cubicBezTo>
                  <a:pt x="0" y="241"/>
                  <a:pt x="48" y="193"/>
                  <a:pt x="107" y="193"/>
                </a:cubicBezTo>
                <a:lnTo>
                  <a:pt x="150" y="193"/>
                </a:lnTo>
                <a:cubicBezTo>
                  <a:pt x="166" y="193"/>
                  <a:pt x="181" y="197"/>
                  <a:pt x="195" y="203"/>
                </a:cubicBezTo>
                <a:cubicBezTo>
                  <a:pt x="193" y="210"/>
                  <a:pt x="193" y="218"/>
                  <a:pt x="193" y="226"/>
                </a:cubicBezTo>
                <a:cubicBezTo>
                  <a:pt x="193" y="264"/>
                  <a:pt x="210" y="298"/>
                  <a:pt x="236" y="322"/>
                </a:cubicBezTo>
                <a:lnTo>
                  <a:pt x="21" y="322"/>
                </a:lnTo>
                <a:cubicBezTo>
                  <a:pt x="10" y="322"/>
                  <a:pt x="0" y="312"/>
                  <a:pt x="0" y="300"/>
                </a:cubicBezTo>
                <a:moveTo>
                  <a:pt x="407" y="322"/>
                </a:moveTo>
                <a:lnTo>
                  <a:pt x="406" y="322"/>
                </a:lnTo>
                <a:cubicBezTo>
                  <a:pt x="434" y="298"/>
                  <a:pt x="450" y="264"/>
                  <a:pt x="450" y="226"/>
                </a:cubicBezTo>
                <a:cubicBezTo>
                  <a:pt x="450" y="218"/>
                  <a:pt x="450" y="210"/>
                  <a:pt x="449" y="203"/>
                </a:cubicBezTo>
                <a:cubicBezTo>
                  <a:pt x="462" y="197"/>
                  <a:pt x="477" y="193"/>
                  <a:pt x="493" y="193"/>
                </a:cubicBezTo>
                <a:lnTo>
                  <a:pt x="536" y="193"/>
                </a:lnTo>
                <a:cubicBezTo>
                  <a:pt x="595" y="193"/>
                  <a:pt x="643" y="241"/>
                  <a:pt x="643" y="300"/>
                </a:cubicBezTo>
                <a:cubicBezTo>
                  <a:pt x="643" y="312"/>
                  <a:pt x="634" y="322"/>
                  <a:pt x="622" y="322"/>
                </a:cubicBezTo>
                <a:lnTo>
                  <a:pt x="407" y="322"/>
                </a:lnTo>
                <a:moveTo>
                  <a:pt x="225" y="226"/>
                </a:moveTo>
                <a:cubicBezTo>
                  <a:pt x="225" y="213"/>
                  <a:pt x="227" y="200"/>
                  <a:pt x="232" y="189"/>
                </a:cubicBezTo>
                <a:cubicBezTo>
                  <a:pt x="237" y="177"/>
                  <a:pt x="244" y="166"/>
                  <a:pt x="253" y="157"/>
                </a:cubicBezTo>
                <a:cubicBezTo>
                  <a:pt x="262" y="148"/>
                  <a:pt x="272" y="141"/>
                  <a:pt x="284" y="137"/>
                </a:cubicBezTo>
                <a:cubicBezTo>
                  <a:pt x="296" y="132"/>
                  <a:pt x="308" y="129"/>
                  <a:pt x="321" y="129"/>
                </a:cubicBezTo>
                <a:cubicBezTo>
                  <a:pt x="334" y="129"/>
                  <a:pt x="346" y="132"/>
                  <a:pt x="358" y="137"/>
                </a:cubicBezTo>
                <a:cubicBezTo>
                  <a:pt x="370" y="141"/>
                  <a:pt x="380" y="148"/>
                  <a:pt x="389" y="157"/>
                </a:cubicBezTo>
                <a:cubicBezTo>
                  <a:pt x="398" y="166"/>
                  <a:pt x="405" y="177"/>
                  <a:pt x="410" y="189"/>
                </a:cubicBezTo>
                <a:cubicBezTo>
                  <a:pt x="416" y="200"/>
                  <a:pt x="418" y="213"/>
                  <a:pt x="418" y="226"/>
                </a:cubicBezTo>
                <a:cubicBezTo>
                  <a:pt x="418" y="238"/>
                  <a:pt x="416" y="251"/>
                  <a:pt x="410" y="262"/>
                </a:cubicBezTo>
                <a:cubicBezTo>
                  <a:pt x="405" y="274"/>
                  <a:pt x="398" y="285"/>
                  <a:pt x="389" y="294"/>
                </a:cubicBezTo>
                <a:cubicBezTo>
                  <a:pt x="380" y="303"/>
                  <a:pt x="370" y="310"/>
                  <a:pt x="358" y="315"/>
                </a:cubicBezTo>
                <a:cubicBezTo>
                  <a:pt x="346" y="319"/>
                  <a:pt x="334" y="322"/>
                  <a:pt x="321" y="322"/>
                </a:cubicBezTo>
                <a:cubicBezTo>
                  <a:pt x="308" y="322"/>
                  <a:pt x="296" y="319"/>
                  <a:pt x="284" y="315"/>
                </a:cubicBezTo>
                <a:cubicBezTo>
                  <a:pt x="272" y="310"/>
                  <a:pt x="262" y="303"/>
                  <a:pt x="253" y="294"/>
                </a:cubicBezTo>
                <a:cubicBezTo>
                  <a:pt x="244" y="285"/>
                  <a:pt x="237" y="274"/>
                  <a:pt x="232" y="262"/>
                </a:cubicBezTo>
                <a:cubicBezTo>
                  <a:pt x="227" y="251"/>
                  <a:pt x="225" y="238"/>
                  <a:pt x="225" y="226"/>
                </a:cubicBezTo>
                <a:moveTo>
                  <a:pt x="129" y="488"/>
                </a:moveTo>
                <a:cubicBezTo>
                  <a:pt x="129" y="414"/>
                  <a:pt x="188" y="354"/>
                  <a:pt x="262" y="354"/>
                </a:cubicBezTo>
                <a:lnTo>
                  <a:pt x="380" y="354"/>
                </a:lnTo>
                <a:cubicBezTo>
                  <a:pt x="455" y="354"/>
                  <a:pt x="515" y="414"/>
                  <a:pt x="515" y="488"/>
                </a:cubicBezTo>
                <a:cubicBezTo>
                  <a:pt x="515" y="502"/>
                  <a:pt x="503" y="514"/>
                  <a:pt x="488" y="514"/>
                </a:cubicBezTo>
                <a:lnTo>
                  <a:pt x="155" y="514"/>
                </a:lnTo>
                <a:cubicBezTo>
                  <a:pt x="141" y="514"/>
                  <a:pt x="129" y="503"/>
                  <a:pt x="129" y="48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428760" y="251280"/>
            <a:ext cx="744372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Community &amp; Legacy: 60 Years, Still Growing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770760" y="945360"/>
            <a:ext cx="219240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A Lineage of Visionaries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428760" y="1365840"/>
            <a:ext cx="5191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From </a:t>
            </a:r>
            <a:r>
              <a:rPr b="1" lang="en-US" sz="117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Denning, Lampson, Liskov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pioneers who shaped the foundations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428760" y="1603800"/>
            <a:ext cx="5196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of operating systems — to </a:t>
            </a:r>
            <a:r>
              <a:rPr b="1" lang="en-US" sz="117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Patterson, Kaashoek, Chen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leaders defining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3" name="" descr=""/>
          <p:cNvPicPr/>
          <p:nvPr/>
        </p:nvPicPr>
        <p:blipFill>
          <a:blip r:embed="rId1"/>
          <a:stretch/>
        </p:blipFill>
        <p:spPr>
          <a:xfrm>
            <a:off x="895320" y="2219400"/>
            <a:ext cx="704520" cy="88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"/>
          <p:cNvSpPr txBox="1"/>
          <p:nvPr/>
        </p:nvSpPr>
        <p:spPr>
          <a:xfrm>
            <a:off x="428760" y="1842120"/>
            <a:ext cx="2601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era of AI and distributed systems.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783000" y="3176280"/>
            <a:ext cx="9291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2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Peter Denning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6" name="" descr=""/>
          <p:cNvPicPr/>
          <p:nvPr/>
        </p:nvPicPr>
        <p:blipFill>
          <a:blip r:embed="rId2"/>
          <a:stretch/>
        </p:blipFill>
        <p:spPr>
          <a:xfrm>
            <a:off x="2448000" y="2219400"/>
            <a:ext cx="1333080" cy="88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"/>
          <p:cNvSpPr txBox="1"/>
          <p:nvPr/>
        </p:nvSpPr>
        <p:spPr>
          <a:xfrm>
            <a:off x="822600" y="3358080"/>
            <a:ext cx="8388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8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Founding Editor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2599200" y="3176280"/>
            <a:ext cx="1023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2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Butler Lampson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9" name="" descr=""/>
          <p:cNvPicPr/>
          <p:nvPr/>
        </p:nvPicPr>
        <p:blipFill>
          <a:blip r:embed="rId3"/>
          <a:stretch/>
        </p:blipFill>
        <p:spPr>
          <a:xfrm>
            <a:off x="4181400" y="2219400"/>
            <a:ext cx="1580760" cy="88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"/>
          <p:cNvSpPr txBox="1"/>
          <p:nvPr/>
        </p:nvSpPr>
        <p:spPr>
          <a:xfrm>
            <a:off x="2614320" y="3358080"/>
            <a:ext cx="9907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8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Turing Award 1992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4453920" y="3176280"/>
            <a:ext cx="10371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2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David Patterson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6095880" y="942840"/>
            <a:ext cx="9720" cy="2572200"/>
          </a:xfrm>
          <a:custGeom>
            <a:avLst/>
            <a:gdLst/>
            <a:ahLst/>
            <a:rect l="0" t="0" r="r" b="b"/>
            <a:pathLst>
              <a:path w="27" h="7145">
                <a:moveTo>
                  <a:pt x="0" y="0"/>
                </a:moveTo>
                <a:lnTo>
                  <a:pt x="27" y="0"/>
                </a:lnTo>
                <a:lnTo>
                  <a:pt x="27" y="7145"/>
                </a:lnTo>
                <a:lnTo>
                  <a:pt x="0" y="714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6400440" y="981000"/>
            <a:ext cx="185400" cy="185400"/>
          </a:xfrm>
          <a:custGeom>
            <a:avLst/>
            <a:gdLst/>
            <a:ahLst/>
            <a:rect l="0" t="0" r="r" b="b"/>
            <a:pathLst>
              <a:path w="515" h="515">
                <a:moveTo>
                  <a:pt x="354" y="258"/>
                </a:moveTo>
                <a:cubicBezTo>
                  <a:pt x="354" y="280"/>
                  <a:pt x="353" y="301"/>
                  <a:pt x="350" y="322"/>
                </a:cubicBezTo>
                <a:lnTo>
                  <a:pt x="164" y="322"/>
                </a:lnTo>
                <a:cubicBezTo>
                  <a:pt x="162" y="301"/>
                  <a:pt x="161" y="280"/>
                  <a:pt x="161" y="258"/>
                </a:cubicBezTo>
                <a:cubicBezTo>
                  <a:pt x="161" y="235"/>
                  <a:pt x="162" y="214"/>
                  <a:pt x="164" y="193"/>
                </a:cubicBezTo>
                <a:lnTo>
                  <a:pt x="350" y="193"/>
                </a:lnTo>
                <a:cubicBezTo>
                  <a:pt x="353" y="214"/>
                  <a:pt x="354" y="235"/>
                  <a:pt x="354" y="258"/>
                </a:cubicBezTo>
                <a:moveTo>
                  <a:pt x="383" y="193"/>
                </a:moveTo>
                <a:lnTo>
                  <a:pt x="507" y="193"/>
                </a:lnTo>
                <a:cubicBezTo>
                  <a:pt x="513" y="214"/>
                  <a:pt x="515" y="235"/>
                  <a:pt x="515" y="258"/>
                </a:cubicBezTo>
                <a:cubicBezTo>
                  <a:pt x="515" y="280"/>
                  <a:pt x="513" y="301"/>
                  <a:pt x="507" y="322"/>
                </a:cubicBezTo>
                <a:lnTo>
                  <a:pt x="383" y="322"/>
                </a:lnTo>
                <a:cubicBezTo>
                  <a:pt x="385" y="301"/>
                  <a:pt x="386" y="280"/>
                  <a:pt x="386" y="258"/>
                </a:cubicBezTo>
                <a:cubicBezTo>
                  <a:pt x="386" y="236"/>
                  <a:pt x="385" y="214"/>
                  <a:pt x="383" y="193"/>
                </a:cubicBezTo>
                <a:moveTo>
                  <a:pt x="497" y="161"/>
                </a:moveTo>
                <a:lnTo>
                  <a:pt x="379" y="161"/>
                </a:lnTo>
                <a:cubicBezTo>
                  <a:pt x="369" y="96"/>
                  <a:pt x="349" y="42"/>
                  <a:pt x="323" y="8"/>
                </a:cubicBezTo>
                <a:cubicBezTo>
                  <a:pt x="402" y="29"/>
                  <a:pt x="467" y="86"/>
                  <a:pt x="497" y="161"/>
                </a:cubicBezTo>
                <a:moveTo>
                  <a:pt x="346" y="161"/>
                </a:moveTo>
                <a:lnTo>
                  <a:pt x="169" y="161"/>
                </a:lnTo>
                <a:cubicBezTo>
                  <a:pt x="175" y="125"/>
                  <a:pt x="184" y="91"/>
                  <a:pt x="196" y="65"/>
                </a:cubicBezTo>
                <a:cubicBezTo>
                  <a:pt x="206" y="42"/>
                  <a:pt x="218" y="24"/>
                  <a:pt x="230" y="14"/>
                </a:cubicBezTo>
                <a:cubicBezTo>
                  <a:pt x="241" y="3"/>
                  <a:pt x="250" y="0"/>
                  <a:pt x="257" y="0"/>
                </a:cubicBezTo>
                <a:cubicBezTo>
                  <a:pt x="265" y="0"/>
                  <a:pt x="274" y="3"/>
                  <a:pt x="285" y="14"/>
                </a:cubicBezTo>
                <a:cubicBezTo>
                  <a:pt x="297" y="24"/>
                  <a:pt x="308" y="42"/>
                  <a:pt x="319" y="65"/>
                </a:cubicBezTo>
                <a:cubicBezTo>
                  <a:pt x="331" y="91"/>
                  <a:pt x="340" y="125"/>
                  <a:pt x="346" y="161"/>
                </a:cubicBezTo>
                <a:moveTo>
                  <a:pt x="136" y="161"/>
                </a:moveTo>
                <a:lnTo>
                  <a:pt x="19" y="161"/>
                </a:lnTo>
                <a:cubicBezTo>
                  <a:pt x="49" y="86"/>
                  <a:pt x="113" y="29"/>
                  <a:pt x="192" y="8"/>
                </a:cubicBezTo>
                <a:cubicBezTo>
                  <a:pt x="166" y="42"/>
                  <a:pt x="146" y="96"/>
                  <a:pt x="136" y="161"/>
                </a:cubicBezTo>
                <a:moveTo>
                  <a:pt x="9" y="193"/>
                </a:moveTo>
                <a:lnTo>
                  <a:pt x="132" y="193"/>
                </a:lnTo>
                <a:cubicBezTo>
                  <a:pt x="130" y="214"/>
                  <a:pt x="129" y="236"/>
                  <a:pt x="129" y="258"/>
                </a:cubicBezTo>
                <a:cubicBezTo>
                  <a:pt x="129" y="280"/>
                  <a:pt x="130" y="301"/>
                  <a:pt x="132" y="322"/>
                </a:cubicBezTo>
                <a:lnTo>
                  <a:pt x="9" y="322"/>
                </a:lnTo>
                <a:cubicBezTo>
                  <a:pt x="3" y="301"/>
                  <a:pt x="0" y="280"/>
                  <a:pt x="0" y="258"/>
                </a:cubicBezTo>
                <a:cubicBezTo>
                  <a:pt x="0" y="235"/>
                  <a:pt x="3" y="214"/>
                  <a:pt x="9" y="193"/>
                </a:cubicBezTo>
                <a:moveTo>
                  <a:pt x="196" y="449"/>
                </a:moveTo>
                <a:cubicBezTo>
                  <a:pt x="184" y="423"/>
                  <a:pt x="175" y="391"/>
                  <a:pt x="169" y="354"/>
                </a:cubicBezTo>
                <a:lnTo>
                  <a:pt x="346" y="354"/>
                </a:lnTo>
                <a:cubicBezTo>
                  <a:pt x="340" y="391"/>
                  <a:pt x="331" y="423"/>
                  <a:pt x="319" y="449"/>
                </a:cubicBezTo>
                <a:cubicBezTo>
                  <a:pt x="308" y="473"/>
                  <a:pt x="297" y="490"/>
                  <a:pt x="285" y="501"/>
                </a:cubicBezTo>
                <a:cubicBezTo>
                  <a:pt x="274" y="511"/>
                  <a:pt x="265" y="515"/>
                  <a:pt x="257" y="515"/>
                </a:cubicBezTo>
                <a:cubicBezTo>
                  <a:pt x="250" y="515"/>
                  <a:pt x="241" y="511"/>
                  <a:pt x="230" y="501"/>
                </a:cubicBezTo>
                <a:cubicBezTo>
                  <a:pt x="218" y="490"/>
                  <a:pt x="206" y="473"/>
                  <a:pt x="196" y="449"/>
                </a:cubicBezTo>
                <a:moveTo>
                  <a:pt x="136" y="354"/>
                </a:moveTo>
                <a:cubicBezTo>
                  <a:pt x="146" y="418"/>
                  <a:pt x="166" y="472"/>
                  <a:pt x="192" y="506"/>
                </a:cubicBezTo>
                <a:cubicBezTo>
                  <a:pt x="113" y="485"/>
                  <a:pt x="49" y="428"/>
                  <a:pt x="19" y="354"/>
                </a:cubicBezTo>
                <a:lnTo>
                  <a:pt x="136" y="354"/>
                </a:lnTo>
                <a:moveTo>
                  <a:pt x="497" y="354"/>
                </a:moveTo>
                <a:cubicBezTo>
                  <a:pt x="467" y="428"/>
                  <a:pt x="402" y="485"/>
                  <a:pt x="323" y="506"/>
                </a:cubicBezTo>
                <a:cubicBezTo>
                  <a:pt x="349" y="472"/>
                  <a:pt x="369" y="418"/>
                  <a:pt x="379" y="354"/>
                </a:cubicBezTo>
                <a:lnTo>
                  <a:pt x="497" y="354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4476960" y="3358080"/>
            <a:ext cx="9907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8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Turing Award 2017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6405480" y="1414440"/>
            <a:ext cx="352800" cy="362160"/>
          </a:xfrm>
          <a:custGeom>
            <a:avLst/>
            <a:gdLst/>
            <a:ahLst/>
            <a:rect l="0" t="0" r="r" b="b"/>
            <a:pathLst>
              <a:path w="980" h="1006">
                <a:moveTo>
                  <a:pt x="0" y="814"/>
                </a:moveTo>
                <a:lnTo>
                  <a:pt x="0" y="192"/>
                </a:lnTo>
                <a:cubicBezTo>
                  <a:pt x="0" y="179"/>
                  <a:pt x="1" y="167"/>
                  <a:pt x="3" y="154"/>
                </a:cubicBezTo>
                <a:cubicBezTo>
                  <a:pt x="6" y="142"/>
                  <a:pt x="10" y="130"/>
                  <a:pt x="14" y="118"/>
                </a:cubicBezTo>
                <a:cubicBezTo>
                  <a:pt x="19" y="107"/>
                  <a:pt x="25" y="96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5" y="47"/>
                  <a:pt x="75" y="39"/>
                  <a:pt x="85" y="32"/>
                </a:cubicBezTo>
                <a:cubicBezTo>
                  <a:pt x="96" y="25"/>
                  <a:pt x="107" y="19"/>
                  <a:pt x="118" y="14"/>
                </a:cubicBezTo>
                <a:cubicBezTo>
                  <a:pt x="130" y="9"/>
                  <a:pt x="142" y="6"/>
                  <a:pt x="155" y="3"/>
                </a:cubicBezTo>
                <a:cubicBezTo>
                  <a:pt x="167" y="1"/>
                  <a:pt x="179" y="0"/>
                  <a:pt x="192" y="0"/>
                </a:cubicBezTo>
                <a:lnTo>
                  <a:pt x="787" y="0"/>
                </a:lnTo>
                <a:cubicBezTo>
                  <a:pt x="800" y="0"/>
                  <a:pt x="812" y="1"/>
                  <a:pt x="825" y="3"/>
                </a:cubicBezTo>
                <a:cubicBezTo>
                  <a:pt x="837" y="6"/>
                  <a:pt x="849" y="9"/>
                  <a:pt x="861" y="14"/>
                </a:cubicBezTo>
                <a:cubicBezTo>
                  <a:pt x="873" y="19"/>
                  <a:pt x="884" y="25"/>
                  <a:pt x="894" y="32"/>
                </a:cubicBezTo>
                <a:cubicBezTo>
                  <a:pt x="905" y="39"/>
                  <a:pt x="914" y="47"/>
                  <a:pt x="923" y="56"/>
                </a:cubicBezTo>
                <a:cubicBezTo>
                  <a:pt x="932" y="65"/>
                  <a:pt x="940" y="75"/>
                  <a:pt x="947" y="85"/>
                </a:cubicBezTo>
                <a:cubicBezTo>
                  <a:pt x="954" y="96"/>
                  <a:pt x="960" y="107"/>
                  <a:pt x="965" y="118"/>
                </a:cubicBezTo>
                <a:cubicBezTo>
                  <a:pt x="970" y="130"/>
                  <a:pt x="974" y="142"/>
                  <a:pt x="976" y="154"/>
                </a:cubicBezTo>
                <a:cubicBezTo>
                  <a:pt x="978" y="167"/>
                  <a:pt x="980" y="179"/>
                  <a:pt x="980" y="192"/>
                </a:cubicBezTo>
                <a:lnTo>
                  <a:pt x="980" y="814"/>
                </a:lnTo>
                <a:cubicBezTo>
                  <a:pt x="980" y="826"/>
                  <a:pt x="978" y="839"/>
                  <a:pt x="976" y="851"/>
                </a:cubicBezTo>
                <a:cubicBezTo>
                  <a:pt x="974" y="864"/>
                  <a:pt x="970" y="876"/>
                  <a:pt x="965" y="887"/>
                </a:cubicBezTo>
                <a:cubicBezTo>
                  <a:pt x="960" y="899"/>
                  <a:pt x="954" y="910"/>
                  <a:pt x="947" y="920"/>
                </a:cubicBezTo>
                <a:cubicBezTo>
                  <a:pt x="940" y="931"/>
                  <a:pt x="932" y="941"/>
                  <a:pt x="923" y="950"/>
                </a:cubicBezTo>
                <a:cubicBezTo>
                  <a:pt x="914" y="959"/>
                  <a:pt x="905" y="967"/>
                  <a:pt x="894" y="974"/>
                </a:cubicBezTo>
                <a:cubicBezTo>
                  <a:pt x="884" y="981"/>
                  <a:pt x="873" y="986"/>
                  <a:pt x="861" y="991"/>
                </a:cubicBezTo>
                <a:cubicBezTo>
                  <a:pt x="849" y="996"/>
                  <a:pt x="837" y="1000"/>
                  <a:pt x="825" y="1002"/>
                </a:cubicBezTo>
                <a:cubicBezTo>
                  <a:pt x="812" y="1005"/>
                  <a:pt x="800" y="1006"/>
                  <a:pt x="787" y="1006"/>
                </a:cubicBezTo>
                <a:lnTo>
                  <a:pt x="192" y="1006"/>
                </a:lnTo>
                <a:cubicBezTo>
                  <a:pt x="179" y="1006"/>
                  <a:pt x="167" y="1005"/>
                  <a:pt x="155" y="1002"/>
                </a:cubicBezTo>
                <a:cubicBezTo>
                  <a:pt x="142" y="1000"/>
                  <a:pt x="130" y="996"/>
                  <a:pt x="118" y="991"/>
                </a:cubicBezTo>
                <a:cubicBezTo>
                  <a:pt x="107" y="986"/>
                  <a:pt x="96" y="981"/>
                  <a:pt x="85" y="974"/>
                </a:cubicBezTo>
                <a:cubicBezTo>
                  <a:pt x="75" y="967"/>
                  <a:pt x="65" y="959"/>
                  <a:pt x="56" y="950"/>
                </a:cubicBezTo>
                <a:cubicBezTo>
                  <a:pt x="47" y="941"/>
                  <a:pt x="39" y="931"/>
                  <a:pt x="32" y="920"/>
                </a:cubicBezTo>
                <a:cubicBezTo>
                  <a:pt x="25" y="910"/>
                  <a:pt x="19" y="899"/>
                  <a:pt x="14" y="887"/>
                </a:cubicBezTo>
                <a:cubicBezTo>
                  <a:pt x="10" y="876"/>
                  <a:pt x="6" y="864"/>
                  <a:pt x="3" y="851"/>
                </a:cubicBezTo>
                <a:cubicBezTo>
                  <a:pt x="1" y="839"/>
                  <a:pt x="0" y="826"/>
                  <a:pt x="0" y="81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6405480" y="1414440"/>
            <a:ext cx="352800" cy="362160"/>
          </a:xfrm>
          <a:custGeom>
            <a:avLst/>
            <a:gdLst/>
            <a:ahLst/>
            <a:rect l="0" t="0" r="r" b="b"/>
            <a:pathLst>
              <a:path fill="none" w="980" h="1006">
                <a:moveTo>
                  <a:pt x="0" y="814"/>
                </a:moveTo>
                <a:lnTo>
                  <a:pt x="0" y="192"/>
                </a:lnTo>
                <a:cubicBezTo>
                  <a:pt x="0" y="179"/>
                  <a:pt x="1" y="167"/>
                  <a:pt x="3" y="154"/>
                </a:cubicBezTo>
                <a:cubicBezTo>
                  <a:pt x="6" y="142"/>
                  <a:pt x="10" y="130"/>
                  <a:pt x="14" y="118"/>
                </a:cubicBezTo>
                <a:cubicBezTo>
                  <a:pt x="19" y="107"/>
                  <a:pt x="25" y="96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5" y="47"/>
                  <a:pt x="75" y="39"/>
                  <a:pt x="85" y="32"/>
                </a:cubicBezTo>
                <a:cubicBezTo>
                  <a:pt x="96" y="25"/>
                  <a:pt x="107" y="19"/>
                  <a:pt x="118" y="14"/>
                </a:cubicBezTo>
                <a:cubicBezTo>
                  <a:pt x="130" y="9"/>
                  <a:pt x="142" y="6"/>
                  <a:pt x="155" y="3"/>
                </a:cubicBezTo>
                <a:cubicBezTo>
                  <a:pt x="167" y="1"/>
                  <a:pt x="179" y="0"/>
                  <a:pt x="192" y="0"/>
                </a:cubicBezTo>
                <a:lnTo>
                  <a:pt x="787" y="0"/>
                </a:lnTo>
                <a:cubicBezTo>
                  <a:pt x="800" y="0"/>
                  <a:pt x="812" y="1"/>
                  <a:pt x="825" y="3"/>
                </a:cubicBezTo>
                <a:cubicBezTo>
                  <a:pt x="837" y="6"/>
                  <a:pt x="849" y="9"/>
                  <a:pt x="861" y="14"/>
                </a:cubicBezTo>
                <a:cubicBezTo>
                  <a:pt x="873" y="19"/>
                  <a:pt x="884" y="25"/>
                  <a:pt x="894" y="32"/>
                </a:cubicBezTo>
                <a:cubicBezTo>
                  <a:pt x="905" y="39"/>
                  <a:pt x="914" y="47"/>
                  <a:pt x="923" y="56"/>
                </a:cubicBezTo>
                <a:cubicBezTo>
                  <a:pt x="932" y="65"/>
                  <a:pt x="940" y="75"/>
                  <a:pt x="947" y="85"/>
                </a:cubicBezTo>
                <a:cubicBezTo>
                  <a:pt x="954" y="96"/>
                  <a:pt x="960" y="107"/>
                  <a:pt x="965" y="118"/>
                </a:cubicBezTo>
                <a:cubicBezTo>
                  <a:pt x="970" y="130"/>
                  <a:pt x="974" y="142"/>
                  <a:pt x="976" y="154"/>
                </a:cubicBezTo>
                <a:cubicBezTo>
                  <a:pt x="978" y="167"/>
                  <a:pt x="980" y="179"/>
                  <a:pt x="980" y="192"/>
                </a:cubicBezTo>
                <a:lnTo>
                  <a:pt x="980" y="814"/>
                </a:lnTo>
                <a:cubicBezTo>
                  <a:pt x="980" y="826"/>
                  <a:pt x="978" y="839"/>
                  <a:pt x="976" y="851"/>
                </a:cubicBezTo>
                <a:cubicBezTo>
                  <a:pt x="974" y="864"/>
                  <a:pt x="970" y="876"/>
                  <a:pt x="965" y="887"/>
                </a:cubicBezTo>
                <a:cubicBezTo>
                  <a:pt x="960" y="899"/>
                  <a:pt x="954" y="910"/>
                  <a:pt x="947" y="920"/>
                </a:cubicBezTo>
                <a:cubicBezTo>
                  <a:pt x="940" y="931"/>
                  <a:pt x="932" y="941"/>
                  <a:pt x="923" y="950"/>
                </a:cubicBezTo>
                <a:cubicBezTo>
                  <a:pt x="914" y="959"/>
                  <a:pt x="905" y="967"/>
                  <a:pt x="894" y="974"/>
                </a:cubicBezTo>
                <a:cubicBezTo>
                  <a:pt x="884" y="981"/>
                  <a:pt x="873" y="986"/>
                  <a:pt x="861" y="991"/>
                </a:cubicBezTo>
                <a:cubicBezTo>
                  <a:pt x="849" y="996"/>
                  <a:pt x="837" y="1000"/>
                  <a:pt x="825" y="1002"/>
                </a:cubicBezTo>
                <a:cubicBezTo>
                  <a:pt x="812" y="1005"/>
                  <a:pt x="800" y="1006"/>
                  <a:pt x="787" y="1006"/>
                </a:cubicBezTo>
                <a:lnTo>
                  <a:pt x="192" y="1006"/>
                </a:lnTo>
                <a:cubicBezTo>
                  <a:pt x="179" y="1006"/>
                  <a:pt x="167" y="1005"/>
                  <a:pt x="155" y="1002"/>
                </a:cubicBezTo>
                <a:cubicBezTo>
                  <a:pt x="142" y="1000"/>
                  <a:pt x="130" y="996"/>
                  <a:pt x="118" y="991"/>
                </a:cubicBezTo>
                <a:cubicBezTo>
                  <a:pt x="107" y="986"/>
                  <a:pt x="96" y="981"/>
                  <a:pt x="85" y="974"/>
                </a:cubicBezTo>
                <a:cubicBezTo>
                  <a:pt x="75" y="967"/>
                  <a:pt x="65" y="959"/>
                  <a:pt x="56" y="950"/>
                </a:cubicBezTo>
                <a:cubicBezTo>
                  <a:pt x="47" y="941"/>
                  <a:pt x="39" y="931"/>
                  <a:pt x="32" y="920"/>
                </a:cubicBezTo>
                <a:cubicBezTo>
                  <a:pt x="25" y="910"/>
                  <a:pt x="19" y="899"/>
                  <a:pt x="14" y="887"/>
                </a:cubicBezTo>
                <a:cubicBezTo>
                  <a:pt x="10" y="876"/>
                  <a:pt x="6" y="864"/>
                  <a:pt x="3" y="851"/>
                </a:cubicBezTo>
                <a:cubicBezTo>
                  <a:pt x="1" y="839"/>
                  <a:pt x="0" y="826"/>
                  <a:pt x="0" y="814"/>
                </a:cubicBezTo>
              </a:path>
            </a:pathLst>
          </a:custGeom>
          <a:ln w="9360">
            <a:solidFill>
              <a:srgbClr val="bfdb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6505560" y="1533240"/>
            <a:ext cx="147960" cy="129600"/>
          </a:xfrm>
          <a:custGeom>
            <a:avLst/>
            <a:gdLst/>
            <a:ahLst/>
            <a:rect l="0" t="0" r="r" b="b"/>
            <a:pathLst>
              <a:path w="411" h="360">
                <a:moveTo>
                  <a:pt x="51" y="25"/>
                </a:moveTo>
                <a:cubicBezTo>
                  <a:pt x="51" y="11"/>
                  <a:pt x="39" y="0"/>
                  <a:pt x="25" y="0"/>
                </a:cubicBezTo>
                <a:cubicBezTo>
                  <a:pt x="11" y="0"/>
                  <a:pt x="0" y="11"/>
                  <a:pt x="0" y="25"/>
                </a:cubicBezTo>
                <a:lnTo>
                  <a:pt x="0" y="296"/>
                </a:lnTo>
                <a:cubicBezTo>
                  <a:pt x="0" y="331"/>
                  <a:pt x="28" y="360"/>
                  <a:pt x="64" y="360"/>
                </a:cubicBezTo>
                <a:lnTo>
                  <a:pt x="386" y="360"/>
                </a:lnTo>
                <a:cubicBezTo>
                  <a:pt x="400" y="360"/>
                  <a:pt x="411" y="349"/>
                  <a:pt x="411" y="334"/>
                </a:cubicBezTo>
                <a:cubicBezTo>
                  <a:pt x="411" y="320"/>
                  <a:pt x="400" y="309"/>
                  <a:pt x="386" y="309"/>
                </a:cubicBezTo>
                <a:lnTo>
                  <a:pt x="64" y="309"/>
                </a:lnTo>
                <a:cubicBezTo>
                  <a:pt x="57" y="309"/>
                  <a:pt x="51" y="303"/>
                  <a:pt x="51" y="296"/>
                </a:cubicBezTo>
                <a:lnTo>
                  <a:pt x="51" y="25"/>
                </a:lnTo>
                <a:moveTo>
                  <a:pt x="378" y="95"/>
                </a:moveTo>
                <a:cubicBezTo>
                  <a:pt x="388" y="85"/>
                  <a:pt x="388" y="68"/>
                  <a:pt x="378" y="58"/>
                </a:cubicBezTo>
                <a:cubicBezTo>
                  <a:pt x="368" y="48"/>
                  <a:pt x="352" y="48"/>
                  <a:pt x="342" y="58"/>
                </a:cubicBezTo>
                <a:lnTo>
                  <a:pt x="257" y="143"/>
                </a:lnTo>
                <a:lnTo>
                  <a:pt x="211" y="97"/>
                </a:lnTo>
                <a:cubicBezTo>
                  <a:pt x="201" y="87"/>
                  <a:pt x="185" y="87"/>
                  <a:pt x="175" y="97"/>
                </a:cubicBezTo>
                <a:lnTo>
                  <a:pt x="84" y="187"/>
                </a:lnTo>
                <a:cubicBezTo>
                  <a:pt x="74" y="197"/>
                  <a:pt x="74" y="213"/>
                  <a:pt x="84" y="223"/>
                </a:cubicBezTo>
                <a:cubicBezTo>
                  <a:pt x="94" y="234"/>
                  <a:pt x="110" y="234"/>
                  <a:pt x="120" y="223"/>
                </a:cubicBezTo>
                <a:lnTo>
                  <a:pt x="193" y="151"/>
                </a:lnTo>
                <a:lnTo>
                  <a:pt x="239" y="198"/>
                </a:lnTo>
                <a:cubicBezTo>
                  <a:pt x="249" y="208"/>
                  <a:pt x="266" y="208"/>
                  <a:pt x="276" y="198"/>
                </a:cubicBezTo>
                <a:lnTo>
                  <a:pt x="378" y="95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6692760" y="945360"/>
            <a:ext cx="2486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A Living Global Community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6914520" y="1413360"/>
            <a:ext cx="2107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From 400 to 7,000+ Members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6914520" y="1633320"/>
            <a:ext cx="4686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SIGOPS grew from a small newsletter community in 1969 to a global network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6405480" y="2138040"/>
            <a:ext cx="352800" cy="362520"/>
          </a:xfrm>
          <a:custGeom>
            <a:avLst/>
            <a:gdLst/>
            <a:ahLst/>
            <a:rect l="0" t="0" r="r" b="b"/>
            <a:pathLst>
              <a:path w="980" h="1007">
                <a:moveTo>
                  <a:pt x="0" y="814"/>
                </a:moveTo>
                <a:lnTo>
                  <a:pt x="0" y="193"/>
                </a:lnTo>
                <a:cubicBezTo>
                  <a:pt x="0" y="180"/>
                  <a:pt x="1" y="168"/>
                  <a:pt x="3" y="155"/>
                </a:cubicBezTo>
                <a:cubicBezTo>
                  <a:pt x="6" y="143"/>
                  <a:pt x="10" y="131"/>
                  <a:pt x="14" y="119"/>
                </a:cubicBezTo>
                <a:cubicBezTo>
                  <a:pt x="19" y="107"/>
                  <a:pt x="25" y="96"/>
                  <a:pt x="32" y="86"/>
                </a:cubicBezTo>
                <a:cubicBezTo>
                  <a:pt x="39" y="75"/>
                  <a:pt x="47" y="66"/>
                  <a:pt x="56" y="57"/>
                </a:cubicBezTo>
                <a:cubicBezTo>
                  <a:pt x="65" y="48"/>
                  <a:pt x="75" y="40"/>
                  <a:pt x="85" y="33"/>
                </a:cubicBezTo>
                <a:cubicBezTo>
                  <a:pt x="96" y="26"/>
                  <a:pt x="107" y="20"/>
                  <a:pt x="118" y="15"/>
                </a:cubicBezTo>
                <a:cubicBezTo>
                  <a:pt x="130" y="10"/>
                  <a:pt x="142" y="7"/>
                  <a:pt x="155" y="4"/>
                </a:cubicBezTo>
                <a:cubicBezTo>
                  <a:pt x="167" y="2"/>
                  <a:pt x="179" y="0"/>
                  <a:pt x="192" y="0"/>
                </a:cubicBezTo>
                <a:lnTo>
                  <a:pt x="787" y="0"/>
                </a:lnTo>
                <a:cubicBezTo>
                  <a:pt x="800" y="0"/>
                  <a:pt x="812" y="2"/>
                  <a:pt x="825" y="4"/>
                </a:cubicBezTo>
                <a:cubicBezTo>
                  <a:pt x="837" y="7"/>
                  <a:pt x="849" y="10"/>
                  <a:pt x="861" y="15"/>
                </a:cubicBezTo>
                <a:cubicBezTo>
                  <a:pt x="873" y="20"/>
                  <a:pt x="884" y="26"/>
                  <a:pt x="894" y="33"/>
                </a:cubicBezTo>
                <a:cubicBezTo>
                  <a:pt x="905" y="40"/>
                  <a:pt x="914" y="48"/>
                  <a:pt x="923" y="57"/>
                </a:cubicBezTo>
                <a:cubicBezTo>
                  <a:pt x="932" y="66"/>
                  <a:pt x="940" y="75"/>
                  <a:pt x="947" y="86"/>
                </a:cubicBezTo>
                <a:cubicBezTo>
                  <a:pt x="954" y="96"/>
                  <a:pt x="960" y="107"/>
                  <a:pt x="965" y="119"/>
                </a:cubicBezTo>
                <a:cubicBezTo>
                  <a:pt x="970" y="131"/>
                  <a:pt x="974" y="143"/>
                  <a:pt x="976" y="155"/>
                </a:cubicBezTo>
                <a:cubicBezTo>
                  <a:pt x="978" y="168"/>
                  <a:pt x="980" y="180"/>
                  <a:pt x="980" y="193"/>
                </a:cubicBezTo>
                <a:lnTo>
                  <a:pt x="980" y="814"/>
                </a:lnTo>
                <a:cubicBezTo>
                  <a:pt x="980" y="827"/>
                  <a:pt x="978" y="840"/>
                  <a:pt x="976" y="852"/>
                </a:cubicBezTo>
                <a:cubicBezTo>
                  <a:pt x="974" y="864"/>
                  <a:pt x="970" y="876"/>
                  <a:pt x="965" y="888"/>
                </a:cubicBezTo>
                <a:cubicBezTo>
                  <a:pt x="960" y="900"/>
                  <a:pt x="954" y="911"/>
                  <a:pt x="947" y="921"/>
                </a:cubicBezTo>
                <a:cubicBezTo>
                  <a:pt x="940" y="932"/>
                  <a:pt x="932" y="942"/>
                  <a:pt x="923" y="950"/>
                </a:cubicBezTo>
                <a:cubicBezTo>
                  <a:pt x="914" y="959"/>
                  <a:pt x="905" y="967"/>
                  <a:pt x="894" y="974"/>
                </a:cubicBezTo>
                <a:cubicBezTo>
                  <a:pt x="884" y="981"/>
                  <a:pt x="873" y="987"/>
                  <a:pt x="861" y="992"/>
                </a:cubicBezTo>
                <a:cubicBezTo>
                  <a:pt x="849" y="997"/>
                  <a:pt x="837" y="1001"/>
                  <a:pt x="825" y="1003"/>
                </a:cubicBezTo>
                <a:cubicBezTo>
                  <a:pt x="812" y="1006"/>
                  <a:pt x="800" y="1007"/>
                  <a:pt x="787" y="1007"/>
                </a:cubicBezTo>
                <a:lnTo>
                  <a:pt x="192" y="1007"/>
                </a:lnTo>
                <a:cubicBezTo>
                  <a:pt x="179" y="1007"/>
                  <a:pt x="167" y="1006"/>
                  <a:pt x="155" y="1003"/>
                </a:cubicBezTo>
                <a:cubicBezTo>
                  <a:pt x="142" y="1001"/>
                  <a:pt x="130" y="997"/>
                  <a:pt x="118" y="992"/>
                </a:cubicBezTo>
                <a:cubicBezTo>
                  <a:pt x="107" y="987"/>
                  <a:pt x="96" y="981"/>
                  <a:pt x="85" y="974"/>
                </a:cubicBezTo>
                <a:cubicBezTo>
                  <a:pt x="75" y="967"/>
                  <a:pt x="65" y="959"/>
                  <a:pt x="56" y="950"/>
                </a:cubicBezTo>
                <a:cubicBezTo>
                  <a:pt x="47" y="942"/>
                  <a:pt x="39" y="932"/>
                  <a:pt x="32" y="921"/>
                </a:cubicBezTo>
                <a:cubicBezTo>
                  <a:pt x="25" y="911"/>
                  <a:pt x="19" y="900"/>
                  <a:pt x="14" y="888"/>
                </a:cubicBezTo>
                <a:cubicBezTo>
                  <a:pt x="10" y="876"/>
                  <a:pt x="6" y="864"/>
                  <a:pt x="3" y="852"/>
                </a:cubicBezTo>
                <a:cubicBezTo>
                  <a:pt x="1" y="840"/>
                  <a:pt x="0" y="827"/>
                  <a:pt x="0" y="81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6405480" y="2138040"/>
            <a:ext cx="352800" cy="362520"/>
          </a:xfrm>
          <a:custGeom>
            <a:avLst/>
            <a:gdLst/>
            <a:ahLst/>
            <a:rect l="0" t="0" r="r" b="b"/>
            <a:pathLst>
              <a:path fill="none" w="980" h="1007">
                <a:moveTo>
                  <a:pt x="0" y="814"/>
                </a:moveTo>
                <a:lnTo>
                  <a:pt x="0" y="193"/>
                </a:lnTo>
                <a:cubicBezTo>
                  <a:pt x="0" y="180"/>
                  <a:pt x="1" y="168"/>
                  <a:pt x="3" y="155"/>
                </a:cubicBezTo>
                <a:cubicBezTo>
                  <a:pt x="6" y="143"/>
                  <a:pt x="10" y="131"/>
                  <a:pt x="14" y="119"/>
                </a:cubicBezTo>
                <a:cubicBezTo>
                  <a:pt x="19" y="107"/>
                  <a:pt x="25" y="96"/>
                  <a:pt x="32" y="86"/>
                </a:cubicBezTo>
                <a:cubicBezTo>
                  <a:pt x="39" y="75"/>
                  <a:pt x="47" y="66"/>
                  <a:pt x="56" y="57"/>
                </a:cubicBezTo>
                <a:cubicBezTo>
                  <a:pt x="65" y="48"/>
                  <a:pt x="75" y="40"/>
                  <a:pt x="85" y="33"/>
                </a:cubicBezTo>
                <a:cubicBezTo>
                  <a:pt x="96" y="26"/>
                  <a:pt x="107" y="20"/>
                  <a:pt x="118" y="15"/>
                </a:cubicBezTo>
                <a:cubicBezTo>
                  <a:pt x="130" y="10"/>
                  <a:pt x="142" y="7"/>
                  <a:pt x="155" y="4"/>
                </a:cubicBezTo>
                <a:cubicBezTo>
                  <a:pt x="167" y="2"/>
                  <a:pt x="179" y="0"/>
                  <a:pt x="192" y="0"/>
                </a:cubicBezTo>
                <a:lnTo>
                  <a:pt x="787" y="0"/>
                </a:lnTo>
                <a:cubicBezTo>
                  <a:pt x="800" y="0"/>
                  <a:pt x="812" y="2"/>
                  <a:pt x="825" y="4"/>
                </a:cubicBezTo>
                <a:cubicBezTo>
                  <a:pt x="837" y="7"/>
                  <a:pt x="849" y="10"/>
                  <a:pt x="861" y="15"/>
                </a:cubicBezTo>
                <a:cubicBezTo>
                  <a:pt x="873" y="20"/>
                  <a:pt x="884" y="26"/>
                  <a:pt x="894" y="33"/>
                </a:cubicBezTo>
                <a:cubicBezTo>
                  <a:pt x="905" y="40"/>
                  <a:pt x="914" y="48"/>
                  <a:pt x="923" y="57"/>
                </a:cubicBezTo>
                <a:cubicBezTo>
                  <a:pt x="932" y="66"/>
                  <a:pt x="940" y="75"/>
                  <a:pt x="947" y="86"/>
                </a:cubicBezTo>
                <a:cubicBezTo>
                  <a:pt x="954" y="96"/>
                  <a:pt x="960" y="107"/>
                  <a:pt x="965" y="119"/>
                </a:cubicBezTo>
                <a:cubicBezTo>
                  <a:pt x="970" y="131"/>
                  <a:pt x="974" y="143"/>
                  <a:pt x="976" y="155"/>
                </a:cubicBezTo>
                <a:cubicBezTo>
                  <a:pt x="978" y="168"/>
                  <a:pt x="980" y="180"/>
                  <a:pt x="980" y="193"/>
                </a:cubicBezTo>
                <a:lnTo>
                  <a:pt x="980" y="814"/>
                </a:lnTo>
                <a:cubicBezTo>
                  <a:pt x="980" y="827"/>
                  <a:pt x="978" y="840"/>
                  <a:pt x="976" y="852"/>
                </a:cubicBezTo>
                <a:cubicBezTo>
                  <a:pt x="974" y="864"/>
                  <a:pt x="970" y="876"/>
                  <a:pt x="965" y="888"/>
                </a:cubicBezTo>
                <a:cubicBezTo>
                  <a:pt x="960" y="900"/>
                  <a:pt x="954" y="911"/>
                  <a:pt x="947" y="921"/>
                </a:cubicBezTo>
                <a:cubicBezTo>
                  <a:pt x="940" y="932"/>
                  <a:pt x="932" y="942"/>
                  <a:pt x="923" y="950"/>
                </a:cubicBezTo>
                <a:cubicBezTo>
                  <a:pt x="914" y="959"/>
                  <a:pt x="905" y="967"/>
                  <a:pt x="894" y="974"/>
                </a:cubicBezTo>
                <a:cubicBezTo>
                  <a:pt x="884" y="981"/>
                  <a:pt x="873" y="987"/>
                  <a:pt x="861" y="992"/>
                </a:cubicBezTo>
                <a:cubicBezTo>
                  <a:pt x="849" y="997"/>
                  <a:pt x="837" y="1001"/>
                  <a:pt x="825" y="1003"/>
                </a:cubicBezTo>
                <a:cubicBezTo>
                  <a:pt x="812" y="1006"/>
                  <a:pt x="800" y="1007"/>
                  <a:pt x="787" y="1007"/>
                </a:cubicBezTo>
                <a:lnTo>
                  <a:pt x="192" y="1007"/>
                </a:lnTo>
                <a:cubicBezTo>
                  <a:pt x="179" y="1007"/>
                  <a:pt x="167" y="1006"/>
                  <a:pt x="155" y="1003"/>
                </a:cubicBezTo>
                <a:cubicBezTo>
                  <a:pt x="142" y="1001"/>
                  <a:pt x="130" y="997"/>
                  <a:pt x="118" y="992"/>
                </a:cubicBezTo>
                <a:cubicBezTo>
                  <a:pt x="107" y="987"/>
                  <a:pt x="96" y="981"/>
                  <a:pt x="85" y="974"/>
                </a:cubicBezTo>
                <a:cubicBezTo>
                  <a:pt x="75" y="967"/>
                  <a:pt x="65" y="959"/>
                  <a:pt x="56" y="950"/>
                </a:cubicBezTo>
                <a:cubicBezTo>
                  <a:pt x="47" y="942"/>
                  <a:pt x="39" y="932"/>
                  <a:pt x="32" y="921"/>
                </a:cubicBezTo>
                <a:cubicBezTo>
                  <a:pt x="25" y="911"/>
                  <a:pt x="19" y="900"/>
                  <a:pt x="14" y="888"/>
                </a:cubicBezTo>
                <a:cubicBezTo>
                  <a:pt x="10" y="876"/>
                  <a:pt x="6" y="864"/>
                  <a:pt x="3" y="852"/>
                </a:cubicBezTo>
                <a:cubicBezTo>
                  <a:pt x="1" y="840"/>
                  <a:pt x="0" y="827"/>
                  <a:pt x="0" y="814"/>
                </a:cubicBezTo>
              </a:path>
            </a:pathLst>
          </a:custGeom>
          <a:ln w="9360">
            <a:solidFill>
              <a:srgbClr val="bfdb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6514920" y="2247840"/>
            <a:ext cx="129600" cy="147960"/>
          </a:xfrm>
          <a:custGeom>
            <a:avLst/>
            <a:gdLst/>
            <a:ahLst/>
            <a:rect l="0" t="0" r="r" b="b"/>
            <a:pathLst>
              <a:path w="360" h="411">
                <a:moveTo>
                  <a:pt x="104" y="0"/>
                </a:moveTo>
                <a:cubicBezTo>
                  <a:pt x="118" y="0"/>
                  <a:pt x="129" y="11"/>
                  <a:pt x="129" y="26"/>
                </a:cubicBezTo>
                <a:lnTo>
                  <a:pt x="129" y="51"/>
                </a:lnTo>
                <a:lnTo>
                  <a:pt x="232" y="51"/>
                </a:lnTo>
                <a:lnTo>
                  <a:pt x="232" y="26"/>
                </a:lnTo>
                <a:cubicBezTo>
                  <a:pt x="232" y="11"/>
                  <a:pt x="243" y="0"/>
                  <a:pt x="258" y="0"/>
                </a:cubicBezTo>
                <a:cubicBezTo>
                  <a:pt x="272" y="0"/>
                  <a:pt x="283" y="11"/>
                  <a:pt x="283" y="26"/>
                </a:cubicBezTo>
                <a:lnTo>
                  <a:pt x="283" y="51"/>
                </a:lnTo>
                <a:lnTo>
                  <a:pt x="322" y="51"/>
                </a:lnTo>
                <a:cubicBezTo>
                  <a:pt x="343" y="51"/>
                  <a:pt x="360" y="68"/>
                  <a:pt x="360" y="90"/>
                </a:cubicBezTo>
                <a:lnTo>
                  <a:pt x="360" y="129"/>
                </a:lnTo>
                <a:lnTo>
                  <a:pt x="0" y="129"/>
                </a:lnTo>
                <a:lnTo>
                  <a:pt x="0" y="90"/>
                </a:lnTo>
                <a:cubicBezTo>
                  <a:pt x="0" y="68"/>
                  <a:pt x="17" y="51"/>
                  <a:pt x="39" y="51"/>
                </a:cubicBezTo>
                <a:lnTo>
                  <a:pt x="78" y="51"/>
                </a:lnTo>
                <a:lnTo>
                  <a:pt x="78" y="26"/>
                </a:lnTo>
                <a:cubicBezTo>
                  <a:pt x="78" y="11"/>
                  <a:pt x="89" y="0"/>
                  <a:pt x="104" y="0"/>
                </a:cubicBezTo>
                <a:moveTo>
                  <a:pt x="0" y="155"/>
                </a:moveTo>
                <a:lnTo>
                  <a:pt x="360" y="155"/>
                </a:lnTo>
                <a:lnTo>
                  <a:pt x="360" y="373"/>
                </a:lnTo>
                <a:cubicBezTo>
                  <a:pt x="360" y="394"/>
                  <a:pt x="343" y="411"/>
                  <a:pt x="322" y="411"/>
                </a:cubicBezTo>
                <a:lnTo>
                  <a:pt x="39" y="411"/>
                </a:lnTo>
                <a:cubicBezTo>
                  <a:pt x="17" y="411"/>
                  <a:pt x="0" y="394"/>
                  <a:pt x="0" y="373"/>
                </a:cubicBezTo>
                <a:lnTo>
                  <a:pt x="0" y="155"/>
                </a:lnTo>
                <a:moveTo>
                  <a:pt x="52" y="219"/>
                </a:moveTo>
                <a:lnTo>
                  <a:pt x="52" y="245"/>
                </a:lnTo>
                <a:cubicBezTo>
                  <a:pt x="52" y="252"/>
                  <a:pt x="58" y="257"/>
                  <a:pt x="65" y="257"/>
                </a:cubicBezTo>
                <a:lnTo>
                  <a:pt x="91" y="257"/>
                </a:lnTo>
                <a:cubicBezTo>
                  <a:pt x="98" y="257"/>
                  <a:pt x="104" y="252"/>
                  <a:pt x="104" y="245"/>
                </a:cubicBezTo>
                <a:lnTo>
                  <a:pt x="104" y="219"/>
                </a:lnTo>
                <a:cubicBezTo>
                  <a:pt x="104" y="212"/>
                  <a:pt x="98" y="206"/>
                  <a:pt x="91" y="206"/>
                </a:cubicBezTo>
                <a:lnTo>
                  <a:pt x="65" y="206"/>
                </a:lnTo>
                <a:cubicBezTo>
                  <a:pt x="58" y="206"/>
                  <a:pt x="52" y="212"/>
                  <a:pt x="52" y="219"/>
                </a:cubicBezTo>
                <a:moveTo>
                  <a:pt x="155" y="219"/>
                </a:moveTo>
                <a:lnTo>
                  <a:pt x="155" y="245"/>
                </a:lnTo>
                <a:cubicBezTo>
                  <a:pt x="155" y="252"/>
                  <a:pt x="161" y="257"/>
                  <a:pt x="168" y="257"/>
                </a:cubicBezTo>
                <a:lnTo>
                  <a:pt x="193" y="257"/>
                </a:lnTo>
                <a:cubicBezTo>
                  <a:pt x="201" y="257"/>
                  <a:pt x="206" y="252"/>
                  <a:pt x="206" y="245"/>
                </a:cubicBezTo>
                <a:lnTo>
                  <a:pt x="206" y="219"/>
                </a:lnTo>
                <a:cubicBezTo>
                  <a:pt x="206" y="212"/>
                  <a:pt x="201" y="206"/>
                  <a:pt x="193" y="206"/>
                </a:cubicBezTo>
                <a:lnTo>
                  <a:pt x="168" y="206"/>
                </a:lnTo>
                <a:cubicBezTo>
                  <a:pt x="161" y="206"/>
                  <a:pt x="155" y="212"/>
                  <a:pt x="155" y="219"/>
                </a:cubicBezTo>
                <a:moveTo>
                  <a:pt x="270" y="206"/>
                </a:moveTo>
                <a:cubicBezTo>
                  <a:pt x="263" y="206"/>
                  <a:pt x="258" y="212"/>
                  <a:pt x="258" y="219"/>
                </a:cubicBezTo>
                <a:lnTo>
                  <a:pt x="258" y="245"/>
                </a:lnTo>
                <a:cubicBezTo>
                  <a:pt x="258" y="252"/>
                  <a:pt x="263" y="257"/>
                  <a:pt x="270" y="257"/>
                </a:cubicBezTo>
                <a:lnTo>
                  <a:pt x="296" y="257"/>
                </a:lnTo>
                <a:cubicBezTo>
                  <a:pt x="303" y="257"/>
                  <a:pt x="309" y="252"/>
                  <a:pt x="309" y="245"/>
                </a:cubicBezTo>
                <a:lnTo>
                  <a:pt x="309" y="219"/>
                </a:lnTo>
                <a:cubicBezTo>
                  <a:pt x="309" y="212"/>
                  <a:pt x="303" y="206"/>
                  <a:pt x="296" y="206"/>
                </a:cubicBezTo>
                <a:lnTo>
                  <a:pt x="270" y="206"/>
                </a:lnTo>
                <a:moveTo>
                  <a:pt x="52" y="322"/>
                </a:moveTo>
                <a:lnTo>
                  <a:pt x="52" y="347"/>
                </a:lnTo>
                <a:cubicBezTo>
                  <a:pt x="52" y="354"/>
                  <a:pt x="58" y="360"/>
                  <a:pt x="65" y="360"/>
                </a:cubicBezTo>
                <a:lnTo>
                  <a:pt x="91" y="360"/>
                </a:lnTo>
                <a:cubicBezTo>
                  <a:pt x="98" y="360"/>
                  <a:pt x="104" y="354"/>
                  <a:pt x="104" y="347"/>
                </a:cubicBezTo>
                <a:lnTo>
                  <a:pt x="104" y="322"/>
                </a:lnTo>
                <a:cubicBezTo>
                  <a:pt x="104" y="315"/>
                  <a:pt x="98" y="309"/>
                  <a:pt x="91" y="309"/>
                </a:cubicBezTo>
                <a:lnTo>
                  <a:pt x="65" y="309"/>
                </a:lnTo>
                <a:cubicBezTo>
                  <a:pt x="58" y="309"/>
                  <a:pt x="52" y="315"/>
                  <a:pt x="52" y="322"/>
                </a:cubicBezTo>
                <a:moveTo>
                  <a:pt x="168" y="309"/>
                </a:moveTo>
                <a:cubicBezTo>
                  <a:pt x="161" y="309"/>
                  <a:pt x="155" y="315"/>
                  <a:pt x="155" y="322"/>
                </a:cubicBezTo>
                <a:lnTo>
                  <a:pt x="155" y="347"/>
                </a:lnTo>
                <a:cubicBezTo>
                  <a:pt x="155" y="354"/>
                  <a:pt x="161" y="360"/>
                  <a:pt x="168" y="360"/>
                </a:cubicBezTo>
                <a:lnTo>
                  <a:pt x="193" y="360"/>
                </a:lnTo>
                <a:cubicBezTo>
                  <a:pt x="201" y="360"/>
                  <a:pt x="206" y="354"/>
                  <a:pt x="206" y="347"/>
                </a:cubicBezTo>
                <a:lnTo>
                  <a:pt x="206" y="322"/>
                </a:lnTo>
                <a:cubicBezTo>
                  <a:pt x="206" y="315"/>
                  <a:pt x="201" y="309"/>
                  <a:pt x="193" y="309"/>
                </a:cubicBezTo>
                <a:lnTo>
                  <a:pt x="168" y="309"/>
                </a:lnTo>
                <a:moveTo>
                  <a:pt x="258" y="322"/>
                </a:moveTo>
                <a:lnTo>
                  <a:pt x="258" y="347"/>
                </a:lnTo>
                <a:cubicBezTo>
                  <a:pt x="258" y="354"/>
                  <a:pt x="263" y="360"/>
                  <a:pt x="270" y="360"/>
                </a:cubicBezTo>
                <a:lnTo>
                  <a:pt x="296" y="360"/>
                </a:lnTo>
                <a:cubicBezTo>
                  <a:pt x="303" y="360"/>
                  <a:pt x="309" y="354"/>
                  <a:pt x="309" y="347"/>
                </a:cubicBezTo>
                <a:lnTo>
                  <a:pt x="309" y="322"/>
                </a:lnTo>
                <a:cubicBezTo>
                  <a:pt x="309" y="315"/>
                  <a:pt x="303" y="309"/>
                  <a:pt x="296" y="309"/>
                </a:cubicBezTo>
                <a:lnTo>
                  <a:pt x="270" y="309"/>
                </a:lnTo>
                <a:cubicBezTo>
                  <a:pt x="263" y="309"/>
                  <a:pt x="258" y="315"/>
                  <a:pt x="258" y="322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6914520" y="1814040"/>
            <a:ext cx="14374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of systems researchers.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6914520" y="2137320"/>
            <a:ext cx="1663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Conference Ecosystem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6914520" y="2356920"/>
            <a:ext cx="43977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Birthplace of SOSP (1967), ASPLOS (1982), OSDI (1994), EuroSys (2006) —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6405480" y="2862000"/>
            <a:ext cx="352800" cy="362520"/>
          </a:xfrm>
          <a:custGeom>
            <a:avLst/>
            <a:gdLst/>
            <a:ahLst/>
            <a:rect l="0" t="0" r="r" b="b"/>
            <a:pathLst>
              <a:path w="980" h="1007">
                <a:moveTo>
                  <a:pt x="0" y="814"/>
                </a:moveTo>
                <a:lnTo>
                  <a:pt x="0" y="193"/>
                </a:lnTo>
                <a:cubicBezTo>
                  <a:pt x="0" y="180"/>
                  <a:pt x="1" y="167"/>
                  <a:pt x="3" y="155"/>
                </a:cubicBezTo>
                <a:cubicBezTo>
                  <a:pt x="6" y="143"/>
                  <a:pt x="10" y="131"/>
                  <a:pt x="14" y="119"/>
                </a:cubicBezTo>
                <a:cubicBezTo>
                  <a:pt x="19" y="107"/>
                  <a:pt x="25" y="96"/>
                  <a:pt x="32" y="86"/>
                </a:cubicBezTo>
                <a:cubicBezTo>
                  <a:pt x="39" y="75"/>
                  <a:pt x="47" y="66"/>
                  <a:pt x="56" y="57"/>
                </a:cubicBezTo>
                <a:cubicBezTo>
                  <a:pt x="65" y="48"/>
                  <a:pt x="75" y="40"/>
                  <a:pt x="85" y="33"/>
                </a:cubicBezTo>
                <a:cubicBezTo>
                  <a:pt x="96" y="26"/>
                  <a:pt x="107" y="20"/>
                  <a:pt x="118" y="15"/>
                </a:cubicBezTo>
                <a:cubicBezTo>
                  <a:pt x="130" y="10"/>
                  <a:pt x="142" y="6"/>
                  <a:pt x="155" y="4"/>
                </a:cubicBezTo>
                <a:cubicBezTo>
                  <a:pt x="167" y="1"/>
                  <a:pt x="179" y="0"/>
                  <a:pt x="192" y="0"/>
                </a:cubicBezTo>
                <a:lnTo>
                  <a:pt x="787" y="0"/>
                </a:lnTo>
                <a:cubicBezTo>
                  <a:pt x="800" y="0"/>
                  <a:pt x="812" y="1"/>
                  <a:pt x="825" y="4"/>
                </a:cubicBezTo>
                <a:cubicBezTo>
                  <a:pt x="837" y="6"/>
                  <a:pt x="849" y="10"/>
                  <a:pt x="861" y="15"/>
                </a:cubicBezTo>
                <a:cubicBezTo>
                  <a:pt x="873" y="20"/>
                  <a:pt x="884" y="26"/>
                  <a:pt x="894" y="33"/>
                </a:cubicBezTo>
                <a:cubicBezTo>
                  <a:pt x="905" y="40"/>
                  <a:pt x="914" y="48"/>
                  <a:pt x="923" y="57"/>
                </a:cubicBezTo>
                <a:cubicBezTo>
                  <a:pt x="932" y="66"/>
                  <a:pt x="940" y="75"/>
                  <a:pt x="947" y="86"/>
                </a:cubicBezTo>
                <a:cubicBezTo>
                  <a:pt x="954" y="96"/>
                  <a:pt x="960" y="107"/>
                  <a:pt x="965" y="119"/>
                </a:cubicBezTo>
                <a:cubicBezTo>
                  <a:pt x="970" y="131"/>
                  <a:pt x="974" y="143"/>
                  <a:pt x="976" y="155"/>
                </a:cubicBezTo>
                <a:cubicBezTo>
                  <a:pt x="978" y="167"/>
                  <a:pt x="980" y="180"/>
                  <a:pt x="980" y="193"/>
                </a:cubicBezTo>
                <a:lnTo>
                  <a:pt x="980" y="814"/>
                </a:lnTo>
                <a:cubicBezTo>
                  <a:pt x="980" y="827"/>
                  <a:pt x="978" y="839"/>
                  <a:pt x="976" y="852"/>
                </a:cubicBezTo>
                <a:cubicBezTo>
                  <a:pt x="974" y="864"/>
                  <a:pt x="970" y="876"/>
                  <a:pt x="965" y="888"/>
                </a:cubicBezTo>
                <a:cubicBezTo>
                  <a:pt x="960" y="900"/>
                  <a:pt x="954" y="911"/>
                  <a:pt x="947" y="921"/>
                </a:cubicBezTo>
                <a:cubicBezTo>
                  <a:pt x="940" y="932"/>
                  <a:pt x="932" y="941"/>
                  <a:pt x="923" y="950"/>
                </a:cubicBezTo>
                <a:cubicBezTo>
                  <a:pt x="914" y="959"/>
                  <a:pt x="905" y="967"/>
                  <a:pt x="894" y="974"/>
                </a:cubicBezTo>
                <a:cubicBezTo>
                  <a:pt x="884" y="981"/>
                  <a:pt x="873" y="987"/>
                  <a:pt x="861" y="992"/>
                </a:cubicBezTo>
                <a:cubicBezTo>
                  <a:pt x="849" y="997"/>
                  <a:pt x="837" y="1000"/>
                  <a:pt x="825" y="1003"/>
                </a:cubicBezTo>
                <a:cubicBezTo>
                  <a:pt x="812" y="1005"/>
                  <a:pt x="800" y="1007"/>
                  <a:pt x="787" y="1007"/>
                </a:cubicBezTo>
                <a:lnTo>
                  <a:pt x="192" y="1007"/>
                </a:lnTo>
                <a:cubicBezTo>
                  <a:pt x="179" y="1007"/>
                  <a:pt x="167" y="1005"/>
                  <a:pt x="155" y="1003"/>
                </a:cubicBezTo>
                <a:cubicBezTo>
                  <a:pt x="142" y="1000"/>
                  <a:pt x="130" y="997"/>
                  <a:pt x="118" y="992"/>
                </a:cubicBezTo>
                <a:cubicBezTo>
                  <a:pt x="107" y="987"/>
                  <a:pt x="96" y="981"/>
                  <a:pt x="85" y="974"/>
                </a:cubicBezTo>
                <a:cubicBezTo>
                  <a:pt x="75" y="967"/>
                  <a:pt x="65" y="959"/>
                  <a:pt x="56" y="950"/>
                </a:cubicBezTo>
                <a:cubicBezTo>
                  <a:pt x="47" y="941"/>
                  <a:pt x="39" y="932"/>
                  <a:pt x="32" y="921"/>
                </a:cubicBezTo>
                <a:cubicBezTo>
                  <a:pt x="25" y="911"/>
                  <a:pt x="19" y="900"/>
                  <a:pt x="14" y="888"/>
                </a:cubicBezTo>
                <a:cubicBezTo>
                  <a:pt x="10" y="876"/>
                  <a:pt x="6" y="864"/>
                  <a:pt x="3" y="852"/>
                </a:cubicBezTo>
                <a:cubicBezTo>
                  <a:pt x="1" y="839"/>
                  <a:pt x="0" y="827"/>
                  <a:pt x="0" y="81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6405480" y="2862000"/>
            <a:ext cx="352800" cy="362520"/>
          </a:xfrm>
          <a:custGeom>
            <a:avLst/>
            <a:gdLst/>
            <a:ahLst/>
            <a:rect l="0" t="0" r="r" b="b"/>
            <a:pathLst>
              <a:path fill="none" w="980" h="1007">
                <a:moveTo>
                  <a:pt x="0" y="814"/>
                </a:moveTo>
                <a:lnTo>
                  <a:pt x="0" y="193"/>
                </a:lnTo>
                <a:cubicBezTo>
                  <a:pt x="0" y="180"/>
                  <a:pt x="1" y="167"/>
                  <a:pt x="3" y="155"/>
                </a:cubicBezTo>
                <a:cubicBezTo>
                  <a:pt x="6" y="143"/>
                  <a:pt x="10" y="131"/>
                  <a:pt x="14" y="119"/>
                </a:cubicBezTo>
                <a:cubicBezTo>
                  <a:pt x="19" y="107"/>
                  <a:pt x="25" y="96"/>
                  <a:pt x="32" y="86"/>
                </a:cubicBezTo>
                <a:cubicBezTo>
                  <a:pt x="39" y="75"/>
                  <a:pt x="47" y="66"/>
                  <a:pt x="56" y="57"/>
                </a:cubicBezTo>
                <a:cubicBezTo>
                  <a:pt x="65" y="48"/>
                  <a:pt x="75" y="40"/>
                  <a:pt x="85" y="33"/>
                </a:cubicBezTo>
                <a:cubicBezTo>
                  <a:pt x="96" y="26"/>
                  <a:pt x="107" y="20"/>
                  <a:pt x="118" y="15"/>
                </a:cubicBezTo>
                <a:cubicBezTo>
                  <a:pt x="130" y="10"/>
                  <a:pt x="142" y="6"/>
                  <a:pt x="155" y="4"/>
                </a:cubicBezTo>
                <a:cubicBezTo>
                  <a:pt x="167" y="1"/>
                  <a:pt x="179" y="0"/>
                  <a:pt x="192" y="0"/>
                </a:cubicBezTo>
                <a:lnTo>
                  <a:pt x="787" y="0"/>
                </a:lnTo>
                <a:cubicBezTo>
                  <a:pt x="800" y="0"/>
                  <a:pt x="812" y="1"/>
                  <a:pt x="825" y="4"/>
                </a:cubicBezTo>
                <a:cubicBezTo>
                  <a:pt x="837" y="6"/>
                  <a:pt x="849" y="10"/>
                  <a:pt x="861" y="15"/>
                </a:cubicBezTo>
                <a:cubicBezTo>
                  <a:pt x="873" y="20"/>
                  <a:pt x="884" y="26"/>
                  <a:pt x="894" y="33"/>
                </a:cubicBezTo>
                <a:cubicBezTo>
                  <a:pt x="905" y="40"/>
                  <a:pt x="914" y="48"/>
                  <a:pt x="923" y="57"/>
                </a:cubicBezTo>
                <a:cubicBezTo>
                  <a:pt x="932" y="66"/>
                  <a:pt x="940" y="75"/>
                  <a:pt x="947" y="86"/>
                </a:cubicBezTo>
                <a:cubicBezTo>
                  <a:pt x="954" y="96"/>
                  <a:pt x="960" y="107"/>
                  <a:pt x="965" y="119"/>
                </a:cubicBezTo>
                <a:cubicBezTo>
                  <a:pt x="970" y="131"/>
                  <a:pt x="974" y="143"/>
                  <a:pt x="976" y="155"/>
                </a:cubicBezTo>
                <a:cubicBezTo>
                  <a:pt x="978" y="167"/>
                  <a:pt x="980" y="180"/>
                  <a:pt x="980" y="193"/>
                </a:cubicBezTo>
                <a:lnTo>
                  <a:pt x="980" y="814"/>
                </a:lnTo>
                <a:cubicBezTo>
                  <a:pt x="980" y="827"/>
                  <a:pt x="978" y="839"/>
                  <a:pt x="976" y="852"/>
                </a:cubicBezTo>
                <a:cubicBezTo>
                  <a:pt x="974" y="864"/>
                  <a:pt x="970" y="876"/>
                  <a:pt x="965" y="888"/>
                </a:cubicBezTo>
                <a:cubicBezTo>
                  <a:pt x="960" y="900"/>
                  <a:pt x="954" y="911"/>
                  <a:pt x="947" y="921"/>
                </a:cubicBezTo>
                <a:cubicBezTo>
                  <a:pt x="940" y="932"/>
                  <a:pt x="932" y="941"/>
                  <a:pt x="923" y="950"/>
                </a:cubicBezTo>
                <a:cubicBezTo>
                  <a:pt x="914" y="959"/>
                  <a:pt x="905" y="967"/>
                  <a:pt x="894" y="974"/>
                </a:cubicBezTo>
                <a:cubicBezTo>
                  <a:pt x="884" y="981"/>
                  <a:pt x="873" y="987"/>
                  <a:pt x="861" y="992"/>
                </a:cubicBezTo>
                <a:cubicBezTo>
                  <a:pt x="849" y="997"/>
                  <a:pt x="837" y="1000"/>
                  <a:pt x="825" y="1003"/>
                </a:cubicBezTo>
                <a:cubicBezTo>
                  <a:pt x="812" y="1005"/>
                  <a:pt x="800" y="1007"/>
                  <a:pt x="787" y="1007"/>
                </a:cubicBezTo>
                <a:lnTo>
                  <a:pt x="192" y="1007"/>
                </a:lnTo>
                <a:cubicBezTo>
                  <a:pt x="179" y="1007"/>
                  <a:pt x="167" y="1005"/>
                  <a:pt x="155" y="1003"/>
                </a:cubicBezTo>
                <a:cubicBezTo>
                  <a:pt x="142" y="1000"/>
                  <a:pt x="130" y="997"/>
                  <a:pt x="118" y="992"/>
                </a:cubicBezTo>
                <a:cubicBezTo>
                  <a:pt x="107" y="987"/>
                  <a:pt x="96" y="981"/>
                  <a:pt x="85" y="974"/>
                </a:cubicBezTo>
                <a:cubicBezTo>
                  <a:pt x="75" y="967"/>
                  <a:pt x="65" y="959"/>
                  <a:pt x="56" y="950"/>
                </a:cubicBezTo>
                <a:cubicBezTo>
                  <a:pt x="47" y="941"/>
                  <a:pt x="39" y="932"/>
                  <a:pt x="32" y="921"/>
                </a:cubicBezTo>
                <a:cubicBezTo>
                  <a:pt x="25" y="911"/>
                  <a:pt x="19" y="900"/>
                  <a:pt x="14" y="888"/>
                </a:cubicBezTo>
                <a:cubicBezTo>
                  <a:pt x="10" y="876"/>
                  <a:pt x="6" y="864"/>
                  <a:pt x="3" y="852"/>
                </a:cubicBezTo>
                <a:cubicBezTo>
                  <a:pt x="1" y="839"/>
                  <a:pt x="0" y="827"/>
                  <a:pt x="0" y="814"/>
                </a:cubicBezTo>
              </a:path>
            </a:pathLst>
          </a:custGeom>
          <a:ln w="9360">
            <a:solidFill>
              <a:srgbClr val="bfdb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6524280" y="2971800"/>
            <a:ext cx="111240" cy="148320"/>
          </a:xfrm>
          <a:custGeom>
            <a:avLst/>
            <a:gdLst/>
            <a:ahLst/>
            <a:rect l="0" t="0" r="r" b="b"/>
            <a:pathLst>
              <a:path w="309" h="412">
                <a:moveTo>
                  <a:pt x="140" y="5"/>
                </a:moveTo>
                <a:cubicBezTo>
                  <a:pt x="149" y="-1"/>
                  <a:pt x="160" y="-1"/>
                  <a:pt x="169" y="5"/>
                </a:cubicBezTo>
                <a:lnTo>
                  <a:pt x="183" y="14"/>
                </a:lnTo>
                <a:cubicBezTo>
                  <a:pt x="188" y="18"/>
                  <a:pt x="194" y="19"/>
                  <a:pt x="199" y="19"/>
                </a:cubicBezTo>
                <a:lnTo>
                  <a:pt x="218" y="18"/>
                </a:lnTo>
                <a:cubicBezTo>
                  <a:pt x="228" y="17"/>
                  <a:pt x="238" y="23"/>
                  <a:pt x="243" y="32"/>
                </a:cubicBezTo>
                <a:lnTo>
                  <a:pt x="250" y="48"/>
                </a:lnTo>
                <a:cubicBezTo>
                  <a:pt x="253" y="53"/>
                  <a:pt x="257" y="57"/>
                  <a:pt x="262" y="59"/>
                </a:cubicBezTo>
                <a:lnTo>
                  <a:pt x="278" y="67"/>
                </a:lnTo>
                <a:cubicBezTo>
                  <a:pt x="287" y="72"/>
                  <a:pt x="293" y="82"/>
                  <a:pt x="292" y="92"/>
                </a:cubicBezTo>
                <a:lnTo>
                  <a:pt x="291" y="110"/>
                </a:lnTo>
                <a:cubicBezTo>
                  <a:pt x="291" y="115"/>
                  <a:pt x="293" y="121"/>
                  <a:pt x="296" y="126"/>
                </a:cubicBezTo>
                <a:lnTo>
                  <a:pt x="305" y="140"/>
                </a:lnTo>
                <a:cubicBezTo>
                  <a:pt x="311" y="149"/>
                  <a:pt x="311" y="161"/>
                  <a:pt x="305" y="170"/>
                </a:cubicBezTo>
                <a:lnTo>
                  <a:pt x="296" y="185"/>
                </a:lnTo>
                <a:cubicBezTo>
                  <a:pt x="293" y="189"/>
                  <a:pt x="291" y="195"/>
                  <a:pt x="291" y="201"/>
                </a:cubicBezTo>
                <a:lnTo>
                  <a:pt x="292" y="218"/>
                </a:lnTo>
                <a:cubicBezTo>
                  <a:pt x="293" y="228"/>
                  <a:pt x="287" y="238"/>
                  <a:pt x="278" y="243"/>
                </a:cubicBezTo>
                <a:lnTo>
                  <a:pt x="262" y="251"/>
                </a:lnTo>
                <a:cubicBezTo>
                  <a:pt x="257" y="253"/>
                  <a:pt x="253" y="257"/>
                  <a:pt x="251" y="262"/>
                </a:cubicBezTo>
                <a:lnTo>
                  <a:pt x="243" y="278"/>
                </a:lnTo>
                <a:cubicBezTo>
                  <a:pt x="238" y="287"/>
                  <a:pt x="228" y="293"/>
                  <a:pt x="218" y="293"/>
                </a:cubicBezTo>
                <a:lnTo>
                  <a:pt x="200" y="292"/>
                </a:lnTo>
                <a:cubicBezTo>
                  <a:pt x="194" y="291"/>
                  <a:pt x="188" y="293"/>
                  <a:pt x="183" y="296"/>
                </a:cubicBezTo>
                <a:lnTo>
                  <a:pt x="169" y="305"/>
                </a:lnTo>
                <a:cubicBezTo>
                  <a:pt x="160" y="311"/>
                  <a:pt x="149" y="311"/>
                  <a:pt x="140" y="305"/>
                </a:cubicBezTo>
                <a:lnTo>
                  <a:pt x="126" y="296"/>
                </a:lnTo>
                <a:cubicBezTo>
                  <a:pt x="121" y="293"/>
                  <a:pt x="115" y="291"/>
                  <a:pt x="109" y="292"/>
                </a:cubicBezTo>
                <a:lnTo>
                  <a:pt x="92" y="293"/>
                </a:lnTo>
                <a:cubicBezTo>
                  <a:pt x="82" y="293"/>
                  <a:pt x="72" y="287"/>
                  <a:pt x="67" y="278"/>
                </a:cubicBezTo>
                <a:lnTo>
                  <a:pt x="59" y="263"/>
                </a:lnTo>
                <a:cubicBezTo>
                  <a:pt x="57" y="257"/>
                  <a:pt x="53" y="253"/>
                  <a:pt x="48" y="251"/>
                </a:cubicBezTo>
                <a:lnTo>
                  <a:pt x="32" y="243"/>
                </a:lnTo>
                <a:cubicBezTo>
                  <a:pt x="23" y="238"/>
                  <a:pt x="17" y="228"/>
                  <a:pt x="18" y="218"/>
                </a:cubicBezTo>
                <a:lnTo>
                  <a:pt x="19" y="201"/>
                </a:lnTo>
                <a:cubicBezTo>
                  <a:pt x="19" y="195"/>
                  <a:pt x="17" y="189"/>
                  <a:pt x="14" y="185"/>
                </a:cubicBezTo>
                <a:lnTo>
                  <a:pt x="5" y="170"/>
                </a:lnTo>
                <a:cubicBezTo>
                  <a:pt x="-1" y="161"/>
                  <a:pt x="-1" y="149"/>
                  <a:pt x="5" y="140"/>
                </a:cubicBezTo>
                <a:lnTo>
                  <a:pt x="14" y="126"/>
                </a:lnTo>
                <a:cubicBezTo>
                  <a:pt x="17" y="121"/>
                  <a:pt x="19" y="115"/>
                  <a:pt x="19" y="110"/>
                </a:cubicBezTo>
                <a:lnTo>
                  <a:pt x="18" y="93"/>
                </a:lnTo>
                <a:cubicBezTo>
                  <a:pt x="17" y="82"/>
                  <a:pt x="23" y="72"/>
                  <a:pt x="32" y="67"/>
                </a:cubicBezTo>
                <a:lnTo>
                  <a:pt x="47" y="60"/>
                </a:lnTo>
                <a:cubicBezTo>
                  <a:pt x="53" y="57"/>
                  <a:pt x="57" y="53"/>
                  <a:pt x="59" y="48"/>
                </a:cubicBezTo>
                <a:lnTo>
                  <a:pt x="67" y="32"/>
                </a:lnTo>
                <a:cubicBezTo>
                  <a:pt x="72" y="23"/>
                  <a:pt x="82" y="17"/>
                  <a:pt x="92" y="18"/>
                </a:cubicBezTo>
                <a:lnTo>
                  <a:pt x="109" y="19"/>
                </a:lnTo>
                <a:cubicBezTo>
                  <a:pt x="115" y="19"/>
                  <a:pt x="121" y="18"/>
                  <a:pt x="125" y="14"/>
                </a:cubicBezTo>
                <a:lnTo>
                  <a:pt x="140" y="5"/>
                </a:lnTo>
                <a:moveTo>
                  <a:pt x="220" y="156"/>
                </a:moveTo>
                <a:cubicBezTo>
                  <a:pt x="220" y="146"/>
                  <a:pt x="218" y="138"/>
                  <a:pt x="215" y="130"/>
                </a:cubicBezTo>
                <a:cubicBezTo>
                  <a:pt x="211" y="122"/>
                  <a:pt x="207" y="115"/>
                  <a:pt x="200" y="109"/>
                </a:cubicBezTo>
                <a:cubicBezTo>
                  <a:pt x="194" y="103"/>
                  <a:pt x="187" y="99"/>
                  <a:pt x="179" y="95"/>
                </a:cubicBezTo>
                <a:cubicBezTo>
                  <a:pt x="171" y="92"/>
                  <a:pt x="163" y="90"/>
                  <a:pt x="154" y="90"/>
                </a:cubicBezTo>
                <a:cubicBezTo>
                  <a:pt x="146" y="90"/>
                  <a:pt x="138" y="92"/>
                  <a:pt x="130" y="95"/>
                </a:cubicBezTo>
                <a:cubicBezTo>
                  <a:pt x="122" y="99"/>
                  <a:pt x="115" y="103"/>
                  <a:pt x="109" y="109"/>
                </a:cubicBezTo>
                <a:cubicBezTo>
                  <a:pt x="103" y="115"/>
                  <a:pt x="98" y="122"/>
                  <a:pt x="95" y="130"/>
                </a:cubicBezTo>
                <a:cubicBezTo>
                  <a:pt x="92" y="138"/>
                  <a:pt x="90" y="146"/>
                  <a:pt x="90" y="156"/>
                </a:cubicBezTo>
                <a:cubicBezTo>
                  <a:pt x="90" y="164"/>
                  <a:pt x="92" y="172"/>
                  <a:pt x="95" y="180"/>
                </a:cubicBezTo>
                <a:cubicBezTo>
                  <a:pt x="98" y="188"/>
                  <a:pt x="103" y="195"/>
                  <a:pt x="109" y="201"/>
                </a:cubicBezTo>
                <a:cubicBezTo>
                  <a:pt x="115" y="207"/>
                  <a:pt x="122" y="212"/>
                  <a:pt x="130" y="215"/>
                </a:cubicBezTo>
                <a:cubicBezTo>
                  <a:pt x="138" y="218"/>
                  <a:pt x="146" y="220"/>
                  <a:pt x="154" y="220"/>
                </a:cubicBezTo>
                <a:cubicBezTo>
                  <a:pt x="163" y="220"/>
                  <a:pt x="171" y="218"/>
                  <a:pt x="179" y="215"/>
                </a:cubicBezTo>
                <a:cubicBezTo>
                  <a:pt x="187" y="212"/>
                  <a:pt x="194" y="207"/>
                  <a:pt x="200" y="201"/>
                </a:cubicBezTo>
                <a:cubicBezTo>
                  <a:pt x="207" y="195"/>
                  <a:pt x="211" y="188"/>
                  <a:pt x="215" y="180"/>
                </a:cubicBezTo>
                <a:cubicBezTo>
                  <a:pt x="218" y="172"/>
                  <a:pt x="220" y="164"/>
                  <a:pt x="220" y="156"/>
                </a:cubicBezTo>
                <a:moveTo>
                  <a:pt x="2" y="356"/>
                </a:moveTo>
                <a:lnTo>
                  <a:pt x="36" y="274"/>
                </a:lnTo>
                <a:lnTo>
                  <a:pt x="44" y="289"/>
                </a:lnTo>
                <a:cubicBezTo>
                  <a:pt x="53" y="308"/>
                  <a:pt x="73" y="319"/>
                  <a:pt x="94" y="318"/>
                </a:cubicBezTo>
                <a:lnTo>
                  <a:pt x="111" y="317"/>
                </a:lnTo>
                <a:lnTo>
                  <a:pt x="126" y="327"/>
                </a:lnTo>
                <a:cubicBezTo>
                  <a:pt x="130" y="329"/>
                  <a:pt x="134" y="331"/>
                  <a:pt x="139" y="333"/>
                </a:cubicBezTo>
                <a:lnTo>
                  <a:pt x="108" y="405"/>
                </a:lnTo>
                <a:cubicBezTo>
                  <a:pt x="107" y="409"/>
                  <a:pt x="103" y="412"/>
                  <a:pt x="98" y="412"/>
                </a:cubicBezTo>
                <a:cubicBezTo>
                  <a:pt x="93" y="413"/>
                  <a:pt x="89" y="411"/>
                  <a:pt x="86" y="407"/>
                </a:cubicBezTo>
                <a:lnTo>
                  <a:pt x="60" y="367"/>
                </a:lnTo>
                <a:lnTo>
                  <a:pt x="15" y="374"/>
                </a:lnTo>
                <a:cubicBezTo>
                  <a:pt x="11" y="374"/>
                  <a:pt x="6" y="372"/>
                  <a:pt x="3" y="369"/>
                </a:cubicBezTo>
                <a:cubicBezTo>
                  <a:pt x="0" y="365"/>
                  <a:pt x="0" y="360"/>
                  <a:pt x="1" y="356"/>
                </a:cubicBezTo>
                <a:lnTo>
                  <a:pt x="2" y="356"/>
                </a:lnTo>
                <a:moveTo>
                  <a:pt x="200" y="404"/>
                </a:moveTo>
                <a:lnTo>
                  <a:pt x="170" y="333"/>
                </a:lnTo>
                <a:cubicBezTo>
                  <a:pt x="175" y="331"/>
                  <a:pt x="179" y="329"/>
                  <a:pt x="183" y="327"/>
                </a:cubicBezTo>
                <a:lnTo>
                  <a:pt x="197" y="317"/>
                </a:lnTo>
                <a:cubicBezTo>
                  <a:pt x="198" y="317"/>
                  <a:pt x="198" y="317"/>
                  <a:pt x="198" y="317"/>
                </a:cubicBezTo>
                <a:lnTo>
                  <a:pt x="216" y="318"/>
                </a:lnTo>
                <a:cubicBezTo>
                  <a:pt x="237" y="319"/>
                  <a:pt x="256" y="308"/>
                  <a:pt x="266" y="289"/>
                </a:cubicBezTo>
                <a:lnTo>
                  <a:pt x="274" y="274"/>
                </a:lnTo>
                <a:lnTo>
                  <a:pt x="308" y="356"/>
                </a:lnTo>
                <a:cubicBezTo>
                  <a:pt x="310" y="360"/>
                  <a:pt x="310" y="365"/>
                  <a:pt x="307" y="369"/>
                </a:cubicBezTo>
                <a:cubicBezTo>
                  <a:pt x="304" y="373"/>
                  <a:pt x="299" y="374"/>
                  <a:pt x="295" y="374"/>
                </a:cubicBezTo>
                <a:lnTo>
                  <a:pt x="250" y="367"/>
                </a:lnTo>
                <a:lnTo>
                  <a:pt x="224" y="406"/>
                </a:lnTo>
                <a:cubicBezTo>
                  <a:pt x="221" y="410"/>
                  <a:pt x="217" y="413"/>
                  <a:pt x="212" y="412"/>
                </a:cubicBezTo>
                <a:cubicBezTo>
                  <a:pt x="207" y="412"/>
                  <a:pt x="202" y="409"/>
                  <a:pt x="200" y="404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6914520" y="2538000"/>
            <a:ext cx="2198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shaping generations of researchers.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6914520" y="2861280"/>
            <a:ext cx="1194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7 Turing Awards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6914520" y="3071520"/>
            <a:ext cx="4425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Wilkes, Dijkstra, Ritchie/Thompson, Lampson, Brooks, Gray, Liskov — the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428400" y="3733560"/>
            <a:ext cx="11335320" cy="10080"/>
          </a:xfrm>
          <a:custGeom>
            <a:avLst/>
            <a:gdLst/>
            <a:ahLst/>
            <a:rect l="0" t="0" r="r" b="b"/>
            <a:pathLst>
              <a:path w="31487" h="28">
                <a:moveTo>
                  <a:pt x="0" y="0"/>
                </a:moveTo>
                <a:lnTo>
                  <a:pt x="31487" y="0"/>
                </a:lnTo>
                <a:lnTo>
                  <a:pt x="314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428400" y="4023360"/>
            <a:ext cx="231480" cy="138960"/>
          </a:xfrm>
          <a:custGeom>
            <a:avLst/>
            <a:gdLst/>
            <a:ahLst/>
            <a:rect l="0" t="0" r="r" b="b"/>
            <a:pathLst>
              <a:path w="643" h="386">
                <a:moveTo>
                  <a:pt x="325" y="22"/>
                </a:moveTo>
                <a:lnTo>
                  <a:pt x="227" y="100"/>
                </a:lnTo>
                <a:cubicBezTo>
                  <a:pt x="211" y="113"/>
                  <a:pt x="208" y="137"/>
                  <a:pt x="220" y="154"/>
                </a:cubicBezTo>
                <a:cubicBezTo>
                  <a:pt x="233" y="171"/>
                  <a:pt x="259" y="175"/>
                  <a:pt x="276" y="161"/>
                </a:cubicBezTo>
                <a:lnTo>
                  <a:pt x="376" y="84"/>
                </a:lnTo>
                <a:cubicBezTo>
                  <a:pt x="383" y="78"/>
                  <a:pt x="393" y="80"/>
                  <a:pt x="398" y="87"/>
                </a:cubicBezTo>
                <a:cubicBezTo>
                  <a:pt x="404" y="94"/>
                  <a:pt x="402" y="104"/>
                  <a:pt x="395" y="109"/>
                </a:cubicBezTo>
                <a:lnTo>
                  <a:pt x="374" y="126"/>
                </a:lnTo>
                <a:lnTo>
                  <a:pt x="515" y="255"/>
                </a:lnTo>
                <a:lnTo>
                  <a:pt x="515" y="65"/>
                </a:lnTo>
                <a:lnTo>
                  <a:pt x="514" y="65"/>
                </a:lnTo>
                <a:lnTo>
                  <a:pt x="510" y="62"/>
                </a:lnTo>
                <a:lnTo>
                  <a:pt x="437" y="15"/>
                </a:lnTo>
                <a:cubicBezTo>
                  <a:pt x="422" y="6"/>
                  <a:pt x="403" y="0"/>
                  <a:pt x="385" y="0"/>
                </a:cubicBezTo>
                <a:cubicBezTo>
                  <a:pt x="363" y="0"/>
                  <a:pt x="342" y="8"/>
                  <a:pt x="325" y="22"/>
                </a:cubicBezTo>
                <a:moveTo>
                  <a:pt x="347" y="146"/>
                </a:moveTo>
                <a:lnTo>
                  <a:pt x="296" y="188"/>
                </a:lnTo>
                <a:cubicBezTo>
                  <a:pt x="264" y="212"/>
                  <a:pt x="218" y="206"/>
                  <a:pt x="194" y="172"/>
                </a:cubicBezTo>
                <a:cubicBezTo>
                  <a:pt x="172" y="142"/>
                  <a:pt x="178" y="99"/>
                  <a:pt x="207" y="75"/>
                </a:cubicBezTo>
                <a:lnTo>
                  <a:pt x="291" y="8"/>
                </a:lnTo>
                <a:cubicBezTo>
                  <a:pt x="279" y="3"/>
                  <a:pt x="266" y="0"/>
                  <a:pt x="254" y="0"/>
                </a:cubicBezTo>
                <a:cubicBezTo>
                  <a:pt x="235" y="0"/>
                  <a:pt x="217" y="6"/>
                  <a:pt x="201" y="16"/>
                </a:cubicBezTo>
                <a:lnTo>
                  <a:pt x="129" y="65"/>
                </a:lnTo>
                <a:lnTo>
                  <a:pt x="129" y="290"/>
                </a:lnTo>
                <a:lnTo>
                  <a:pt x="157" y="290"/>
                </a:lnTo>
                <a:lnTo>
                  <a:pt x="249" y="374"/>
                </a:lnTo>
                <a:cubicBezTo>
                  <a:pt x="268" y="392"/>
                  <a:pt x="299" y="390"/>
                  <a:pt x="317" y="371"/>
                </a:cubicBezTo>
                <a:cubicBezTo>
                  <a:pt x="322" y="365"/>
                  <a:pt x="326" y="358"/>
                  <a:pt x="328" y="350"/>
                </a:cubicBezTo>
                <a:lnTo>
                  <a:pt x="345" y="366"/>
                </a:lnTo>
                <a:cubicBezTo>
                  <a:pt x="364" y="384"/>
                  <a:pt x="395" y="382"/>
                  <a:pt x="413" y="363"/>
                </a:cubicBezTo>
                <a:cubicBezTo>
                  <a:pt x="418" y="358"/>
                  <a:pt x="422" y="352"/>
                  <a:pt x="424" y="346"/>
                </a:cubicBezTo>
                <a:cubicBezTo>
                  <a:pt x="443" y="359"/>
                  <a:pt x="470" y="357"/>
                  <a:pt x="486" y="339"/>
                </a:cubicBezTo>
                <a:cubicBezTo>
                  <a:pt x="504" y="319"/>
                  <a:pt x="503" y="289"/>
                  <a:pt x="483" y="271"/>
                </a:cubicBezTo>
                <a:lnTo>
                  <a:pt x="347" y="146"/>
                </a:lnTo>
                <a:moveTo>
                  <a:pt x="16" y="65"/>
                </a:moveTo>
                <a:cubicBezTo>
                  <a:pt x="7" y="65"/>
                  <a:pt x="0" y="72"/>
                  <a:pt x="0" y="81"/>
                </a:cubicBezTo>
                <a:lnTo>
                  <a:pt x="0" y="290"/>
                </a:lnTo>
                <a:cubicBezTo>
                  <a:pt x="0" y="308"/>
                  <a:pt x="14" y="322"/>
                  <a:pt x="32" y="322"/>
                </a:cubicBezTo>
                <a:lnTo>
                  <a:pt x="64" y="322"/>
                </a:lnTo>
                <a:cubicBezTo>
                  <a:pt x="82" y="322"/>
                  <a:pt x="96" y="308"/>
                  <a:pt x="96" y="290"/>
                </a:cubicBezTo>
                <a:lnTo>
                  <a:pt x="96" y="65"/>
                </a:lnTo>
                <a:lnTo>
                  <a:pt x="16" y="65"/>
                </a:lnTo>
                <a:moveTo>
                  <a:pt x="48" y="258"/>
                </a:moveTo>
                <a:cubicBezTo>
                  <a:pt x="53" y="258"/>
                  <a:pt x="56" y="260"/>
                  <a:pt x="60" y="263"/>
                </a:cubicBezTo>
                <a:cubicBezTo>
                  <a:pt x="63" y="266"/>
                  <a:pt x="64" y="270"/>
                  <a:pt x="64" y="274"/>
                </a:cubicBezTo>
                <a:cubicBezTo>
                  <a:pt x="64" y="279"/>
                  <a:pt x="63" y="282"/>
                  <a:pt x="60" y="286"/>
                </a:cubicBezTo>
                <a:cubicBezTo>
                  <a:pt x="56" y="289"/>
                  <a:pt x="53" y="290"/>
                  <a:pt x="48" y="290"/>
                </a:cubicBezTo>
                <a:cubicBezTo>
                  <a:pt x="44" y="290"/>
                  <a:pt x="40" y="289"/>
                  <a:pt x="37" y="286"/>
                </a:cubicBezTo>
                <a:cubicBezTo>
                  <a:pt x="34" y="282"/>
                  <a:pt x="32" y="279"/>
                  <a:pt x="32" y="274"/>
                </a:cubicBezTo>
                <a:cubicBezTo>
                  <a:pt x="32" y="270"/>
                  <a:pt x="34" y="266"/>
                  <a:pt x="37" y="263"/>
                </a:cubicBezTo>
                <a:cubicBezTo>
                  <a:pt x="40" y="260"/>
                  <a:pt x="44" y="258"/>
                  <a:pt x="48" y="258"/>
                </a:cubicBezTo>
                <a:moveTo>
                  <a:pt x="547" y="65"/>
                </a:moveTo>
                <a:lnTo>
                  <a:pt x="547" y="290"/>
                </a:lnTo>
                <a:cubicBezTo>
                  <a:pt x="547" y="308"/>
                  <a:pt x="561" y="322"/>
                  <a:pt x="579" y="322"/>
                </a:cubicBezTo>
                <a:lnTo>
                  <a:pt x="611" y="322"/>
                </a:lnTo>
                <a:cubicBezTo>
                  <a:pt x="629" y="322"/>
                  <a:pt x="643" y="308"/>
                  <a:pt x="643" y="290"/>
                </a:cubicBezTo>
                <a:lnTo>
                  <a:pt x="643" y="81"/>
                </a:lnTo>
                <a:cubicBezTo>
                  <a:pt x="643" y="72"/>
                  <a:pt x="636" y="65"/>
                  <a:pt x="627" y="65"/>
                </a:cubicBezTo>
                <a:lnTo>
                  <a:pt x="547" y="65"/>
                </a:lnTo>
                <a:moveTo>
                  <a:pt x="579" y="274"/>
                </a:moveTo>
                <a:cubicBezTo>
                  <a:pt x="579" y="270"/>
                  <a:pt x="581" y="266"/>
                  <a:pt x="584" y="263"/>
                </a:cubicBezTo>
                <a:cubicBezTo>
                  <a:pt x="587" y="260"/>
                  <a:pt x="591" y="258"/>
                  <a:pt x="595" y="258"/>
                </a:cubicBezTo>
                <a:cubicBezTo>
                  <a:pt x="599" y="258"/>
                  <a:pt x="603" y="260"/>
                  <a:pt x="606" y="263"/>
                </a:cubicBezTo>
                <a:cubicBezTo>
                  <a:pt x="609" y="266"/>
                  <a:pt x="611" y="270"/>
                  <a:pt x="611" y="274"/>
                </a:cubicBezTo>
                <a:cubicBezTo>
                  <a:pt x="611" y="279"/>
                  <a:pt x="609" y="282"/>
                  <a:pt x="606" y="286"/>
                </a:cubicBezTo>
                <a:cubicBezTo>
                  <a:pt x="603" y="289"/>
                  <a:pt x="599" y="290"/>
                  <a:pt x="595" y="290"/>
                </a:cubicBezTo>
                <a:cubicBezTo>
                  <a:pt x="591" y="290"/>
                  <a:pt x="587" y="289"/>
                  <a:pt x="584" y="286"/>
                </a:cubicBezTo>
                <a:cubicBezTo>
                  <a:pt x="581" y="282"/>
                  <a:pt x="579" y="279"/>
                  <a:pt x="579" y="274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6914520" y="3261960"/>
            <a:ext cx="17384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SIGOPS legacy of excellence.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70760" y="3974040"/>
            <a:ext cx="3036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2025: Intergenerational Dialogue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428760" y="4385160"/>
            <a:ext cx="5159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This Strategic Workshop bridges </a:t>
            </a:r>
            <a:r>
              <a:rPr b="1" lang="en-US" sz="117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historical wisdom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with </a:t>
            </a:r>
            <a:r>
              <a:rPr b="1" lang="en-US" sz="117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forward-looking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428760" y="4632840"/>
            <a:ext cx="51451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vision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— convening senior researchers and emerging leaders from across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442800" y="5248080"/>
            <a:ext cx="2557800" cy="1143360"/>
          </a:xfrm>
          <a:custGeom>
            <a:avLst/>
            <a:gdLst/>
            <a:ahLst/>
            <a:rect l="0" t="0" r="r" b="b"/>
            <a:pathLst>
              <a:path w="7105" h="3176">
                <a:moveTo>
                  <a:pt x="0" y="3176"/>
                </a:moveTo>
                <a:lnTo>
                  <a:pt x="0" y="0"/>
                </a:lnTo>
                <a:lnTo>
                  <a:pt x="7002" y="0"/>
                </a:lnTo>
                <a:cubicBezTo>
                  <a:pt x="7016" y="0"/>
                  <a:pt x="7029" y="3"/>
                  <a:pt x="7041" y="8"/>
                </a:cubicBezTo>
                <a:cubicBezTo>
                  <a:pt x="7054" y="13"/>
                  <a:pt x="7065" y="21"/>
                  <a:pt x="7075" y="30"/>
                </a:cubicBezTo>
                <a:cubicBezTo>
                  <a:pt x="7084" y="40"/>
                  <a:pt x="7092" y="51"/>
                  <a:pt x="7097" y="64"/>
                </a:cubicBezTo>
                <a:cubicBezTo>
                  <a:pt x="7102" y="76"/>
                  <a:pt x="7105" y="89"/>
                  <a:pt x="7105" y="103"/>
                </a:cubicBezTo>
                <a:lnTo>
                  <a:pt x="7105" y="3073"/>
                </a:lnTo>
                <a:cubicBezTo>
                  <a:pt x="7105" y="3087"/>
                  <a:pt x="7102" y="3100"/>
                  <a:pt x="7097" y="3113"/>
                </a:cubicBezTo>
                <a:cubicBezTo>
                  <a:pt x="7092" y="3125"/>
                  <a:pt x="7084" y="3136"/>
                  <a:pt x="7075" y="3146"/>
                </a:cubicBezTo>
                <a:cubicBezTo>
                  <a:pt x="7065" y="3156"/>
                  <a:pt x="7054" y="3163"/>
                  <a:pt x="7041" y="3168"/>
                </a:cubicBezTo>
                <a:cubicBezTo>
                  <a:pt x="7029" y="3173"/>
                  <a:pt x="7016" y="3176"/>
                  <a:pt x="7002" y="3176"/>
                </a:cubicBezTo>
                <a:lnTo>
                  <a:pt x="0" y="3176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428400" y="5248080"/>
            <a:ext cx="28800" cy="1143360"/>
          </a:xfrm>
          <a:custGeom>
            <a:avLst/>
            <a:gdLst/>
            <a:ahLst/>
            <a:rect l="0" t="0" r="r" b="b"/>
            <a:pathLst>
              <a:path w="80" h="3176">
                <a:moveTo>
                  <a:pt x="0" y="0"/>
                </a:moveTo>
                <a:lnTo>
                  <a:pt x="80" y="0"/>
                </a:lnTo>
                <a:lnTo>
                  <a:pt x="80" y="3176"/>
                </a:lnTo>
                <a:lnTo>
                  <a:pt x="0" y="317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614160" y="5429160"/>
            <a:ext cx="101880" cy="148320"/>
          </a:xfrm>
          <a:custGeom>
            <a:avLst/>
            <a:gdLst/>
            <a:ahLst/>
            <a:rect l="0" t="0" r="r" b="b"/>
            <a:pathLst>
              <a:path w="283" h="412">
                <a:moveTo>
                  <a:pt x="142" y="0"/>
                </a:moveTo>
                <a:cubicBezTo>
                  <a:pt x="98" y="0"/>
                  <a:pt x="64" y="34"/>
                  <a:pt x="64" y="77"/>
                </a:cubicBezTo>
                <a:lnTo>
                  <a:pt x="64" y="205"/>
                </a:lnTo>
                <a:cubicBezTo>
                  <a:pt x="64" y="248"/>
                  <a:pt x="98" y="282"/>
                  <a:pt x="142" y="282"/>
                </a:cubicBezTo>
                <a:cubicBezTo>
                  <a:pt x="184" y="282"/>
                  <a:pt x="219" y="248"/>
                  <a:pt x="219" y="205"/>
                </a:cubicBezTo>
                <a:lnTo>
                  <a:pt x="219" y="77"/>
                </a:lnTo>
                <a:cubicBezTo>
                  <a:pt x="219" y="34"/>
                  <a:pt x="184" y="0"/>
                  <a:pt x="142" y="0"/>
                </a:cubicBezTo>
                <a:moveTo>
                  <a:pt x="38" y="173"/>
                </a:moveTo>
                <a:cubicBezTo>
                  <a:pt x="38" y="162"/>
                  <a:pt x="30" y="154"/>
                  <a:pt x="19" y="154"/>
                </a:cubicBezTo>
                <a:cubicBezTo>
                  <a:pt x="8" y="154"/>
                  <a:pt x="0" y="162"/>
                  <a:pt x="0" y="173"/>
                </a:cubicBezTo>
                <a:lnTo>
                  <a:pt x="0" y="205"/>
                </a:lnTo>
                <a:cubicBezTo>
                  <a:pt x="0" y="277"/>
                  <a:pt x="53" y="337"/>
                  <a:pt x="122" y="346"/>
                </a:cubicBezTo>
                <a:lnTo>
                  <a:pt x="122" y="373"/>
                </a:lnTo>
                <a:lnTo>
                  <a:pt x="83" y="373"/>
                </a:lnTo>
                <a:cubicBezTo>
                  <a:pt x="72" y="373"/>
                  <a:pt x="64" y="382"/>
                  <a:pt x="64" y="392"/>
                </a:cubicBezTo>
                <a:cubicBezTo>
                  <a:pt x="64" y="403"/>
                  <a:pt x="72" y="412"/>
                  <a:pt x="83" y="412"/>
                </a:cubicBezTo>
                <a:lnTo>
                  <a:pt x="142" y="412"/>
                </a:lnTo>
                <a:lnTo>
                  <a:pt x="200" y="412"/>
                </a:lnTo>
                <a:cubicBezTo>
                  <a:pt x="210" y="412"/>
                  <a:pt x="219" y="403"/>
                  <a:pt x="219" y="392"/>
                </a:cubicBezTo>
                <a:cubicBezTo>
                  <a:pt x="219" y="382"/>
                  <a:pt x="210" y="373"/>
                  <a:pt x="200" y="373"/>
                </a:cubicBezTo>
                <a:lnTo>
                  <a:pt x="161" y="373"/>
                </a:lnTo>
                <a:lnTo>
                  <a:pt x="161" y="346"/>
                </a:lnTo>
                <a:cubicBezTo>
                  <a:pt x="230" y="337"/>
                  <a:pt x="283" y="277"/>
                  <a:pt x="283" y="205"/>
                </a:cubicBezTo>
                <a:lnTo>
                  <a:pt x="283" y="173"/>
                </a:lnTo>
                <a:cubicBezTo>
                  <a:pt x="283" y="162"/>
                  <a:pt x="274" y="154"/>
                  <a:pt x="264" y="154"/>
                </a:cubicBezTo>
                <a:cubicBezTo>
                  <a:pt x="253" y="154"/>
                  <a:pt x="244" y="162"/>
                  <a:pt x="244" y="173"/>
                </a:cubicBezTo>
                <a:lnTo>
                  <a:pt x="244" y="205"/>
                </a:lnTo>
                <a:cubicBezTo>
                  <a:pt x="244" y="262"/>
                  <a:pt x="199" y="309"/>
                  <a:pt x="142" y="309"/>
                </a:cubicBezTo>
                <a:cubicBezTo>
                  <a:pt x="84" y="309"/>
                  <a:pt x="38" y="262"/>
                  <a:pt x="38" y="205"/>
                </a:cubicBezTo>
                <a:lnTo>
                  <a:pt x="38" y="173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428760" y="4870800"/>
            <a:ext cx="699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globe.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789840" y="5394960"/>
            <a:ext cx="6865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Keynotes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605160" y="5681160"/>
            <a:ext cx="20808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Patterson &amp; Lampson — spanning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605160" y="5871960"/>
            <a:ext cx="18144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hardware evolution to system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3166920" y="5248080"/>
            <a:ext cx="2557800" cy="1143360"/>
          </a:xfrm>
          <a:custGeom>
            <a:avLst/>
            <a:gdLst/>
            <a:ahLst/>
            <a:rect l="0" t="0" r="r" b="b"/>
            <a:pathLst>
              <a:path w="7105" h="3176">
                <a:moveTo>
                  <a:pt x="0" y="3176"/>
                </a:moveTo>
                <a:lnTo>
                  <a:pt x="0" y="0"/>
                </a:lnTo>
                <a:lnTo>
                  <a:pt x="7002" y="0"/>
                </a:lnTo>
                <a:cubicBezTo>
                  <a:pt x="7016" y="0"/>
                  <a:pt x="7029" y="3"/>
                  <a:pt x="7041" y="8"/>
                </a:cubicBezTo>
                <a:cubicBezTo>
                  <a:pt x="7054" y="13"/>
                  <a:pt x="7065" y="21"/>
                  <a:pt x="7075" y="30"/>
                </a:cubicBezTo>
                <a:cubicBezTo>
                  <a:pt x="7084" y="40"/>
                  <a:pt x="7092" y="51"/>
                  <a:pt x="7097" y="64"/>
                </a:cubicBezTo>
                <a:cubicBezTo>
                  <a:pt x="7102" y="76"/>
                  <a:pt x="7105" y="89"/>
                  <a:pt x="7105" y="103"/>
                </a:cubicBezTo>
                <a:lnTo>
                  <a:pt x="7105" y="3073"/>
                </a:lnTo>
                <a:cubicBezTo>
                  <a:pt x="7105" y="3087"/>
                  <a:pt x="7102" y="3100"/>
                  <a:pt x="7097" y="3113"/>
                </a:cubicBezTo>
                <a:cubicBezTo>
                  <a:pt x="7092" y="3125"/>
                  <a:pt x="7084" y="3136"/>
                  <a:pt x="7075" y="3146"/>
                </a:cubicBezTo>
                <a:cubicBezTo>
                  <a:pt x="7065" y="3156"/>
                  <a:pt x="7054" y="3163"/>
                  <a:pt x="7041" y="3168"/>
                </a:cubicBezTo>
                <a:cubicBezTo>
                  <a:pt x="7029" y="3173"/>
                  <a:pt x="7016" y="3176"/>
                  <a:pt x="7002" y="3176"/>
                </a:cubicBezTo>
                <a:lnTo>
                  <a:pt x="0" y="3176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3152520" y="5248080"/>
            <a:ext cx="29160" cy="1143360"/>
          </a:xfrm>
          <a:custGeom>
            <a:avLst/>
            <a:gdLst/>
            <a:ahLst/>
            <a:rect l="0" t="0" r="r" b="b"/>
            <a:pathLst>
              <a:path w="81" h="3176">
                <a:moveTo>
                  <a:pt x="0" y="0"/>
                </a:moveTo>
                <a:lnTo>
                  <a:pt x="81" y="0"/>
                </a:lnTo>
                <a:lnTo>
                  <a:pt x="81" y="3176"/>
                </a:lnTo>
                <a:lnTo>
                  <a:pt x="0" y="317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3323880" y="5429160"/>
            <a:ext cx="185400" cy="148320"/>
          </a:xfrm>
          <a:custGeom>
            <a:avLst/>
            <a:gdLst/>
            <a:ahLst/>
            <a:rect l="0" t="0" r="r" b="b"/>
            <a:pathLst>
              <a:path w="515" h="412">
                <a:moveTo>
                  <a:pt x="167" y="282"/>
                </a:moveTo>
                <a:cubicBezTo>
                  <a:pt x="261" y="282"/>
                  <a:pt x="335" y="219"/>
                  <a:pt x="335" y="141"/>
                </a:cubicBezTo>
                <a:cubicBezTo>
                  <a:pt x="335" y="63"/>
                  <a:pt x="261" y="0"/>
                  <a:pt x="167" y="0"/>
                </a:cubicBezTo>
                <a:cubicBezTo>
                  <a:pt x="75" y="0"/>
                  <a:pt x="0" y="63"/>
                  <a:pt x="0" y="141"/>
                </a:cubicBezTo>
                <a:cubicBezTo>
                  <a:pt x="0" y="172"/>
                  <a:pt x="12" y="201"/>
                  <a:pt x="32" y="224"/>
                </a:cubicBezTo>
                <a:cubicBezTo>
                  <a:pt x="29" y="232"/>
                  <a:pt x="25" y="238"/>
                  <a:pt x="21" y="244"/>
                </a:cubicBezTo>
                <a:cubicBezTo>
                  <a:pt x="17" y="249"/>
                  <a:pt x="13" y="253"/>
                  <a:pt x="10" y="255"/>
                </a:cubicBezTo>
                <a:cubicBezTo>
                  <a:pt x="9" y="257"/>
                  <a:pt x="8" y="258"/>
                  <a:pt x="7" y="258"/>
                </a:cubicBezTo>
                <a:cubicBezTo>
                  <a:pt x="6" y="259"/>
                  <a:pt x="6" y="259"/>
                  <a:pt x="6" y="259"/>
                </a:cubicBezTo>
                <a:cubicBezTo>
                  <a:pt x="1" y="262"/>
                  <a:pt x="-1" y="268"/>
                  <a:pt x="1" y="273"/>
                </a:cubicBezTo>
                <a:cubicBezTo>
                  <a:pt x="3" y="279"/>
                  <a:pt x="8" y="282"/>
                  <a:pt x="13" y="282"/>
                </a:cubicBezTo>
                <a:cubicBezTo>
                  <a:pt x="31" y="282"/>
                  <a:pt x="48" y="278"/>
                  <a:pt x="63" y="272"/>
                </a:cubicBezTo>
                <a:cubicBezTo>
                  <a:pt x="70" y="269"/>
                  <a:pt x="77" y="266"/>
                  <a:pt x="83" y="263"/>
                </a:cubicBezTo>
                <a:cubicBezTo>
                  <a:pt x="108" y="275"/>
                  <a:pt x="137" y="282"/>
                  <a:pt x="167" y="282"/>
                </a:cubicBezTo>
                <a:moveTo>
                  <a:pt x="361" y="141"/>
                </a:moveTo>
                <a:cubicBezTo>
                  <a:pt x="361" y="231"/>
                  <a:pt x="281" y="300"/>
                  <a:pt x="186" y="308"/>
                </a:cubicBezTo>
                <a:cubicBezTo>
                  <a:pt x="206" y="368"/>
                  <a:pt x="271" y="412"/>
                  <a:pt x="348" y="412"/>
                </a:cubicBezTo>
                <a:cubicBezTo>
                  <a:pt x="379" y="412"/>
                  <a:pt x="407" y="405"/>
                  <a:pt x="432" y="392"/>
                </a:cubicBezTo>
                <a:cubicBezTo>
                  <a:pt x="438" y="396"/>
                  <a:pt x="445" y="399"/>
                  <a:pt x="452" y="402"/>
                </a:cubicBezTo>
                <a:cubicBezTo>
                  <a:pt x="467" y="407"/>
                  <a:pt x="485" y="412"/>
                  <a:pt x="502" y="412"/>
                </a:cubicBezTo>
                <a:cubicBezTo>
                  <a:pt x="508" y="412"/>
                  <a:pt x="513" y="408"/>
                  <a:pt x="514" y="403"/>
                </a:cubicBezTo>
                <a:cubicBezTo>
                  <a:pt x="516" y="397"/>
                  <a:pt x="514" y="392"/>
                  <a:pt x="510" y="388"/>
                </a:cubicBezTo>
                <a:lnTo>
                  <a:pt x="509" y="388"/>
                </a:lnTo>
                <a:cubicBezTo>
                  <a:pt x="508" y="387"/>
                  <a:pt x="507" y="386"/>
                  <a:pt x="505" y="385"/>
                </a:cubicBezTo>
                <a:cubicBezTo>
                  <a:pt x="502" y="382"/>
                  <a:pt x="498" y="378"/>
                  <a:pt x="494" y="373"/>
                </a:cubicBezTo>
                <a:cubicBezTo>
                  <a:pt x="490" y="367"/>
                  <a:pt x="486" y="361"/>
                  <a:pt x="483" y="353"/>
                </a:cubicBezTo>
                <a:cubicBezTo>
                  <a:pt x="503" y="330"/>
                  <a:pt x="515" y="301"/>
                  <a:pt x="515" y="269"/>
                </a:cubicBezTo>
                <a:cubicBezTo>
                  <a:pt x="515" y="195"/>
                  <a:pt x="447" y="134"/>
                  <a:pt x="360" y="129"/>
                </a:cubicBezTo>
                <a:cubicBezTo>
                  <a:pt x="361" y="133"/>
                  <a:pt x="361" y="137"/>
                  <a:pt x="361" y="141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605160" y="6052680"/>
            <a:ext cx="11134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design philosophy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3586680" y="5394960"/>
            <a:ext cx="483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Panels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3327840" y="5681160"/>
            <a:ext cx="21956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"System Research in the Era of AI" &amp;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3327840" y="5871960"/>
            <a:ext cx="21754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"Building a Community in the Era of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6019560" y="3971880"/>
            <a:ext cx="5744160" cy="2419560"/>
          </a:xfrm>
          <a:custGeom>
            <a:avLst/>
            <a:gdLst/>
            <a:ahLst/>
            <a:rect l="0" t="0" r="r" b="b"/>
            <a:pathLst>
              <a:path w="15956" h="6721">
                <a:moveTo>
                  <a:pt x="0" y="205"/>
                </a:moveTo>
                <a:cubicBezTo>
                  <a:pt x="0" y="178"/>
                  <a:pt x="5" y="152"/>
                  <a:pt x="16" y="127"/>
                </a:cubicBezTo>
                <a:cubicBezTo>
                  <a:pt x="26" y="101"/>
                  <a:pt x="41" y="79"/>
                  <a:pt x="60" y="60"/>
                </a:cubicBezTo>
                <a:cubicBezTo>
                  <a:pt x="80" y="41"/>
                  <a:pt x="102" y="26"/>
                  <a:pt x="127" y="15"/>
                </a:cubicBezTo>
                <a:cubicBezTo>
                  <a:pt x="152" y="5"/>
                  <a:pt x="179" y="0"/>
                  <a:pt x="206" y="0"/>
                </a:cubicBezTo>
                <a:lnTo>
                  <a:pt x="15750" y="0"/>
                </a:lnTo>
                <a:cubicBezTo>
                  <a:pt x="15777" y="0"/>
                  <a:pt x="15803" y="5"/>
                  <a:pt x="15829" y="15"/>
                </a:cubicBezTo>
                <a:cubicBezTo>
                  <a:pt x="15854" y="26"/>
                  <a:pt x="15876" y="41"/>
                  <a:pt x="15895" y="60"/>
                </a:cubicBezTo>
                <a:cubicBezTo>
                  <a:pt x="15915" y="79"/>
                  <a:pt x="15929" y="101"/>
                  <a:pt x="15940" y="127"/>
                </a:cubicBezTo>
                <a:cubicBezTo>
                  <a:pt x="15950" y="152"/>
                  <a:pt x="15956" y="178"/>
                  <a:pt x="15956" y="205"/>
                </a:cubicBezTo>
                <a:lnTo>
                  <a:pt x="15956" y="6515"/>
                </a:lnTo>
                <a:cubicBezTo>
                  <a:pt x="15956" y="6543"/>
                  <a:pt x="15950" y="6569"/>
                  <a:pt x="15940" y="6594"/>
                </a:cubicBezTo>
                <a:cubicBezTo>
                  <a:pt x="15929" y="6619"/>
                  <a:pt x="15915" y="6642"/>
                  <a:pt x="15895" y="6661"/>
                </a:cubicBezTo>
                <a:cubicBezTo>
                  <a:pt x="15876" y="6680"/>
                  <a:pt x="15854" y="6695"/>
                  <a:pt x="15829" y="6705"/>
                </a:cubicBezTo>
                <a:cubicBezTo>
                  <a:pt x="15803" y="6716"/>
                  <a:pt x="15777" y="6721"/>
                  <a:pt x="15750" y="6721"/>
                </a:cubicBezTo>
                <a:lnTo>
                  <a:pt x="206" y="6721"/>
                </a:lnTo>
                <a:cubicBezTo>
                  <a:pt x="179" y="6721"/>
                  <a:pt x="152" y="6716"/>
                  <a:pt x="127" y="6705"/>
                </a:cubicBezTo>
                <a:cubicBezTo>
                  <a:pt x="102" y="6695"/>
                  <a:pt x="80" y="6680"/>
                  <a:pt x="60" y="6661"/>
                </a:cubicBezTo>
                <a:cubicBezTo>
                  <a:pt x="41" y="6642"/>
                  <a:pt x="26" y="6619"/>
                  <a:pt x="16" y="6594"/>
                </a:cubicBezTo>
                <a:cubicBezTo>
                  <a:pt x="5" y="6569"/>
                  <a:pt x="0" y="6543"/>
                  <a:pt x="0" y="6515"/>
                </a:cubicBezTo>
                <a:lnTo>
                  <a:pt x="0" y="205"/>
                </a:lnTo>
                <a:close/>
              </a:path>
            </a:pathLst>
          </a:custGeom>
          <a:blipFill rotWithShape="0">
            <a:blip r:embed="rId4"/>
            <a:tile tx="0" ty="0" sx="133322" sy="-6774000" algn="ctr"/>
          </a:blip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6248160" y="4228920"/>
            <a:ext cx="185400" cy="185400"/>
          </a:xfrm>
          <a:custGeom>
            <a:avLst/>
            <a:gdLst/>
            <a:ahLst/>
            <a:rect l="0" t="0" r="r" b="b"/>
            <a:pathLst>
              <a:path w="515" h="515">
                <a:moveTo>
                  <a:pt x="157" y="387"/>
                </a:moveTo>
                <a:lnTo>
                  <a:pt x="126" y="356"/>
                </a:lnTo>
                <a:cubicBezTo>
                  <a:pt x="118" y="348"/>
                  <a:pt x="115" y="335"/>
                  <a:pt x="119" y="324"/>
                </a:cubicBezTo>
                <a:cubicBezTo>
                  <a:pt x="122" y="315"/>
                  <a:pt x="126" y="302"/>
                  <a:pt x="130" y="289"/>
                </a:cubicBezTo>
                <a:lnTo>
                  <a:pt x="24" y="289"/>
                </a:lnTo>
                <a:cubicBezTo>
                  <a:pt x="16" y="289"/>
                  <a:pt x="8" y="284"/>
                  <a:pt x="3" y="277"/>
                </a:cubicBezTo>
                <a:cubicBezTo>
                  <a:pt x="-1" y="269"/>
                  <a:pt x="-1" y="260"/>
                  <a:pt x="3" y="253"/>
                </a:cubicBezTo>
                <a:lnTo>
                  <a:pt x="56" y="164"/>
                </a:lnTo>
                <a:cubicBezTo>
                  <a:pt x="69" y="142"/>
                  <a:pt x="93" y="128"/>
                  <a:pt x="118" y="128"/>
                </a:cubicBezTo>
                <a:lnTo>
                  <a:pt x="201" y="128"/>
                </a:lnTo>
                <a:cubicBezTo>
                  <a:pt x="203" y="124"/>
                  <a:pt x="206" y="121"/>
                  <a:pt x="208" y="117"/>
                </a:cubicBezTo>
                <a:cubicBezTo>
                  <a:pt x="290" y="-4"/>
                  <a:pt x="414" y="-8"/>
                  <a:pt x="487" y="5"/>
                </a:cubicBezTo>
                <a:cubicBezTo>
                  <a:pt x="498" y="7"/>
                  <a:pt x="508" y="17"/>
                  <a:pt x="510" y="28"/>
                </a:cubicBezTo>
                <a:cubicBezTo>
                  <a:pt x="523" y="101"/>
                  <a:pt x="519" y="224"/>
                  <a:pt x="398" y="306"/>
                </a:cubicBezTo>
                <a:cubicBezTo>
                  <a:pt x="394" y="308"/>
                  <a:pt x="391" y="312"/>
                  <a:pt x="387" y="314"/>
                </a:cubicBezTo>
                <a:lnTo>
                  <a:pt x="387" y="397"/>
                </a:lnTo>
                <a:cubicBezTo>
                  <a:pt x="387" y="422"/>
                  <a:pt x="373" y="446"/>
                  <a:pt x="351" y="459"/>
                </a:cubicBezTo>
                <a:lnTo>
                  <a:pt x="261" y="512"/>
                </a:lnTo>
                <a:cubicBezTo>
                  <a:pt x="254" y="516"/>
                  <a:pt x="245" y="516"/>
                  <a:pt x="237" y="512"/>
                </a:cubicBezTo>
                <a:cubicBezTo>
                  <a:pt x="230" y="507"/>
                  <a:pt x="225" y="500"/>
                  <a:pt x="225" y="491"/>
                </a:cubicBezTo>
                <a:lnTo>
                  <a:pt x="225" y="383"/>
                </a:lnTo>
                <a:cubicBezTo>
                  <a:pt x="211" y="388"/>
                  <a:pt x="198" y="392"/>
                  <a:pt x="189" y="395"/>
                </a:cubicBezTo>
                <a:cubicBezTo>
                  <a:pt x="178" y="399"/>
                  <a:pt x="166" y="396"/>
                  <a:pt x="157" y="387"/>
                </a:cubicBezTo>
                <a:moveTo>
                  <a:pt x="387" y="169"/>
                </a:moveTo>
                <a:cubicBezTo>
                  <a:pt x="392" y="169"/>
                  <a:pt x="397" y="168"/>
                  <a:pt x="402" y="166"/>
                </a:cubicBezTo>
                <a:cubicBezTo>
                  <a:pt x="407" y="164"/>
                  <a:pt x="411" y="161"/>
                  <a:pt x="415" y="157"/>
                </a:cubicBezTo>
                <a:cubicBezTo>
                  <a:pt x="419" y="153"/>
                  <a:pt x="422" y="149"/>
                  <a:pt x="424" y="144"/>
                </a:cubicBezTo>
                <a:cubicBezTo>
                  <a:pt x="426" y="139"/>
                  <a:pt x="427" y="134"/>
                  <a:pt x="427" y="128"/>
                </a:cubicBezTo>
                <a:cubicBezTo>
                  <a:pt x="427" y="123"/>
                  <a:pt x="426" y="118"/>
                  <a:pt x="424" y="113"/>
                </a:cubicBezTo>
                <a:cubicBezTo>
                  <a:pt x="422" y="108"/>
                  <a:pt x="419" y="104"/>
                  <a:pt x="415" y="100"/>
                </a:cubicBezTo>
                <a:cubicBezTo>
                  <a:pt x="411" y="96"/>
                  <a:pt x="407" y="93"/>
                  <a:pt x="402" y="91"/>
                </a:cubicBezTo>
                <a:cubicBezTo>
                  <a:pt x="397" y="89"/>
                  <a:pt x="392" y="88"/>
                  <a:pt x="387" y="88"/>
                </a:cubicBezTo>
                <a:cubicBezTo>
                  <a:pt x="381" y="88"/>
                  <a:pt x="376" y="89"/>
                  <a:pt x="371" y="91"/>
                </a:cubicBezTo>
                <a:cubicBezTo>
                  <a:pt x="366" y="93"/>
                  <a:pt x="362" y="96"/>
                  <a:pt x="358" y="100"/>
                </a:cubicBezTo>
                <a:cubicBezTo>
                  <a:pt x="354" y="104"/>
                  <a:pt x="352" y="108"/>
                  <a:pt x="349" y="113"/>
                </a:cubicBezTo>
                <a:cubicBezTo>
                  <a:pt x="347" y="118"/>
                  <a:pt x="346" y="123"/>
                  <a:pt x="346" y="128"/>
                </a:cubicBezTo>
                <a:cubicBezTo>
                  <a:pt x="346" y="134"/>
                  <a:pt x="347" y="139"/>
                  <a:pt x="349" y="144"/>
                </a:cubicBezTo>
                <a:cubicBezTo>
                  <a:pt x="352" y="149"/>
                  <a:pt x="354" y="153"/>
                  <a:pt x="358" y="157"/>
                </a:cubicBezTo>
                <a:cubicBezTo>
                  <a:pt x="362" y="161"/>
                  <a:pt x="366" y="164"/>
                  <a:pt x="371" y="166"/>
                </a:cubicBezTo>
                <a:cubicBezTo>
                  <a:pt x="376" y="168"/>
                  <a:pt x="381" y="169"/>
                  <a:pt x="387" y="1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3327840" y="6052680"/>
            <a:ext cx="1803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AI"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6248160" y="5705280"/>
            <a:ext cx="5296320" cy="9720"/>
          </a:xfrm>
          <a:custGeom>
            <a:avLst/>
            <a:gdLst/>
            <a:ahLst/>
            <a:rect l="0" t="0" r="r" b="b"/>
            <a:pathLst>
              <a:path w="14712" h="27">
                <a:moveTo>
                  <a:pt x="0" y="0"/>
                </a:moveTo>
                <a:lnTo>
                  <a:pt x="14712" y="0"/>
                </a:lnTo>
                <a:lnTo>
                  <a:pt x="147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6540120" y="4193280"/>
            <a:ext cx="28497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Our Mission: The Next 60 Years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6244200" y="4690080"/>
            <a:ext cx="46022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To </a:t>
            </a:r>
            <a:r>
              <a:rPr b="1" lang="en-US" sz="1170" strike="noStrike" u="none">
                <a:solidFill>
                  <a:srgbClr val="fde047"/>
                </a:solidFill>
                <a:effectLst/>
                <a:uFillTx/>
                <a:latin typeface="Microsoft YaHei"/>
                <a:ea typeface="MicrosoftYaHei"/>
              </a:rPr>
              <a:t>empower</a:t>
            </a:r>
            <a:r>
              <a:rPr b="0" lang="en-US" sz="117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 the next generation of systems research — fostering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6244200" y="4928040"/>
            <a:ext cx="46555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interdisciplinary collaboration, identifying actionable priorities, and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248160" y="5909040"/>
            <a:ext cx="194760" cy="138960"/>
          </a:xfrm>
          <a:custGeom>
            <a:avLst/>
            <a:gdLst/>
            <a:ahLst/>
            <a:rect l="0" t="0" r="r" b="b"/>
            <a:pathLst>
              <a:path w="541" h="386">
                <a:moveTo>
                  <a:pt x="0" y="144"/>
                </a:moveTo>
                <a:cubicBezTo>
                  <a:pt x="0" y="64"/>
                  <a:pt x="65" y="0"/>
                  <a:pt x="145" y="0"/>
                </a:cubicBezTo>
                <a:lnTo>
                  <a:pt x="154" y="0"/>
                </a:lnTo>
                <a:cubicBezTo>
                  <a:pt x="177" y="0"/>
                  <a:pt x="194" y="17"/>
                  <a:pt x="194" y="38"/>
                </a:cubicBezTo>
                <a:cubicBezTo>
                  <a:pt x="194" y="59"/>
                  <a:pt x="177" y="77"/>
                  <a:pt x="154" y="77"/>
                </a:cubicBezTo>
                <a:lnTo>
                  <a:pt x="145" y="77"/>
                </a:lnTo>
                <a:cubicBezTo>
                  <a:pt x="107" y="77"/>
                  <a:pt x="77" y="107"/>
                  <a:pt x="77" y="144"/>
                </a:cubicBezTo>
                <a:lnTo>
                  <a:pt x="77" y="154"/>
                </a:lnTo>
                <a:lnTo>
                  <a:pt x="154" y="154"/>
                </a:lnTo>
                <a:cubicBezTo>
                  <a:pt x="198" y="154"/>
                  <a:pt x="232" y="188"/>
                  <a:pt x="232" y="231"/>
                </a:cubicBezTo>
                <a:lnTo>
                  <a:pt x="232" y="308"/>
                </a:lnTo>
                <a:cubicBezTo>
                  <a:pt x="232" y="351"/>
                  <a:pt x="198" y="386"/>
                  <a:pt x="154" y="386"/>
                </a:cubicBezTo>
                <a:lnTo>
                  <a:pt x="77" y="386"/>
                </a:lnTo>
                <a:cubicBezTo>
                  <a:pt x="35" y="386"/>
                  <a:pt x="0" y="351"/>
                  <a:pt x="0" y="308"/>
                </a:cubicBezTo>
                <a:lnTo>
                  <a:pt x="0" y="269"/>
                </a:lnTo>
                <a:lnTo>
                  <a:pt x="0" y="231"/>
                </a:lnTo>
                <a:lnTo>
                  <a:pt x="0" y="144"/>
                </a:lnTo>
                <a:moveTo>
                  <a:pt x="309" y="144"/>
                </a:moveTo>
                <a:cubicBezTo>
                  <a:pt x="309" y="64"/>
                  <a:pt x="374" y="0"/>
                  <a:pt x="454" y="0"/>
                </a:cubicBezTo>
                <a:lnTo>
                  <a:pt x="464" y="0"/>
                </a:lnTo>
                <a:cubicBezTo>
                  <a:pt x="485" y="0"/>
                  <a:pt x="502" y="17"/>
                  <a:pt x="502" y="38"/>
                </a:cubicBezTo>
                <a:cubicBezTo>
                  <a:pt x="502" y="59"/>
                  <a:pt x="485" y="77"/>
                  <a:pt x="464" y="77"/>
                </a:cubicBezTo>
                <a:lnTo>
                  <a:pt x="454" y="77"/>
                </a:lnTo>
                <a:cubicBezTo>
                  <a:pt x="417" y="77"/>
                  <a:pt x="387" y="107"/>
                  <a:pt x="387" y="144"/>
                </a:cubicBezTo>
                <a:lnTo>
                  <a:pt x="387" y="154"/>
                </a:lnTo>
                <a:lnTo>
                  <a:pt x="464" y="154"/>
                </a:lnTo>
                <a:cubicBezTo>
                  <a:pt x="506" y="154"/>
                  <a:pt x="541" y="188"/>
                  <a:pt x="541" y="231"/>
                </a:cubicBezTo>
                <a:lnTo>
                  <a:pt x="541" y="308"/>
                </a:lnTo>
                <a:cubicBezTo>
                  <a:pt x="541" y="351"/>
                  <a:pt x="506" y="386"/>
                  <a:pt x="464" y="386"/>
                </a:cubicBezTo>
                <a:lnTo>
                  <a:pt x="387" y="386"/>
                </a:lnTo>
                <a:cubicBezTo>
                  <a:pt x="344" y="386"/>
                  <a:pt x="309" y="351"/>
                  <a:pt x="309" y="308"/>
                </a:cubicBezTo>
                <a:lnTo>
                  <a:pt x="309" y="269"/>
                </a:lnTo>
                <a:lnTo>
                  <a:pt x="309" y="231"/>
                </a:lnTo>
                <a:lnTo>
                  <a:pt x="309" y="14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6244200" y="5175720"/>
            <a:ext cx="4999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inspiring shared vision for an increasingly complex technological future.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6584040" y="5881320"/>
            <a:ext cx="3381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Microsoft YaHei"/>
                <a:ea typeface="MicrosoftYaHei"/>
              </a:rPr>
              <a:t>"Bridge historical wisdom with forward-looking vision"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11392920" y="6525000"/>
            <a:ext cx="346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9 / 10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5886360" y="2447640"/>
            <a:ext cx="429120" cy="572040"/>
          </a:xfrm>
          <a:custGeom>
            <a:avLst/>
            <a:gdLst/>
            <a:ahLst/>
            <a:rect l="0" t="0" r="r" b="b"/>
            <a:pathLst>
              <a:path w="1192" h="1589">
                <a:moveTo>
                  <a:pt x="539" y="17"/>
                </a:moveTo>
                <a:cubicBezTo>
                  <a:pt x="573" y="-5"/>
                  <a:pt x="617" y="-5"/>
                  <a:pt x="651" y="17"/>
                </a:cubicBezTo>
                <a:lnTo>
                  <a:pt x="707" y="54"/>
                </a:lnTo>
                <a:cubicBezTo>
                  <a:pt x="725" y="66"/>
                  <a:pt x="747" y="72"/>
                  <a:pt x="769" y="70"/>
                </a:cubicBezTo>
                <a:lnTo>
                  <a:pt x="835" y="66"/>
                </a:lnTo>
                <a:cubicBezTo>
                  <a:pt x="876" y="64"/>
                  <a:pt x="914" y="86"/>
                  <a:pt x="934" y="123"/>
                </a:cubicBezTo>
                <a:lnTo>
                  <a:pt x="963" y="182"/>
                </a:lnTo>
                <a:cubicBezTo>
                  <a:pt x="973" y="202"/>
                  <a:pt x="990" y="218"/>
                  <a:pt x="1009" y="228"/>
                </a:cubicBezTo>
                <a:lnTo>
                  <a:pt x="1069" y="258"/>
                </a:lnTo>
                <a:cubicBezTo>
                  <a:pt x="1105" y="276"/>
                  <a:pt x="1128" y="314"/>
                  <a:pt x="1125" y="356"/>
                </a:cubicBezTo>
                <a:lnTo>
                  <a:pt x="1121" y="422"/>
                </a:lnTo>
                <a:cubicBezTo>
                  <a:pt x="1120" y="444"/>
                  <a:pt x="1126" y="466"/>
                  <a:pt x="1138" y="485"/>
                </a:cubicBezTo>
                <a:lnTo>
                  <a:pt x="1175" y="540"/>
                </a:lnTo>
                <a:cubicBezTo>
                  <a:pt x="1197" y="574"/>
                  <a:pt x="1197" y="619"/>
                  <a:pt x="1175" y="653"/>
                </a:cubicBezTo>
                <a:lnTo>
                  <a:pt x="1138" y="708"/>
                </a:lnTo>
                <a:cubicBezTo>
                  <a:pt x="1126" y="727"/>
                  <a:pt x="1120" y="749"/>
                  <a:pt x="1121" y="771"/>
                </a:cubicBezTo>
                <a:lnTo>
                  <a:pt x="1125" y="837"/>
                </a:lnTo>
                <a:cubicBezTo>
                  <a:pt x="1128" y="878"/>
                  <a:pt x="1105" y="916"/>
                  <a:pt x="1069" y="934"/>
                </a:cubicBezTo>
                <a:lnTo>
                  <a:pt x="1010" y="964"/>
                </a:lnTo>
                <a:cubicBezTo>
                  <a:pt x="990" y="974"/>
                  <a:pt x="974" y="990"/>
                  <a:pt x="964" y="1010"/>
                </a:cubicBezTo>
                <a:lnTo>
                  <a:pt x="934" y="1069"/>
                </a:lnTo>
                <a:cubicBezTo>
                  <a:pt x="915" y="1106"/>
                  <a:pt x="876" y="1128"/>
                  <a:pt x="835" y="1126"/>
                </a:cubicBezTo>
                <a:lnTo>
                  <a:pt x="769" y="1122"/>
                </a:lnTo>
                <a:cubicBezTo>
                  <a:pt x="747" y="1121"/>
                  <a:pt x="725" y="1126"/>
                  <a:pt x="707" y="1139"/>
                </a:cubicBezTo>
                <a:lnTo>
                  <a:pt x="652" y="1175"/>
                </a:lnTo>
                <a:cubicBezTo>
                  <a:pt x="618" y="1198"/>
                  <a:pt x="573" y="1198"/>
                  <a:pt x="539" y="1175"/>
                </a:cubicBezTo>
                <a:lnTo>
                  <a:pt x="483" y="1139"/>
                </a:lnTo>
                <a:cubicBezTo>
                  <a:pt x="465" y="1126"/>
                  <a:pt x="443" y="1121"/>
                  <a:pt x="421" y="1122"/>
                </a:cubicBezTo>
                <a:lnTo>
                  <a:pt x="355" y="1126"/>
                </a:lnTo>
                <a:cubicBezTo>
                  <a:pt x="314" y="1128"/>
                  <a:pt x="276" y="1106"/>
                  <a:pt x="257" y="1069"/>
                </a:cubicBezTo>
                <a:lnTo>
                  <a:pt x="228" y="1010"/>
                </a:lnTo>
                <a:cubicBezTo>
                  <a:pt x="218" y="990"/>
                  <a:pt x="202" y="975"/>
                  <a:pt x="182" y="965"/>
                </a:cubicBezTo>
                <a:lnTo>
                  <a:pt x="122" y="935"/>
                </a:lnTo>
                <a:cubicBezTo>
                  <a:pt x="86" y="916"/>
                  <a:pt x="63" y="878"/>
                  <a:pt x="66" y="837"/>
                </a:cubicBezTo>
                <a:lnTo>
                  <a:pt x="70" y="771"/>
                </a:lnTo>
                <a:cubicBezTo>
                  <a:pt x="71" y="749"/>
                  <a:pt x="65" y="727"/>
                  <a:pt x="53" y="709"/>
                </a:cubicBezTo>
                <a:lnTo>
                  <a:pt x="17" y="653"/>
                </a:lnTo>
                <a:cubicBezTo>
                  <a:pt x="-6" y="619"/>
                  <a:pt x="-6" y="574"/>
                  <a:pt x="17" y="540"/>
                </a:cubicBezTo>
                <a:lnTo>
                  <a:pt x="53" y="485"/>
                </a:lnTo>
                <a:cubicBezTo>
                  <a:pt x="65" y="466"/>
                  <a:pt x="71" y="445"/>
                  <a:pt x="70" y="423"/>
                </a:cubicBezTo>
                <a:lnTo>
                  <a:pt x="66" y="357"/>
                </a:lnTo>
                <a:cubicBezTo>
                  <a:pt x="63" y="315"/>
                  <a:pt x="86" y="276"/>
                  <a:pt x="122" y="258"/>
                </a:cubicBezTo>
                <a:lnTo>
                  <a:pt x="181" y="228"/>
                </a:lnTo>
                <a:cubicBezTo>
                  <a:pt x="201" y="218"/>
                  <a:pt x="217" y="202"/>
                  <a:pt x="227" y="182"/>
                </a:cubicBezTo>
                <a:lnTo>
                  <a:pt x="257" y="123"/>
                </a:lnTo>
                <a:cubicBezTo>
                  <a:pt x="275" y="86"/>
                  <a:pt x="314" y="64"/>
                  <a:pt x="355" y="66"/>
                </a:cubicBezTo>
                <a:lnTo>
                  <a:pt x="421" y="70"/>
                </a:lnTo>
                <a:cubicBezTo>
                  <a:pt x="443" y="72"/>
                  <a:pt x="465" y="66"/>
                  <a:pt x="483" y="54"/>
                </a:cubicBezTo>
                <a:lnTo>
                  <a:pt x="539" y="17"/>
                </a:lnTo>
                <a:moveTo>
                  <a:pt x="843" y="597"/>
                </a:moveTo>
                <a:cubicBezTo>
                  <a:pt x="843" y="580"/>
                  <a:pt x="842" y="564"/>
                  <a:pt x="838" y="548"/>
                </a:cubicBezTo>
                <a:cubicBezTo>
                  <a:pt x="835" y="532"/>
                  <a:pt x="830" y="517"/>
                  <a:pt x="824" y="502"/>
                </a:cubicBezTo>
                <a:cubicBezTo>
                  <a:pt x="818" y="487"/>
                  <a:pt x="810" y="472"/>
                  <a:pt x="801" y="459"/>
                </a:cubicBezTo>
                <a:cubicBezTo>
                  <a:pt x="792" y="445"/>
                  <a:pt x="782" y="433"/>
                  <a:pt x="770" y="421"/>
                </a:cubicBezTo>
                <a:cubicBezTo>
                  <a:pt x="759" y="410"/>
                  <a:pt x="746" y="399"/>
                  <a:pt x="733" y="390"/>
                </a:cubicBezTo>
                <a:cubicBezTo>
                  <a:pt x="719" y="381"/>
                  <a:pt x="705" y="374"/>
                  <a:pt x="690" y="367"/>
                </a:cubicBezTo>
                <a:cubicBezTo>
                  <a:pt x="675" y="361"/>
                  <a:pt x="659" y="357"/>
                  <a:pt x="643" y="353"/>
                </a:cubicBezTo>
                <a:cubicBezTo>
                  <a:pt x="627" y="350"/>
                  <a:pt x="611" y="349"/>
                  <a:pt x="595" y="349"/>
                </a:cubicBezTo>
                <a:cubicBezTo>
                  <a:pt x="579" y="349"/>
                  <a:pt x="563" y="350"/>
                  <a:pt x="547" y="353"/>
                </a:cubicBezTo>
                <a:cubicBezTo>
                  <a:pt x="531" y="357"/>
                  <a:pt x="515" y="361"/>
                  <a:pt x="500" y="367"/>
                </a:cubicBezTo>
                <a:cubicBezTo>
                  <a:pt x="485" y="374"/>
                  <a:pt x="471" y="381"/>
                  <a:pt x="457" y="390"/>
                </a:cubicBezTo>
                <a:cubicBezTo>
                  <a:pt x="444" y="399"/>
                  <a:pt x="431" y="410"/>
                  <a:pt x="420" y="421"/>
                </a:cubicBezTo>
                <a:cubicBezTo>
                  <a:pt x="408" y="433"/>
                  <a:pt x="398" y="445"/>
                  <a:pt x="389" y="459"/>
                </a:cubicBezTo>
                <a:cubicBezTo>
                  <a:pt x="380" y="472"/>
                  <a:pt x="372" y="487"/>
                  <a:pt x="366" y="502"/>
                </a:cubicBezTo>
                <a:cubicBezTo>
                  <a:pt x="360" y="517"/>
                  <a:pt x="355" y="532"/>
                  <a:pt x="352" y="548"/>
                </a:cubicBezTo>
                <a:cubicBezTo>
                  <a:pt x="349" y="564"/>
                  <a:pt x="347" y="580"/>
                  <a:pt x="347" y="597"/>
                </a:cubicBezTo>
                <a:cubicBezTo>
                  <a:pt x="347" y="613"/>
                  <a:pt x="349" y="629"/>
                  <a:pt x="352" y="645"/>
                </a:cubicBezTo>
                <a:cubicBezTo>
                  <a:pt x="355" y="661"/>
                  <a:pt x="360" y="676"/>
                  <a:pt x="366" y="692"/>
                </a:cubicBezTo>
                <a:cubicBezTo>
                  <a:pt x="372" y="707"/>
                  <a:pt x="380" y="721"/>
                  <a:pt x="389" y="734"/>
                </a:cubicBezTo>
                <a:cubicBezTo>
                  <a:pt x="398" y="748"/>
                  <a:pt x="408" y="760"/>
                  <a:pt x="420" y="772"/>
                </a:cubicBezTo>
                <a:cubicBezTo>
                  <a:pt x="431" y="784"/>
                  <a:pt x="444" y="794"/>
                  <a:pt x="457" y="803"/>
                </a:cubicBezTo>
                <a:cubicBezTo>
                  <a:pt x="471" y="812"/>
                  <a:pt x="485" y="820"/>
                  <a:pt x="500" y="826"/>
                </a:cubicBezTo>
                <a:cubicBezTo>
                  <a:pt x="515" y="832"/>
                  <a:pt x="531" y="837"/>
                  <a:pt x="547" y="840"/>
                </a:cubicBezTo>
                <a:cubicBezTo>
                  <a:pt x="563" y="843"/>
                  <a:pt x="579" y="845"/>
                  <a:pt x="595" y="845"/>
                </a:cubicBezTo>
                <a:cubicBezTo>
                  <a:pt x="611" y="845"/>
                  <a:pt x="627" y="843"/>
                  <a:pt x="643" y="840"/>
                </a:cubicBezTo>
                <a:cubicBezTo>
                  <a:pt x="659" y="837"/>
                  <a:pt x="675" y="832"/>
                  <a:pt x="690" y="826"/>
                </a:cubicBezTo>
                <a:cubicBezTo>
                  <a:pt x="705" y="820"/>
                  <a:pt x="719" y="812"/>
                  <a:pt x="733" y="803"/>
                </a:cubicBezTo>
                <a:cubicBezTo>
                  <a:pt x="746" y="794"/>
                  <a:pt x="759" y="784"/>
                  <a:pt x="770" y="772"/>
                </a:cubicBezTo>
                <a:cubicBezTo>
                  <a:pt x="782" y="760"/>
                  <a:pt x="792" y="748"/>
                  <a:pt x="801" y="734"/>
                </a:cubicBezTo>
                <a:cubicBezTo>
                  <a:pt x="810" y="721"/>
                  <a:pt x="818" y="707"/>
                  <a:pt x="824" y="692"/>
                </a:cubicBezTo>
                <a:cubicBezTo>
                  <a:pt x="830" y="676"/>
                  <a:pt x="835" y="661"/>
                  <a:pt x="838" y="645"/>
                </a:cubicBezTo>
                <a:cubicBezTo>
                  <a:pt x="842" y="629"/>
                  <a:pt x="843" y="613"/>
                  <a:pt x="843" y="597"/>
                </a:cubicBezTo>
                <a:moveTo>
                  <a:pt x="4" y="1371"/>
                </a:moveTo>
                <a:lnTo>
                  <a:pt x="137" y="1053"/>
                </a:lnTo>
                <a:cubicBezTo>
                  <a:pt x="138" y="1054"/>
                  <a:pt x="138" y="1054"/>
                  <a:pt x="139" y="1055"/>
                </a:cubicBezTo>
                <a:lnTo>
                  <a:pt x="168" y="1114"/>
                </a:lnTo>
                <a:cubicBezTo>
                  <a:pt x="205" y="1186"/>
                  <a:pt x="280" y="1229"/>
                  <a:pt x="361" y="1225"/>
                </a:cubicBezTo>
                <a:lnTo>
                  <a:pt x="427" y="1221"/>
                </a:lnTo>
                <a:cubicBezTo>
                  <a:pt x="427" y="1221"/>
                  <a:pt x="428" y="1221"/>
                  <a:pt x="429" y="1221"/>
                </a:cubicBezTo>
                <a:lnTo>
                  <a:pt x="484" y="1258"/>
                </a:lnTo>
                <a:cubicBezTo>
                  <a:pt x="500" y="1268"/>
                  <a:pt x="517" y="1276"/>
                  <a:pt x="534" y="1282"/>
                </a:cubicBezTo>
                <a:lnTo>
                  <a:pt x="417" y="1559"/>
                </a:lnTo>
                <a:cubicBezTo>
                  <a:pt x="410" y="1576"/>
                  <a:pt x="394" y="1587"/>
                  <a:pt x="376" y="1589"/>
                </a:cubicBezTo>
                <a:cubicBezTo>
                  <a:pt x="358" y="1590"/>
                  <a:pt x="340" y="1582"/>
                  <a:pt x="330" y="1566"/>
                </a:cubicBezTo>
                <a:lnTo>
                  <a:pt x="230" y="1414"/>
                </a:lnTo>
                <a:lnTo>
                  <a:pt x="56" y="1439"/>
                </a:lnTo>
                <a:cubicBezTo>
                  <a:pt x="39" y="1442"/>
                  <a:pt x="21" y="1435"/>
                  <a:pt x="10" y="1421"/>
                </a:cubicBezTo>
                <a:cubicBezTo>
                  <a:pt x="-1" y="1407"/>
                  <a:pt x="-3" y="1388"/>
                  <a:pt x="3" y="1371"/>
                </a:cubicBezTo>
                <a:lnTo>
                  <a:pt x="4" y="1371"/>
                </a:lnTo>
                <a:moveTo>
                  <a:pt x="773" y="1558"/>
                </a:moveTo>
                <a:lnTo>
                  <a:pt x="656" y="1282"/>
                </a:lnTo>
                <a:cubicBezTo>
                  <a:pt x="674" y="1276"/>
                  <a:pt x="690" y="1269"/>
                  <a:pt x="706" y="1258"/>
                </a:cubicBezTo>
                <a:lnTo>
                  <a:pt x="761" y="1221"/>
                </a:lnTo>
                <a:cubicBezTo>
                  <a:pt x="762" y="1221"/>
                  <a:pt x="762" y="1221"/>
                  <a:pt x="763" y="1221"/>
                </a:cubicBezTo>
                <a:lnTo>
                  <a:pt x="829" y="1225"/>
                </a:lnTo>
                <a:cubicBezTo>
                  <a:pt x="910" y="1229"/>
                  <a:pt x="986" y="1186"/>
                  <a:pt x="1023" y="1114"/>
                </a:cubicBezTo>
                <a:lnTo>
                  <a:pt x="1052" y="1055"/>
                </a:lnTo>
                <a:cubicBezTo>
                  <a:pt x="1053" y="1054"/>
                  <a:pt x="1053" y="1054"/>
                  <a:pt x="1054" y="1053"/>
                </a:cubicBezTo>
                <a:lnTo>
                  <a:pt x="1188" y="1371"/>
                </a:lnTo>
                <a:cubicBezTo>
                  <a:pt x="1194" y="1388"/>
                  <a:pt x="1192" y="1406"/>
                  <a:pt x="1181" y="1421"/>
                </a:cubicBezTo>
                <a:cubicBezTo>
                  <a:pt x="1170" y="1435"/>
                  <a:pt x="1152" y="1442"/>
                  <a:pt x="1135" y="1439"/>
                </a:cubicBezTo>
                <a:lnTo>
                  <a:pt x="961" y="1414"/>
                </a:lnTo>
                <a:lnTo>
                  <a:pt x="860" y="1566"/>
                </a:lnTo>
                <a:cubicBezTo>
                  <a:pt x="850" y="1582"/>
                  <a:pt x="832" y="1590"/>
                  <a:pt x="814" y="1588"/>
                </a:cubicBezTo>
                <a:cubicBezTo>
                  <a:pt x="796" y="1587"/>
                  <a:pt x="780" y="1575"/>
                  <a:pt x="773" y="155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428760" y="251280"/>
            <a:ext cx="176328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Thank You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4726440" y="3304440"/>
            <a:ext cx="267516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60 Years of SIGOPS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2945520" y="3825360"/>
            <a:ext cx="6179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Celebrating legacy, community, and vision — from 1965 to the future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3571560" y="4695480"/>
            <a:ext cx="191160" cy="153000"/>
          </a:xfrm>
          <a:custGeom>
            <a:avLst/>
            <a:gdLst/>
            <a:ahLst/>
            <a:rect l="0" t="0" r="r" b="b"/>
            <a:pathLst>
              <a:path w="531" h="425">
                <a:moveTo>
                  <a:pt x="119" y="0"/>
                </a:moveTo>
                <a:cubicBezTo>
                  <a:pt x="128" y="0"/>
                  <a:pt x="137" y="2"/>
                  <a:pt x="145" y="5"/>
                </a:cubicBezTo>
                <a:cubicBezTo>
                  <a:pt x="153" y="9"/>
                  <a:pt x="160" y="14"/>
                  <a:pt x="166" y="20"/>
                </a:cubicBezTo>
                <a:cubicBezTo>
                  <a:pt x="172" y="26"/>
                  <a:pt x="177" y="33"/>
                  <a:pt x="181" y="41"/>
                </a:cubicBezTo>
                <a:cubicBezTo>
                  <a:pt x="184" y="49"/>
                  <a:pt x="186" y="58"/>
                  <a:pt x="186" y="67"/>
                </a:cubicBezTo>
                <a:cubicBezTo>
                  <a:pt x="186" y="75"/>
                  <a:pt x="184" y="84"/>
                  <a:pt x="181" y="92"/>
                </a:cubicBezTo>
                <a:cubicBezTo>
                  <a:pt x="177" y="100"/>
                  <a:pt x="172" y="107"/>
                  <a:pt x="166" y="113"/>
                </a:cubicBezTo>
                <a:cubicBezTo>
                  <a:pt x="160" y="120"/>
                  <a:pt x="153" y="124"/>
                  <a:pt x="145" y="128"/>
                </a:cubicBezTo>
                <a:cubicBezTo>
                  <a:pt x="137" y="131"/>
                  <a:pt x="128" y="133"/>
                  <a:pt x="119" y="133"/>
                </a:cubicBezTo>
                <a:cubicBezTo>
                  <a:pt x="111" y="133"/>
                  <a:pt x="102" y="131"/>
                  <a:pt x="94" y="128"/>
                </a:cubicBezTo>
                <a:cubicBezTo>
                  <a:pt x="86" y="124"/>
                  <a:pt x="79" y="120"/>
                  <a:pt x="73" y="113"/>
                </a:cubicBezTo>
                <a:cubicBezTo>
                  <a:pt x="66" y="107"/>
                  <a:pt x="62" y="100"/>
                  <a:pt x="58" y="92"/>
                </a:cubicBezTo>
                <a:cubicBezTo>
                  <a:pt x="55" y="84"/>
                  <a:pt x="53" y="75"/>
                  <a:pt x="53" y="67"/>
                </a:cubicBezTo>
                <a:cubicBezTo>
                  <a:pt x="53" y="58"/>
                  <a:pt x="55" y="49"/>
                  <a:pt x="58" y="41"/>
                </a:cubicBezTo>
                <a:cubicBezTo>
                  <a:pt x="62" y="33"/>
                  <a:pt x="66" y="26"/>
                  <a:pt x="73" y="20"/>
                </a:cubicBezTo>
                <a:cubicBezTo>
                  <a:pt x="79" y="14"/>
                  <a:pt x="86" y="9"/>
                  <a:pt x="94" y="5"/>
                </a:cubicBezTo>
                <a:cubicBezTo>
                  <a:pt x="102" y="2"/>
                  <a:pt x="111" y="0"/>
                  <a:pt x="119" y="0"/>
                </a:cubicBezTo>
                <a:moveTo>
                  <a:pt x="425" y="0"/>
                </a:moveTo>
                <a:cubicBezTo>
                  <a:pt x="433" y="0"/>
                  <a:pt x="442" y="2"/>
                  <a:pt x="450" y="5"/>
                </a:cubicBezTo>
                <a:cubicBezTo>
                  <a:pt x="458" y="9"/>
                  <a:pt x="465" y="14"/>
                  <a:pt x="471" y="20"/>
                </a:cubicBezTo>
                <a:cubicBezTo>
                  <a:pt x="478" y="26"/>
                  <a:pt x="482" y="33"/>
                  <a:pt x="486" y="41"/>
                </a:cubicBezTo>
                <a:cubicBezTo>
                  <a:pt x="489" y="49"/>
                  <a:pt x="491" y="58"/>
                  <a:pt x="491" y="67"/>
                </a:cubicBezTo>
                <a:cubicBezTo>
                  <a:pt x="491" y="75"/>
                  <a:pt x="489" y="84"/>
                  <a:pt x="486" y="92"/>
                </a:cubicBezTo>
                <a:cubicBezTo>
                  <a:pt x="482" y="100"/>
                  <a:pt x="478" y="107"/>
                  <a:pt x="471" y="113"/>
                </a:cubicBezTo>
                <a:cubicBezTo>
                  <a:pt x="465" y="120"/>
                  <a:pt x="458" y="124"/>
                  <a:pt x="450" y="128"/>
                </a:cubicBezTo>
                <a:cubicBezTo>
                  <a:pt x="442" y="131"/>
                  <a:pt x="433" y="133"/>
                  <a:pt x="425" y="133"/>
                </a:cubicBezTo>
                <a:cubicBezTo>
                  <a:pt x="416" y="133"/>
                  <a:pt x="407" y="131"/>
                  <a:pt x="399" y="128"/>
                </a:cubicBezTo>
                <a:cubicBezTo>
                  <a:pt x="390" y="124"/>
                  <a:pt x="383" y="120"/>
                  <a:pt x="377" y="113"/>
                </a:cubicBezTo>
                <a:cubicBezTo>
                  <a:pt x="371" y="107"/>
                  <a:pt x="366" y="100"/>
                  <a:pt x="363" y="92"/>
                </a:cubicBezTo>
                <a:cubicBezTo>
                  <a:pt x="359" y="84"/>
                  <a:pt x="358" y="75"/>
                  <a:pt x="358" y="67"/>
                </a:cubicBezTo>
                <a:cubicBezTo>
                  <a:pt x="358" y="58"/>
                  <a:pt x="359" y="49"/>
                  <a:pt x="363" y="41"/>
                </a:cubicBezTo>
                <a:cubicBezTo>
                  <a:pt x="366" y="33"/>
                  <a:pt x="371" y="26"/>
                  <a:pt x="377" y="20"/>
                </a:cubicBezTo>
                <a:cubicBezTo>
                  <a:pt x="383" y="14"/>
                  <a:pt x="390" y="9"/>
                  <a:pt x="399" y="5"/>
                </a:cubicBezTo>
                <a:cubicBezTo>
                  <a:pt x="407" y="2"/>
                  <a:pt x="416" y="0"/>
                  <a:pt x="425" y="0"/>
                </a:cubicBezTo>
                <a:moveTo>
                  <a:pt x="0" y="247"/>
                </a:moveTo>
                <a:cubicBezTo>
                  <a:pt x="0" y="199"/>
                  <a:pt x="40" y="159"/>
                  <a:pt x="89" y="159"/>
                </a:cubicBezTo>
                <a:lnTo>
                  <a:pt x="124" y="159"/>
                </a:lnTo>
                <a:cubicBezTo>
                  <a:pt x="137" y="159"/>
                  <a:pt x="150" y="162"/>
                  <a:pt x="161" y="167"/>
                </a:cubicBezTo>
                <a:cubicBezTo>
                  <a:pt x="160" y="173"/>
                  <a:pt x="159" y="179"/>
                  <a:pt x="159" y="186"/>
                </a:cubicBezTo>
                <a:cubicBezTo>
                  <a:pt x="159" y="217"/>
                  <a:pt x="173" y="246"/>
                  <a:pt x="195" y="265"/>
                </a:cubicBezTo>
                <a:lnTo>
                  <a:pt x="194" y="265"/>
                </a:lnTo>
                <a:lnTo>
                  <a:pt x="18" y="265"/>
                </a:lnTo>
                <a:cubicBezTo>
                  <a:pt x="8" y="265"/>
                  <a:pt x="0" y="257"/>
                  <a:pt x="0" y="247"/>
                </a:cubicBezTo>
                <a:moveTo>
                  <a:pt x="335" y="265"/>
                </a:moveTo>
                <a:cubicBezTo>
                  <a:pt x="357" y="246"/>
                  <a:pt x="371" y="217"/>
                  <a:pt x="371" y="186"/>
                </a:cubicBezTo>
                <a:cubicBezTo>
                  <a:pt x="371" y="179"/>
                  <a:pt x="370" y="173"/>
                  <a:pt x="369" y="167"/>
                </a:cubicBezTo>
                <a:cubicBezTo>
                  <a:pt x="380" y="162"/>
                  <a:pt x="393" y="159"/>
                  <a:pt x="407" y="159"/>
                </a:cubicBezTo>
                <a:lnTo>
                  <a:pt x="442" y="159"/>
                </a:lnTo>
                <a:cubicBezTo>
                  <a:pt x="491" y="159"/>
                  <a:pt x="531" y="199"/>
                  <a:pt x="531" y="247"/>
                </a:cubicBezTo>
                <a:cubicBezTo>
                  <a:pt x="531" y="257"/>
                  <a:pt x="523" y="265"/>
                  <a:pt x="513" y="265"/>
                </a:cubicBezTo>
                <a:lnTo>
                  <a:pt x="335" y="265"/>
                </a:lnTo>
                <a:moveTo>
                  <a:pt x="186" y="186"/>
                </a:moveTo>
                <a:cubicBezTo>
                  <a:pt x="186" y="175"/>
                  <a:pt x="188" y="165"/>
                  <a:pt x="192" y="155"/>
                </a:cubicBezTo>
                <a:cubicBezTo>
                  <a:pt x="196" y="146"/>
                  <a:pt x="201" y="137"/>
                  <a:pt x="209" y="130"/>
                </a:cubicBezTo>
                <a:cubicBezTo>
                  <a:pt x="216" y="122"/>
                  <a:pt x="225" y="116"/>
                  <a:pt x="235" y="112"/>
                </a:cubicBezTo>
                <a:cubicBezTo>
                  <a:pt x="244" y="108"/>
                  <a:pt x="254" y="106"/>
                  <a:pt x="265" y="106"/>
                </a:cubicBezTo>
                <a:cubicBezTo>
                  <a:pt x="275" y="106"/>
                  <a:pt x="286" y="108"/>
                  <a:pt x="295" y="112"/>
                </a:cubicBezTo>
                <a:cubicBezTo>
                  <a:pt x="305" y="116"/>
                  <a:pt x="314" y="122"/>
                  <a:pt x="321" y="130"/>
                </a:cubicBezTo>
                <a:cubicBezTo>
                  <a:pt x="329" y="137"/>
                  <a:pt x="334" y="146"/>
                  <a:pt x="338" y="155"/>
                </a:cubicBezTo>
                <a:cubicBezTo>
                  <a:pt x="342" y="165"/>
                  <a:pt x="344" y="175"/>
                  <a:pt x="344" y="186"/>
                </a:cubicBezTo>
                <a:cubicBezTo>
                  <a:pt x="344" y="196"/>
                  <a:pt x="342" y="206"/>
                  <a:pt x="338" y="216"/>
                </a:cubicBezTo>
                <a:cubicBezTo>
                  <a:pt x="334" y="226"/>
                  <a:pt x="329" y="234"/>
                  <a:pt x="321" y="242"/>
                </a:cubicBezTo>
                <a:cubicBezTo>
                  <a:pt x="314" y="249"/>
                  <a:pt x="305" y="255"/>
                  <a:pt x="295" y="259"/>
                </a:cubicBezTo>
                <a:cubicBezTo>
                  <a:pt x="286" y="263"/>
                  <a:pt x="275" y="265"/>
                  <a:pt x="265" y="265"/>
                </a:cubicBezTo>
                <a:cubicBezTo>
                  <a:pt x="254" y="265"/>
                  <a:pt x="244" y="263"/>
                  <a:pt x="235" y="259"/>
                </a:cubicBezTo>
                <a:cubicBezTo>
                  <a:pt x="225" y="255"/>
                  <a:pt x="216" y="249"/>
                  <a:pt x="209" y="242"/>
                </a:cubicBezTo>
                <a:cubicBezTo>
                  <a:pt x="201" y="234"/>
                  <a:pt x="196" y="226"/>
                  <a:pt x="192" y="216"/>
                </a:cubicBezTo>
                <a:cubicBezTo>
                  <a:pt x="188" y="206"/>
                  <a:pt x="186" y="196"/>
                  <a:pt x="186" y="186"/>
                </a:cubicBezTo>
                <a:moveTo>
                  <a:pt x="106" y="403"/>
                </a:moveTo>
                <a:cubicBezTo>
                  <a:pt x="106" y="342"/>
                  <a:pt x="156" y="292"/>
                  <a:pt x="216" y="292"/>
                </a:cubicBezTo>
                <a:lnTo>
                  <a:pt x="313" y="292"/>
                </a:lnTo>
                <a:cubicBezTo>
                  <a:pt x="374" y="292"/>
                  <a:pt x="425" y="342"/>
                  <a:pt x="425" y="403"/>
                </a:cubicBezTo>
                <a:cubicBezTo>
                  <a:pt x="425" y="415"/>
                  <a:pt x="415" y="425"/>
                  <a:pt x="403" y="425"/>
                </a:cubicBezTo>
                <a:lnTo>
                  <a:pt x="128" y="425"/>
                </a:lnTo>
                <a:cubicBezTo>
                  <a:pt x="116" y="425"/>
                  <a:pt x="106" y="415"/>
                  <a:pt x="106" y="40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5182920" y="4092120"/>
            <a:ext cx="18363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of systems research.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5510160" y="4695480"/>
            <a:ext cx="105120" cy="153000"/>
          </a:xfrm>
          <a:custGeom>
            <a:avLst/>
            <a:gdLst/>
            <a:ahLst/>
            <a:rect l="0" t="0" r="r" b="b"/>
            <a:pathLst>
              <a:path w="292" h="425">
                <a:moveTo>
                  <a:pt x="211" y="319"/>
                </a:moveTo>
                <a:cubicBezTo>
                  <a:pt x="219" y="293"/>
                  <a:pt x="236" y="269"/>
                  <a:pt x="252" y="247"/>
                </a:cubicBezTo>
                <a:cubicBezTo>
                  <a:pt x="256" y="241"/>
                  <a:pt x="261" y="235"/>
                  <a:pt x="266" y="229"/>
                </a:cubicBezTo>
                <a:cubicBezTo>
                  <a:pt x="282" y="205"/>
                  <a:pt x="292" y="177"/>
                  <a:pt x="292" y="146"/>
                </a:cubicBezTo>
                <a:cubicBezTo>
                  <a:pt x="292" y="66"/>
                  <a:pt x="226" y="0"/>
                  <a:pt x="145" y="0"/>
                </a:cubicBezTo>
                <a:cubicBezTo>
                  <a:pt x="65" y="0"/>
                  <a:pt x="0" y="66"/>
                  <a:pt x="0" y="146"/>
                </a:cubicBezTo>
                <a:cubicBezTo>
                  <a:pt x="0" y="177"/>
                  <a:pt x="9" y="205"/>
                  <a:pt x="26" y="229"/>
                </a:cubicBezTo>
                <a:cubicBezTo>
                  <a:pt x="30" y="235"/>
                  <a:pt x="34" y="241"/>
                  <a:pt x="38" y="247"/>
                </a:cubicBezTo>
                <a:cubicBezTo>
                  <a:pt x="55" y="269"/>
                  <a:pt x="71" y="293"/>
                  <a:pt x="79" y="319"/>
                </a:cubicBezTo>
                <a:lnTo>
                  <a:pt x="211" y="319"/>
                </a:lnTo>
                <a:moveTo>
                  <a:pt x="145" y="425"/>
                </a:moveTo>
                <a:cubicBezTo>
                  <a:pt x="182" y="425"/>
                  <a:pt x="211" y="395"/>
                  <a:pt x="211" y="359"/>
                </a:cubicBezTo>
                <a:lnTo>
                  <a:pt x="211" y="345"/>
                </a:lnTo>
                <a:lnTo>
                  <a:pt x="79" y="345"/>
                </a:lnTo>
                <a:lnTo>
                  <a:pt x="79" y="359"/>
                </a:lnTo>
                <a:cubicBezTo>
                  <a:pt x="79" y="395"/>
                  <a:pt x="109" y="425"/>
                  <a:pt x="145" y="425"/>
                </a:cubicBezTo>
                <a:moveTo>
                  <a:pt x="79" y="146"/>
                </a:moveTo>
                <a:cubicBezTo>
                  <a:pt x="79" y="153"/>
                  <a:pt x="73" y="159"/>
                  <a:pt x="66" y="159"/>
                </a:cubicBezTo>
                <a:cubicBezTo>
                  <a:pt x="59" y="159"/>
                  <a:pt x="53" y="153"/>
                  <a:pt x="53" y="146"/>
                </a:cubicBezTo>
                <a:cubicBezTo>
                  <a:pt x="53" y="95"/>
                  <a:pt x="94" y="53"/>
                  <a:pt x="145" y="53"/>
                </a:cubicBezTo>
                <a:cubicBezTo>
                  <a:pt x="152" y="53"/>
                  <a:pt x="158" y="59"/>
                  <a:pt x="158" y="67"/>
                </a:cubicBezTo>
                <a:cubicBezTo>
                  <a:pt x="158" y="74"/>
                  <a:pt x="152" y="80"/>
                  <a:pt x="145" y="80"/>
                </a:cubicBezTo>
                <a:cubicBezTo>
                  <a:pt x="109" y="80"/>
                  <a:pt x="79" y="109"/>
                  <a:pt x="79" y="14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3835800" y="4666320"/>
            <a:ext cx="1335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Global Community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7277040" y="4695840"/>
            <a:ext cx="152640" cy="152640"/>
          </a:xfrm>
          <a:custGeom>
            <a:avLst/>
            <a:gdLst/>
            <a:ahLst/>
            <a:rect l="0" t="0" r="r" b="b"/>
            <a:pathLst>
              <a:path w="424" h="424">
                <a:moveTo>
                  <a:pt x="129" y="319"/>
                </a:moveTo>
                <a:lnTo>
                  <a:pt x="104" y="293"/>
                </a:lnTo>
                <a:cubicBezTo>
                  <a:pt x="97" y="286"/>
                  <a:pt x="94" y="275"/>
                  <a:pt x="97" y="266"/>
                </a:cubicBezTo>
                <a:cubicBezTo>
                  <a:pt x="100" y="258"/>
                  <a:pt x="103" y="249"/>
                  <a:pt x="107" y="238"/>
                </a:cubicBezTo>
                <a:lnTo>
                  <a:pt x="20" y="238"/>
                </a:lnTo>
                <a:cubicBezTo>
                  <a:pt x="12" y="238"/>
                  <a:pt x="6" y="234"/>
                  <a:pt x="2" y="228"/>
                </a:cubicBezTo>
                <a:cubicBezTo>
                  <a:pt x="-1" y="221"/>
                  <a:pt x="-1" y="214"/>
                  <a:pt x="2" y="208"/>
                </a:cubicBezTo>
                <a:lnTo>
                  <a:pt x="46" y="134"/>
                </a:lnTo>
                <a:cubicBezTo>
                  <a:pt x="57" y="116"/>
                  <a:pt x="76" y="105"/>
                  <a:pt x="97" y="105"/>
                </a:cubicBezTo>
                <a:lnTo>
                  <a:pt x="165" y="105"/>
                </a:lnTo>
                <a:cubicBezTo>
                  <a:pt x="167" y="102"/>
                  <a:pt x="169" y="99"/>
                  <a:pt x="171" y="96"/>
                </a:cubicBezTo>
                <a:cubicBezTo>
                  <a:pt x="239" y="-4"/>
                  <a:pt x="341" y="-7"/>
                  <a:pt x="401" y="4"/>
                </a:cubicBezTo>
                <a:cubicBezTo>
                  <a:pt x="410" y="6"/>
                  <a:pt x="418" y="13"/>
                  <a:pt x="420" y="23"/>
                </a:cubicBezTo>
                <a:cubicBezTo>
                  <a:pt x="431" y="83"/>
                  <a:pt x="427" y="184"/>
                  <a:pt x="328" y="251"/>
                </a:cubicBezTo>
                <a:cubicBezTo>
                  <a:pt x="325" y="253"/>
                  <a:pt x="321" y="255"/>
                  <a:pt x="318" y="257"/>
                </a:cubicBezTo>
                <a:lnTo>
                  <a:pt x="318" y="326"/>
                </a:lnTo>
                <a:cubicBezTo>
                  <a:pt x="318" y="347"/>
                  <a:pt x="307" y="367"/>
                  <a:pt x="288" y="378"/>
                </a:cubicBezTo>
                <a:lnTo>
                  <a:pt x="215" y="421"/>
                </a:lnTo>
                <a:cubicBezTo>
                  <a:pt x="209" y="425"/>
                  <a:pt x="201" y="425"/>
                  <a:pt x="195" y="421"/>
                </a:cubicBezTo>
                <a:cubicBezTo>
                  <a:pt x="189" y="418"/>
                  <a:pt x="185" y="411"/>
                  <a:pt x="185" y="404"/>
                </a:cubicBezTo>
                <a:lnTo>
                  <a:pt x="185" y="315"/>
                </a:lnTo>
                <a:cubicBezTo>
                  <a:pt x="173" y="319"/>
                  <a:pt x="163" y="323"/>
                  <a:pt x="155" y="325"/>
                </a:cubicBezTo>
                <a:cubicBezTo>
                  <a:pt x="146" y="328"/>
                  <a:pt x="136" y="326"/>
                  <a:pt x="129" y="319"/>
                </a:cubicBezTo>
                <a:moveTo>
                  <a:pt x="318" y="138"/>
                </a:moveTo>
                <a:cubicBezTo>
                  <a:pt x="327" y="138"/>
                  <a:pt x="335" y="135"/>
                  <a:pt x="342" y="129"/>
                </a:cubicBezTo>
                <a:cubicBezTo>
                  <a:pt x="348" y="122"/>
                  <a:pt x="351" y="114"/>
                  <a:pt x="351" y="105"/>
                </a:cubicBezTo>
                <a:cubicBezTo>
                  <a:pt x="351" y="96"/>
                  <a:pt x="348" y="88"/>
                  <a:pt x="342" y="82"/>
                </a:cubicBezTo>
                <a:cubicBezTo>
                  <a:pt x="335" y="75"/>
                  <a:pt x="327" y="72"/>
                  <a:pt x="318" y="72"/>
                </a:cubicBezTo>
                <a:cubicBezTo>
                  <a:pt x="309" y="72"/>
                  <a:pt x="300" y="75"/>
                  <a:pt x="294" y="82"/>
                </a:cubicBezTo>
                <a:cubicBezTo>
                  <a:pt x="287" y="88"/>
                  <a:pt x="284" y="96"/>
                  <a:pt x="284" y="105"/>
                </a:cubicBezTo>
                <a:cubicBezTo>
                  <a:pt x="284" y="114"/>
                  <a:pt x="287" y="122"/>
                  <a:pt x="294" y="129"/>
                </a:cubicBezTo>
                <a:cubicBezTo>
                  <a:pt x="300" y="135"/>
                  <a:pt x="309" y="138"/>
                  <a:pt x="318" y="13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5697000" y="4666320"/>
            <a:ext cx="1249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Pioneering 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7508880" y="4666320"/>
            <a:ext cx="1108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Future Forward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11602440" y="6521040"/>
            <a:ext cx="1576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MicrosoftYaHei"/>
              </a:rPr>
              <a:t>10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