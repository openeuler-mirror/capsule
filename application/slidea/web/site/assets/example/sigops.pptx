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3_img1.jpg"/><Relationship Id="rId3" Type="http://schemas.openxmlformats.org/officeDocument/2006/relationships/image" Target="../media/s3_img2.jpg"/><Relationship Id="rId4" Type="http://schemas.openxmlformats.org/officeDocument/2006/relationships/image" Target="../media/s3_img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4_img1.jpg"/><Relationship Id="rId3" Type="http://schemas.openxmlformats.org/officeDocument/2006/relationships/image" Target="../media/s4_img2.jpg"/><Relationship Id="rId4" Type="http://schemas.openxmlformats.org/officeDocument/2006/relationships/image" Target="../media/s4_img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5_img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6_img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7_img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8_img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0_img1.jpg"/><Relationship Id="rId3" Type="http://schemas.openxmlformats.org/officeDocument/2006/relationships/image" Target="../media/s10_img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715500" y="95250"/>
              <a:ext cx="2286000" cy="2286000"/>
            </a:xfrm>
            <a:prstGeom prst="ellipse">
              <a:avLst/>
            </a:prstGeom>
            <a:gradFill>
              <a:gsLst>
                <a:gs pos="0">
                  <a:srgbClr val="60A5FA">
                    <a:alpha val="15000"/>
                  </a:srgbClr>
                </a:gs>
                <a:gs pos="100000">
                  <a:srgbClr val="60A5F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5250" y="4381500"/>
              <a:ext cx="2476500" cy="2476500"/>
            </a:xfrm>
            <a:prstGeom prst="ellipse">
              <a:avLst/>
            </a:prstGeom>
            <a:gradFill>
              <a:gsLst>
                <a:gs pos="0">
                  <a:srgbClr val="2563D9">
                    <a:alpha val="10000"/>
                  </a:srgbClr>
                </a:gs>
                <a:gs pos="100000">
                  <a:srgbClr val="2563D9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00" y="95250"/>
              <a:ext cx="2286000" cy="2286000"/>
            </a:xfrm>
            <a:prstGeom prst="ellipse">
              <a:avLst/>
            </a:prstGeom>
            <a:noFill/>
            <a:ln w="14288">
              <a:solidFill>
                <a:srgbClr val="60A5FA">
                  <a:alpha val="35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906000" y="476250"/>
              <a:ext cx="1524000" cy="1524000"/>
            </a:xfrm>
            <a:prstGeom prst="ellipse">
              <a:avLst/>
            </a:prstGeom>
            <a:noFill/>
            <a:ln w="14288">
              <a:solidFill>
                <a:srgbClr val="2563D9">
                  <a:alpha val="20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81000" y="4667250"/>
              <a:ext cx="2095500" cy="2095500"/>
            </a:xfrm>
            <a:prstGeom prst="ellipse">
              <a:avLst/>
            </a:prstGeom>
            <a:noFill/>
            <a:ln w="14288">
              <a:solidFill>
                <a:srgbClr val="60A5FA">
                  <a:alpha val="30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62000" y="5048250"/>
              <a:ext cx="1333500" cy="1333500"/>
            </a:xfrm>
            <a:prstGeom prst="ellipse">
              <a:avLst/>
            </a:prstGeom>
            <a:noFill/>
            <a:ln w="14288">
              <a:solidFill>
                <a:srgbClr val="2563D9">
                  <a:alpha val="18000"/>
                </a:srgb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33375" y="390525"/>
              <a:ext cx="95250" cy="9525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23875" y="390525"/>
              <a:ext cx="95250" cy="952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14375" y="390525"/>
              <a:ext cx="95250" cy="9525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95775" y="1438275"/>
              <a:ext cx="3600450" cy="437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22500" b="1" dirty="0">
                  <a:solidFill>
                    <a:srgbClr val="2563D9">
                      <a:alpha val="45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60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92979" y="1234440"/>
            <a:ext cx="5006042" cy="432435"/>
            <a:chOff x="3592979" y="1234440"/>
            <a:chExt cx="5006042" cy="432435"/>
          </a:xfrm>
        </p:grpSpPr>
        <p:sp>
          <p:nvSpPr>
            <p:cNvPr id="14" name="TextBox 14"/>
            <p:cNvSpPr txBox="1"/>
            <p:nvPr/>
          </p:nvSpPr>
          <p:spPr>
            <a:xfrm>
              <a:off x="3592979" y="1234440"/>
              <a:ext cx="5006042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500" b="1" spc="450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ACM SIGOPS STRATEGIC WORKSHOP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0" y="16573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2041645" y="1877187"/>
            <a:ext cx="8108710" cy="1197102"/>
            <a:chOff x="2041645" y="1877187"/>
            <a:chExt cx="8108710" cy="1197102"/>
          </a:xfrm>
        </p:grpSpPr>
        <p:sp>
          <p:nvSpPr>
            <p:cNvPr id="17" name="TextBox 17"/>
            <p:cNvSpPr txBox="1"/>
            <p:nvPr/>
          </p:nvSpPr>
          <p:spPr>
            <a:xfrm>
              <a:off x="2041645" y="1877187"/>
              <a:ext cx="8108710" cy="823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42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Celebrating 60 Years of SIGOPS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87395" y="2683002"/>
              <a:ext cx="1817209" cy="39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950" b="1" spc="300" dirty="0">
                  <a:solidFill>
                    <a:srgbClr val="60A5FA"/>
                  </a:solidFill>
                  <a:latin typeface="Microsoft YaHei"/>
                  <a:ea typeface="Microsoft YaHei"/>
                  <a:cs typeface="Microsoft YaHei"/>
                </a:rPr>
                <a:t>1965 – 2025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97829" y="3222498"/>
            <a:ext cx="5396341" cy="711327"/>
            <a:chOff x="3397829" y="3222498"/>
            <a:chExt cx="5396341" cy="711327"/>
          </a:xfrm>
        </p:grpSpPr>
        <p:sp>
          <p:nvSpPr>
            <p:cNvPr id="20" name="TextBox 20"/>
            <p:cNvSpPr txBox="1"/>
            <p:nvPr/>
          </p:nvSpPr>
          <p:spPr>
            <a:xfrm>
              <a:off x="3397829" y="3222498"/>
              <a:ext cx="5396341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800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From Historical Wisdom to Forward-Looking Vision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334000" y="38671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286500" y="38671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029325" y="38004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0"/>
                  </a:moveTo>
                  <a:lnTo>
                    <a:pt x="133350" y="66675"/>
                  </a:lnTo>
                  <a:lnTo>
                    <a:pt x="66675" y="13335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2563D9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3670983" y="4269486"/>
            <a:ext cx="4850035" cy="594741"/>
            <a:chOff x="3670983" y="4269486"/>
            <a:chExt cx="4850035" cy="594741"/>
          </a:xfrm>
        </p:grpSpPr>
        <p:sp>
          <p:nvSpPr>
            <p:cNvPr id="25" name="TextBox 25"/>
            <p:cNvSpPr txBox="1"/>
            <p:nvPr/>
          </p:nvSpPr>
          <p:spPr>
            <a:xfrm>
              <a:off x="4593494" y="4269486"/>
              <a:ext cx="3005012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Co-located with SOSP 2025 in Seoul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70983" y="4593336"/>
              <a:ext cx="4850035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Monday, October 13, 2025 · Crystal Ball B, Lotte Hotel World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218706" y="5276850"/>
            <a:ext cx="3754588" cy="463296"/>
            <a:chOff x="4218706" y="5276850"/>
            <a:chExt cx="3754588" cy="463296"/>
          </a:xfrm>
        </p:grpSpPr>
        <p:sp>
          <p:nvSpPr>
            <p:cNvPr id="28" name="Line 28"/>
            <p:cNvSpPr/>
            <p:nvPr/>
          </p:nvSpPr>
          <p:spPr>
            <a:xfrm>
              <a:off x="4381500" y="5334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043488" y="5310188"/>
              <a:ext cx="47625" cy="47625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729288" y="5310188"/>
              <a:ext cx="47625" cy="47625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415088" y="5310188"/>
              <a:ext cx="47625" cy="47625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100888" y="5310188"/>
              <a:ext cx="47625" cy="47625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324350" y="5276850"/>
              <a:ext cx="114300" cy="11430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753350" y="5276850"/>
              <a:ext cx="114300" cy="11430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18706" y="5519928"/>
              <a:ext cx="32558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1965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47706" y="5519928"/>
              <a:ext cx="32558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2025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0" y="6018657"/>
            <a:ext cx="12192000" cy="839343"/>
            <a:chOff x="0" y="6018657"/>
            <a:chExt cx="12192000" cy="839343"/>
          </a:xfrm>
        </p:grpSpPr>
        <p:sp>
          <p:nvSpPr>
            <p:cNvPr id="38" name="TextBox 38"/>
            <p:cNvSpPr txBox="1"/>
            <p:nvPr/>
          </p:nvSpPr>
          <p:spPr>
            <a:xfrm>
              <a:off x="2907587" y="6018657"/>
              <a:ext cx="6376827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i="1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Honoring six decades of the operating systems community — and charting its next chapter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gradFill>
              <a:gsLst>
                <a:gs pos="0">
                  <a:srgbClr val="2563D9"/>
                </a:gs>
                <a:gs pos="100000">
                  <a:srgbClr val="60A5FA"/>
                </a:gs>
              </a:gsLst>
              <a:lin ang="0" scaled="1"/>
            </a:gradFill>
            <a:ln>
              <a:noFill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gradFill>
              <a:gsLst>
                <a:gs pos="0">
                  <a:srgbClr val="2563D9"/>
                </a:gs>
                <a:gs pos="100000">
                  <a:srgbClr val="60A5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810750" y="0"/>
              <a:ext cx="1905000" cy="1905000"/>
            </a:xfrm>
            <a:prstGeom prst="ellipse">
              <a:avLst/>
            </a:prstGeom>
            <a:solidFill>
              <a:srgbClr val="2563D9">
                <a:alpha val="5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953750" y="1047750"/>
              <a:ext cx="1143000" cy="1143000"/>
            </a:xfrm>
            <a:prstGeom prst="ellipse">
              <a:avLst/>
            </a:prstGeom>
            <a:solidFill>
              <a:srgbClr val="60A5FA">
                <a:alpha val="1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867900" y="152400"/>
              <a:ext cx="495300" cy="495300"/>
            </a:xfrm>
            <a:prstGeom prst="ellipse">
              <a:avLst/>
            </a:prstGeom>
            <a:solidFill>
              <a:srgbClr val="60A5FA">
                <a:alpha val="1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654368"/>
            <a:ext cx="10972800" cy="1260157"/>
            <a:chOff x="609600" y="654368"/>
            <a:chExt cx="10972800" cy="1260157"/>
          </a:xfrm>
        </p:grpSpPr>
        <p:sp>
          <p:nvSpPr>
            <p:cNvPr id="8" name="TextBox 8"/>
            <p:cNvSpPr txBox="1"/>
            <p:nvPr/>
          </p:nvSpPr>
          <p:spPr>
            <a:xfrm>
              <a:off x="609600" y="654368"/>
              <a:ext cx="1041172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spc="300" dirty="0">
                  <a:solidFill>
                    <a:srgbClr val="60A5FA"/>
                  </a:solidFill>
                  <a:latin typeface="Microsoft YaHei"/>
                  <a:ea typeface="Microsoft YaHei"/>
                  <a:cs typeface="Microsoft YaHei"/>
                </a:rPr>
                <a:t>CONTENTS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9600" y="875538"/>
              <a:ext cx="4134189" cy="6526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33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Opening at a Glance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154305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885950" y="154305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/>
            <a:ln w="38100">
              <a:solidFill>
                <a:srgbClr val="60A5F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" y="190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058400" y="11430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2563D9">
                <a:alpha val="8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06449" y="1225868"/>
              <a:ext cx="827901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1965 – 2025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8650" y="2220658"/>
            <a:ext cx="10953750" cy="798767"/>
            <a:chOff x="628650" y="2220658"/>
            <a:chExt cx="10953750" cy="798767"/>
          </a:xfrm>
        </p:grpSpPr>
        <p:sp>
          <p:nvSpPr>
            <p:cNvPr id="16" name="Ellipse 16"/>
            <p:cNvSpPr/>
            <p:nvPr/>
          </p:nvSpPr>
          <p:spPr>
            <a:xfrm>
              <a:off x="628650" y="2228850"/>
              <a:ext cx="533400" cy="53340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3292" y="2361819"/>
              <a:ext cx="264116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220658"/>
              <a:ext cx="2307098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7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Sixty Years of SIGOPS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7800" y="2551557"/>
              <a:ext cx="1655403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A Timeline (1965–2025)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447800" y="300990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1182350" y="2409825"/>
              <a:ext cx="104775" cy="171450"/>
            </a:xfrm>
            <a:custGeom>
              <a:avLst/>
              <a:gdLst/>
              <a:ahLst/>
              <a:cxnLst/>
              <a:rect l="l" t="t" r="r" b="b"/>
              <a:pathLst>
                <a:path w="104775" h="171450">
                  <a:moveTo>
                    <a:pt x="0" y="0"/>
                  </a:moveTo>
                  <a:lnTo>
                    <a:pt x="104775" y="85725"/>
                  </a:lnTo>
                  <a:lnTo>
                    <a:pt x="0" y="171450"/>
                  </a:lnTo>
                </a:path>
              </a:pathLst>
            </a:custGeom>
            <a:noFill/>
            <a:ln w="23812" cap="rnd">
              <a:solidFill>
                <a:srgbClr val="60A5FA"/>
              </a:solidFill>
              <a:round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28650" y="3249358"/>
            <a:ext cx="10953750" cy="798767"/>
            <a:chOff x="628650" y="3249358"/>
            <a:chExt cx="10953750" cy="798767"/>
          </a:xfrm>
        </p:grpSpPr>
        <p:sp>
          <p:nvSpPr>
            <p:cNvPr id="23" name="Ellipse 23"/>
            <p:cNvSpPr/>
            <p:nvPr/>
          </p:nvSpPr>
          <p:spPr>
            <a:xfrm>
              <a:off x="628650" y="3257550"/>
              <a:ext cx="533400" cy="53340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3292" y="3390519"/>
              <a:ext cx="264116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249358"/>
              <a:ext cx="2310819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7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A Storied Community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47800" y="3580257"/>
              <a:ext cx="1927610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The SOSP 2015 History Day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447800" y="403860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1182350" y="3438525"/>
              <a:ext cx="104775" cy="171450"/>
            </a:xfrm>
            <a:custGeom>
              <a:avLst/>
              <a:gdLst/>
              <a:ahLst/>
              <a:cxnLst/>
              <a:rect l="l" t="t" r="r" b="b"/>
              <a:pathLst>
                <a:path w="104775" h="171450">
                  <a:moveTo>
                    <a:pt x="0" y="0"/>
                  </a:moveTo>
                  <a:lnTo>
                    <a:pt x="104775" y="85725"/>
                  </a:lnTo>
                  <a:lnTo>
                    <a:pt x="0" y="171450"/>
                  </a:lnTo>
                </a:path>
              </a:pathLst>
            </a:custGeom>
            <a:noFill/>
            <a:ln w="23812" cap="rnd">
              <a:solidFill>
                <a:srgbClr val="60A5FA"/>
              </a:solidFill>
              <a:round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28650" y="4278058"/>
            <a:ext cx="10953750" cy="798767"/>
            <a:chOff x="628650" y="4278058"/>
            <a:chExt cx="10953750" cy="798767"/>
          </a:xfrm>
        </p:grpSpPr>
        <p:sp>
          <p:nvSpPr>
            <p:cNvPr id="30" name="Ellipse 30"/>
            <p:cNvSpPr/>
            <p:nvPr/>
          </p:nvSpPr>
          <p:spPr>
            <a:xfrm>
              <a:off x="628650" y="4286250"/>
              <a:ext cx="533400" cy="53340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3292" y="4419219"/>
              <a:ext cx="264116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4278058"/>
              <a:ext cx="3939296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7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Why a Strategic Workshop, Why Now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47800" y="4608957"/>
              <a:ext cx="1284970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Mission and Goals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447800" y="506730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1182350" y="4467225"/>
              <a:ext cx="104775" cy="171450"/>
            </a:xfrm>
            <a:custGeom>
              <a:avLst/>
              <a:gdLst/>
              <a:ahLst/>
              <a:cxnLst/>
              <a:rect l="l" t="t" r="r" b="b"/>
              <a:pathLst>
                <a:path w="104775" h="171450">
                  <a:moveTo>
                    <a:pt x="0" y="0"/>
                  </a:moveTo>
                  <a:lnTo>
                    <a:pt x="104775" y="85725"/>
                  </a:lnTo>
                  <a:lnTo>
                    <a:pt x="0" y="171450"/>
                  </a:lnTo>
                </a:path>
              </a:pathLst>
            </a:custGeom>
            <a:noFill/>
            <a:ln w="23812" cap="rnd">
              <a:solidFill>
                <a:srgbClr val="60A5FA"/>
              </a:solidFill>
              <a:round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28650" y="5306758"/>
            <a:ext cx="10658475" cy="571691"/>
            <a:chOff x="628650" y="5306758"/>
            <a:chExt cx="10658475" cy="571691"/>
          </a:xfrm>
        </p:grpSpPr>
        <p:sp>
          <p:nvSpPr>
            <p:cNvPr id="37" name="Ellipse 37"/>
            <p:cNvSpPr/>
            <p:nvPr/>
          </p:nvSpPr>
          <p:spPr>
            <a:xfrm>
              <a:off x="628650" y="5314950"/>
              <a:ext cx="533400" cy="53340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3292" y="5447919"/>
              <a:ext cx="264116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47800" y="5306758"/>
              <a:ext cx="1830253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7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Today's Program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47800" y="5637657"/>
              <a:ext cx="4749094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Two Keynotes, Four Visionary Sessions, Two Panels &amp; Full Schedule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1182350" y="5495925"/>
              <a:ext cx="104775" cy="171450"/>
            </a:xfrm>
            <a:custGeom>
              <a:avLst/>
              <a:gdLst/>
              <a:ahLst/>
              <a:cxnLst/>
              <a:rect l="l" t="t" r="r" b="b"/>
              <a:pathLst>
                <a:path w="104775" h="171450">
                  <a:moveTo>
                    <a:pt x="0" y="0"/>
                  </a:moveTo>
                  <a:lnTo>
                    <a:pt x="104775" y="85725"/>
                  </a:lnTo>
                  <a:lnTo>
                    <a:pt x="0" y="171450"/>
                  </a:lnTo>
                </a:path>
              </a:pathLst>
            </a:custGeom>
            <a:noFill/>
            <a:ln w="23812" cap="rnd">
              <a:solidFill>
                <a:srgbClr val="60A5FA"/>
              </a:solidFill>
              <a:round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09600" y="6457950"/>
            <a:ext cx="10972800" cy="257556"/>
            <a:chOff x="609600" y="6457950"/>
            <a:chExt cx="10972800" cy="257556"/>
          </a:xfrm>
        </p:grpSpPr>
        <p:sp>
          <p:nvSpPr>
            <p:cNvPr id="43" name="Line 43"/>
            <p:cNvSpPr/>
            <p:nvPr/>
          </p:nvSpPr>
          <p:spPr>
            <a:xfrm>
              <a:off x="609600" y="6457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9600" y="6515100"/>
              <a:ext cx="116391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Opening at a Glance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434977" y="6515100"/>
              <a:ext cx="147423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9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66700" y="179451"/>
            <a:ext cx="5887724" cy="573024"/>
            <a:chOff x="266700" y="179451"/>
            <a:chExt cx="5887724" cy="573024"/>
          </a:xfrm>
        </p:grpSpPr>
        <p:sp>
          <p:nvSpPr>
            <p:cNvPr id="3" name="TextBox 3"/>
            <p:cNvSpPr txBox="1"/>
            <p:nvPr/>
          </p:nvSpPr>
          <p:spPr>
            <a:xfrm>
              <a:off x="266700" y="179451"/>
              <a:ext cx="5887724" cy="562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8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Sixty Years of SIGOPS: A Timeline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66700" y="7429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75258" y="1103757"/>
            <a:ext cx="5417766" cy="5265039"/>
            <a:chOff x="775258" y="1103757"/>
            <a:chExt cx="5417766" cy="5265039"/>
          </a:xfrm>
        </p:grpSpPr>
        <p:sp>
          <p:nvSpPr>
            <p:cNvPr id="6" name="Line 6"/>
            <p:cNvSpPr/>
            <p:nvPr/>
          </p:nvSpPr>
          <p:spPr>
            <a:xfrm>
              <a:off x="1600200" y="1238250"/>
              <a:ext cx="9525" cy="4933950"/>
            </a:xfrm>
            <a:custGeom>
              <a:avLst/>
              <a:gdLst/>
              <a:ahLst/>
              <a:cxnLst/>
              <a:rect l="l" t="t" r="r" b="b"/>
              <a:pathLst>
                <a:path w="9525" h="4933950">
                  <a:moveTo>
                    <a:pt x="0" y="0"/>
                  </a:moveTo>
                  <a:lnTo>
                    <a:pt x="0" y="4933950"/>
                  </a:lnTo>
                </a:path>
              </a:pathLst>
            </a:custGeom>
            <a:noFill/>
            <a:ln w="28575">
              <a:solidFill>
                <a:srgbClr val="2563D9">
                  <a:alpha val="20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533525" y="12287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4999" y="1158240"/>
              <a:ext cx="464701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5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1965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6900" y="1103757"/>
              <a:ext cx="4149019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Henriette Avram founds the Special Interest Committee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66900" y="1347978"/>
              <a:ext cx="303202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on Time-Sharing (SICTIME) — the seed of SIGOPS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1533525" y="20288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999" y="1958340"/>
              <a:ext cx="464701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5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1967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6900" y="1903857"/>
              <a:ext cx="3979801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First SOSP held October 1–4 in Gatlinburg, Tennessee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66900" y="2148078"/>
              <a:ext cx="2585543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The birthplace of our flagship symposium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533525" y="28289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999" y="2758440"/>
              <a:ext cx="464701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5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1968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66900" y="2703957"/>
              <a:ext cx="2623530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SIGTIME officially becomes SIGOPS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6900" y="2948178"/>
              <a:ext cx="3343525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The ACM Special Interest Group on Operating Systems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533525" y="36290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999" y="3558540"/>
              <a:ext cx="464701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5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1969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6900" y="3504057"/>
              <a:ext cx="3408152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Membership surges from ~400 to nearly 1,000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66900" y="3748278"/>
              <a:ext cx="337760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The newsletter evolves into Operating Systems Review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533525" y="44291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999" y="4358640"/>
              <a:ext cx="464701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5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1970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66900" y="4389882"/>
              <a:ext cx="3981587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Over 1,800 members — the second-largest SIG in ACM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1533525" y="52292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75258" y="5199507"/>
              <a:ext cx="634442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2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1982–83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66900" y="5104257"/>
              <a:ext cx="4326124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The conference family expands: ASPLOS and PODC launch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66900" y="5348478"/>
              <a:ext cx="375979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First issue of ACM Transactions on Computer Systems (TOCS)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466850" y="5962650"/>
              <a:ext cx="266700" cy="266700"/>
            </a:xfrm>
            <a:prstGeom prst="ellipse">
              <a:avLst/>
            </a:prstGeom>
            <a:noFill/>
            <a:ln w="19050">
              <a:solidFill>
                <a:srgbClr val="2563D9">
                  <a:alpha val="30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514475" y="6010275"/>
              <a:ext cx="171450" cy="17145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999" y="5958840"/>
              <a:ext cx="464701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5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2025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66900" y="5904357"/>
              <a:ext cx="1228564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SIGOPS turns 60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66900" y="6148578"/>
              <a:ext cx="4003429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A community nearly as old as the field of operating systems itself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639050" y="1100328"/>
            <a:ext cx="4286250" cy="5395722"/>
            <a:chOff x="7639050" y="1100328"/>
            <a:chExt cx="4286250" cy="5395722"/>
          </a:xfrm>
        </p:grpSpPr>
        <p:sp>
          <p:nvSpPr>
            <p:cNvPr id="36" name="Line 36"/>
            <p:cNvSpPr/>
            <p:nvPr/>
          </p:nvSpPr>
          <p:spPr>
            <a:xfrm>
              <a:off x="7639050" y="1190625"/>
              <a:ext cx="9525" cy="5286375"/>
            </a:xfrm>
            <a:custGeom>
              <a:avLst/>
              <a:gdLst/>
              <a:ahLst/>
              <a:cxnLst/>
              <a:rect l="l" t="t" r="r" b="b"/>
              <a:pathLst>
                <a:path w="9525" h="5286375">
                  <a:moveTo>
                    <a:pt x="0" y="0"/>
                  </a:moveTo>
                  <a:lnTo>
                    <a:pt x="0" y="5286375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05750" y="1100328"/>
              <a:ext cx="1684091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spc="150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FROM THE ARCHIVES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28" t="0" r="28" b="0"/>
            <a:stretch>
              <a:fillRect/>
            </a:stretch>
          </p:blipFill>
          <p:spPr>
            <a:xfrm>
              <a:off x="7905750" y="1381125"/>
              <a:ext cx="4019550" cy="247650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7905750" y="1381125"/>
              <a:ext cx="4019550" cy="2476500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05750" y="3895725"/>
              <a:ext cx="359100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Mountain View Hotel, Gatlinburg — site of the first SOSP (1967)</a:t>
              </a:r>
            </a:p>
          </p:txBody>
        </p:sp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3"/>
            <a:srcRect l="0" t="127" r="0" b="127"/>
            <a:stretch>
              <a:fillRect/>
            </a:stretch>
          </p:blipFill>
          <p:spPr>
            <a:xfrm>
              <a:off x="7905750" y="4305300"/>
              <a:ext cx="1714500" cy="1781175"/>
            </a:xfrm>
            <a:prstGeom prst="rect">
              <a:avLst/>
            </a:prstGeom>
          </p:spPr>
        </p:pic>
        <p:sp>
          <p:nvSpPr>
            <p:cNvPr id="42" name="Rectangle 42"/>
            <p:cNvSpPr/>
            <p:nvPr/>
          </p:nvSpPr>
          <p:spPr>
            <a:xfrm>
              <a:off x="7905750" y="4305300"/>
              <a:ext cx="1714500" cy="1781175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05750" y="6124575"/>
              <a:ext cx="1007352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Henriette Avram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05750" y="6315075"/>
              <a:ext cx="1360587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Founder of SICTIME, 1965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4"/>
            <a:srcRect l="176" t="0" r="176" b="0"/>
            <a:stretch>
              <a:fillRect/>
            </a:stretch>
          </p:blipFill>
          <p:spPr>
            <a:xfrm>
              <a:off x="9867900" y="4305300"/>
              <a:ext cx="2057400" cy="1162050"/>
            </a:xfrm>
            <a:prstGeom prst="rect">
              <a:avLst/>
            </a:prstGeom>
          </p:spPr>
        </p:pic>
        <p:sp>
          <p:nvSpPr>
            <p:cNvPr id="46" name="Rectangle 46"/>
            <p:cNvSpPr/>
            <p:nvPr/>
          </p:nvSpPr>
          <p:spPr>
            <a:xfrm>
              <a:off x="9867900" y="4305300"/>
              <a:ext cx="2057400" cy="1162050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67900" y="5514975"/>
              <a:ext cx="1524893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ACM TOCS — first issue, 1983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867900" y="5829300"/>
              <a:ext cx="2057400" cy="619125"/>
            </a:xfrm>
            <a:prstGeom prst="roundRect">
              <a:avLst>
                <a:gd name="adj" fmla="val 12308"/>
              </a:avLst>
            </a:prstGeom>
            <a:solidFill>
              <a:srgbClr val="2563D9">
                <a:alpha val="8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077450" y="5916168"/>
              <a:ext cx="408099" cy="502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5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60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53700" y="5924550"/>
              <a:ext cx="972377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Years of SIGOPS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53700" y="6115050"/>
              <a:ext cx="68171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1965 – 2025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66700" y="179451"/>
            <a:ext cx="9798183" cy="573024"/>
            <a:chOff x="266700" y="179451"/>
            <a:chExt cx="9798183" cy="573024"/>
          </a:xfrm>
        </p:grpSpPr>
        <p:sp>
          <p:nvSpPr>
            <p:cNvPr id="3" name="TextBox 3"/>
            <p:cNvSpPr txBox="1"/>
            <p:nvPr/>
          </p:nvSpPr>
          <p:spPr>
            <a:xfrm>
              <a:off x="266700" y="179451"/>
              <a:ext cx="9798183" cy="562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8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A Storied Community — and the SOSP 2015 History Day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66700" y="7429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266700" y="1000125"/>
            <a:ext cx="6096000" cy="2286000"/>
            <a:chOff x="266700" y="1000125"/>
            <a:chExt cx="6096000" cy="2286000"/>
          </a:xfrm>
        </p:grpSpPr>
        <p:sp>
          <p:nvSpPr>
            <p:cNvPr id="6" name="Rectangle 6"/>
            <p:cNvSpPr/>
            <p:nvPr/>
          </p:nvSpPr>
          <p:spPr>
            <a:xfrm>
              <a:off x="266700" y="1000125"/>
              <a:ext cx="6096000" cy="22860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209675"/>
              <a:ext cx="57150" cy="190500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9600" y="1192911"/>
              <a:ext cx="3332583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3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Turing Laureates Woven into Our Fabric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185" r="0" b="185"/>
            <a:stretch>
              <a:fillRect/>
            </a:stretch>
          </p:blipFill>
          <p:spPr>
            <a:xfrm>
              <a:off x="457200" y="1524000"/>
              <a:ext cx="2762250" cy="1381125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457200" y="1524000"/>
              <a:ext cx="2762250" cy="1381125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7200" y="2943225"/>
              <a:ext cx="3139083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The A.M. Turing Award — the ‘Nobel Prize of Computing’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90900" y="1549718"/>
              <a:ext cx="1269474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Edsger W. Dijkstra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84712" y="1557528"/>
              <a:ext cx="32558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1971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90900" y="1797368"/>
              <a:ext cx="14242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Ritchie &amp; Thompson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84712" y="1805178"/>
              <a:ext cx="32558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1983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90900" y="2045018"/>
              <a:ext cx="113032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Butler Lampson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4712" y="2052828"/>
              <a:ext cx="32558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1992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90900" y="2292668"/>
              <a:ext cx="1544062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Hennessy &amp; Patterson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84712" y="2300478"/>
              <a:ext cx="32558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2017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0900" y="2571750"/>
              <a:ext cx="2724150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38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…plus Wilkes (1967), Gray (1998) and Brooks (1999)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15100" y="1000125"/>
            <a:ext cx="5410200" cy="2286000"/>
            <a:chOff x="6515100" y="1000125"/>
            <a:chExt cx="5410200" cy="2286000"/>
          </a:xfrm>
        </p:grpSpPr>
        <p:sp>
          <p:nvSpPr>
            <p:cNvPr id="22" name="Rectangle 22"/>
            <p:cNvSpPr/>
            <p:nvPr/>
          </p:nvSpPr>
          <p:spPr>
            <a:xfrm>
              <a:off x="6515100" y="1000125"/>
              <a:ext cx="5410200" cy="22860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05600" y="1209675"/>
              <a:ext cx="57150" cy="190500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58000" y="1192911"/>
              <a:ext cx="2224855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3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Community Infrastructure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705600" y="16002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2563D9">
                <a:alpha val="1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48475" y="1638300"/>
              <a:ext cx="704850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Conferences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48600" y="1633728"/>
              <a:ext cx="289183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SOSP · OSDI · EuroSys · ASPLOS · PODC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05600" y="19812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2563D9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49901" y="2019300"/>
              <a:ext cx="501997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Journals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48600" y="2014728"/>
              <a:ext cx="261054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Operating Systems Review · ACM TOCS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05600" y="23622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2563D9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88150" y="2400300"/>
              <a:ext cx="425500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Awards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48600" y="2357628"/>
              <a:ext cx="1263354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Mark Weiser Award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8600" y="2567178"/>
              <a:ext cx="304289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Dennis M. Ritchie Thesis Award · Hall of Fame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8000" y="2895600"/>
              <a:ext cx="333642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38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OSDI (1994) and EuroSys (2006) later joined the flagship family.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66700" y="3429000"/>
            <a:ext cx="11658600" cy="2286000"/>
            <a:chOff x="266700" y="3429000"/>
            <a:chExt cx="11658600" cy="2286000"/>
          </a:xfrm>
        </p:grpSpPr>
        <p:sp>
          <p:nvSpPr>
            <p:cNvPr id="37" name="Rectangle 37"/>
            <p:cNvSpPr/>
            <p:nvPr/>
          </p:nvSpPr>
          <p:spPr>
            <a:xfrm>
              <a:off x="266700" y="3429000"/>
              <a:ext cx="11658600" cy="2286000"/>
            </a:xfrm>
            <a:prstGeom prst="roundRect">
              <a:avLst>
                <a:gd name="adj" fmla="val 4167"/>
              </a:avLst>
            </a:prstGeom>
            <a:solidFill>
              <a:srgbClr val="2563D9">
                <a:alpha val="5000"/>
              </a:srgbClr>
            </a:solidFill>
            <a:ln w="14288">
              <a:solidFill>
                <a:srgbClr val="E5E7EB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7200" y="3638550"/>
              <a:ext cx="57150" cy="190500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9600" y="3621786"/>
              <a:ext cx="5040832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3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SOSP 2015 History Day — Community Legends on One Stage</a:t>
              </a:r>
            </a:p>
          </p:txBody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3952875"/>
              <a:ext cx="1238250" cy="1524000"/>
            </a:xfrm>
            <a:prstGeom prst="rect">
              <a:avLst/>
            </a:prstGeom>
          </p:spPr>
        </p:pic>
        <p:sp>
          <p:nvSpPr>
            <p:cNvPr id="41" name="Rectangle 41"/>
            <p:cNvSpPr/>
            <p:nvPr/>
          </p:nvSpPr>
          <p:spPr>
            <a:xfrm>
              <a:off x="457200" y="3952875"/>
              <a:ext cx="1238250" cy="1524000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9750" y="3952875"/>
              <a:ext cx="1238250" cy="1524000"/>
            </a:xfrm>
            <a:prstGeom prst="rect">
              <a:avLst/>
            </a:prstGeom>
          </p:spPr>
        </p:pic>
        <p:sp>
          <p:nvSpPr>
            <p:cNvPr id="43" name="Rectangle 43"/>
            <p:cNvSpPr/>
            <p:nvPr/>
          </p:nvSpPr>
          <p:spPr>
            <a:xfrm>
              <a:off x="1809750" y="3952875"/>
              <a:ext cx="1238250" cy="1524000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1101" y="5495925"/>
              <a:ext cx="2082998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62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SOSP 2015 History Day · Monterey, CA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90900" y="3957828"/>
              <a:ext cx="6494961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The first large-scale moment our community paused to revisit the people and ideas that shaped the field.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390900" y="42672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754297" y="4324350"/>
              <a:ext cx="873407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Peter Denning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086350" y="42672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396541" y="4324350"/>
              <a:ext cx="97981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Butler Lampson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1800" y="42672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24956" y="4324350"/>
              <a:ext cx="91388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Barbara Liskov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477250" y="42672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89884" y="4324350"/>
              <a:ext cx="1174933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M. Satyanarayanan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172700" y="42672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12669" y="4324350"/>
              <a:ext cx="720263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Ken Birman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390900" y="46863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701611" y="4743450"/>
              <a:ext cx="978777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David Patterson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086350" y="46863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02494" y="4743450"/>
              <a:ext cx="967913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Frans Kaashoek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781800" y="46863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26531" y="4743450"/>
              <a:ext cx="71073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David Clark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477250" y="46863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987391" y="4743450"/>
              <a:ext cx="57991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Jeff Dean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172700" y="46863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493681" y="4743450"/>
              <a:ext cx="95823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Peter Neumann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390900" y="5162550"/>
              <a:ext cx="3925788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38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Organized by Jeanna Matthews, with an opening tribute to Dennis Ritchie.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390900" y="5372100"/>
              <a:ext cx="4806934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Three of them — Lampson, Patterson and Kaashoek — return to today’s stage.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266700" y="5857875"/>
            <a:ext cx="11658600" cy="676275"/>
            <a:chOff x="266700" y="5857875"/>
            <a:chExt cx="11658600" cy="676275"/>
          </a:xfrm>
        </p:grpSpPr>
        <p:sp>
          <p:nvSpPr>
            <p:cNvPr id="69" name="Rectangle 69"/>
            <p:cNvSpPr/>
            <p:nvPr/>
          </p:nvSpPr>
          <p:spPr>
            <a:xfrm>
              <a:off x="266700" y="5857875"/>
              <a:ext cx="11658600" cy="676275"/>
            </a:xfrm>
            <a:prstGeom prst="roundRect">
              <a:avLst>
                <a:gd name="adj" fmla="val 14085"/>
              </a:avLst>
            </a:prstGeom>
            <a:solidFill>
              <a:srgbClr val="2563D9">
                <a:alpha val="8000"/>
              </a:srgbClr>
            </a:solidFill>
            <a:ln w="9525">
              <a:solidFill>
                <a:srgbClr val="2563D9">
                  <a:alpha val="30000"/>
                </a:srgb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039764" y="5953125"/>
              <a:ext cx="1444972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SOSP 2015 · HISTORY DAY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738905" y="6163246"/>
              <a:ext cx="2046690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Looked Back at Our Roots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905500" y="6000750"/>
              <a:ext cx="381000" cy="38100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73" name="Line 73"/>
            <p:cNvSpPr/>
            <p:nvPr/>
          </p:nvSpPr>
          <p:spPr>
            <a:xfrm>
              <a:off x="5991225" y="61912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6172200" y="61341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429179" y="5953125"/>
              <a:ext cx="2001143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SOSP 2025 · STRATEGIC WORKSHOP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042594" y="6163246"/>
              <a:ext cx="2774311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7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Looks Forward to the Next Chapter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66700" y="179451"/>
            <a:ext cx="6694670" cy="573024"/>
            <a:chOff x="266700" y="179451"/>
            <a:chExt cx="6694670" cy="573024"/>
          </a:xfrm>
        </p:grpSpPr>
        <p:sp>
          <p:nvSpPr>
            <p:cNvPr id="3" name="TextBox 3"/>
            <p:cNvSpPr txBox="1"/>
            <p:nvPr/>
          </p:nvSpPr>
          <p:spPr>
            <a:xfrm>
              <a:off x="266700" y="179451"/>
              <a:ext cx="6694670" cy="562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8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Why a Strategic Workshop, Why Now?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66700" y="7429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266700" y="1062228"/>
            <a:ext cx="11658600" cy="1509522"/>
            <a:chOff x="266700" y="1062228"/>
            <a:chExt cx="11658600" cy="1509522"/>
          </a:xfrm>
        </p:grpSpPr>
        <p:sp>
          <p:nvSpPr>
            <p:cNvPr id="6" name="TextBox 6"/>
            <p:cNvSpPr txBox="1"/>
            <p:nvPr/>
          </p:nvSpPr>
          <p:spPr>
            <a:xfrm>
              <a:off x="266700" y="1062228"/>
              <a:ext cx="244519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spc="150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THE LANDSCAPE HAS SHIFTED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457450" y="1062228"/>
              <a:ext cx="4532811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— four forces reshaping computing and OS research over the past decade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06670" y="1066800"/>
              <a:ext cx="1418630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SOSP 2025 · Seoul, Korea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266700" y="1333500"/>
              <a:ext cx="2800350" cy="1238250"/>
              <a:chOff x="266700" y="1333500"/>
              <a:chExt cx="2800350" cy="1238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266700" y="1333500"/>
                <a:ext cx="280035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419100" y="1524000"/>
                <a:ext cx="419100" cy="419100"/>
              </a:xfrm>
              <a:prstGeom prst="ellipse">
                <a:avLst/>
              </a:prstGeom>
              <a:solidFill>
                <a:srgbClr val="2563D9">
                  <a:alpha val="6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523875" y="1628775"/>
                <a:ext cx="209550" cy="209550"/>
              </a:xfrm>
              <a:prstGeom prst="roundRect">
                <a:avLst>
                  <a:gd name="adj" fmla="val 13636"/>
                </a:avLst>
              </a:pr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81025" y="1685925"/>
                <a:ext cx="95250" cy="95250"/>
              </a:xfrm>
              <a:prstGeom prst="rect">
                <a:avLst/>
              </a:prstGeom>
              <a:solidFill>
                <a:srgbClr val="2563D9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571500" y="15811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28650" y="15811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685800" y="15811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71500" y="18383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628650" y="18383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685800" y="18383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476250" y="1676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476250" y="173355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476250" y="17907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733425" y="1676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733425" y="173355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733425" y="17907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563D9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57200" y="2037207"/>
                <a:ext cx="1510296" cy="24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200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Hardware Evolution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7200" y="2257425"/>
                <a:ext cx="1883569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New devices, accelerators, memory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219450" y="1333500"/>
              <a:ext cx="2800350" cy="1238250"/>
              <a:chOff x="3219450" y="1333500"/>
              <a:chExt cx="2800350" cy="1238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219450" y="1333500"/>
                <a:ext cx="280035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3371850" y="1524000"/>
                <a:ext cx="419100" cy="419100"/>
              </a:xfrm>
              <a:prstGeom prst="ellipse">
                <a:avLst/>
              </a:prstGeom>
              <a:solidFill>
                <a:srgbClr val="2563D9">
                  <a:alpha val="6000"/>
                </a:srgbClr>
              </a:solidFill>
              <a:ln>
                <a:noFill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3467100" y="18288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4288">
                <a:solidFill>
                  <a:srgbClr val="2563D9">
                    <a:alpha val="70000"/>
                  </a:srgbClr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3467100" y="161925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0" y="209550"/>
                    </a:moveTo>
                    <a:lnTo>
                      <a:pt x="114300" y="0"/>
                    </a:lnTo>
                  </a:path>
                </a:pathLst>
              </a:custGeom>
              <a:noFill/>
              <a:ln w="14288">
                <a:solidFill>
                  <a:srgbClr val="2563D9">
                    <a:alpha val="70000"/>
                  </a:srgbClr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3581400" y="161925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114300" y="2095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2563D9">
                    <a:alpha val="70000"/>
                  </a:srgbClr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3419475" y="1781175"/>
                <a:ext cx="95250" cy="95250"/>
              </a:xfrm>
              <a:prstGeom prst="ellipse">
                <a:avLst/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3648075" y="1781175"/>
                <a:ext cx="95250" cy="95250"/>
              </a:xfrm>
              <a:prstGeom prst="ellipse">
                <a:avLst/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533775" y="1571625"/>
                <a:ext cx="95250" cy="95250"/>
              </a:xfrm>
              <a:prstGeom prst="ellipse">
                <a:avLst/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3409950" y="2037207"/>
                <a:ext cx="1520267" cy="24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200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Distributed Systems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409950" y="2257425"/>
                <a:ext cx="1715095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Planet-scale, always-on services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172200" y="1333500"/>
              <a:ext cx="2800350" cy="1238250"/>
              <a:chOff x="6172200" y="1333500"/>
              <a:chExt cx="2800350" cy="12382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172200" y="1333500"/>
                <a:ext cx="280035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6324600" y="1524000"/>
                <a:ext cx="419100" cy="419100"/>
              </a:xfrm>
              <a:prstGeom prst="ellipse">
                <a:avLst/>
              </a:prstGeom>
              <a:solidFill>
                <a:srgbClr val="2563D9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10325" y="16097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lnTo>
                      <a:pt x="157162" y="90488"/>
                    </a:lnTo>
                    <a:lnTo>
                      <a:pt x="247650" y="123825"/>
                    </a:lnTo>
                    <a:lnTo>
                      <a:pt x="157162" y="157162"/>
                    </a:lnTo>
                    <a:lnTo>
                      <a:pt x="123825" y="247650"/>
                    </a:lnTo>
                    <a:lnTo>
                      <a:pt x="90488" y="157162"/>
                    </a:lnTo>
                    <a:lnTo>
                      <a:pt x="0" y="123825"/>
                    </a:lnTo>
                    <a:lnTo>
                      <a:pt x="90488" y="90488"/>
                    </a:lnTo>
                    <a:close/>
                  </a:path>
                </a:pathLst>
              </a:cu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362700" y="2037207"/>
                <a:ext cx="1633823" cy="24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200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AI-Driven Automation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362700" y="2257425"/>
                <a:ext cx="1486049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Learning reshapes the stack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9124950" y="1333500"/>
              <a:ext cx="2800350" cy="1238250"/>
              <a:chOff x="9124950" y="1333500"/>
              <a:chExt cx="2800350" cy="12382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124950" y="1333500"/>
                <a:ext cx="280035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9277350" y="1524000"/>
                <a:ext cx="419100" cy="419100"/>
              </a:xfrm>
              <a:prstGeom prst="ellipse">
                <a:avLst/>
              </a:prstGeom>
              <a:solidFill>
                <a:srgbClr val="2563D9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9372600" y="1619250"/>
                <a:ext cx="114300" cy="114300"/>
              </a:xfrm>
              <a:prstGeom prst="rect">
                <a:avLst/>
              </a:prstGeom>
              <a:solidFill>
                <a:srgbClr val="2563D9">
                  <a:alpha val="12000"/>
                </a:srgbClr>
              </a:solidFill>
              <a:ln w="14288">
                <a:solidFill>
                  <a:srgbClr val="2563D9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9525000" y="1619250"/>
                <a:ext cx="114300" cy="114300"/>
              </a:xfrm>
              <a:prstGeom prst="rect">
                <a:avLst/>
              </a:prstGeom>
              <a:solidFill>
                <a:srgbClr val="2563D9">
                  <a:alpha val="12000"/>
                </a:srgbClr>
              </a:solidFill>
              <a:ln w="14288">
                <a:solidFill>
                  <a:srgbClr val="2563D9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9372600" y="1771650"/>
                <a:ext cx="114300" cy="114300"/>
              </a:xfrm>
              <a:prstGeom prst="rect">
                <a:avLst/>
              </a:prstGeom>
              <a:solidFill>
                <a:srgbClr val="2563D9">
                  <a:alpha val="12000"/>
                </a:srgbClr>
              </a:solidFill>
              <a:ln w="14288">
                <a:solidFill>
                  <a:srgbClr val="2563D9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9525000" y="1771650"/>
                <a:ext cx="114300" cy="114300"/>
              </a:xfrm>
              <a:prstGeom prst="rect">
                <a:avLst/>
              </a:prstGeom>
              <a:solidFill>
                <a:srgbClr val="60A5FA"/>
              </a:solidFill>
              <a:ln w="14288">
                <a:solidFill>
                  <a:srgbClr val="2563D9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315450" y="2037207"/>
                <a:ext cx="2025837" cy="24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200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Heterogeneous Computing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315450" y="2257425"/>
                <a:ext cx="1681609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Many architectures, one system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266700" y="2667000"/>
            <a:ext cx="11658600" cy="428625"/>
            <a:chOff x="266700" y="2667000"/>
            <a:chExt cx="11658600" cy="428625"/>
          </a:xfrm>
        </p:grpSpPr>
        <p:sp>
          <p:nvSpPr>
            <p:cNvPr id="55" name="Rectangle 55"/>
            <p:cNvSpPr/>
            <p:nvPr/>
          </p:nvSpPr>
          <p:spPr>
            <a:xfrm>
              <a:off x="266700" y="2667000"/>
              <a:ext cx="11658600" cy="428625"/>
            </a:xfrm>
            <a:prstGeom prst="roundRect">
              <a:avLst>
                <a:gd name="adj" fmla="val 13333"/>
              </a:avLst>
            </a:prstGeom>
            <a:solidFill>
              <a:srgbClr val="2563D9">
                <a:alpha val="5000"/>
              </a:srgbClr>
            </a:solidFill>
            <a:ln w="9525">
              <a:solidFill>
                <a:srgbClr val="2563D9">
                  <a:alpha val="2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57200" y="2748915"/>
              <a:ext cx="205740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1050" y="2787968"/>
              <a:ext cx="9102894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These shifts demand renewed reflection on the principles, priorities and opportunities that will define the next generation of OS research.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66700" y="3190875"/>
            <a:ext cx="8115300" cy="1333500"/>
            <a:chOff x="266700" y="3190875"/>
            <a:chExt cx="8115300" cy="1333500"/>
          </a:xfrm>
        </p:grpSpPr>
        <p:sp>
          <p:nvSpPr>
            <p:cNvPr id="59" name="Rectangle 59"/>
            <p:cNvSpPr/>
            <p:nvPr/>
          </p:nvSpPr>
          <p:spPr>
            <a:xfrm>
              <a:off x="266700" y="3190875"/>
              <a:ext cx="8115300" cy="1333500"/>
            </a:xfrm>
            <a:prstGeom prst="roundRect">
              <a:avLst>
                <a:gd name="adj" fmla="val 5714"/>
              </a:avLst>
            </a:prstGeom>
            <a:solidFill>
              <a:srgbClr val="2563D9">
                <a:alpha val="5000"/>
              </a:srgbClr>
            </a:solidFill>
            <a:ln w="14288">
              <a:solidFill>
                <a:srgbClr val="2563D9">
                  <a:alpha val="25000"/>
                </a:srgbClr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266700" y="3190875"/>
              <a:ext cx="47625" cy="1333500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00" y="3314700"/>
              <a:ext cx="1028635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spc="150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OUR MISSION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3400" y="3578542"/>
              <a:ext cx="443862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i="1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Building on the legacy of the SOSP History Day (2015), we gather to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33400" y="3804476"/>
              <a:ext cx="4781889" cy="290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4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bridge historical wisdom with forward-looking vision,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33400" y="4104132"/>
              <a:ext cx="4831991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and collectively shape a strategic five-year roadmap for OS research.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266700" y="4610100"/>
            <a:ext cx="8115300" cy="1581150"/>
            <a:chOff x="266700" y="4610100"/>
            <a:chExt cx="8115300" cy="1581150"/>
          </a:xfrm>
        </p:grpSpPr>
        <p:sp>
          <p:nvSpPr>
            <p:cNvPr id="66" name="TextBox 66"/>
            <p:cNvSpPr txBox="1"/>
            <p:nvPr/>
          </p:nvSpPr>
          <p:spPr>
            <a:xfrm>
              <a:off x="266700" y="4610100"/>
              <a:ext cx="1945862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spc="150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THREE GOALS FOR TODAY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2400300" y="472440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266700" y="4876800"/>
              <a:ext cx="2600325" cy="1314450"/>
              <a:chOff x="266700" y="4876800"/>
              <a:chExt cx="2600325" cy="131445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266700" y="4876800"/>
                <a:ext cx="2600325" cy="1314450"/>
              </a:xfrm>
              <a:prstGeom prst="roundRect">
                <a:avLst>
                  <a:gd name="adj" fmla="val 5797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438150" y="5019675"/>
                <a:ext cx="247650" cy="247650"/>
              </a:xfrm>
              <a:prstGeom prst="ellipse">
                <a:avLst/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520485" y="5038725"/>
                <a:ext cx="8298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1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81050" y="5045392"/>
                <a:ext cx="1249978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Identify Priorities</a:t>
                </a: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495300" y="5334000"/>
                <a:ext cx="2143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5" h="9525">
                    <a:moveTo>
                      <a:pt x="0" y="0"/>
                    </a:moveTo>
                    <a:lnTo>
                      <a:pt x="2143125" y="0"/>
                    </a:lnTo>
                  </a:path>
                </a:pathLst>
              </a:custGeom>
              <a:noFill/>
              <a:ln w="9525">
                <a:solidFill>
                  <a:srgbClr val="E5E7EB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495300" y="5410200"/>
                <a:ext cx="1737717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Actionable items the community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495300" y="5610225"/>
                <a:ext cx="856952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can rally behind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3019425" y="4876800"/>
              <a:ext cx="2600325" cy="1314450"/>
              <a:chOff x="3019425" y="4876800"/>
              <a:chExt cx="2600325" cy="131445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3019425" y="4876800"/>
                <a:ext cx="2600325" cy="1314450"/>
              </a:xfrm>
              <a:prstGeom prst="roundRect">
                <a:avLst>
                  <a:gd name="adj" fmla="val 5797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3190875" y="5019675"/>
                <a:ext cx="247650" cy="247650"/>
              </a:xfrm>
              <a:prstGeom prst="ellipse">
                <a:avLst/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3273210" y="5038725"/>
                <a:ext cx="8298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2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3533775" y="5045392"/>
                <a:ext cx="1446877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Foster Collaboration</a:t>
                </a:r>
              </a:p>
            </p:txBody>
          </p:sp>
          <p:sp>
            <p:nvSpPr>
              <p:cNvPr id="80" name="Line 80"/>
              <p:cNvSpPr/>
              <p:nvPr/>
            </p:nvSpPr>
            <p:spPr>
              <a:xfrm>
                <a:off x="3248025" y="5334000"/>
                <a:ext cx="2143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5" h="9525">
                    <a:moveTo>
                      <a:pt x="0" y="0"/>
                    </a:moveTo>
                    <a:lnTo>
                      <a:pt x="2143125" y="0"/>
                    </a:lnTo>
                  </a:path>
                </a:pathLst>
              </a:custGeom>
              <a:noFill/>
              <a:ln w="9525">
                <a:solidFill>
                  <a:srgbClr val="E5E7EB"/>
                </a:solidFill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3248025" y="5410200"/>
                <a:ext cx="1542604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Interdisciplinary work across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3248025" y="5610225"/>
                <a:ext cx="1500932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systems, AI and architecture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5772150" y="4876800"/>
              <a:ext cx="2600325" cy="1314450"/>
              <a:chOff x="5772150" y="4876800"/>
              <a:chExt cx="2600325" cy="131445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5772150" y="4876800"/>
                <a:ext cx="2600325" cy="1314450"/>
              </a:xfrm>
              <a:prstGeom prst="roundRect">
                <a:avLst>
                  <a:gd name="adj" fmla="val 5797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5943600" y="5019675"/>
                <a:ext cx="247650" cy="247650"/>
              </a:xfrm>
              <a:prstGeom prst="ellipse">
                <a:avLst/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6025935" y="5038725"/>
                <a:ext cx="8298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3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6286500" y="5045392"/>
                <a:ext cx="1609100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Inspire a Shared Vision</a:t>
                </a:r>
              </a:p>
            </p:txBody>
          </p:sp>
          <p:sp>
            <p:nvSpPr>
              <p:cNvPr id="88" name="Line 88"/>
              <p:cNvSpPr/>
              <p:nvPr/>
            </p:nvSpPr>
            <p:spPr>
              <a:xfrm>
                <a:off x="6000750" y="5334000"/>
                <a:ext cx="2143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5" h="9525">
                    <a:moveTo>
                      <a:pt x="0" y="0"/>
                    </a:moveTo>
                    <a:lnTo>
                      <a:pt x="2143125" y="0"/>
                    </a:lnTo>
                  </a:path>
                </a:pathLst>
              </a:custGeom>
              <a:noFill/>
              <a:ln w="9525">
                <a:solidFill>
                  <a:srgbClr val="E5E7EB"/>
                </a:solidFill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6000750" y="5410200"/>
                <a:ext cx="1438573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A common direction for OS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000750" y="5610225"/>
                <a:ext cx="1631007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research in the coming decade</a:t>
                </a:r>
              </a:p>
            </p:txBody>
          </p:sp>
        </p:grpSp>
      </p:grpSp>
      <p:grpSp>
        <p:nvGrpSpPr>
          <p:cNvPr id="99" name="Group 99"/>
          <p:cNvGrpSpPr/>
          <p:nvPr/>
        </p:nvGrpSpPr>
        <p:grpSpPr>
          <a:xfrm>
            <a:off x="8534400" y="3190875"/>
            <a:ext cx="3390900" cy="3000375"/>
            <a:chOff x="8534400" y="3190875"/>
            <a:chExt cx="3390900" cy="3000375"/>
          </a:xfrm>
        </p:grpSpPr>
        <p:pic>
          <p:nvPicPr>
            <p:cNvPr id="93" name="Image 93"/>
            <p:cNvPicPr>
              <a:picLocks noChangeAspect="1"/>
            </p:cNvPicPr>
            <p:nvPr/>
          </p:nvPicPr>
          <p:blipFill>
            <a:blip r:embed="rId2"/>
            <a:srcRect l="12335" t="0" r="12335" b="0"/>
            <a:stretch>
              <a:fillRect/>
            </a:stretch>
          </p:blipFill>
          <p:spPr>
            <a:xfrm>
              <a:off x="8534400" y="3190875"/>
              <a:ext cx="3390900" cy="3000375"/>
            </a:xfrm>
            <a:prstGeom prst="rect">
              <a:avLst/>
            </a:prstGeom>
          </p:spPr>
        </p:pic>
        <p:sp>
          <p:nvSpPr>
            <p:cNvPr id="94" name="Rectangle 94"/>
            <p:cNvSpPr/>
            <p:nvPr/>
          </p:nvSpPr>
          <p:spPr>
            <a:xfrm>
              <a:off x="8534400" y="3190875"/>
              <a:ext cx="3390900" cy="3000375"/>
            </a:xfrm>
            <a:prstGeom prst="rect">
              <a:avLst/>
            </a:prstGeom>
            <a:noFill/>
            <a:ln w="14288">
              <a:solidFill>
                <a:srgbClr val="E5E7EB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8534400" y="5610225"/>
              <a:ext cx="3390900" cy="581025"/>
            </a:xfrm>
            <a:prstGeom prst="rect">
              <a:avLst/>
            </a:prstGeom>
            <a:solidFill>
              <a:srgbClr val="111827">
                <a:alpha val="60000"/>
              </a:srgbClr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515475" y="5667375"/>
              <a:ext cx="1428750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b="1" spc="150" dirty="0">
                  <a:solidFill>
                    <a:srgbClr val="60A5FA"/>
                  </a:solidFill>
                  <a:latin typeface="Microsoft YaHei"/>
                  <a:ea typeface="Microsoft YaHei"/>
                  <a:cs typeface="Microsoft YaHei"/>
                </a:rPr>
                <a:t>WHO IS IN THE ROOM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960644" y="5829300"/>
              <a:ext cx="2538412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Senior researchers · foundational contributors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078144" y="5991225"/>
              <a:ext cx="2303413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and emerging leaders — one diverse cohort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266700" y="6248400"/>
            <a:ext cx="11658600" cy="266700"/>
            <a:chOff x="266700" y="6248400"/>
            <a:chExt cx="11658600" cy="266700"/>
          </a:xfrm>
        </p:grpSpPr>
        <p:sp>
          <p:nvSpPr>
            <p:cNvPr id="100" name="Rectangle 100"/>
            <p:cNvSpPr/>
            <p:nvPr/>
          </p:nvSpPr>
          <p:spPr>
            <a:xfrm>
              <a:off x="266700" y="6248400"/>
              <a:ext cx="11658600" cy="266700"/>
            </a:xfrm>
            <a:prstGeom prst="roundRect">
              <a:avLst>
                <a:gd name="adj" fmla="val 21429"/>
              </a:avLst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743545" y="6291453"/>
              <a:ext cx="8704909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Honor the legacy of SOSP — and empower the community to navigate an increasingly complex technological future with clarity and purpose.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66700" y="179451"/>
            <a:ext cx="6707320" cy="573024"/>
            <a:chOff x="266700" y="179451"/>
            <a:chExt cx="6707320" cy="573024"/>
          </a:xfrm>
        </p:grpSpPr>
        <p:sp>
          <p:nvSpPr>
            <p:cNvPr id="3" name="TextBox 3"/>
            <p:cNvSpPr txBox="1"/>
            <p:nvPr/>
          </p:nvSpPr>
          <p:spPr>
            <a:xfrm>
              <a:off x="266700" y="179451"/>
              <a:ext cx="6707320" cy="562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8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A High-Density, High-Caliber Program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66700" y="7429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266700" y="1000125"/>
            <a:ext cx="11658600" cy="990600"/>
            <a:chOff x="266700" y="1000125"/>
            <a:chExt cx="11658600" cy="990600"/>
          </a:xfrm>
        </p:grpSpPr>
        <p:grpSp>
          <p:nvGrpSpPr>
            <p:cNvPr id="10" name="Group 10"/>
            <p:cNvGrpSpPr/>
            <p:nvPr/>
          </p:nvGrpSpPr>
          <p:grpSpPr>
            <a:xfrm>
              <a:off x="266700" y="1000125"/>
              <a:ext cx="2771775" cy="990600"/>
              <a:chOff x="266700" y="1000125"/>
              <a:chExt cx="2771775" cy="9906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266700" y="1000125"/>
                <a:ext cx="2771775" cy="990600"/>
              </a:xfrm>
              <a:prstGeom prst="roundRect">
                <a:avLst>
                  <a:gd name="adj" fmla="val 9615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544086" y="1125093"/>
                <a:ext cx="217003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25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7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15995" y="1543050"/>
                <a:ext cx="1473184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Sessions in One Full Day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0912" y="1752600"/>
                <a:ext cx="180335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62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8:50 – 18:00 · built for discussion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228975" y="1000125"/>
              <a:ext cx="2771775" cy="990600"/>
              <a:chOff x="3228975" y="1000125"/>
              <a:chExt cx="2771775" cy="9906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228975" y="1000125"/>
                <a:ext cx="2771775" cy="990600"/>
              </a:xfrm>
              <a:prstGeom prst="roundRect">
                <a:avLst>
                  <a:gd name="adj" fmla="val 9615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506361" y="1125093"/>
                <a:ext cx="217003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25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714187" y="1543050"/>
                <a:ext cx="1801350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Keynotes by Turing Laureates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82529" y="1752600"/>
                <a:ext cx="1864668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62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David Patterson · Butler Lampson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191250" y="1000125"/>
              <a:ext cx="2771775" cy="990600"/>
              <a:chOff x="6191250" y="1000125"/>
              <a:chExt cx="2771775" cy="9906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191250" y="1000125"/>
                <a:ext cx="2771775" cy="990600"/>
              </a:xfrm>
              <a:prstGeom prst="roundRect">
                <a:avLst>
                  <a:gd name="adj" fmla="val 9615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373088" y="1125093"/>
                <a:ext cx="408099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25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15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56978" y="1543050"/>
                <a:ext cx="1640318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Ten-Minute Visionary Talks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822132" y="1752600"/>
                <a:ext cx="151001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62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across four themed sessions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153525" y="1000125"/>
              <a:ext cx="2771775" cy="990600"/>
              <a:chOff x="9153525" y="1000125"/>
              <a:chExt cx="2771775" cy="9906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153525" y="1000125"/>
                <a:ext cx="2771775" cy="990600"/>
              </a:xfrm>
              <a:prstGeom prst="roundRect">
                <a:avLst>
                  <a:gd name="adj" fmla="val 9615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430911" y="1125093"/>
                <a:ext cx="217003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25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937138" y="1543050"/>
                <a:ext cx="1204549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Panels on the AI Era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772724" y="1752600"/>
                <a:ext cx="1533376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62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on research &amp; on community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266700" y="2200846"/>
            <a:ext cx="7391400" cy="2437829"/>
            <a:chOff x="266700" y="2200846"/>
            <a:chExt cx="7391400" cy="2437829"/>
          </a:xfrm>
        </p:grpSpPr>
        <p:sp>
          <p:nvSpPr>
            <p:cNvPr id="27" name="TextBox 27"/>
            <p:cNvSpPr txBox="1"/>
            <p:nvPr/>
          </p:nvSpPr>
          <p:spPr>
            <a:xfrm>
              <a:off x="266700" y="2200846"/>
              <a:ext cx="1888635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Four Visionary Sessions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79689" y="2228850"/>
              <a:ext cx="3478411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every themed session is paired with a dedicated group discussion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266700" y="2495550"/>
              <a:ext cx="7391400" cy="419100"/>
              <a:chOff x="266700" y="2495550"/>
              <a:chExt cx="7391400" cy="4191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266700" y="2495550"/>
                <a:ext cx="73914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19100" y="2590800"/>
                <a:ext cx="323850" cy="228600"/>
              </a:xfrm>
              <a:prstGeom prst="roundRect">
                <a:avLst>
                  <a:gd name="adj" fmla="val 25000"/>
                </a:avLst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08843" y="2619375"/>
                <a:ext cx="144363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01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76300" y="2625185"/>
                <a:ext cx="2462248" cy="2205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88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The Intelligent Nexus: AI and Systems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234410" y="2628900"/>
                <a:ext cx="127129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zh-CN" sz="938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11:00 – 11:40 · 4 talks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266700" y="2990850"/>
              <a:ext cx="7391400" cy="419100"/>
              <a:chOff x="266700" y="2990850"/>
              <a:chExt cx="7391400" cy="4191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266700" y="2990850"/>
                <a:ext cx="73914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19100" y="3086100"/>
                <a:ext cx="323850" cy="228600"/>
              </a:xfrm>
              <a:prstGeom prst="roundRect">
                <a:avLst>
                  <a:gd name="adj" fmla="val 25000"/>
                </a:avLst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08843" y="3114675"/>
                <a:ext cx="144363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02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76300" y="3120485"/>
                <a:ext cx="2382179" cy="2205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88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Building Blocks for a Reliable Future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34410" y="3124200"/>
                <a:ext cx="127129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zh-CN" sz="938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14:00 – 14:40 · 4 talks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266700" y="3486150"/>
              <a:ext cx="7391400" cy="419100"/>
              <a:chOff x="266700" y="3486150"/>
              <a:chExt cx="7391400" cy="4191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266700" y="3486150"/>
                <a:ext cx="73914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19100" y="3581400"/>
                <a:ext cx="323850" cy="228600"/>
              </a:xfrm>
              <a:prstGeom prst="roundRect">
                <a:avLst>
                  <a:gd name="adj" fmla="val 25000"/>
                </a:avLst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08843" y="3609975"/>
                <a:ext cx="144363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03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76300" y="3615785"/>
                <a:ext cx="3221123" cy="2205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88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The Sky Is Not the Limit: Future of Cloud Systems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34410" y="3619500"/>
                <a:ext cx="127129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zh-CN" sz="938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15:00 – 15:30 · 3 talks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266700" y="3981450"/>
              <a:ext cx="7391400" cy="419100"/>
              <a:chOff x="266700" y="3981450"/>
              <a:chExt cx="7391400" cy="4191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266700" y="3981450"/>
                <a:ext cx="73914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419100" y="4076700"/>
                <a:ext cx="323850" cy="228600"/>
              </a:xfrm>
              <a:prstGeom prst="roundRect">
                <a:avLst>
                  <a:gd name="adj" fmla="val 25000"/>
                </a:avLst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508843" y="4105275"/>
                <a:ext cx="144363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04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76300" y="4111085"/>
                <a:ext cx="2677900" cy="2205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88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The Core of the Machine: OS in a New Era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234410" y="4114800"/>
                <a:ext cx="127129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zh-CN" sz="938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16:10 – 16:50 · 4 talks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266700" y="4457700"/>
              <a:ext cx="844153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Session chairs: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00150" y="4457700"/>
              <a:ext cx="462349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Haibo Chen · Christos Kozyrakis · Rebecca Isaacs · Lorenzo Alvisi · Frans Kaashoek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848600" y="2133600"/>
            <a:ext cx="4076700" cy="2495550"/>
            <a:chOff x="7848600" y="2133600"/>
            <a:chExt cx="4076700" cy="2495550"/>
          </a:xfrm>
        </p:grpSpPr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2"/>
            <a:srcRect l="0" t="4089" r="0" b="4089"/>
            <a:stretch>
              <a:fillRect/>
            </a:stretch>
          </p:blipFill>
          <p:spPr>
            <a:xfrm>
              <a:off x="7848600" y="2133600"/>
              <a:ext cx="4076700" cy="2495550"/>
            </a:xfrm>
            <a:prstGeom prst="rect">
              <a:avLst/>
            </a:prstGeom>
          </p:spPr>
        </p:pic>
        <p:sp>
          <p:nvSpPr>
            <p:cNvPr id="57" name="Rectangle 57"/>
            <p:cNvSpPr/>
            <p:nvPr/>
          </p:nvSpPr>
          <p:spPr>
            <a:xfrm>
              <a:off x="7848600" y="2133600"/>
              <a:ext cx="4076700" cy="2495550"/>
            </a:xfrm>
            <a:prstGeom prst="rect">
              <a:avLst/>
            </a:prstGeom>
            <a:noFill/>
            <a:ln w="14288">
              <a:solidFill>
                <a:srgbClr val="E5E7EB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48600" y="4095750"/>
              <a:ext cx="4076700" cy="533400"/>
            </a:xfrm>
            <a:prstGeom prst="rect">
              <a:avLst/>
            </a:prstGeom>
            <a:solidFill>
              <a:srgbClr val="111827">
                <a:alpha val="7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039100" y="4152900"/>
              <a:ext cx="1561374" cy="2198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12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Discussion-First Format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39100" y="4362450"/>
              <a:ext cx="33897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62" dirty="0">
                  <a:solidFill>
                    <a:srgbClr val="E5E7EB"/>
                  </a:solidFill>
                  <a:latin typeface="Microsoft YaHei"/>
                  <a:ea typeface="Microsoft YaHei"/>
                  <a:cs typeface="Microsoft YaHei"/>
                </a:rPr>
                <a:t>Panels + group discussions — interaction over one-way listening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66700" y="4781550"/>
            <a:ext cx="11658600" cy="1752600"/>
            <a:chOff x="266700" y="4781550"/>
            <a:chExt cx="11658600" cy="1752600"/>
          </a:xfrm>
        </p:grpSpPr>
        <p:sp>
          <p:nvSpPr>
            <p:cNvPr id="62" name="Rectangle 62"/>
            <p:cNvSpPr/>
            <p:nvPr/>
          </p:nvSpPr>
          <p:spPr>
            <a:xfrm>
              <a:off x="266700" y="4781550"/>
              <a:ext cx="11658600" cy="1752600"/>
            </a:xfrm>
            <a:prstGeom prst="roundRect">
              <a:avLst>
                <a:gd name="adj" fmla="val 5435"/>
              </a:avLst>
            </a:prstGeom>
            <a:solidFill>
              <a:srgbClr val="2563D9">
                <a:alpha val="5000"/>
              </a:srgbClr>
            </a:solidFill>
            <a:ln w="14288">
              <a:solidFill>
                <a:srgbClr val="E5E7EB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495300" y="49530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3900" y="4913757"/>
              <a:ext cx="2414129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A Speaker Roster of Rare Caliber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5300" y="5381625"/>
              <a:ext cx="75381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INSTITUTIONS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905000" y="5343525"/>
              <a:ext cx="8972121" cy="2198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12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UC Berkeley · MIT · Stanford · Cornell · CMU · Columbia · UCLA · ETH Zurich · UNSW · SJTU · SNU — plus Google, NVIDIA and beyond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495300" y="56864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95300" y="5743575"/>
              <a:ext cx="931366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HONORS &amp; ROLES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905000" y="5705475"/>
              <a:ext cx="7831503" cy="2198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12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NAE members · ACM &amp; IEEE Fellows · Mark Weiser Award recipients · founders of Databricks, Anyscale, FriendliAI, BreezeML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495300" y="60483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95300" y="6105525"/>
              <a:ext cx="78551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BEYOND TALKS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905000" y="6067425"/>
              <a:ext cx="6846260" cy="2198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12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Two 50-minute panels · three 20-minute group discussions · coffee breaks and lunch woven through the day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66700" y="179451"/>
            <a:ext cx="5018865" cy="573024"/>
            <a:chOff x="266700" y="179451"/>
            <a:chExt cx="5018865" cy="573024"/>
          </a:xfrm>
        </p:grpSpPr>
        <p:sp>
          <p:nvSpPr>
            <p:cNvPr id="3" name="TextBox 3"/>
            <p:cNvSpPr txBox="1"/>
            <p:nvPr/>
          </p:nvSpPr>
          <p:spPr>
            <a:xfrm>
              <a:off x="266700" y="179451"/>
              <a:ext cx="5018865" cy="562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8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Keynote I — David Patterson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66700" y="7429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66700" y="1000125"/>
            <a:ext cx="11658600" cy="742950"/>
            <a:chOff x="266700" y="1000125"/>
            <a:chExt cx="11658600" cy="742950"/>
          </a:xfrm>
        </p:grpSpPr>
        <p:sp>
          <p:nvSpPr>
            <p:cNvPr id="6" name="Rectangle 6"/>
            <p:cNvSpPr/>
            <p:nvPr/>
          </p:nvSpPr>
          <p:spPr>
            <a:xfrm>
              <a:off x="266700" y="1000125"/>
              <a:ext cx="11658600" cy="742950"/>
            </a:xfrm>
            <a:prstGeom prst="roundRect">
              <a:avLst>
                <a:gd name="adj" fmla="val 12821"/>
              </a:avLst>
            </a:prstGeom>
            <a:solidFill>
              <a:srgbClr val="2563D9">
                <a:alpha val="6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66700" y="1000125"/>
              <a:ext cx="57150" cy="742950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3400" y="1100138"/>
              <a:ext cx="4858941" cy="371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Computer Architecture 101 and Its Future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3400" y="1452753"/>
              <a:ext cx="377319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Session 1: Opening &amp; Keynote Speech · This talk is recorded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0" y="1162050"/>
              <a:ext cx="1428750" cy="419100"/>
            </a:xfrm>
            <a:prstGeom prst="roundRect">
              <a:avLst>
                <a:gd name="adj" fmla="val 18182"/>
              </a:avLst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44595" y="1259586"/>
              <a:ext cx="903559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9:00 – 9:45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963150" y="1162050"/>
              <a:ext cx="18097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4288">
              <a:solidFill>
                <a:srgbClr val="2563D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71992" y="1281303"/>
              <a:ext cx="1192066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Chair: Haibo Chen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66700" y="1933575"/>
            <a:ext cx="3048000" cy="4600575"/>
            <a:chOff x="266700" y="1933575"/>
            <a:chExt cx="3048000" cy="4600575"/>
          </a:xfrm>
        </p:grpSpPr>
        <p:sp>
          <p:nvSpPr>
            <p:cNvPr id="15" name="Rectangle 15"/>
            <p:cNvSpPr/>
            <p:nvPr/>
          </p:nvSpPr>
          <p:spPr>
            <a:xfrm>
              <a:off x="266700" y="1933575"/>
              <a:ext cx="3048000" cy="4600575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100" y="2085975"/>
              <a:ext cx="2743200" cy="2743200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419100" y="2085975"/>
              <a:ext cx="2743200" cy="2743200"/>
            </a:xfrm>
            <a:prstGeom prst="rect">
              <a:avLst/>
            </a:prstGeom>
            <a:noFill/>
            <a:ln w="14288">
              <a:solidFill>
                <a:srgbClr val="E5E7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2424" y="4914519"/>
              <a:ext cx="1656552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6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David Patterson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871" y="5191125"/>
              <a:ext cx="2257657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UC Berkeley Pardee Professor Emeritus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2824" y="5362575"/>
              <a:ext cx="1775752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Google Distinguished Engineer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565785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6116" y="5715000"/>
              <a:ext cx="172916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2017 ACM A.M. Turing Award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1773" y="5895975"/>
              <a:ext cx="283785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62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with John Hennessy · “Nobel Prize of Computing”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0149" y="6096000"/>
              <a:ext cx="2201102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2022 NAE Charles Stark Draper Prize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9318" y="6276975"/>
              <a:ext cx="164276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62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“Nobel Prize of Engineering”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543300" y="1922907"/>
            <a:ext cx="8362950" cy="2096643"/>
            <a:chOff x="3543300" y="1922907"/>
            <a:chExt cx="8362950" cy="2096643"/>
          </a:xfrm>
        </p:grpSpPr>
        <p:sp>
          <p:nvSpPr>
            <p:cNvPr id="27" name="TextBox 27"/>
            <p:cNvSpPr txBox="1"/>
            <p:nvPr/>
          </p:nvSpPr>
          <p:spPr>
            <a:xfrm>
              <a:off x="3543300" y="1922907"/>
              <a:ext cx="968413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Talk Preview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30210" y="1943100"/>
              <a:ext cx="1176040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From the talk abstract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543300" y="2190750"/>
              <a:ext cx="2686050" cy="1828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43300" y="2190750"/>
              <a:ext cx="2686050" cy="38100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695700" y="2342007"/>
              <a:ext cx="549462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Drivers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724275" y="2714625"/>
              <a:ext cx="57150" cy="5715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67150" y="2628900"/>
              <a:ext cx="72934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Moore's Law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724275" y="2962275"/>
              <a:ext cx="57150" cy="5715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67150" y="2876550"/>
              <a:ext cx="95556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Dennard Scaling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724275" y="3209925"/>
              <a:ext cx="57150" cy="5715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67150" y="3124200"/>
              <a:ext cx="1750897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Domain-Specific Architectures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724275" y="3457575"/>
              <a:ext cx="57150" cy="5715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67150" y="3371850"/>
              <a:ext cx="1644932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Roofline Performance Model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81750" y="2190750"/>
              <a:ext cx="2686050" cy="1828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81750" y="2190750"/>
              <a:ext cx="2686050" cy="381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34150" y="2342007"/>
              <a:ext cx="1408497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DC2626"/>
                  </a:solidFill>
                  <a:latin typeface="Microsoft YaHei"/>
                  <a:ea typeface="Microsoft YaHei"/>
                  <a:cs typeface="Microsoft YaHei"/>
                </a:rPr>
                <a:t>Critical Challenges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62725" y="2714625"/>
              <a:ext cx="57150" cy="5715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05600" y="2628900"/>
              <a:ext cx="189079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Memory bandwidth deceleration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62725" y="2962275"/>
              <a:ext cx="57150" cy="5715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05600" y="2876550"/>
              <a:ext cx="1746433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Memory capacity deceleration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562725" y="3209925"/>
              <a:ext cx="57150" cy="5715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05600" y="3124200"/>
              <a:ext cx="37513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Power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220200" y="2190750"/>
              <a:ext cx="2686050" cy="1828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220200" y="2190750"/>
              <a:ext cx="2686050" cy="3810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72600" y="2342007"/>
              <a:ext cx="1571167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16A34A"/>
                  </a:solidFill>
                  <a:latin typeface="Microsoft YaHei"/>
                  <a:ea typeface="Microsoft YaHei"/>
                  <a:cs typeface="Microsoft YaHei"/>
                </a:rPr>
                <a:t>Opportunities Ahead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401175" y="2714625"/>
              <a:ext cx="57150" cy="5715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44050" y="2628900"/>
              <a:ext cx="48064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Chiplets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401175" y="2962275"/>
              <a:ext cx="57150" cy="5715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544050" y="2876550"/>
              <a:ext cx="184376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High-Bandwidth Memory (HBM)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401175" y="3209925"/>
              <a:ext cx="57150" cy="5715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44050" y="3124200"/>
              <a:ext cx="1291465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High-Bandwidth Flash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543300" y="4151757"/>
            <a:ext cx="8362950" cy="1277493"/>
            <a:chOff x="3543300" y="4151757"/>
            <a:chExt cx="8362950" cy="1277493"/>
          </a:xfrm>
        </p:grpSpPr>
        <p:sp>
          <p:nvSpPr>
            <p:cNvPr id="59" name="TextBox 59"/>
            <p:cNvSpPr txBox="1"/>
            <p:nvPr/>
          </p:nvSpPr>
          <p:spPr>
            <a:xfrm>
              <a:off x="3543300" y="4151757"/>
              <a:ext cx="2514439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A Legacy That Shaped Computing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543300" y="4419600"/>
              <a:ext cx="4114800" cy="1009650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3543300" y="4419600"/>
              <a:ext cx="38100" cy="1009650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733800" y="4548378"/>
              <a:ext cx="2322415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Berkeley's Most Influential Projects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33800" y="4781550"/>
              <a:ext cx="2430447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RISC — Reduced Instruction Set Computer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733800" y="5010150"/>
              <a:ext cx="2611273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RAID — Redundant Array of Inexpensive Disks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810500" y="4419600"/>
              <a:ext cx="4095750" cy="1009650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810500" y="4419600"/>
              <a:ext cx="38100" cy="100965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001000" y="4548378"/>
              <a:ext cx="1598813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The Landmark Textbook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01000" y="4781550"/>
              <a:ext cx="2794183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Computer Architecture: A Quantitative Approach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01000" y="5010150"/>
              <a:ext cx="193083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Co-authored with John Hennessy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543300" y="5581650"/>
            <a:ext cx="8382000" cy="952500"/>
            <a:chOff x="3543300" y="5581650"/>
            <a:chExt cx="8382000" cy="952500"/>
          </a:xfrm>
        </p:grpSpPr>
        <p:sp>
          <p:nvSpPr>
            <p:cNvPr id="71" name="Rectangle 71"/>
            <p:cNvSpPr/>
            <p:nvPr/>
          </p:nvSpPr>
          <p:spPr>
            <a:xfrm>
              <a:off x="3543300" y="5581650"/>
              <a:ext cx="8382000" cy="952500"/>
            </a:xfrm>
            <a:prstGeom prst="roundRect">
              <a:avLst>
                <a:gd name="adj" fmla="val 10000"/>
              </a:avLst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810000" y="5734050"/>
              <a:ext cx="2021086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b="1" dirty="0">
                  <a:solidFill>
                    <a:srgbClr val="FFFFFF">
                      <a:alpha val="75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WHY IT MATTERS FOR OS RESEARCH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810000" y="6014276"/>
              <a:ext cx="5725757" cy="290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4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The shifting hardware ground that OS research must respond to.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66700" y="179451"/>
            <a:ext cx="5140904" cy="573024"/>
            <a:chOff x="266700" y="179451"/>
            <a:chExt cx="5140904" cy="573024"/>
          </a:xfrm>
        </p:grpSpPr>
        <p:sp>
          <p:nvSpPr>
            <p:cNvPr id="3" name="TextBox 3"/>
            <p:cNvSpPr txBox="1"/>
            <p:nvPr/>
          </p:nvSpPr>
          <p:spPr>
            <a:xfrm>
              <a:off x="266700" y="179451"/>
              <a:ext cx="5140904" cy="562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8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Keynote II — Butler Lampson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66700" y="7429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66700" y="1000125"/>
            <a:ext cx="2514600" cy="4771072"/>
            <a:chOff x="266700" y="1000125"/>
            <a:chExt cx="2514600" cy="4771072"/>
          </a:xfrm>
        </p:grpSpPr>
        <p:sp>
          <p:nvSpPr>
            <p:cNvPr id="6" name="Rectangle 6"/>
            <p:cNvSpPr/>
            <p:nvPr/>
          </p:nvSpPr>
          <p:spPr>
            <a:xfrm>
              <a:off x="266700" y="1000125"/>
              <a:ext cx="2514600" cy="4714875"/>
            </a:xfrm>
            <a:prstGeom prst="roundRect">
              <a:avLst>
                <a:gd name="adj" fmla="val 3788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1114425"/>
              <a:ext cx="2286000" cy="34290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694905" y="4666869"/>
              <a:ext cx="1658189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65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Butler Lampson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6615" y="4967478"/>
              <a:ext cx="1394770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Adjunct Professor, MIT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33400" y="525780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6084" y="5331142"/>
              <a:ext cx="1655832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1992 ACM Turing Award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9467" y="5540692"/>
              <a:ext cx="156906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2004 NAE Draper Prize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048000" y="1000125"/>
            <a:ext cx="8877300" cy="742950"/>
            <a:chOff x="3048000" y="1000125"/>
            <a:chExt cx="8877300" cy="742950"/>
          </a:xfrm>
        </p:grpSpPr>
        <p:sp>
          <p:nvSpPr>
            <p:cNvPr id="14" name="Rectangle 14"/>
            <p:cNvSpPr/>
            <p:nvPr/>
          </p:nvSpPr>
          <p:spPr>
            <a:xfrm>
              <a:off x="3048000" y="1000125"/>
              <a:ext cx="8877300" cy="742950"/>
            </a:xfrm>
            <a:prstGeom prst="roundRect">
              <a:avLst>
                <a:gd name="adj" fmla="val 10256"/>
              </a:avLst>
            </a:prstGeom>
            <a:solidFill>
              <a:srgbClr val="2563D9">
                <a:alpha val="7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048000" y="1000125"/>
              <a:ext cx="47625" cy="742950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76600" y="1079373"/>
              <a:ext cx="6437394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“How Does a Computer System Get to Be the Way It Is?”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76600" y="1416368"/>
              <a:ext cx="435646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10:00 – 10:45 · Session Chair: Haibo Chen · This talk is recorded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048000" y="1809750"/>
            <a:ext cx="6723727" cy="1551623"/>
            <a:chOff x="3048000" y="1809750"/>
            <a:chExt cx="6723727" cy="1551623"/>
          </a:xfrm>
        </p:grpSpPr>
        <p:sp>
          <p:nvSpPr>
            <p:cNvPr id="19" name="TextBox 19"/>
            <p:cNvSpPr txBox="1"/>
            <p:nvPr/>
          </p:nvSpPr>
          <p:spPr>
            <a:xfrm>
              <a:off x="3048000" y="1809750"/>
              <a:ext cx="130352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ABOUT THE SPEAKER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048000" y="2038350"/>
              <a:ext cx="1285875" cy="9525"/>
            </a:xfrm>
            <a:custGeom>
              <a:avLst/>
              <a:gdLst/>
              <a:ahLst/>
              <a:cxnLst/>
              <a:rect l="l" t="t" r="r" b="b"/>
              <a:pathLst>
                <a:path w="1285875" h="9525">
                  <a:moveTo>
                    <a:pt x="0" y="0"/>
                  </a:moveTo>
                  <a:lnTo>
                    <a:pt x="1285875" y="0"/>
                  </a:lnTo>
                </a:path>
              </a:pathLst>
            </a:custGeom>
            <a:noFill/>
            <a:ln w="19050">
              <a:solidFill>
                <a:srgbClr val="60A5F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48000" y="2124075"/>
              <a:ext cx="76200" cy="762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38500" y="2064068"/>
              <a:ext cx="3421231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1992 ACM Turing Award · 2004 NAE Draper Prize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048000" y="2390775"/>
              <a:ext cx="76200" cy="762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38500" y="2330768"/>
              <a:ext cx="653322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Co-designed the SDS 940 time-sharing system and the Alto personal distributed computing system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48000" y="2657475"/>
              <a:ext cx="76200" cy="762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38500" y="2597468"/>
              <a:ext cx="55198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Co-invented two-phase commit protocols — a foundation of transaction processing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48000" y="2924175"/>
              <a:ext cx="76200" cy="762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38500" y="2864168"/>
              <a:ext cx="544737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Career across Xerox PARC, DEC SRC, and Microsoft — now Adjunct Professor at MIT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048000" y="3190875"/>
              <a:ext cx="76200" cy="762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38500" y="3130868"/>
              <a:ext cx="5421184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Deep SIGOPS roots: Program Chair of SOSP 1971 · SIGOPS Vice Chairman in 1972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048000" y="3486150"/>
            <a:ext cx="8877300" cy="2571750"/>
            <a:chOff x="3048000" y="3486150"/>
            <a:chExt cx="8877300" cy="2571750"/>
          </a:xfrm>
        </p:grpSpPr>
        <p:sp>
          <p:nvSpPr>
            <p:cNvPr id="32" name="TextBox 32"/>
            <p:cNvSpPr txBox="1"/>
            <p:nvPr/>
          </p:nvSpPr>
          <p:spPr>
            <a:xfrm>
              <a:off x="3048000" y="3486150"/>
              <a:ext cx="89602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TALK PREVIEW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048000" y="3714750"/>
              <a:ext cx="904875" cy="9525"/>
            </a:xfrm>
            <a:custGeom>
              <a:avLst/>
              <a:gdLst/>
              <a:ahLst/>
              <a:cxnLst/>
              <a:rect l="l" t="t" r="r" b="b"/>
              <a:pathLst>
                <a:path w="904875" h="9525">
                  <a:moveTo>
                    <a:pt x="0" y="0"/>
                  </a:moveTo>
                  <a:lnTo>
                    <a:pt x="904875" y="0"/>
                  </a:lnTo>
                </a:path>
              </a:pathLst>
            </a:custGeom>
            <a:noFill/>
            <a:ln w="19050">
              <a:solidFill>
                <a:srgbClr val="60A5F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048000" y="3800475"/>
              <a:ext cx="76200" cy="762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238500" y="3740468"/>
              <a:ext cx="613347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Big changes in systems follow big changes in the environment — often in hardware and scale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4067175"/>
              <a:ext cx="76200" cy="762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38500" y="4007168"/>
              <a:ext cx="435676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Modularity is fundamental to design — but for a complete system,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91450" y="4007168"/>
              <a:ext cx="45508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agility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43900" y="4007168"/>
              <a:ext cx="909161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matters more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48000" y="4362450"/>
              <a:ext cx="118549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THE STEADY GOALS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3048000" y="4591050"/>
              <a:ext cx="1190625" cy="9525"/>
            </a:xfrm>
            <a:custGeom>
              <a:avLst/>
              <a:gdLst/>
              <a:ahLst/>
              <a:cxnLst/>
              <a:rect l="l" t="t" r="r" b="b"/>
              <a:pathLst>
                <a:path w="1190625" h="9525">
                  <a:moveTo>
                    <a:pt x="0" y="0"/>
                  </a:moveTo>
                  <a:lnTo>
                    <a:pt x="1190625" y="0"/>
                  </a:lnTo>
                </a:path>
              </a:pathLst>
            </a:custGeom>
            <a:noFill/>
            <a:ln w="19050">
              <a:solidFill>
                <a:srgbClr val="60A5FA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3048000" y="4648200"/>
              <a:ext cx="8877300" cy="647700"/>
              <a:chOff x="3048000" y="4648200"/>
              <a:chExt cx="8877300" cy="647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3048000" y="4648200"/>
                <a:ext cx="13335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2563D9">
                    <a:alpha val="35000"/>
                  </a:srgbClr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627602" y="4702302"/>
                <a:ext cx="174296" cy="391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9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S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508284" y="5019675"/>
                <a:ext cx="412933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Simple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4552950" y="4648200"/>
                <a:ext cx="13335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2563D9">
                    <a:alpha val="35000"/>
                  </a:srgbClr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5132403" y="4702302"/>
                <a:ext cx="174593" cy="391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9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T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019261" y="5019675"/>
                <a:ext cx="400877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Timely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6067425" y="4648200"/>
                <a:ext cx="13335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2563D9">
                    <a:alpha val="35000"/>
                  </a:srgbClr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648143" y="4702302"/>
                <a:ext cx="172063" cy="391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9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E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491841" y="5019675"/>
                <a:ext cx="484668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Efficient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7572375" y="4648200"/>
                <a:ext cx="13335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2563D9">
                    <a:alpha val="35000"/>
                  </a:srgbClr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149819" y="4702302"/>
                <a:ext cx="178612" cy="391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9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A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939269" y="5019675"/>
                <a:ext cx="599712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Adaptable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9086850" y="4648200"/>
                <a:ext cx="13335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2563D9">
                    <a:alpha val="35000"/>
                  </a:srgbClr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655290" y="4702302"/>
                <a:ext cx="196620" cy="391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9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D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397934" y="5019675"/>
                <a:ext cx="711333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Dependable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10591800" y="4648200"/>
                <a:ext cx="13335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2563D9">
                  <a:alpha val="6000"/>
                </a:srgbClr>
              </a:solidFill>
              <a:ln w="9525">
                <a:solidFill>
                  <a:srgbClr val="2563D9">
                    <a:alpha val="35000"/>
                  </a:srgbClr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1176834" y="4702302"/>
                <a:ext cx="163431" cy="391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950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Y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1038689" y="5019675"/>
                <a:ext cx="439722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Yummy</a:t>
                </a:r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3048000" y="5448300"/>
              <a:ext cx="2126242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TIMELESS IDEAS IN MOST SYSTEMS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3048000" y="56769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60A5FA"/>
              </a:solidFill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3048000" y="5753100"/>
              <a:ext cx="8877300" cy="304800"/>
              <a:chOff x="3048000" y="5753100"/>
              <a:chExt cx="8877300" cy="3048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3048000" y="57531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60A5F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3283074" y="5819775"/>
                <a:ext cx="539502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Recursion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4171950" y="57531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60A5F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4276353" y="5819775"/>
                <a:ext cx="800844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Approximation</a:t>
                </a: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5295900" y="57531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60A5F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5559847" y="5819775"/>
                <a:ext cx="481757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Batching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6419850" y="57531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60A5F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6704707" y="5819775"/>
                <a:ext cx="439936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Caching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7543800" y="57531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60A5F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7704609" y="5819775"/>
                <a:ext cx="688032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Concurrency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8667750" y="57531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60A5F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8938468" y="5819775"/>
                <a:ext cx="468213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Indexing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9791700" y="57531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60A5F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10059516" y="5819775"/>
                <a:ext cx="474018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Isolation</a:t>
                </a:r>
              </a:p>
            </p:txBody>
          </p:sp>
          <p:sp>
            <p:nvSpPr>
              <p:cNvPr id="77" name="Rectangle 77"/>
              <p:cNvSpPr/>
              <p:nvPr/>
            </p:nvSpPr>
            <p:spPr>
              <a:xfrm>
                <a:off x="10915650" y="57531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60A5F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11291888" y="5819775"/>
                <a:ext cx="257175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38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Logs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266700" y="6172200"/>
            <a:ext cx="11658600" cy="361950"/>
            <a:chOff x="266700" y="6172200"/>
            <a:chExt cx="11658600" cy="361950"/>
          </a:xfrm>
        </p:grpSpPr>
        <p:sp>
          <p:nvSpPr>
            <p:cNvPr id="81" name="Rectangle 81"/>
            <p:cNvSpPr/>
            <p:nvPr/>
          </p:nvSpPr>
          <p:spPr>
            <a:xfrm>
              <a:off x="266700" y="6172200"/>
              <a:ext cx="11658600" cy="361950"/>
            </a:xfrm>
            <a:prstGeom prst="roundRect">
              <a:avLst>
                <a:gd name="adj" fmla="val 21053"/>
              </a:avLst>
            </a:prstGeom>
            <a:gradFill>
              <a:gsLst>
                <a:gs pos="0">
                  <a:srgbClr val="2563D9">
                    <a:alpha val="16000"/>
                  </a:srgbClr>
                </a:gs>
                <a:gs pos="100000">
                  <a:srgbClr val="60A5FA">
                    <a:alpha val="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3422234" y="6256782"/>
              <a:ext cx="5347531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Sixty years of community design wisdom — illuminating the road ahead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66700" y="6610350"/>
            <a:ext cx="11658600" cy="180975"/>
            <a:chOff x="266700" y="6610350"/>
            <a:chExt cx="11658600" cy="180975"/>
          </a:xfrm>
        </p:grpSpPr>
        <p:sp>
          <p:nvSpPr>
            <p:cNvPr id="84" name="TextBox 84"/>
            <p:cNvSpPr txBox="1"/>
            <p:nvPr/>
          </p:nvSpPr>
          <p:spPr>
            <a:xfrm>
              <a:off x="266700" y="6610350"/>
              <a:ext cx="293429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ACM SIGOPS Strategic Workshop @ SOSP 2025 · Seoul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66178" y="6610350"/>
              <a:ext cx="359122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08 / 11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66700" y="179451"/>
            <a:ext cx="7181636" cy="573024"/>
            <a:chOff x="266700" y="179451"/>
            <a:chExt cx="7181636" cy="573024"/>
          </a:xfrm>
        </p:grpSpPr>
        <p:sp>
          <p:nvSpPr>
            <p:cNvPr id="3" name="TextBox 3"/>
            <p:cNvSpPr txBox="1"/>
            <p:nvPr/>
          </p:nvSpPr>
          <p:spPr>
            <a:xfrm>
              <a:off x="266700" y="179451"/>
              <a:ext cx="7181636" cy="562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8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Visionary Talks — Four Themed Sessions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66700" y="7429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266700" y="981075"/>
            <a:ext cx="8661880" cy="200406"/>
            <a:chOff x="266700" y="981075"/>
            <a:chExt cx="8661880" cy="200406"/>
          </a:xfrm>
        </p:grpSpPr>
        <p:sp>
          <p:nvSpPr>
            <p:cNvPr id="6" name="Rectangle 6"/>
            <p:cNvSpPr/>
            <p:nvPr/>
          </p:nvSpPr>
          <p:spPr>
            <a:xfrm>
              <a:off x="266700" y="1009650"/>
              <a:ext cx="38100" cy="152400"/>
            </a:xfrm>
            <a:prstGeom prst="rect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00050" y="981075"/>
              <a:ext cx="852853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Fifteen 10-minute visionary talks across four themes — from AI-native systems to the OS itself — each designed to spark discussion, not just listening.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66700" y="1333500"/>
            <a:ext cx="5715000" cy="2505075"/>
            <a:chOff x="266700" y="1333500"/>
            <a:chExt cx="5715000" cy="2505075"/>
          </a:xfrm>
        </p:grpSpPr>
        <p:sp>
          <p:nvSpPr>
            <p:cNvPr id="9" name="Rectangle 9"/>
            <p:cNvSpPr/>
            <p:nvPr/>
          </p:nvSpPr>
          <p:spPr>
            <a:xfrm>
              <a:off x="266700" y="1333500"/>
              <a:ext cx="5715000" cy="2505075"/>
            </a:xfrm>
            <a:prstGeom prst="roundRect">
              <a:avLst>
                <a:gd name="adj" fmla="val 3802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66700" y="1447800"/>
              <a:ext cx="38100" cy="2276475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819650" y="14859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2563D9">
                <a:alpha val="8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022279" y="1504950"/>
              <a:ext cx="54724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SESSION 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6250" y="1502092"/>
              <a:ext cx="2637651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The Intelligent Nexus: AI and Systems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6250" y="1704975"/>
              <a:ext cx="26024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11:00 – 11:40 · Session Chair: Christos Kozyrakis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6250" y="19621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6250" y="1990725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11:00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8700" y="1962150"/>
              <a:ext cx="1528102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Ion Stoica · UC Berkeley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8700" y="2143125"/>
              <a:ext cx="2052638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How AI Is Disrupting Systems Research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6250" y="2419350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11:10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8700" y="2390775"/>
              <a:ext cx="2732717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Haibo Chen · Shanghai Jiao Tong University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8700" y="2571750"/>
              <a:ext cx="3105001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Towards Model-native OS: Rethinking System Foundations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6250" y="2847975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11:20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8700" y="2819400"/>
              <a:ext cx="2246197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Junfeng Yang · Columbia University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8700" y="3000375"/>
              <a:ext cx="172982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Towards Trustworthy AI Systems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6250" y="3276600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11:30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8700" y="3248025"/>
              <a:ext cx="314363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Byung-Gon Chun · Seoul National Univ. / FriendliAI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700" y="3429000"/>
              <a:ext cx="239538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What Matters More for Production AI Systems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10300" y="1333500"/>
            <a:ext cx="5715000" cy="2505075"/>
            <a:chOff x="6210300" y="1333500"/>
            <a:chExt cx="5715000" cy="2505075"/>
          </a:xfrm>
        </p:grpSpPr>
        <p:sp>
          <p:nvSpPr>
            <p:cNvPr id="29" name="Rectangle 29"/>
            <p:cNvSpPr/>
            <p:nvPr/>
          </p:nvSpPr>
          <p:spPr>
            <a:xfrm>
              <a:off x="6210300" y="1333500"/>
              <a:ext cx="5715000" cy="2505075"/>
            </a:xfrm>
            <a:prstGeom prst="roundRect">
              <a:avLst>
                <a:gd name="adj" fmla="val 3802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10300" y="1447800"/>
              <a:ext cx="38100" cy="2276475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763250" y="14859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2563D9">
                <a:alpha val="8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65879" y="1504950"/>
              <a:ext cx="54724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SESSION 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19850" y="1502092"/>
              <a:ext cx="2552373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Building Blocks for a Reliable Future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9850" y="1704975"/>
              <a:ext cx="4061073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14:00 – 14:40 · Session Chair: Rebecca Isaacs · + Group Discussion to 15:00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419850" y="19621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9850" y="1990725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14:00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72300" y="1962150"/>
              <a:ext cx="221077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Peter Chen · University of Michigan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2300" y="2143125"/>
              <a:ext cx="2683818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Challenges in Building Large, Trustworthy Systems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19850" y="2419350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14:10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72300" y="2390775"/>
              <a:ext cx="125277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Jeff Mogul · Google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72300" y="2571750"/>
              <a:ext cx="1689348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Reliability Is Harder Than It Was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19850" y="2847975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14:20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72300" y="2819400"/>
              <a:ext cx="213174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Lorenzo Alvisi · Cornell University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72300" y="3000375"/>
              <a:ext cx="1429494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Metastable Fault Tolerance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19850" y="3276600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14:30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72300" y="3248025"/>
              <a:ext cx="13719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Frans Kaashoek · MIT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72300" y="3429000"/>
              <a:ext cx="3765054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Verifying Real-World Distributed Systems via Gradual Verification (etcd)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66700" y="4010025"/>
            <a:ext cx="5715000" cy="2505075"/>
            <a:chOff x="266700" y="4010025"/>
            <a:chExt cx="5715000" cy="2505075"/>
          </a:xfrm>
        </p:grpSpPr>
        <p:sp>
          <p:nvSpPr>
            <p:cNvPr id="49" name="Rectangle 49"/>
            <p:cNvSpPr/>
            <p:nvPr/>
          </p:nvSpPr>
          <p:spPr>
            <a:xfrm>
              <a:off x="266700" y="4010025"/>
              <a:ext cx="5715000" cy="2505075"/>
            </a:xfrm>
            <a:prstGeom prst="roundRect">
              <a:avLst>
                <a:gd name="adj" fmla="val 3802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66700" y="4124325"/>
              <a:ext cx="38100" cy="2276475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819650" y="4162425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2563D9">
                <a:alpha val="8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22279" y="4181475"/>
              <a:ext cx="54724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SESSION 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76250" y="4178618"/>
              <a:ext cx="3451443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The Sky Is Not the Limit: Future of Cloud Systems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6250" y="4381500"/>
              <a:ext cx="3993952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15:00 – 15:30 · Session Chair: Lorenzo Alvisi · + Group Discussion to 15:50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476250" y="4638675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6250" y="4667250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15:00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8700" y="4638675"/>
              <a:ext cx="174033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Harry Xu · UCLA / BreezeML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8700" y="4819650"/>
              <a:ext cx="2986236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The Core Problem with Cores: It's All About the Software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6250" y="5095875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15:10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8700" y="5067300"/>
              <a:ext cx="235915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Christos Kozyrakis · Stanford / NVIDIA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8700" y="5248275"/>
              <a:ext cx="1106984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Systems in the AI Era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76250" y="5524500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15:20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8700" y="5495925"/>
              <a:ext cx="2562755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Robbert van Renesse · Cornell University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8700" y="5676900"/>
              <a:ext cx="2432893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What UNIX Got Right but the Cloud Got Wrong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476250" y="60388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  <a:prstDash val="dash"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76250" y="6105525"/>
              <a:ext cx="298519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→ Group Discussion 15:30 – 15:50 · the floor is yours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210300" y="4010025"/>
            <a:ext cx="5715000" cy="2505075"/>
            <a:chOff x="6210300" y="4010025"/>
            <a:chExt cx="5715000" cy="2505075"/>
          </a:xfrm>
        </p:grpSpPr>
        <p:sp>
          <p:nvSpPr>
            <p:cNvPr id="68" name="Rectangle 68"/>
            <p:cNvSpPr/>
            <p:nvPr/>
          </p:nvSpPr>
          <p:spPr>
            <a:xfrm>
              <a:off x="6210300" y="4010025"/>
              <a:ext cx="5715000" cy="2505075"/>
            </a:xfrm>
            <a:prstGeom prst="roundRect">
              <a:avLst>
                <a:gd name="adj" fmla="val 3802"/>
              </a:avLst>
            </a:pr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10300" y="4124325"/>
              <a:ext cx="38100" cy="2276475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763250" y="4162425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2563D9">
                <a:alpha val="8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965879" y="4181475"/>
              <a:ext cx="54724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SESSION 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19850" y="4178618"/>
              <a:ext cx="2869079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The Core of the Machine: OS in a New Era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19850" y="4381500"/>
              <a:ext cx="4097982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16:10 – 16:50 · Session Chair: Frans Kaashoek · + Group Discussion to 17:10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6419850" y="4638675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19850" y="4667250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16:10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72300" y="4638675"/>
              <a:ext cx="1404723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Gernot Heiser · UNSW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72300" y="4819650"/>
              <a:ext cx="2198638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Don't Forget the OS — and the Principles!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19850" y="5095875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16:20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72300" y="5067300"/>
              <a:ext cx="1825014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Timothy Roscoe · ETH Zurich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972300" y="5248275"/>
              <a:ext cx="281493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The Aversion to Systematization in Systems Research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19850" y="5524500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16:30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972300" y="5495925"/>
              <a:ext cx="258999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Yubin Xia · Shanghai Jiao Tong University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972300" y="5676900"/>
              <a:ext cx="3603427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Growth and Growing Pains: Systems Research in Asia's Next Chapter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19850" y="5953125"/>
              <a:ext cx="29066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16:40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72300" y="5924550"/>
              <a:ext cx="3027694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Jeanna Matthews · Clarkson Univ. / DuckDuckGo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972300" y="6105525"/>
              <a:ext cx="256936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Operating Systems and Socio-Technical Systems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66700" y="179451"/>
            <a:ext cx="7191161" cy="573024"/>
            <a:chOff x="266700" y="179451"/>
            <a:chExt cx="7191161" cy="573024"/>
          </a:xfrm>
        </p:grpSpPr>
        <p:sp>
          <p:nvSpPr>
            <p:cNvPr id="3" name="TextBox 3"/>
            <p:cNvSpPr txBox="1"/>
            <p:nvPr/>
          </p:nvSpPr>
          <p:spPr>
            <a:xfrm>
              <a:off x="266700" y="179451"/>
              <a:ext cx="7191161" cy="562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85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Two Great Panels — and Your Role Today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66700" y="7429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66700" y="1000125"/>
            <a:ext cx="11658600" cy="2190750"/>
            <a:chOff x="266700" y="1000125"/>
            <a:chExt cx="11658600" cy="2190750"/>
          </a:xfrm>
        </p:grpSpPr>
        <p:grpSp>
          <p:nvGrpSpPr>
            <p:cNvPr id="19" name="Group 19"/>
            <p:cNvGrpSpPr/>
            <p:nvPr/>
          </p:nvGrpSpPr>
          <p:grpSpPr>
            <a:xfrm>
              <a:off x="266700" y="1000125"/>
              <a:ext cx="5715000" cy="2190750"/>
              <a:chOff x="266700" y="1000125"/>
              <a:chExt cx="5715000" cy="2190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266700" y="1000125"/>
                <a:ext cx="5715000" cy="219075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419100" y="1152525"/>
                <a:ext cx="1962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690670" y="1162050"/>
                <a:ext cx="141901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PANEL 1 · 11:40–12:30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19100" y="1451800"/>
                <a:ext cx="4539299" cy="2907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42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The Future is Now: System Research in the Era of AI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19100" y="1786128"/>
                <a:ext cx="1974455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Moderator: Christos Kozyrakis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19100" y="1981200"/>
                <a:ext cx="2070348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Stanford University · NVIDIA Research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19100" y="2247900"/>
                <a:ext cx="558933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Panelists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19100" y="2457450"/>
                <a:ext cx="3116693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Ion Stoica (UC Berkeley) · Mingxing Zhang (Tsinghua)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9100" y="2667000"/>
                <a:ext cx="1411867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Dimitris Skarlatos (CMU)</a:t>
                </a:r>
              </a:p>
            </p:txBody>
          </p:sp>
          <p:pic>
            <p:nvPicPr>
              <p:cNvPr id="15" name="Image 1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62500" y="1847850"/>
                <a:ext cx="1028700" cy="857250"/>
              </a:xfrm>
              <a:prstGeom prst="rect">
                <a:avLst/>
              </a:prstGeom>
            </p:spPr>
          </p:pic>
          <p:sp>
            <p:nvSpPr>
              <p:cNvPr id="16" name="Rectangle 16"/>
              <p:cNvSpPr/>
              <p:nvPr/>
            </p:nvSpPr>
            <p:spPr>
              <a:xfrm>
                <a:off x="4762500" y="1847850"/>
                <a:ext cx="1028700" cy="85725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017740" y="2733675"/>
                <a:ext cx="51822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2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Ion Stoica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759151" y="2876550"/>
                <a:ext cx="103539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750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Panelist · UC Berkeley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210300" y="1000125"/>
              <a:ext cx="5715000" cy="2190750"/>
              <a:chOff x="6210300" y="1000125"/>
              <a:chExt cx="5715000" cy="2190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210300" y="1000125"/>
                <a:ext cx="5715000" cy="219075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362700" y="1152525"/>
                <a:ext cx="1962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634270" y="1162050"/>
                <a:ext cx="141901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PANEL 2 · 17:10–18:00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62700" y="1451800"/>
                <a:ext cx="3317421" cy="2907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42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Building a Community in the Era of AI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62700" y="1786128"/>
                <a:ext cx="1925044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Moderator: Jeanna Matthews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62700" y="1981200"/>
                <a:ext cx="3366046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Clarkson University · DuckDuckGo · SIGOPS Chair 2011–2015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62700" y="2247900"/>
                <a:ext cx="558933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2563D9"/>
                    </a:solidFill>
                    <a:latin typeface="Microsoft YaHei"/>
                    <a:ea typeface="Microsoft YaHei"/>
                    <a:cs typeface="Microsoft YaHei"/>
                  </a:rPr>
                  <a:t>Panelists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62700" y="2457450"/>
                <a:ext cx="2798499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Jeff Mogul (Google) · Ana Klimovic (ETH Zurich)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62700" y="2667000"/>
                <a:ext cx="2527185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KyoungSoo Park (Seoul National University)</a:t>
                </a:r>
              </a:p>
            </p:txBody>
          </p:sp>
          <p:pic>
            <p:nvPicPr>
              <p:cNvPr id="29" name="Image 2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58500" y="1714500"/>
                <a:ext cx="762000" cy="1143000"/>
              </a:xfrm>
              <a:prstGeom prst="rect">
                <a:avLst/>
              </a:prstGeom>
            </p:spPr>
          </p:pic>
          <p:sp>
            <p:nvSpPr>
              <p:cNvPr id="30" name="Rectangle 30"/>
              <p:cNvSpPr/>
              <p:nvPr/>
            </p:nvSpPr>
            <p:spPr>
              <a:xfrm>
                <a:off x="10858500" y="1714500"/>
                <a:ext cx="762000" cy="11430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781854" y="2867025"/>
                <a:ext cx="915293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25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Jeanna Matthews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003459" y="3000375"/>
                <a:ext cx="4720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750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Moderator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266700" y="3333750"/>
            <a:ext cx="12125771" cy="438150"/>
            <a:chOff x="266700" y="3333750"/>
            <a:chExt cx="12125771" cy="438150"/>
          </a:xfrm>
        </p:grpSpPr>
        <p:sp>
          <p:nvSpPr>
            <p:cNvPr id="35" name="Rectangle 35"/>
            <p:cNvSpPr/>
            <p:nvPr/>
          </p:nvSpPr>
          <p:spPr>
            <a:xfrm>
              <a:off x="266700" y="3333750"/>
              <a:ext cx="11658600" cy="438150"/>
            </a:xfrm>
            <a:prstGeom prst="roundRect">
              <a:avLst>
                <a:gd name="adj" fmla="val 17391"/>
              </a:avLst>
            </a:prstGeom>
            <a:solidFill>
              <a:srgbClr val="2563D9">
                <a:alpha val="7000"/>
              </a:srgbClr>
            </a:solidFill>
            <a:ln w="9525">
              <a:solidFill>
                <a:srgbClr val="2563D9">
                  <a:alpha val="30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95300" y="3457575"/>
              <a:ext cx="1864304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TWO QUESTIONS FOR THE DAY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857500" y="3409950"/>
              <a:ext cx="276225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81907" y="3462528"/>
              <a:ext cx="1913436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Where should our research go?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48350" y="3409950"/>
              <a:ext cx="28575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06529" y="3462528"/>
              <a:ext cx="2141143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How should our community grow?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29700" y="3476625"/>
              <a:ext cx="3362771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Panel 1 on research direction · Panel 2 on community building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6700" y="3877246"/>
            <a:ext cx="11658600" cy="1285304"/>
            <a:chOff x="266700" y="3877246"/>
            <a:chExt cx="11658600" cy="1285304"/>
          </a:xfrm>
        </p:grpSpPr>
        <p:sp>
          <p:nvSpPr>
            <p:cNvPr id="43" name="TextBox 43"/>
            <p:cNvSpPr txBox="1"/>
            <p:nvPr/>
          </p:nvSpPr>
          <p:spPr>
            <a:xfrm>
              <a:off x="266700" y="3877246"/>
              <a:ext cx="1225010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75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Day at a Glance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91711" y="3905250"/>
              <a:ext cx="323358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9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Monday, October 13, 2025 · Crystal Ball B, Lotte Hotel World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457200" y="48101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523875" y="4762500"/>
              <a:ext cx="95250" cy="952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7005" y="4533900"/>
              <a:ext cx="24898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8:50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8601" y="4876800"/>
              <a:ext cx="42579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Opening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1752600" y="4762500"/>
              <a:ext cx="95250" cy="952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675730" y="4533900"/>
              <a:ext cx="24898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9:00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55539" y="4857750"/>
              <a:ext cx="68937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Two Keynotes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07157" y="5010150"/>
              <a:ext cx="9861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7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Patterson · Lampson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2981325" y="4762500"/>
              <a:ext cx="95250" cy="952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870746" y="4533900"/>
              <a:ext cx="3164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10:45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715295" y="4876800"/>
              <a:ext cx="62731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Coffee Break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210050" y="4762500"/>
              <a:ext cx="95250" cy="952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99471" y="4533900"/>
              <a:ext cx="3164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11:00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943722" y="4857750"/>
              <a:ext cx="627906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AI &amp; Systems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23481" y="5010150"/>
              <a:ext cx="6683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7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Visionary Talks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419725" y="4743450"/>
              <a:ext cx="133350" cy="13335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28196" y="4533900"/>
              <a:ext cx="3164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11:40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94561" y="4857750"/>
              <a:ext cx="38367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Panel 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090666" y="5010150"/>
              <a:ext cx="79146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7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Research in AI Era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667500" y="4762500"/>
              <a:ext cx="95250" cy="952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56921" y="4533900"/>
              <a:ext cx="3164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12:30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60344" y="4876800"/>
              <a:ext cx="30956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Lunch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896225" y="4762500"/>
              <a:ext cx="95250" cy="952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85646" y="4533900"/>
              <a:ext cx="3164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14:00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71544" y="4857750"/>
              <a:ext cx="94461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Afternoon Sessions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40737" y="5010150"/>
              <a:ext cx="100622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7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3 Themes + Discussion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9124950" y="4762500"/>
              <a:ext cx="95250" cy="952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014371" y="4533900"/>
              <a:ext cx="3164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15:50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58920" y="4876800"/>
              <a:ext cx="62731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Coffee Break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10334625" y="4743450"/>
              <a:ext cx="133350" cy="133350"/>
            </a:xfrm>
            <a:prstGeom prst="ellipse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243096" y="4533900"/>
              <a:ext cx="3164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17:10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09461" y="4857750"/>
              <a:ext cx="38367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Panel 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946332" y="5010150"/>
              <a:ext cx="9099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75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Community in AI Era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11572875" y="4762500"/>
              <a:ext cx="95250" cy="952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462296" y="4533900"/>
              <a:ext cx="31640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18:00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421219" y="4876800"/>
              <a:ext cx="39856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Adjourn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266700" y="5448300"/>
            <a:ext cx="11658600" cy="990600"/>
            <a:chOff x="266700" y="5448300"/>
            <a:chExt cx="11658600" cy="990600"/>
          </a:xfrm>
        </p:grpSpPr>
        <p:grpSp>
          <p:nvGrpSpPr>
            <p:cNvPr id="86" name="Group 86"/>
            <p:cNvGrpSpPr/>
            <p:nvPr/>
          </p:nvGrpSpPr>
          <p:grpSpPr>
            <a:xfrm>
              <a:off x="266700" y="5448300"/>
              <a:ext cx="6667500" cy="990600"/>
              <a:chOff x="266700" y="5448300"/>
              <a:chExt cx="6667500" cy="99060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266700" y="5448300"/>
                <a:ext cx="6667500" cy="9906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rgbClr val="E5E7EB"/>
                </a:solidFill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457200" y="5577078"/>
                <a:ext cx="2745980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With Thanks to the Organizing Committee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457200" y="5810250"/>
                <a:ext cx="5368826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111827"/>
                    </a:solidFill>
                    <a:latin typeface="Microsoft YaHei"/>
                    <a:ea typeface="Microsoft YaHei"/>
                    <a:cs typeface="Microsoft YaHei"/>
                  </a:rPr>
                  <a:t>Haibo Chen (Chair, SJTU) · Ding Yuan (Univ. of Toronto) · KyoungSoo Park (SNU) · Dong Du (SJTU)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457200" y="6048375"/>
                <a:ext cx="398755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825" dirty="0">
                    <a:solidFill>
                      <a:srgbClr val="6B7280"/>
                    </a:solidFill>
                    <a:latin typeface="Microsoft YaHei"/>
                    <a:ea typeface="Microsoft YaHei"/>
                    <a:cs typeface="Microsoft YaHei"/>
                  </a:rPr>
                  <a:t>All talks are recorded. © 2025 ACM SIGOPS Strategic Workshop. All rights reserved.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7162800" y="5448300"/>
              <a:ext cx="4762500" cy="990600"/>
              <a:chOff x="7162800" y="5448300"/>
              <a:chExt cx="4762500" cy="99060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7162800" y="5448300"/>
                <a:ext cx="4762500" cy="990600"/>
              </a:xfrm>
              <a:prstGeom prst="roundRect">
                <a:avLst>
                  <a:gd name="adj" fmla="val 7692"/>
                </a:avLst>
              </a:prstGeom>
              <a:solidFill>
                <a:srgbClr val="2563D9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7391400" y="5622036"/>
                <a:ext cx="1848023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Join the Discussion →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7391400" y="5886450"/>
                <a:ext cx="1939165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Help write the opening chapter of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7391400" y="6076950"/>
                <a:ext cx="1415439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SIGOPS' next sixty years.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477000"/>
            <a:chOff x="0" y="0"/>
            <a:chExt cx="12192000" cy="6477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2563D9"/>
                </a:gs>
                <a:gs pos="100000">
                  <a:srgbClr val="60A5F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191750" y="95250"/>
              <a:ext cx="1905000" cy="1905000"/>
            </a:xfrm>
            <a:prstGeom prst="ellipse">
              <a:avLst/>
            </a:prstGeom>
            <a:solidFill>
              <a:srgbClr val="60A5FA">
                <a:alpha val="1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1363325" y="171450"/>
              <a:ext cx="800100" cy="800100"/>
            </a:xfrm>
            <a:prstGeom prst="ellipse">
              <a:avLst/>
            </a:prstGeom>
            <a:solidFill>
              <a:srgbClr val="2563D9">
                <a:alpha val="1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85750" y="4953000"/>
              <a:ext cx="1524000" cy="1524000"/>
            </a:xfrm>
            <a:prstGeom prst="ellipse">
              <a:avLst/>
            </a:prstGeom>
            <a:solidFill>
              <a:srgbClr val="2563D9">
                <a:alpha val="8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66700" y="4857750"/>
              <a:ext cx="571500" cy="571500"/>
            </a:xfrm>
            <a:prstGeom prst="ellipse">
              <a:avLst/>
            </a:prstGeom>
            <a:solidFill>
              <a:srgbClr val="60A5FA">
                <a:alpha val="14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81150" y="6057900"/>
              <a:ext cx="266700" cy="266700"/>
            </a:xfrm>
            <a:prstGeom prst="ellipse">
              <a:avLst/>
            </a:prstGeom>
            <a:solidFill>
              <a:srgbClr val="60A5FA">
                <a:alpha val="2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086588" y="990600"/>
            <a:ext cx="2018824" cy="838200"/>
            <a:chOff x="5086588" y="990600"/>
            <a:chExt cx="2018824" cy="838200"/>
          </a:xfrm>
        </p:grpSpPr>
        <p:sp>
          <p:nvSpPr>
            <p:cNvPr id="10" name="Ellipse 10"/>
            <p:cNvSpPr/>
            <p:nvPr/>
          </p:nvSpPr>
          <p:spPr>
            <a:xfrm>
              <a:off x="5676900" y="990600"/>
              <a:ext cx="838200" cy="838200"/>
            </a:xfrm>
            <a:prstGeom prst="ellipse">
              <a:avLst/>
            </a:prstGeom>
            <a:solidFill>
              <a:srgbClr val="2563D9">
                <a:alpha val="8000"/>
              </a:srgbClr>
            </a:solidFill>
            <a:ln w="23812">
              <a:solidFill>
                <a:srgbClr val="2563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80027" y="1195197"/>
              <a:ext cx="431947" cy="532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27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60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6588" y="1291590"/>
              <a:ext cx="437912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5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1965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7500" y="1291590"/>
              <a:ext cx="437912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00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2025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295900" y="14097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591300" y="14097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2471764" y="2108835"/>
            <a:ext cx="7248471" cy="2108073"/>
            <a:chOff x="2471764" y="2108835"/>
            <a:chExt cx="7248471" cy="2108073"/>
          </a:xfrm>
        </p:grpSpPr>
        <p:sp>
          <p:nvSpPr>
            <p:cNvPr id="17" name="TextBox 17"/>
            <p:cNvSpPr txBox="1"/>
            <p:nvPr/>
          </p:nvSpPr>
          <p:spPr>
            <a:xfrm>
              <a:off x="4117509" y="2108835"/>
              <a:ext cx="3956983" cy="11753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6000" b="1" dirty="0">
                  <a:solidFill>
                    <a:srgbClr val="2563D9"/>
                  </a:solidFill>
                  <a:latin typeface="Microsoft YaHei"/>
                  <a:ea typeface="Microsoft YaHei"/>
                  <a:cs typeface="Microsoft YaHei"/>
                </a:rPr>
                <a:t>Thank You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429250" y="31623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>
              <a:solidFill>
                <a:srgbClr val="2563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60119" y="3542919"/>
              <a:ext cx="6671762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650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Thank you for a day of historical wisdom and forward-looking vision.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71764" y="3885819"/>
              <a:ext cx="7248471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650" dirty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Now let's write the opening chapter of SIGOPS' next sixty years — together.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97617" y="4591050"/>
            <a:ext cx="9796766" cy="889825"/>
            <a:chOff x="1197617" y="4591050"/>
            <a:chExt cx="9796766" cy="889825"/>
          </a:xfrm>
        </p:grpSpPr>
        <p:sp>
          <p:nvSpPr>
            <p:cNvPr id="22" name="Line 22"/>
            <p:cNvSpPr/>
            <p:nvPr/>
          </p:nvSpPr>
          <p:spPr>
            <a:xfrm>
              <a:off x="4191000" y="45910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92470" y="4886896"/>
              <a:ext cx="8807059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ACM SIGOPS Strategic Workshop @ SOSP 2025 · Monday, October 13, 2025 · Crystal Ball B, Lotte Hotel World, Seoul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7617" y="5229796"/>
              <a:ext cx="9796766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75" dirty="0">
                  <a:solidFill>
                    <a:srgbClr val="6B7280"/>
                  </a:solidFill>
                  <a:latin typeface="Microsoft YaHei"/>
                  <a:ea typeface="Microsoft YaHei"/>
                  <a:cs typeface="Microsoft YaHei"/>
                </a:rPr>
                <a:t>With thanks to the Organizing Committee: Haibo Chen (Chair) · Ding Yuan · KyoungSoo Park · Dong Du — all talks are recorded.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26" name="Rectangle 26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2563D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05230" y="6504432"/>
              <a:ext cx="5981539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Celebrating 60 Years of SIGOPS — From Historical Wisdom to Forward-Looking Vision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