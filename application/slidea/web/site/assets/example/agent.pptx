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9" r:id="rId23"/>
    <p:sldId id="280" r:id="rId24"/>
    <p:sldId id="281" r:id="rId25"/>
    <p:sldId id="287" r:id="rId26"/>
    <p:sldId id="283" r:id="rId27"/>
    <p:sldId id="284" r:id="rId28"/>
    <p:sldId id="286" r:id="rId29"/>
  </p:sldIdLst>
  <p:sldSz cx="12204700" cy="6870700"/>
  <p:notesSz cx="12204700" cy="68707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7DB1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110" d="100"/>
          <a:sy n="110" d="100"/>
        </p:scale>
        <p:origin x="200" y="40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7963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6913563" y="0"/>
            <a:ext cx="5287962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972023-AAFE-456C-BA00-E5B18C414E6D}" type="datetimeFigureOut">
              <a:rPr lang="zh-CN" altLang="en-US" smtClean="0"/>
              <a:t>2026/4/1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041775" y="858838"/>
            <a:ext cx="4121150" cy="23193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1220788" y="3306763"/>
            <a:ext cx="9763125" cy="2705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26213"/>
            <a:ext cx="5287963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6913563" y="6526213"/>
            <a:ext cx="5287962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A06C8E-2C39-4504-92FC-092F70C35DD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4941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A06C8E-2C39-4504-92FC-092F70C35DD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7730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5352" y="2129917"/>
            <a:ext cx="10373995" cy="144284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E4E7EB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30705" y="3847592"/>
            <a:ext cx="8543290" cy="1717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9CA2AF"/>
                </a:solidFill>
                <a:latin typeface="微软雅黑"/>
                <a:cs typeface="微软雅黑"/>
              </a:defRPr>
            </a:lvl1pPr>
          </a:lstStyle>
          <a:p>
            <a:pPr marL="11811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50" spc="-50" dirty="0"/>
              <a:t>‹#›</a:t>
            </a:fld>
            <a:endParaRPr sz="105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E4E7EB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9CA2AF"/>
                </a:solidFill>
                <a:latin typeface="微软雅黑"/>
                <a:cs typeface="微软雅黑"/>
              </a:defRPr>
            </a:lvl1pPr>
          </a:lstStyle>
          <a:p>
            <a:pPr marL="11811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50" spc="-50" dirty="0"/>
              <a:t>‹#›</a:t>
            </a:fld>
            <a:endParaRPr sz="105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A2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E4E7EB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10235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85420" y="1580261"/>
            <a:ext cx="5309044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9CA2AF"/>
                </a:solidFill>
                <a:latin typeface="微软雅黑"/>
                <a:cs typeface="微软雅黑"/>
              </a:defRPr>
            </a:lvl1pPr>
          </a:lstStyle>
          <a:p>
            <a:pPr marL="11811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50" spc="-50" dirty="0"/>
              <a:t>‹#›</a:t>
            </a:fld>
            <a:endParaRPr sz="105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rgbClr val="E4E7EB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9CA2AF"/>
                </a:solidFill>
                <a:latin typeface="微软雅黑"/>
                <a:cs typeface="微软雅黑"/>
              </a:defRPr>
            </a:lvl1pPr>
          </a:lstStyle>
          <a:p>
            <a:pPr marL="11811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50" spc="-50" dirty="0"/>
              <a:t>‹#›</a:t>
            </a:fld>
            <a:endParaRPr sz="105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950" b="0" i="0">
                <a:solidFill>
                  <a:srgbClr val="9CA2AF"/>
                </a:solidFill>
                <a:latin typeface="微软雅黑"/>
                <a:cs typeface="微软雅黑"/>
              </a:defRPr>
            </a:lvl1pPr>
          </a:lstStyle>
          <a:p>
            <a:pPr marL="11811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50" spc="-50" dirty="0"/>
              <a:t>‹#›</a:t>
            </a:fld>
            <a:endParaRPr sz="105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19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6857999"/>
                </a:lnTo>
                <a:close/>
              </a:path>
            </a:pathLst>
          </a:custGeom>
          <a:solidFill>
            <a:srgbClr val="1A2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7315199" y="0"/>
            <a:ext cx="4876800" cy="6858000"/>
          </a:xfrm>
          <a:custGeom>
            <a:avLst/>
            <a:gdLst/>
            <a:ahLst/>
            <a:cxnLst/>
            <a:rect l="l" t="t" r="r" b="b"/>
            <a:pathLst>
              <a:path w="4876800" h="6858000">
                <a:moveTo>
                  <a:pt x="4876799" y="6857999"/>
                </a:moveTo>
                <a:lnTo>
                  <a:pt x="0" y="6857999"/>
                </a:lnTo>
                <a:lnTo>
                  <a:pt x="731519" y="0"/>
                </a:lnTo>
                <a:lnTo>
                  <a:pt x="4876799" y="0"/>
                </a:lnTo>
                <a:lnTo>
                  <a:pt x="4876799" y="6857999"/>
                </a:lnTo>
                <a:close/>
              </a:path>
            </a:pathLst>
          </a:custGeom>
          <a:solidFill>
            <a:srgbClr val="4A54A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76199" y="0"/>
                </a:lnTo>
                <a:lnTo>
                  <a:pt x="76199" y="68579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5925" y="215900"/>
            <a:ext cx="2311400" cy="482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rgbClr val="E4E7EB"/>
                </a:solidFill>
                <a:latin typeface="微软雅黑"/>
                <a:cs typeface="微软雅黑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0235" y="1580261"/>
            <a:ext cx="10984230" cy="45346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9598" y="6389751"/>
            <a:ext cx="3905504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10235" y="6389751"/>
            <a:ext cx="2807081" cy="3435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421516" y="6500145"/>
            <a:ext cx="250190" cy="269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50" b="0" i="0">
                <a:solidFill>
                  <a:srgbClr val="9CA2AF"/>
                </a:solidFill>
                <a:latin typeface="微软雅黑"/>
                <a:cs typeface="微软雅黑"/>
              </a:defRPr>
            </a:lvl1pPr>
          </a:lstStyle>
          <a:p>
            <a:pPr marL="11811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50" spc="-50" dirty="0"/>
              <a:t>‹#›</a:t>
            </a:fld>
            <a:endParaRPr sz="10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jp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jp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5.png"/><Relationship Id="rId11" Type="http://schemas.openxmlformats.org/officeDocument/2006/relationships/image" Target="../media/image50.jp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13" Type="http://schemas.openxmlformats.org/officeDocument/2006/relationships/image" Target="../media/image71.png"/><Relationship Id="rId18" Type="http://schemas.openxmlformats.org/officeDocument/2006/relationships/image" Target="../media/image76.png"/><Relationship Id="rId3" Type="http://schemas.openxmlformats.org/officeDocument/2006/relationships/image" Target="../media/image62.png"/><Relationship Id="rId7" Type="http://schemas.openxmlformats.org/officeDocument/2006/relationships/image" Target="../media/image65.png"/><Relationship Id="rId12" Type="http://schemas.openxmlformats.org/officeDocument/2006/relationships/image" Target="../media/image70.png"/><Relationship Id="rId17" Type="http://schemas.openxmlformats.org/officeDocument/2006/relationships/image" Target="../media/image75.png"/><Relationship Id="rId2" Type="http://schemas.openxmlformats.org/officeDocument/2006/relationships/image" Target="../media/image61.png"/><Relationship Id="rId16" Type="http://schemas.openxmlformats.org/officeDocument/2006/relationships/image" Target="../media/image7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4.png"/><Relationship Id="rId11" Type="http://schemas.openxmlformats.org/officeDocument/2006/relationships/image" Target="../media/image69.png"/><Relationship Id="rId5" Type="http://schemas.openxmlformats.org/officeDocument/2006/relationships/image" Target="../media/image63.jpg"/><Relationship Id="rId15" Type="http://schemas.openxmlformats.org/officeDocument/2006/relationships/image" Target="../media/image73.png"/><Relationship Id="rId10" Type="http://schemas.openxmlformats.org/officeDocument/2006/relationships/image" Target="../media/image68.png"/><Relationship Id="rId4" Type="http://schemas.openxmlformats.org/officeDocument/2006/relationships/image" Target="../media/image28.png"/><Relationship Id="rId9" Type="http://schemas.openxmlformats.org/officeDocument/2006/relationships/image" Target="../media/image67.png"/><Relationship Id="rId14" Type="http://schemas.openxmlformats.org/officeDocument/2006/relationships/image" Target="../media/image7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2.png"/><Relationship Id="rId13" Type="http://schemas.openxmlformats.org/officeDocument/2006/relationships/image" Target="../media/image87.png"/><Relationship Id="rId3" Type="http://schemas.openxmlformats.org/officeDocument/2006/relationships/image" Target="../media/image50.jpg"/><Relationship Id="rId7" Type="http://schemas.openxmlformats.org/officeDocument/2006/relationships/image" Target="../media/image81.png"/><Relationship Id="rId12" Type="http://schemas.openxmlformats.org/officeDocument/2006/relationships/image" Target="../media/image86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.png"/><Relationship Id="rId11" Type="http://schemas.openxmlformats.org/officeDocument/2006/relationships/image" Target="../media/image85.png"/><Relationship Id="rId5" Type="http://schemas.openxmlformats.org/officeDocument/2006/relationships/image" Target="../media/image79.png"/><Relationship Id="rId10" Type="http://schemas.openxmlformats.org/officeDocument/2006/relationships/image" Target="../media/image84.png"/><Relationship Id="rId4" Type="http://schemas.openxmlformats.org/officeDocument/2006/relationships/image" Target="../media/image78.png"/><Relationship Id="rId9" Type="http://schemas.openxmlformats.org/officeDocument/2006/relationships/image" Target="../media/image83.png"/><Relationship Id="rId14" Type="http://schemas.openxmlformats.org/officeDocument/2006/relationships/image" Target="../media/image8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5.png"/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97.png"/><Relationship Id="rId7" Type="http://schemas.openxmlformats.org/officeDocument/2006/relationships/image" Target="../media/image10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0.png"/><Relationship Id="rId5" Type="http://schemas.openxmlformats.org/officeDocument/2006/relationships/image" Target="../media/image99.png"/><Relationship Id="rId4" Type="http://schemas.openxmlformats.org/officeDocument/2006/relationships/image" Target="../media/image98.png"/><Relationship Id="rId9" Type="http://schemas.openxmlformats.org/officeDocument/2006/relationships/image" Target="../media/image103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3" Type="http://schemas.openxmlformats.org/officeDocument/2006/relationships/image" Target="../media/image105.png"/><Relationship Id="rId7" Type="http://schemas.openxmlformats.org/officeDocument/2006/relationships/image" Target="../media/image109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8.png"/><Relationship Id="rId5" Type="http://schemas.openxmlformats.org/officeDocument/2006/relationships/image" Target="../media/image107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3.png"/><Relationship Id="rId7" Type="http://schemas.openxmlformats.org/officeDocument/2006/relationships/image" Target="../media/image117.png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16.png"/><Relationship Id="rId5" Type="http://schemas.openxmlformats.org/officeDocument/2006/relationships/image" Target="../media/image115.png"/><Relationship Id="rId4" Type="http://schemas.openxmlformats.org/officeDocument/2006/relationships/image" Target="../media/image1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png"/><Relationship Id="rId3" Type="http://schemas.openxmlformats.org/officeDocument/2006/relationships/image" Target="../media/image119.png"/><Relationship Id="rId7" Type="http://schemas.openxmlformats.org/officeDocument/2006/relationships/image" Target="../media/image123.jpg"/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121.png"/><Relationship Id="rId4" Type="http://schemas.openxmlformats.org/officeDocument/2006/relationships/image" Target="../media/image12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3.png"/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jpg"/><Relationship Id="rId5" Type="http://schemas.openxmlformats.org/officeDocument/2006/relationships/image" Target="../media/image135.png"/><Relationship Id="rId4" Type="http://schemas.openxmlformats.org/officeDocument/2006/relationships/image" Target="../media/image134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1.png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143.png"/><Relationship Id="rId7" Type="http://schemas.openxmlformats.org/officeDocument/2006/relationships/image" Target="../media/image147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6.png"/><Relationship Id="rId11" Type="http://schemas.openxmlformats.org/officeDocument/2006/relationships/image" Target="../media/image151.png"/><Relationship Id="rId5" Type="http://schemas.openxmlformats.org/officeDocument/2006/relationships/image" Target="../media/image145.png"/><Relationship Id="rId10" Type="http://schemas.openxmlformats.org/officeDocument/2006/relationships/image" Target="../media/image150.png"/><Relationship Id="rId4" Type="http://schemas.openxmlformats.org/officeDocument/2006/relationships/image" Target="../media/image144.png"/><Relationship Id="rId9" Type="http://schemas.openxmlformats.org/officeDocument/2006/relationships/image" Target="../media/image14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6.png"/><Relationship Id="rId5" Type="http://schemas.openxmlformats.org/officeDocument/2006/relationships/image" Target="../media/image155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5.jpg"/><Relationship Id="rId13" Type="http://schemas.openxmlformats.org/officeDocument/2006/relationships/image" Target="../media/image170.png"/><Relationship Id="rId3" Type="http://schemas.openxmlformats.org/officeDocument/2006/relationships/image" Target="../media/image160.png"/><Relationship Id="rId7" Type="http://schemas.openxmlformats.org/officeDocument/2006/relationships/image" Target="../media/image164.png"/><Relationship Id="rId12" Type="http://schemas.openxmlformats.org/officeDocument/2006/relationships/image" Target="../media/image16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3.png"/><Relationship Id="rId11" Type="http://schemas.openxmlformats.org/officeDocument/2006/relationships/image" Target="../media/image168.png"/><Relationship Id="rId5" Type="http://schemas.openxmlformats.org/officeDocument/2006/relationships/image" Target="../media/image162.jpg"/><Relationship Id="rId10" Type="http://schemas.openxmlformats.org/officeDocument/2006/relationships/image" Target="../media/image167.png"/><Relationship Id="rId4" Type="http://schemas.openxmlformats.org/officeDocument/2006/relationships/image" Target="../media/image161.png"/><Relationship Id="rId9" Type="http://schemas.openxmlformats.org/officeDocument/2006/relationships/image" Target="../media/image166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14299" y="0"/>
            <a:ext cx="12077700" cy="6858000"/>
            <a:chOff x="114299" y="0"/>
            <a:chExt cx="12077700" cy="6858000"/>
          </a:xfrm>
        </p:grpSpPr>
        <p:sp>
          <p:nvSpPr>
            <p:cNvPr id="3" name="object 3"/>
            <p:cNvSpPr/>
            <p:nvPr/>
          </p:nvSpPr>
          <p:spPr>
            <a:xfrm>
              <a:off x="114299" y="0"/>
              <a:ext cx="12077700" cy="6858000"/>
            </a:xfrm>
            <a:custGeom>
              <a:avLst/>
              <a:gdLst/>
              <a:ahLst/>
              <a:cxnLst/>
              <a:rect l="l" t="t" r="r" b="b"/>
              <a:pathLst>
                <a:path w="12077700" h="6858000">
                  <a:moveTo>
                    <a:pt x="0" y="6857999"/>
                  </a:moveTo>
                  <a:lnTo>
                    <a:pt x="12077699" y="6857999"/>
                  </a:lnTo>
                  <a:lnTo>
                    <a:pt x="12077699" y="0"/>
                  </a:lnTo>
                  <a:lnTo>
                    <a:pt x="0" y="0"/>
                  </a:lnTo>
                  <a:lnTo>
                    <a:pt x="0" y="6857999"/>
                  </a:lnTo>
                  <a:close/>
                </a:path>
              </a:pathLst>
            </a:custGeom>
            <a:solidFill>
              <a:srgbClr val="1A2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4876799" y="0"/>
              <a:ext cx="7315200" cy="6858000"/>
            </a:xfrm>
            <a:custGeom>
              <a:avLst/>
              <a:gdLst/>
              <a:ahLst/>
              <a:cxnLst/>
              <a:rect l="l" t="t" r="r" b="b"/>
              <a:pathLst>
                <a:path w="7315200" h="6858000">
                  <a:moveTo>
                    <a:pt x="7315199" y="6857999"/>
                  </a:moveTo>
                  <a:lnTo>
                    <a:pt x="0" y="6857999"/>
                  </a:lnTo>
                  <a:lnTo>
                    <a:pt x="1828799" y="0"/>
                  </a:lnTo>
                  <a:lnTo>
                    <a:pt x="7315199" y="0"/>
                  </a:lnTo>
                  <a:lnTo>
                    <a:pt x="7315199" y="6857999"/>
                  </a:lnTo>
                  <a:close/>
                </a:path>
              </a:pathLst>
            </a:custGeom>
            <a:solidFill>
              <a:srgbClr val="4A54A5">
                <a:alpha val="148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2509192" y="4168775"/>
            <a:ext cx="10172065" cy="3454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0" b="1" spc="-50" dirty="0">
                <a:solidFill>
                  <a:srgbClr val="FFFFFF">
                    <a:alpha val="24000"/>
                  </a:srgbClr>
                </a:solidFill>
                <a:latin typeface="微软雅黑"/>
                <a:cs typeface="微软雅黑"/>
              </a:rPr>
              <a:t>AGENT</a:t>
            </a:r>
            <a:endParaRPr sz="22500" dirty="0">
              <a:solidFill>
                <a:sysClr val="windowText" lastClr="000000">
                  <a:alpha val="24000"/>
                </a:sysClr>
              </a:solidFill>
              <a:latin typeface="微软雅黑"/>
              <a:cs typeface="微软雅黑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11"/>
            <a:ext cx="3876675" cy="6858000"/>
          </a:xfrm>
          <a:custGeom>
            <a:avLst/>
            <a:gdLst/>
            <a:ahLst/>
            <a:cxnLst/>
            <a:rect l="l" t="t" r="r" b="b"/>
            <a:pathLst>
              <a:path w="3876675" h="6858000">
                <a:moveTo>
                  <a:pt x="114287" y="0"/>
                </a:moveTo>
                <a:lnTo>
                  <a:pt x="0" y="0"/>
                </a:lnTo>
                <a:lnTo>
                  <a:pt x="0" y="6857987"/>
                </a:lnTo>
                <a:lnTo>
                  <a:pt x="114287" y="6857987"/>
                </a:lnTo>
                <a:lnTo>
                  <a:pt x="114287" y="0"/>
                </a:lnTo>
                <a:close/>
              </a:path>
              <a:path w="3876675" h="6858000">
                <a:moveTo>
                  <a:pt x="3876662" y="1588147"/>
                </a:moveTo>
                <a:lnTo>
                  <a:pt x="3860139" y="1571625"/>
                </a:lnTo>
                <a:lnTo>
                  <a:pt x="778522" y="1571625"/>
                </a:lnTo>
                <a:lnTo>
                  <a:pt x="761987" y="1588147"/>
                </a:lnTo>
                <a:lnTo>
                  <a:pt x="761987" y="1971675"/>
                </a:lnTo>
                <a:lnTo>
                  <a:pt x="761987" y="1974189"/>
                </a:lnTo>
                <a:lnTo>
                  <a:pt x="778522" y="1990725"/>
                </a:lnTo>
                <a:lnTo>
                  <a:pt x="3860139" y="1990725"/>
                </a:lnTo>
                <a:lnTo>
                  <a:pt x="3876662" y="1974189"/>
                </a:lnTo>
                <a:lnTo>
                  <a:pt x="3876662" y="1588147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939800" y="1654175"/>
            <a:ext cx="275463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solidFill>
                  <a:srgbClr val="FFFFFF"/>
                </a:solidFill>
                <a:latin typeface="微软雅黑"/>
                <a:cs typeface="微软雅黑"/>
              </a:rPr>
              <a:t>面向技术决策者与跨领域管理者</a:t>
            </a:r>
            <a:endParaRPr sz="1500">
              <a:latin typeface="微软雅黑"/>
              <a:cs typeface="微软雅黑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749299" y="2235200"/>
            <a:ext cx="393065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10" dirty="0">
                <a:solidFill>
                  <a:srgbClr val="FFFFFF"/>
                </a:solidFill>
              </a:rPr>
              <a:t>AI</a:t>
            </a:r>
            <a:r>
              <a:rPr sz="7200" spc="-520" dirty="0">
                <a:solidFill>
                  <a:srgbClr val="FFFFFF"/>
                </a:solidFill>
              </a:rPr>
              <a:t> </a:t>
            </a:r>
            <a:r>
              <a:rPr sz="7200" spc="-140" dirty="0">
                <a:solidFill>
                  <a:srgbClr val="FFFFFF"/>
                </a:solidFill>
              </a:rPr>
              <a:t>Agent</a:t>
            </a:r>
            <a:endParaRPr sz="7200"/>
          </a:p>
        </p:txBody>
      </p:sp>
      <p:sp>
        <p:nvSpPr>
          <p:cNvPr id="9" name="object 9"/>
          <p:cNvSpPr txBox="1"/>
          <p:nvPr/>
        </p:nvSpPr>
        <p:spPr>
          <a:xfrm>
            <a:off x="749299" y="3349625"/>
            <a:ext cx="375920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800" b="1" spc="90" dirty="0">
                <a:solidFill>
                  <a:srgbClr val="60A5FA"/>
                </a:solidFill>
                <a:latin typeface="微软雅黑"/>
                <a:cs typeface="微软雅黑"/>
              </a:rPr>
              <a:t>从认知到落地</a:t>
            </a:r>
            <a:endParaRPr sz="4800">
              <a:latin typeface="微软雅黑"/>
              <a:cs typeface="微软雅黑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761999" y="4562474"/>
            <a:ext cx="662305" cy="914400"/>
            <a:chOff x="761999" y="4562474"/>
            <a:chExt cx="662305" cy="914400"/>
          </a:xfrm>
        </p:grpSpPr>
        <p:sp>
          <p:nvSpPr>
            <p:cNvPr id="11" name="object 11"/>
            <p:cNvSpPr/>
            <p:nvPr/>
          </p:nvSpPr>
          <p:spPr>
            <a:xfrm>
              <a:off x="761999" y="4562474"/>
              <a:ext cx="76200" cy="914400"/>
            </a:xfrm>
            <a:custGeom>
              <a:avLst/>
              <a:gdLst/>
              <a:ahLst/>
              <a:cxnLst/>
              <a:rect l="l" t="t" r="r" b="b"/>
              <a:pathLst>
                <a:path w="76200" h="914400">
                  <a:moveTo>
                    <a:pt x="76199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914399"/>
                  </a:lnTo>
                  <a:close/>
                </a:path>
              </a:pathLst>
            </a:custGeom>
            <a:solidFill>
              <a:srgbClr val="4A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66812" y="4633912"/>
              <a:ext cx="257175" cy="200025"/>
            </a:xfrm>
            <a:custGeom>
              <a:avLst/>
              <a:gdLst/>
              <a:ahLst/>
              <a:cxnLst/>
              <a:rect l="l" t="t" r="r" b="b"/>
              <a:pathLst>
                <a:path w="257175" h="200025">
                  <a:moveTo>
                    <a:pt x="164306" y="200025"/>
                  </a:moveTo>
                  <a:lnTo>
                    <a:pt x="121443" y="200025"/>
                  </a:lnTo>
                  <a:lnTo>
                    <a:pt x="113103" y="198340"/>
                  </a:lnTo>
                  <a:lnTo>
                    <a:pt x="106291" y="193746"/>
                  </a:lnTo>
                  <a:lnTo>
                    <a:pt x="101697" y="186933"/>
                  </a:lnTo>
                  <a:lnTo>
                    <a:pt x="100012" y="178593"/>
                  </a:lnTo>
                  <a:lnTo>
                    <a:pt x="100012" y="134972"/>
                  </a:lnTo>
                  <a:lnTo>
                    <a:pt x="100057" y="134213"/>
                  </a:lnTo>
                  <a:lnTo>
                    <a:pt x="100146" y="133498"/>
                  </a:lnTo>
                  <a:lnTo>
                    <a:pt x="64293" y="85725"/>
                  </a:lnTo>
                  <a:lnTo>
                    <a:pt x="21431" y="85725"/>
                  </a:lnTo>
                  <a:lnTo>
                    <a:pt x="13091" y="84040"/>
                  </a:lnTo>
                  <a:lnTo>
                    <a:pt x="6278" y="79446"/>
                  </a:lnTo>
                  <a:lnTo>
                    <a:pt x="1684" y="72633"/>
                  </a:lnTo>
                  <a:lnTo>
                    <a:pt x="0" y="64293"/>
                  </a:lnTo>
                  <a:lnTo>
                    <a:pt x="0" y="21431"/>
                  </a:lnTo>
                  <a:lnTo>
                    <a:pt x="1684" y="13091"/>
                  </a:lnTo>
                  <a:lnTo>
                    <a:pt x="6278" y="6278"/>
                  </a:lnTo>
                  <a:lnTo>
                    <a:pt x="13091" y="1684"/>
                  </a:lnTo>
                  <a:lnTo>
                    <a:pt x="21431" y="0"/>
                  </a:lnTo>
                  <a:lnTo>
                    <a:pt x="64293" y="0"/>
                  </a:lnTo>
                  <a:lnTo>
                    <a:pt x="72633" y="1684"/>
                  </a:lnTo>
                  <a:lnTo>
                    <a:pt x="79446" y="6278"/>
                  </a:lnTo>
                  <a:lnTo>
                    <a:pt x="84040" y="13091"/>
                  </a:lnTo>
                  <a:lnTo>
                    <a:pt x="85725" y="21431"/>
                  </a:lnTo>
                  <a:lnTo>
                    <a:pt x="85725" y="28575"/>
                  </a:lnTo>
                  <a:lnTo>
                    <a:pt x="171450" y="28575"/>
                  </a:lnTo>
                  <a:lnTo>
                    <a:pt x="171450" y="21431"/>
                  </a:lnTo>
                  <a:lnTo>
                    <a:pt x="173134" y="13091"/>
                  </a:lnTo>
                  <a:lnTo>
                    <a:pt x="177728" y="6278"/>
                  </a:lnTo>
                  <a:lnTo>
                    <a:pt x="184541" y="1684"/>
                  </a:lnTo>
                  <a:lnTo>
                    <a:pt x="192881" y="0"/>
                  </a:lnTo>
                  <a:lnTo>
                    <a:pt x="235743" y="0"/>
                  </a:lnTo>
                  <a:lnTo>
                    <a:pt x="244083" y="1684"/>
                  </a:lnTo>
                  <a:lnTo>
                    <a:pt x="250896" y="6278"/>
                  </a:lnTo>
                  <a:lnTo>
                    <a:pt x="255490" y="13091"/>
                  </a:lnTo>
                  <a:lnTo>
                    <a:pt x="257175" y="21431"/>
                  </a:lnTo>
                  <a:lnTo>
                    <a:pt x="257175" y="64293"/>
                  </a:lnTo>
                  <a:lnTo>
                    <a:pt x="255490" y="72633"/>
                  </a:lnTo>
                  <a:lnTo>
                    <a:pt x="250896" y="79446"/>
                  </a:lnTo>
                  <a:lnTo>
                    <a:pt x="244083" y="84040"/>
                  </a:lnTo>
                  <a:lnTo>
                    <a:pt x="235743" y="85725"/>
                  </a:lnTo>
                  <a:lnTo>
                    <a:pt x="192881" y="85725"/>
                  </a:lnTo>
                  <a:lnTo>
                    <a:pt x="184541" y="84040"/>
                  </a:lnTo>
                  <a:lnTo>
                    <a:pt x="177728" y="79446"/>
                  </a:lnTo>
                  <a:lnTo>
                    <a:pt x="173134" y="72633"/>
                  </a:lnTo>
                  <a:lnTo>
                    <a:pt x="171450" y="64293"/>
                  </a:lnTo>
                  <a:lnTo>
                    <a:pt x="171450" y="57150"/>
                  </a:lnTo>
                  <a:lnTo>
                    <a:pt x="85725" y="57150"/>
                  </a:lnTo>
                  <a:lnTo>
                    <a:pt x="85725" y="65052"/>
                  </a:lnTo>
                  <a:lnTo>
                    <a:pt x="85680" y="65811"/>
                  </a:lnTo>
                  <a:lnTo>
                    <a:pt x="85591" y="66526"/>
                  </a:lnTo>
                  <a:lnTo>
                    <a:pt x="121443" y="114300"/>
                  </a:lnTo>
                  <a:lnTo>
                    <a:pt x="164306" y="114300"/>
                  </a:lnTo>
                  <a:lnTo>
                    <a:pt x="172646" y="115984"/>
                  </a:lnTo>
                  <a:lnTo>
                    <a:pt x="179458" y="120578"/>
                  </a:lnTo>
                  <a:lnTo>
                    <a:pt x="184052" y="127391"/>
                  </a:lnTo>
                  <a:lnTo>
                    <a:pt x="185737" y="135731"/>
                  </a:lnTo>
                  <a:lnTo>
                    <a:pt x="185737" y="178593"/>
                  </a:lnTo>
                  <a:lnTo>
                    <a:pt x="184052" y="186933"/>
                  </a:lnTo>
                  <a:lnTo>
                    <a:pt x="179458" y="193746"/>
                  </a:lnTo>
                  <a:lnTo>
                    <a:pt x="172646" y="198340"/>
                  </a:lnTo>
                  <a:lnTo>
                    <a:pt x="164306" y="200025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2531" y="5191124"/>
              <a:ext cx="185692" cy="22860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1587499" y="4549775"/>
            <a:ext cx="503809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0" dirty="0">
                <a:solidFill>
                  <a:srgbClr val="E4E7EB"/>
                </a:solidFill>
                <a:latin typeface="微软雅黑 Light"/>
                <a:cs typeface="微软雅黑 Light"/>
              </a:rPr>
              <a:t>全面解析 AI Agent</a:t>
            </a:r>
            <a:r>
              <a:rPr sz="2250" b="0" spc="-5" dirty="0">
                <a:solidFill>
                  <a:srgbClr val="E4E7EB"/>
                </a:solidFill>
                <a:latin typeface="微软雅黑 Light"/>
                <a:cs typeface="微软雅黑 Light"/>
              </a:rPr>
              <a:t> 技术脉络与商业价值</a:t>
            </a:r>
            <a:endParaRPr sz="2250">
              <a:latin typeface="微软雅黑 Light"/>
              <a:cs typeface="微软雅黑 Ligh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587499" y="5121275"/>
            <a:ext cx="3740150" cy="368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250" b="0" spc="-5" dirty="0">
                <a:solidFill>
                  <a:srgbClr val="E4E7EB"/>
                </a:solidFill>
                <a:latin typeface="微软雅黑 Light"/>
                <a:cs typeface="微软雅黑 Light"/>
              </a:rPr>
              <a:t>支撑战略判断与资源投入决策</a:t>
            </a:r>
            <a:endParaRPr sz="2250">
              <a:latin typeface="微软雅黑 Light"/>
              <a:cs typeface="微软雅黑 Ligh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58800" y="6454774"/>
            <a:ext cx="1850389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6A7280"/>
                </a:solidFill>
                <a:latin typeface="微软雅黑"/>
                <a:cs typeface="微软雅黑"/>
              </a:rPr>
              <a:t>2024</a:t>
            </a:r>
            <a:r>
              <a:rPr sz="1350" spc="-10" dirty="0">
                <a:solidFill>
                  <a:srgbClr val="6A7280"/>
                </a:solidFill>
                <a:latin typeface="微软雅黑"/>
                <a:cs typeface="微软雅黑"/>
              </a:rPr>
              <a:t> 特定技术专题报告</a:t>
            </a:r>
            <a:endParaRPr sz="135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925" y="215900"/>
            <a:ext cx="787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目录</a:t>
            </a:r>
          </a:p>
        </p:txBody>
      </p:sp>
      <p:sp>
        <p:nvSpPr>
          <p:cNvPr id="3" name="object 3"/>
          <p:cNvSpPr/>
          <p:nvPr/>
        </p:nvSpPr>
        <p:spPr>
          <a:xfrm>
            <a:off x="428624" y="800099"/>
            <a:ext cx="457200" cy="38100"/>
          </a:xfrm>
          <a:custGeom>
            <a:avLst/>
            <a:gdLst/>
            <a:ahLst/>
            <a:cxnLst/>
            <a:rect l="l" t="t" r="r" b="b"/>
            <a:pathLst>
              <a:path w="457200" h="38100">
                <a:moveTo>
                  <a:pt x="457199" y="38099"/>
                </a:moveTo>
                <a:lnTo>
                  <a:pt x="0" y="38099"/>
                </a:lnTo>
                <a:lnTo>
                  <a:pt x="0" y="0"/>
                </a:lnTo>
                <a:lnTo>
                  <a:pt x="457199" y="0"/>
                </a:lnTo>
                <a:lnTo>
                  <a:pt x="4571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14824" y="1800225"/>
            <a:ext cx="19050" cy="3924300"/>
          </a:xfrm>
          <a:custGeom>
            <a:avLst/>
            <a:gdLst/>
            <a:ahLst/>
            <a:cxnLst/>
            <a:rect l="l" t="t" r="r" b="b"/>
            <a:pathLst>
              <a:path w="19050" h="3924300">
                <a:moveTo>
                  <a:pt x="19049" y="3924299"/>
                </a:moveTo>
                <a:lnTo>
                  <a:pt x="0" y="3924299"/>
                </a:lnTo>
                <a:lnTo>
                  <a:pt x="0" y="0"/>
                </a:lnTo>
                <a:lnTo>
                  <a:pt x="19049" y="0"/>
                </a:lnTo>
                <a:lnTo>
                  <a:pt x="19049" y="3924299"/>
                </a:lnTo>
                <a:close/>
              </a:path>
            </a:pathLst>
          </a:custGeom>
          <a:solidFill>
            <a:srgbClr val="3B81F5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96924" y="3793489"/>
            <a:ext cx="2903220" cy="577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4300"/>
              </a:lnSpc>
              <a:spcBef>
                <a:spcPts val="100"/>
              </a:spcBef>
            </a:pPr>
            <a:r>
              <a:rPr sz="1350" spc="-10" dirty="0">
                <a:solidFill>
                  <a:srgbClr val="9CA2AF"/>
                </a:solidFill>
                <a:latin typeface="微软雅黑"/>
                <a:cs typeface="微软雅黑"/>
              </a:rPr>
              <a:t>本报告将深入剖析 </a:t>
            </a:r>
            <a:r>
              <a:rPr sz="1350" dirty="0">
                <a:solidFill>
                  <a:srgbClr val="9CA2AF"/>
                </a:solidFill>
                <a:latin typeface="微软雅黑"/>
                <a:cs typeface="微软雅黑"/>
              </a:rPr>
              <a:t>AI</a:t>
            </a:r>
            <a:r>
              <a:rPr sz="1350" spc="-50" dirty="0">
                <a:solidFill>
                  <a:srgbClr val="9CA2AF"/>
                </a:solidFill>
                <a:latin typeface="微软雅黑"/>
                <a:cs typeface="微软雅黑"/>
              </a:rPr>
              <a:t> </a:t>
            </a:r>
            <a:r>
              <a:rPr sz="1350" dirty="0">
                <a:solidFill>
                  <a:srgbClr val="9CA2AF"/>
                </a:solidFill>
                <a:latin typeface="微软雅黑"/>
                <a:cs typeface="微软雅黑"/>
              </a:rPr>
              <a:t>Agent</a:t>
            </a:r>
            <a:r>
              <a:rPr sz="1350" spc="-25" dirty="0">
                <a:solidFill>
                  <a:srgbClr val="9CA2AF"/>
                </a:solidFill>
                <a:latin typeface="微软雅黑"/>
                <a:cs typeface="微软雅黑"/>
              </a:rPr>
              <a:t> 的核心机</a:t>
            </a:r>
            <a:r>
              <a:rPr sz="1350" spc="-5" dirty="0">
                <a:solidFill>
                  <a:srgbClr val="9CA2AF"/>
                </a:solidFill>
                <a:latin typeface="微软雅黑"/>
                <a:cs typeface="微软雅黑"/>
              </a:rPr>
              <a:t>制、技术全景及未来落地路径。</a:t>
            </a:r>
            <a:endParaRPr sz="135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714874" y="2571749"/>
            <a:ext cx="6667500" cy="9525"/>
          </a:xfrm>
          <a:custGeom>
            <a:avLst/>
            <a:gdLst/>
            <a:ahLst/>
            <a:cxnLst/>
            <a:rect l="l" t="t" r="r" b="b"/>
            <a:pathLst>
              <a:path w="6667500" h="9525">
                <a:moveTo>
                  <a:pt x="6667499" y="9524"/>
                </a:moveTo>
                <a:lnTo>
                  <a:pt x="0" y="9524"/>
                </a:lnTo>
                <a:lnTo>
                  <a:pt x="0" y="0"/>
                </a:lnTo>
                <a:lnTo>
                  <a:pt x="6667499" y="0"/>
                </a:lnTo>
                <a:lnTo>
                  <a:pt x="6667499" y="9524"/>
                </a:lnTo>
                <a:close/>
              </a:path>
            </a:pathLst>
          </a:custGeom>
          <a:solidFill>
            <a:srgbClr val="3B81F5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809178" y="2076450"/>
            <a:ext cx="259715" cy="228600"/>
          </a:xfrm>
          <a:custGeom>
            <a:avLst/>
            <a:gdLst/>
            <a:ahLst/>
            <a:cxnLst/>
            <a:rect l="l" t="t" r="r" b="b"/>
            <a:pathLst>
              <a:path w="259714" h="228600">
                <a:moveTo>
                  <a:pt x="153367" y="78581"/>
                </a:moveTo>
                <a:lnTo>
                  <a:pt x="105950" y="78581"/>
                </a:lnTo>
                <a:lnTo>
                  <a:pt x="98079" y="71857"/>
                </a:lnTo>
                <a:lnTo>
                  <a:pt x="92037" y="63434"/>
                </a:lnTo>
                <a:lnTo>
                  <a:pt x="88163" y="53654"/>
                </a:lnTo>
                <a:lnTo>
                  <a:pt x="86796" y="42862"/>
                </a:lnTo>
                <a:lnTo>
                  <a:pt x="90166" y="26182"/>
                </a:lnTo>
                <a:lnTo>
                  <a:pt x="99353" y="12557"/>
                </a:lnTo>
                <a:lnTo>
                  <a:pt x="112978" y="3369"/>
                </a:lnTo>
                <a:lnTo>
                  <a:pt x="129659" y="0"/>
                </a:lnTo>
                <a:lnTo>
                  <a:pt x="146339" y="3369"/>
                </a:lnTo>
                <a:lnTo>
                  <a:pt x="159964" y="12557"/>
                </a:lnTo>
                <a:lnTo>
                  <a:pt x="169152" y="26182"/>
                </a:lnTo>
                <a:lnTo>
                  <a:pt x="169635" y="28575"/>
                </a:lnTo>
                <a:lnTo>
                  <a:pt x="127764" y="28575"/>
                </a:lnTo>
                <a:lnTo>
                  <a:pt x="125941" y="28937"/>
                </a:lnTo>
                <a:lnTo>
                  <a:pt x="115371" y="40967"/>
                </a:lnTo>
                <a:lnTo>
                  <a:pt x="115371" y="44757"/>
                </a:lnTo>
                <a:lnTo>
                  <a:pt x="127764" y="57149"/>
                </a:lnTo>
                <a:lnTo>
                  <a:pt x="169770" y="57149"/>
                </a:lnTo>
                <a:lnTo>
                  <a:pt x="167280" y="63434"/>
                </a:lnTo>
                <a:lnTo>
                  <a:pt x="161238" y="71857"/>
                </a:lnTo>
                <a:lnTo>
                  <a:pt x="153367" y="78581"/>
                </a:lnTo>
                <a:close/>
              </a:path>
              <a:path w="259714" h="228600">
                <a:moveTo>
                  <a:pt x="169770" y="57149"/>
                </a:moveTo>
                <a:lnTo>
                  <a:pt x="131553" y="57149"/>
                </a:lnTo>
                <a:lnTo>
                  <a:pt x="133376" y="56787"/>
                </a:lnTo>
                <a:lnTo>
                  <a:pt x="136877" y="55337"/>
                </a:lnTo>
                <a:lnTo>
                  <a:pt x="143946" y="44757"/>
                </a:lnTo>
                <a:lnTo>
                  <a:pt x="143946" y="40967"/>
                </a:lnTo>
                <a:lnTo>
                  <a:pt x="131553" y="28575"/>
                </a:lnTo>
                <a:lnTo>
                  <a:pt x="169635" y="28575"/>
                </a:lnTo>
                <a:lnTo>
                  <a:pt x="172521" y="42862"/>
                </a:lnTo>
                <a:lnTo>
                  <a:pt x="171154" y="53654"/>
                </a:lnTo>
                <a:lnTo>
                  <a:pt x="169770" y="57149"/>
                </a:lnTo>
                <a:close/>
              </a:path>
              <a:path w="259714" h="228600">
                <a:moveTo>
                  <a:pt x="166047" y="107156"/>
                </a:moveTo>
                <a:lnTo>
                  <a:pt x="93181" y="107156"/>
                </a:lnTo>
                <a:lnTo>
                  <a:pt x="86796" y="100771"/>
                </a:lnTo>
                <a:lnTo>
                  <a:pt x="86796" y="84965"/>
                </a:lnTo>
                <a:lnTo>
                  <a:pt x="93181" y="78581"/>
                </a:lnTo>
                <a:lnTo>
                  <a:pt x="166047" y="78581"/>
                </a:lnTo>
                <a:lnTo>
                  <a:pt x="172432" y="84965"/>
                </a:lnTo>
                <a:lnTo>
                  <a:pt x="172432" y="100771"/>
                </a:lnTo>
                <a:lnTo>
                  <a:pt x="166047" y="107156"/>
                </a:lnTo>
                <a:close/>
              </a:path>
              <a:path w="259714" h="228600">
                <a:moveTo>
                  <a:pt x="143857" y="200025"/>
                </a:moveTo>
                <a:lnTo>
                  <a:pt x="115371" y="200025"/>
                </a:lnTo>
                <a:lnTo>
                  <a:pt x="115371" y="107156"/>
                </a:lnTo>
                <a:lnTo>
                  <a:pt x="143857" y="107156"/>
                </a:lnTo>
                <a:lnTo>
                  <a:pt x="143857" y="200025"/>
                </a:lnTo>
                <a:close/>
              </a:path>
              <a:path w="259714" h="228600">
                <a:moveTo>
                  <a:pt x="15180" y="161761"/>
                </a:moveTo>
                <a:lnTo>
                  <a:pt x="8393" y="161716"/>
                </a:lnTo>
                <a:lnTo>
                  <a:pt x="0" y="153412"/>
                </a:lnTo>
                <a:lnTo>
                  <a:pt x="44" y="146580"/>
                </a:lnTo>
                <a:lnTo>
                  <a:pt x="29244" y="117425"/>
                </a:lnTo>
                <a:lnTo>
                  <a:pt x="33397" y="113228"/>
                </a:lnTo>
                <a:lnTo>
                  <a:pt x="40183" y="113228"/>
                </a:lnTo>
                <a:lnTo>
                  <a:pt x="69339" y="142428"/>
                </a:lnTo>
                <a:lnTo>
                  <a:pt x="73535" y="146580"/>
                </a:lnTo>
                <a:lnTo>
                  <a:pt x="73447" y="153412"/>
                </a:lnTo>
                <a:lnTo>
                  <a:pt x="72431" y="154438"/>
                </a:lnTo>
                <a:lnTo>
                  <a:pt x="22458" y="154438"/>
                </a:lnTo>
                <a:lnTo>
                  <a:pt x="19332" y="157564"/>
                </a:lnTo>
                <a:lnTo>
                  <a:pt x="15180" y="161761"/>
                </a:lnTo>
                <a:close/>
              </a:path>
              <a:path w="259714" h="228600">
                <a:moveTo>
                  <a:pt x="200873" y="161761"/>
                </a:moveTo>
                <a:lnTo>
                  <a:pt x="194086" y="161716"/>
                </a:lnTo>
                <a:lnTo>
                  <a:pt x="185692" y="153412"/>
                </a:lnTo>
                <a:lnTo>
                  <a:pt x="185737" y="146580"/>
                </a:lnTo>
                <a:lnTo>
                  <a:pt x="214892" y="117425"/>
                </a:lnTo>
                <a:lnTo>
                  <a:pt x="219045" y="113228"/>
                </a:lnTo>
                <a:lnTo>
                  <a:pt x="225831" y="113228"/>
                </a:lnTo>
                <a:lnTo>
                  <a:pt x="255031" y="142428"/>
                </a:lnTo>
                <a:lnTo>
                  <a:pt x="259228" y="146580"/>
                </a:lnTo>
                <a:lnTo>
                  <a:pt x="259140" y="153412"/>
                </a:lnTo>
                <a:lnTo>
                  <a:pt x="258124" y="154438"/>
                </a:lnTo>
                <a:lnTo>
                  <a:pt x="208151" y="154438"/>
                </a:lnTo>
                <a:lnTo>
                  <a:pt x="205025" y="157564"/>
                </a:lnTo>
                <a:lnTo>
                  <a:pt x="200873" y="161761"/>
                </a:lnTo>
                <a:close/>
              </a:path>
              <a:path w="259714" h="228600">
                <a:moveTo>
                  <a:pt x="165333" y="228600"/>
                </a:moveTo>
                <a:lnTo>
                  <a:pt x="93895" y="228600"/>
                </a:lnTo>
                <a:lnTo>
                  <a:pt x="66082" y="222988"/>
                </a:lnTo>
                <a:lnTo>
                  <a:pt x="43375" y="207682"/>
                </a:lnTo>
                <a:lnTo>
                  <a:pt x="28069" y="184975"/>
                </a:lnTo>
                <a:lnTo>
                  <a:pt x="22539" y="157564"/>
                </a:lnTo>
                <a:lnTo>
                  <a:pt x="22458" y="154438"/>
                </a:lnTo>
                <a:lnTo>
                  <a:pt x="51077" y="154438"/>
                </a:lnTo>
                <a:lnTo>
                  <a:pt x="51158" y="157564"/>
                </a:lnTo>
                <a:lnTo>
                  <a:pt x="54447" y="173842"/>
                </a:lnTo>
                <a:lnTo>
                  <a:pt x="63635" y="187467"/>
                </a:lnTo>
                <a:lnTo>
                  <a:pt x="77259" y="196655"/>
                </a:lnTo>
                <a:lnTo>
                  <a:pt x="93940" y="200025"/>
                </a:lnTo>
                <a:lnTo>
                  <a:pt x="221014" y="200025"/>
                </a:lnTo>
                <a:lnTo>
                  <a:pt x="215852" y="207682"/>
                </a:lnTo>
                <a:lnTo>
                  <a:pt x="193146" y="222988"/>
                </a:lnTo>
                <a:lnTo>
                  <a:pt x="165333" y="228600"/>
                </a:lnTo>
                <a:close/>
              </a:path>
              <a:path w="259714" h="228600">
                <a:moveTo>
                  <a:pt x="65186" y="161761"/>
                </a:moveTo>
                <a:lnTo>
                  <a:pt x="58400" y="161761"/>
                </a:lnTo>
                <a:lnTo>
                  <a:pt x="51077" y="154438"/>
                </a:lnTo>
                <a:lnTo>
                  <a:pt x="72431" y="154438"/>
                </a:lnTo>
                <a:lnTo>
                  <a:pt x="65186" y="161761"/>
                </a:lnTo>
                <a:close/>
              </a:path>
              <a:path w="259714" h="228600">
                <a:moveTo>
                  <a:pt x="221014" y="200025"/>
                </a:moveTo>
                <a:lnTo>
                  <a:pt x="165288" y="200025"/>
                </a:lnTo>
                <a:lnTo>
                  <a:pt x="181968" y="196655"/>
                </a:lnTo>
                <a:lnTo>
                  <a:pt x="195593" y="187467"/>
                </a:lnTo>
                <a:lnTo>
                  <a:pt x="204781" y="173842"/>
                </a:lnTo>
                <a:lnTo>
                  <a:pt x="208069" y="157564"/>
                </a:lnTo>
                <a:lnTo>
                  <a:pt x="208151" y="154438"/>
                </a:lnTo>
                <a:lnTo>
                  <a:pt x="236770" y="154438"/>
                </a:lnTo>
                <a:lnTo>
                  <a:pt x="236689" y="157564"/>
                </a:lnTo>
                <a:lnTo>
                  <a:pt x="231158" y="184975"/>
                </a:lnTo>
                <a:lnTo>
                  <a:pt x="221014" y="200025"/>
                </a:lnTo>
                <a:close/>
              </a:path>
              <a:path w="259714" h="228600">
                <a:moveTo>
                  <a:pt x="250879" y="161761"/>
                </a:moveTo>
                <a:lnTo>
                  <a:pt x="244093" y="161761"/>
                </a:lnTo>
                <a:lnTo>
                  <a:pt x="236770" y="154438"/>
                </a:lnTo>
                <a:lnTo>
                  <a:pt x="258124" y="154438"/>
                </a:lnTo>
                <a:lnTo>
                  <a:pt x="250879" y="161761"/>
                </a:lnTo>
                <a:close/>
              </a:path>
            </a:pathLst>
          </a:custGeom>
          <a:solidFill>
            <a:srgbClr val="93C4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6378574" y="2035175"/>
            <a:ext cx="3659504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AI</a:t>
            </a:r>
            <a:r>
              <a:rPr sz="1800" b="1" spc="120" dirty="0">
                <a:solidFill>
                  <a:srgbClr val="FFFFFF"/>
                </a:solidFill>
                <a:latin typeface="微软雅黑"/>
                <a:cs typeface="微软雅黑"/>
              </a:rPr>
              <a:t>  </a:t>
            </a:r>
            <a:r>
              <a:rPr sz="1800" b="1" dirty="0">
                <a:solidFill>
                  <a:srgbClr val="FFFFFF"/>
                </a:solidFill>
                <a:latin typeface="微软雅黑"/>
                <a:cs typeface="微软雅黑"/>
              </a:rPr>
              <a:t>Agent</a:t>
            </a: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认知锚点：从场景到本质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714874" y="3362324"/>
            <a:ext cx="6667500" cy="9525"/>
          </a:xfrm>
          <a:custGeom>
            <a:avLst/>
            <a:gdLst/>
            <a:ahLst/>
            <a:cxnLst/>
            <a:rect l="l" t="t" r="r" b="b"/>
            <a:pathLst>
              <a:path w="6667500" h="9525">
                <a:moveTo>
                  <a:pt x="6667499" y="9524"/>
                </a:moveTo>
                <a:lnTo>
                  <a:pt x="0" y="9524"/>
                </a:lnTo>
                <a:lnTo>
                  <a:pt x="0" y="0"/>
                </a:lnTo>
                <a:lnTo>
                  <a:pt x="6667499" y="0"/>
                </a:lnTo>
                <a:lnTo>
                  <a:pt x="6667499" y="9524"/>
                </a:lnTo>
                <a:close/>
              </a:path>
            </a:pathLst>
          </a:custGeom>
          <a:solidFill>
            <a:srgbClr val="3B81F5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5810249" y="2871787"/>
            <a:ext cx="257175" cy="200025"/>
          </a:xfrm>
          <a:custGeom>
            <a:avLst/>
            <a:gdLst/>
            <a:ahLst/>
            <a:cxnLst/>
            <a:rect l="l" t="t" r="r" b="b"/>
            <a:pathLst>
              <a:path w="257175" h="200025">
                <a:moveTo>
                  <a:pt x="235743" y="200025"/>
                </a:moveTo>
                <a:lnTo>
                  <a:pt x="207168" y="200025"/>
                </a:lnTo>
                <a:lnTo>
                  <a:pt x="198828" y="198340"/>
                </a:lnTo>
                <a:lnTo>
                  <a:pt x="192016" y="193746"/>
                </a:lnTo>
                <a:lnTo>
                  <a:pt x="187422" y="186933"/>
                </a:lnTo>
                <a:lnTo>
                  <a:pt x="185737" y="178593"/>
                </a:lnTo>
                <a:lnTo>
                  <a:pt x="185737" y="150018"/>
                </a:lnTo>
                <a:lnTo>
                  <a:pt x="187422" y="141678"/>
                </a:lnTo>
                <a:lnTo>
                  <a:pt x="192016" y="134866"/>
                </a:lnTo>
                <a:lnTo>
                  <a:pt x="198828" y="130272"/>
                </a:lnTo>
                <a:lnTo>
                  <a:pt x="207168" y="128587"/>
                </a:lnTo>
                <a:lnTo>
                  <a:pt x="210740" y="128587"/>
                </a:lnTo>
                <a:lnTo>
                  <a:pt x="210740" y="112335"/>
                </a:lnTo>
                <a:lnTo>
                  <a:pt x="209133" y="110728"/>
                </a:lnTo>
                <a:lnTo>
                  <a:pt x="139303" y="110728"/>
                </a:lnTo>
                <a:lnTo>
                  <a:pt x="139303" y="128587"/>
                </a:lnTo>
                <a:lnTo>
                  <a:pt x="142875" y="128587"/>
                </a:lnTo>
                <a:lnTo>
                  <a:pt x="151215" y="130272"/>
                </a:lnTo>
                <a:lnTo>
                  <a:pt x="158027" y="134866"/>
                </a:lnTo>
                <a:lnTo>
                  <a:pt x="162621" y="141678"/>
                </a:lnTo>
                <a:lnTo>
                  <a:pt x="164306" y="150018"/>
                </a:lnTo>
                <a:lnTo>
                  <a:pt x="164306" y="178593"/>
                </a:lnTo>
                <a:lnTo>
                  <a:pt x="162621" y="186933"/>
                </a:lnTo>
                <a:lnTo>
                  <a:pt x="158027" y="193746"/>
                </a:lnTo>
                <a:lnTo>
                  <a:pt x="151215" y="198340"/>
                </a:lnTo>
                <a:lnTo>
                  <a:pt x="142875" y="200025"/>
                </a:lnTo>
                <a:lnTo>
                  <a:pt x="114300" y="200025"/>
                </a:lnTo>
                <a:lnTo>
                  <a:pt x="105959" y="198340"/>
                </a:lnTo>
                <a:lnTo>
                  <a:pt x="99147" y="193746"/>
                </a:lnTo>
                <a:lnTo>
                  <a:pt x="94553" y="186933"/>
                </a:lnTo>
                <a:lnTo>
                  <a:pt x="92868" y="178593"/>
                </a:lnTo>
                <a:lnTo>
                  <a:pt x="92868" y="150018"/>
                </a:lnTo>
                <a:lnTo>
                  <a:pt x="94553" y="141678"/>
                </a:lnTo>
                <a:lnTo>
                  <a:pt x="99147" y="134866"/>
                </a:lnTo>
                <a:lnTo>
                  <a:pt x="105959" y="130272"/>
                </a:lnTo>
                <a:lnTo>
                  <a:pt x="114300" y="128587"/>
                </a:lnTo>
                <a:lnTo>
                  <a:pt x="117871" y="128587"/>
                </a:lnTo>
                <a:lnTo>
                  <a:pt x="117871" y="110728"/>
                </a:lnTo>
                <a:lnTo>
                  <a:pt x="48041" y="110728"/>
                </a:lnTo>
                <a:lnTo>
                  <a:pt x="46434" y="112335"/>
                </a:lnTo>
                <a:lnTo>
                  <a:pt x="46434" y="128587"/>
                </a:lnTo>
                <a:lnTo>
                  <a:pt x="50006" y="128587"/>
                </a:lnTo>
                <a:lnTo>
                  <a:pt x="58346" y="130272"/>
                </a:lnTo>
                <a:lnTo>
                  <a:pt x="65158" y="134866"/>
                </a:lnTo>
                <a:lnTo>
                  <a:pt x="69752" y="141678"/>
                </a:lnTo>
                <a:lnTo>
                  <a:pt x="71437" y="150018"/>
                </a:lnTo>
                <a:lnTo>
                  <a:pt x="71437" y="178593"/>
                </a:lnTo>
                <a:lnTo>
                  <a:pt x="69752" y="186933"/>
                </a:lnTo>
                <a:lnTo>
                  <a:pt x="65158" y="193746"/>
                </a:lnTo>
                <a:lnTo>
                  <a:pt x="58346" y="198340"/>
                </a:lnTo>
                <a:lnTo>
                  <a:pt x="50006" y="200025"/>
                </a:lnTo>
                <a:lnTo>
                  <a:pt x="21431" y="200025"/>
                </a:lnTo>
                <a:lnTo>
                  <a:pt x="13091" y="198340"/>
                </a:lnTo>
                <a:lnTo>
                  <a:pt x="6278" y="193746"/>
                </a:lnTo>
                <a:lnTo>
                  <a:pt x="1684" y="186933"/>
                </a:lnTo>
                <a:lnTo>
                  <a:pt x="0" y="178593"/>
                </a:lnTo>
                <a:lnTo>
                  <a:pt x="0" y="150018"/>
                </a:lnTo>
                <a:lnTo>
                  <a:pt x="1684" y="141678"/>
                </a:lnTo>
                <a:lnTo>
                  <a:pt x="6278" y="134866"/>
                </a:lnTo>
                <a:lnTo>
                  <a:pt x="13091" y="130272"/>
                </a:lnTo>
                <a:lnTo>
                  <a:pt x="21431" y="128587"/>
                </a:lnTo>
                <a:lnTo>
                  <a:pt x="25003" y="128587"/>
                </a:lnTo>
                <a:lnTo>
                  <a:pt x="25003" y="114300"/>
                </a:lnTo>
                <a:lnTo>
                  <a:pt x="26969" y="104572"/>
                </a:lnTo>
                <a:lnTo>
                  <a:pt x="32331" y="96624"/>
                </a:lnTo>
                <a:lnTo>
                  <a:pt x="40279" y="91263"/>
                </a:lnTo>
                <a:lnTo>
                  <a:pt x="50006" y="89296"/>
                </a:lnTo>
                <a:lnTo>
                  <a:pt x="117871" y="89296"/>
                </a:lnTo>
                <a:lnTo>
                  <a:pt x="117871" y="71437"/>
                </a:lnTo>
                <a:lnTo>
                  <a:pt x="114300" y="71437"/>
                </a:lnTo>
                <a:lnTo>
                  <a:pt x="105959" y="69752"/>
                </a:lnTo>
                <a:lnTo>
                  <a:pt x="99147" y="65158"/>
                </a:lnTo>
                <a:lnTo>
                  <a:pt x="94553" y="58346"/>
                </a:lnTo>
                <a:lnTo>
                  <a:pt x="92868" y="50006"/>
                </a:lnTo>
                <a:lnTo>
                  <a:pt x="92868" y="21431"/>
                </a:lnTo>
                <a:lnTo>
                  <a:pt x="94553" y="13091"/>
                </a:lnTo>
                <a:lnTo>
                  <a:pt x="99147" y="6278"/>
                </a:lnTo>
                <a:lnTo>
                  <a:pt x="105959" y="1684"/>
                </a:lnTo>
                <a:lnTo>
                  <a:pt x="114300" y="0"/>
                </a:lnTo>
                <a:lnTo>
                  <a:pt x="142875" y="0"/>
                </a:lnTo>
                <a:lnTo>
                  <a:pt x="151215" y="1684"/>
                </a:lnTo>
                <a:lnTo>
                  <a:pt x="158027" y="6278"/>
                </a:lnTo>
                <a:lnTo>
                  <a:pt x="162621" y="13091"/>
                </a:lnTo>
                <a:lnTo>
                  <a:pt x="164306" y="21431"/>
                </a:lnTo>
                <a:lnTo>
                  <a:pt x="164306" y="50006"/>
                </a:lnTo>
                <a:lnTo>
                  <a:pt x="162621" y="58346"/>
                </a:lnTo>
                <a:lnTo>
                  <a:pt x="158027" y="65158"/>
                </a:lnTo>
                <a:lnTo>
                  <a:pt x="151215" y="69752"/>
                </a:lnTo>
                <a:lnTo>
                  <a:pt x="142875" y="71437"/>
                </a:lnTo>
                <a:lnTo>
                  <a:pt x="139303" y="71437"/>
                </a:lnTo>
                <a:lnTo>
                  <a:pt x="139303" y="89296"/>
                </a:lnTo>
                <a:lnTo>
                  <a:pt x="207168" y="89296"/>
                </a:lnTo>
                <a:lnTo>
                  <a:pt x="216895" y="91263"/>
                </a:lnTo>
                <a:lnTo>
                  <a:pt x="224843" y="96624"/>
                </a:lnTo>
                <a:lnTo>
                  <a:pt x="230205" y="104572"/>
                </a:lnTo>
                <a:lnTo>
                  <a:pt x="232171" y="114300"/>
                </a:lnTo>
                <a:lnTo>
                  <a:pt x="232171" y="128587"/>
                </a:lnTo>
                <a:lnTo>
                  <a:pt x="235743" y="128587"/>
                </a:lnTo>
                <a:lnTo>
                  <a:pt x="244083" y="130272"/>
                </a:lnTo>
                <a:lnTo>
                  <a:pt x="250896" y="134866"/>
                </a:lnTo>
                <a:lnTo>
                  <a:pt x="255490" y="141678"/>
                </a:lnTo>
                <a:lnTo>
                  <a:pt x="257175" y="150018"/>
                </a:lnTo>
                <a:lnTo>
                  <a:pt x="257175" y="178593"/>
                </a:lnTo>
                <a:lnTo>
                  <a:pt x="255490" y="186933"/>
                </a:lnTo>
                <a:lnTo>
                  <a:pt x="250896" y="193746"/>
                </a:lnTo>
                <a:lnTo>
                  <a:pt x="244083" y="198340"/>
                </a:lnTo>
                <a:lnTo>
                  <a:pt x="235743" y="200025"/>
                </a:lnTo>
                <a:close/>
              </a:path>
            </a:pathLst>
          </a:custGeom>
          <a:solidFill>
            <a:srgbClr val="A5B4F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378574" y="2816225"/>
            <a:ext cx="25971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主流框架全景与选型逻辑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714874" y="4143374"/>
            <a:ext cx="6667500" cy="9525"/>
          </a:xfrm>
          <a:custGeom>
            <a:avLst/>
            <a:gdLst/>
            <a:ahLst/>
            <a:cxnLst/>
            <a:rect l="l" t="t" r="r" b="b"/>
            <a:pathLst>
              <a:path w="6667500" h="9525">
                <a:moveTo>
                  <a:pt x="6667499" y="9524"/>
                </a:moveTo>
                <a:lnTo>
                  <a:pt x="0" y="9524"/>
                </a:lnTo>
                <a:lnTo>
                  <a:pt x="0" y="0"/>
                </a:lnTo>
                <a:lnTo>
                  <a:pt x="6667499" y="0"/>
                </a:lnTo>
                <a:lnTo>
                  <a:pt x="6667499" y="9524"/>
                </a:lnTo>
                <a:close/>
              </a:path>
            </a:pathLst>
          </a:custGeom>
          <a:solidFill>
            <a:srgbClr val="3B81F5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19774" y="3662362"/>
            <a:ext cx="228600" cy="200025"/>
          </a:xfrm>
          <a:prstGeom prst="rect">
            <a:avLst/>
          </a:prstGeom>
        </p:spPr>
      </p:pic>
      <p:sp>
        <p:nvSpPr>
          <p:cNvPr id="15" name="object 15"/>
          <p:cNvSpPr txBox="1"/>
          <p:nvPr/>
        </p:nvSpPr>
        <p:spPr>
          <a:xfrm>
            <a:off x="6378574" y="3606800"/>
            <a:ext cx="2128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微软雅黑"/>
                <a:cs typeface="微软雅黑"/>
              </a:rPr>
              <a:t>核心挑战与瓶颈剖析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714874" y="4933949"/>
            <a:ext cx="6667500" cy="9525"/>
          </a:xfrm>
          <a:custGeom>
            <a:avLst/>
            <a:gdLst/>
            <a:ahLst/>
            <a:cxnLst/>
            <a:rect l="l" t="t" r="r" b="b"/>
            <a:pathLst>
              <a:path w="6667500" h="9525">
                <a:moveTo>
                  <a:pt x="6667499" y="9524"/>
                </a:moveTo>
                <a:lnTo>
                  <a:pt x="0" y="9524"/>
                </a:lnTo>
                <a:lnTo>
                  <a:pt x="0" y="0"/>
                </a:lnTo>
                <a:lnTo>
                  <a:pt x="6667499" y="0"/>
                </a:lnTo>
                <a:lnTo>
                  <a:pt x="6667499" y="9524"/>
                </a:lnTo>
                <a:close/>
              </a:path>
            </a:pathLst>
          </a:custGeom>
          <a:solidFill>
            <a:srgbClr val="3B81F5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5790798" y="4443412"/>
            <a:ext cx="286385" cy="200660"/>
          </a:xfrm>
          <a:custGeom>
            <a:avLst/>
            <a:gdLst/>
            <a:ahLst/>
            <a:cxnLst/>
            <a:rect l="l" t="t" r="r" b="b"/>
            <a:pathLst>
              <a:path w="286385" h="200660">
                <a:moveTo>
                  <a:pt x="36254" y="200337"/>
                </a:moveTo>
                <a:lnTo>
                  <a:pt x="34379" y="199846"/>
                </a:lnTo>
                <a:lnTo>
                  <a:pt x="3482" y="192122"/>
                </a:lnTo>
                <a:lnTo>
                  <a:pt x="1607" y="190425"/>
                </a:lnTo>
                <a:lnTo>
                  <a:pt x="0" y="185871"/>
                </a:lnTo>
                <a:lnTo>
                  <a:pt x="401" y="183371"/>
                </a:lnTo>
                <a:lnTo>
                  <a:pt x="1830" y="181451"/>
                </a:lnTo>
                <a:lnTo>
                  <a:pt x="5670" y="176182"/>
                </a:lnTo>
                <a:lnTo>
                  <a:pt x="20999" y="138123"/>
                </a:lnTo>
                <a:lnTo>
                  <a:pt x="21833" y="128587"/>
                </a:lnTo>
                <a:lnTo>
                  <a:pt x="21833" y="116041"/>
                </a:lnTo>
                <a:lnTo>
                  <a:pt x="22596" y="105447"/>
                </a:lnTo>
                <a:lnTo>
                  <a:pt x="24824" y="95251"/>
                </a:lnTo>
                <a:lnTo>
                  <a:pt x="28425" y="85583"/>
                </a:lnTo>
                <a:lnTo>
                  <a:pt x="33307" y="76572"/>
                </a:lnTo>
                <a:lnTo>
                  <a:pt x="3214" y="65677"/>
                </a:lnTo>
                <a:lnTo>
                  <a:pt x="401" y="61659"/>
                </a:lnTo>
                <a:lnTo>
                  <a:pt x="401" y="52640"/>
                </a:lnTo>
                <a:lnTo>
                  <a:pt x="3214" y="48622"/>
                </a:lnTo>
                <a:lnTo>
                  <a:pt x="136088" y="625"/>
                </a:lnTo>
                <a:lnTo>
                  <a:pt x="139660" y="0"/>
                </a:lnTo>
                <a:lnTo>
                  <a:pt x="146893" y="0"/>
                </a:lnTo>
                <a:lnTo>
                  <a:pt x="150465" y="625"/>
                </a:lnTo>
                <a:lnTo>
                  <a:pt x="244975" y="34736"/>
                </a:lnTo>
                <a:lnTo>
                  <a:pt x="144303" y="34736"/>
                </a:lnTo>
                <a:lnTo>
                  <a:pt x="70544" y="63713"/>
                </a:lnTo>
                <a:lnTo>
                  <a:pt x="39385" y="96608"/>
                </a:lnTo>
                <a:lnTo>
                  <a:pt x="36120" y="116041"/>
                </a:lnTo>
                <a:lnTo>
                  <a:pt x="36120" y="127024"/>
                </a:lnTo>
                <a:lnTo>
                  <a:pt x="38799" y="132963"/>
                </a:lnTo>
                <a:lnTo>
                  <a:pt x="40719" y="139437"/>
                </a:lnTo>
                <a:lnTo>
                  <a:pt x="42148" y="145777"/>
                </a:lnTo>
                <a:lnTo>
                  <a:pt x="44040" y="155853"/>
                </a:lnTo>
                <a:lnTo>
                  <a:pt x="45128" y="167481"/>
                </a:lnTo>
                <a:lnTo>
                  <a:pt x="44960" y="180391"/>
                </a:lnTo>
                <a:lnTo>
                  <a:pt x="43085" y="194310"/>
                </a:lnTo>
                <a:lnTo>
                  <a:pt x="42728" y="196229"/>
                </a:lnTo>
                <a:lnTo>
                  <a:pt x="41567" y="197926"/>
                </a:lnTo>
                <a:lnTo>
                  <a:pt x="38263" y="199980"/>
                </a:lnTo>
                <a:lnTo>
                  <a:pt x="36254" y="200337"/>
                </a:lnTo>
                <a:close/>
              </a:path>
              <a:path w="286385" h="200660">
                <a:moveTo>
                  <a:pt x="146848" y="114166"/>
                </a:moveTo>
                <a:lnTo>
                  <a:pt x="139615" y="114166"/>
                </a:lnTo>
                <a:lnTo>
                  <a:pt x="136043" y="113540"/>
                </a:lnTo>
                <a:lnTo>
                  <a:pt x="61391" y="86617"/>
                </a:lnTo>
                <a:lnTo>
                  <a:pt x="65365" y="82510"/>
                </a:lnTo>
                <a:lnTo>
                  <a:pt x="70232" y="79161"/>
                </a:lnTo>
                <a:lnTo>
                  <a:pt x="149527" y="47997"/>
                </a:lnTo>
                <a:lnTo>
                  <a:pt x="151313" y="43844"/>
                </a:lnTo>
                <a:lnTo>
                  <a:pt x="148456" y="36522"/>
                </a:lnTo>
                <a:lnTo>
                  <a:pt x="144303" y="34736"/>
                </a:lnTo>
                <a:lnTo>
                  <a:pt x="244975" y="34736"/>
                </a:lnTo>
                <a:lnTo>
                  <a:pt x="283338" y="48622"/>
                </a:lnTo>
                <a:lnTo>
                  <a:pt x="286151" y="52640"/>
                </a:lnTo>
                <a:lnTo>
                  <a:pt x="286151" y="61659"/>
                </a:lnTo>
                <a:lnTo>
                  <a:pt x="283338" y="65722"/>
                </a:lnTo>
                <a:lnTo>
                  <a:pt x="150420" y="113540"/>
                </a:lnTo>
                <a:lnTo>
                  <a:pt x="146848" y="114166"/>
                </a:lnTo>
                <a:close/>
              </a:path>
              <a:path w="286385" h="200660">
                <a:moveTo>
                  <a:pt x="143276" y="200025"/>
                </a:moveTo>
                <a:lnTo>
                  <a:pt x="109916" y="197218"/>
                </a:lnTo>
                <a:lnTo>
                  <a:pt x="82666" y="189861"/>
                </a:lnTo>
                <a:lnTo>
                  <a:pt x="64290" y="179550"/>
                </a:lnTo>
                <a:lnTo>
                  <a:pt x="57551" y="167878"/>
                </a:lnTo>
                <a:lnTo>
                  <a:pt x="64383" y="102959"/>
                </a:lnTo>
                <a:lnTo>
                  <a:pt x="132784" y="127694"/>
                </a:lnTo>
                <a:lnTo>
                  <a:pt x="138052" y="128587"/>
                </a:lnTo>
                <a:lnTo>
                  <a:pt x="224867" y="128587"/>
                </a:lnTo>
                <a:lnTo>
                  <a:pt x="229001" y="167878"/>
                </a:lnTo>
                <a:lnTo>
                  <a:pt x="222262" y="179550"/>
                </a:lnTo>
                <a:lnTo>
                  <a:pt x="203887" y="189861"/>
                </a:lnTo>
                <a:lnTo>
                  <a:pt x="176637" y="197218"/>
                </a:lnTo>
                <a:lnTo>
                  <a:pt x="143276" y="200025"/>
                </a:lnTo>
                <a:close/>
              </a:path>
              <a:path w="286385" h="200660">
                <a:moveTo>
                  <a:pt x="224867" y="128587"/>
                </a:moveTo>
                <a:lnTo>
                  <a:pt x="148500" y="128587"/>
                </a:lnTo>
                <a:lnTo>
                  <a:pt x="153724" y="127694"/>
                </a:lnTo>
                <a:lnTo>
                  <a:pt x="222170" y="102959"/>
                </a:lnTo>
                <a:lnTo>
                  <a:pt x="224867" y="128587"/>
                </a:lnTo>
                <a:close/>
              </a:path>
            </a:pathLst>
          </a:custGeom>
          <a:solidFill>
            <a:srgbClr val="F9A7D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6378574" y="4387850"/>
            <a:ext cx="21285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FFFFF"/>
                </a:solidFill>
                <a:latin typeface="微软雅黑"/>
                <a:cs typeface="微软雅黑"/>
              </a:rPr>
              <a:t>学术前沿与技术演进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714874" y="5714999"/>
            <a:ext cx="6667500" cy="9525"/>
          </a:xfrm>
          <a:custGeom>
            <a:avLst/>
            <a:gdLst/>
            <a:ahLst/>
            <a:cxnLst/>
            <a:rect l="l" t="t" r="r" b="b"/>
            <a:pathLst>
              <a:path w="6667500" h="9525">
                <a:moveTo>
                  <a:pt x="6667499" y="9524"/>
                </a:moveTo>
                <a:lnTo>
                  <a:pt x="0" y="9524"/>
                </a:lnTo>
                <a:lnTo>
                  <a:pt x="0" y="0"/>
                </a:lnTo>
                <a:lnTo>
                  <a:pt x="6667499" y="0"/>
                </a:lnTo>
                <a:lnTo>
                  <a:pt x="6667499" y="9524"/>
                </a:lnTo>
                <a:close/>
              </a:path>
            </a:pathLst>
          </a:custGeom>
          <a:solidFill>
            <a:srgbClr val="3B81F5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4" cstate="print">
            <a:lum bright="70000" contrast="-70000"/>
          </a:blip>
          <a:stretch>
            <a:fillRect/>
          </a:stretch>
        </p:blipFill>
        <p:spPr>
          <a:xfrm>
            <a:off x="5819238" y="5219729"/>
            <a:ext cx="229100" cy="229106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6378574" y="5178425"/>
            <a:ext cx="23628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FFFFFF"/>
                </a:solidFill>
                <a:latin typeface="微软雅黑"/>
                <a:cs typeface="微软雅黑"/>
              </a:rPr>
              <a:t>未来机会点与落地路径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446916" y="6500145"/>
            <a:ext cx="186690" cy="20701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9CA2AF"/>
                </a:solidFill>
                <a:latin typeface="微软雅黑"/>
                <a:cs typeface="微软雅黑"/>
              </a:rPr>
              <a:t>02</a:t>
            </a:r>
            <a:endParaRPr sz="105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702174" y="1873250"/>
            <a:ext cx="524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60A5FA"/>
                </a:solidFill>
                <a:latin typeface="Arial"/>
                <a:cs typeface="Arial"/>
              </a:rPr>
              <a:t>01</a:t>
            </a:r>
            <a:endParaRPr sz="360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702174" y="2654300"/>
            <a:ext cx="524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818BF7"/>
                </a:solidFill>
                <a:latin typeface="Arial"/>
                <a:cs typeface="Arial"/>
              </a:rPr>
              <a:t>02</a:t>
            </a:r>
            <a:endParaRPr sz="36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702174" y="3444875"/>
            <a:ext cx="524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A68BFA"/>
                </a:solidFill>
                <a:latin typeface="Arial"/>
                <a:cs typeface="Arial"/>
              </a:rPr>
              <a:t>03</a:t>
            </a:r>
            <a:endParaRPr sz="3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702174" y="4225925"/>
            <a:ext cx="524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F472B5"/>
                </a:solidFill>
                <a:latin typeface="Arial"/>
                <a:cs typeface="Arial"/>
              </a:rPr>
              <a:t>04</a:t>
            </a:r>
            <a:endParaRPr sz="36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02174" y="5016500"/>
            <a:ext cx="52451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spc="-25" dirty="0">
                <a:solidFill>
                  <a:srgbClr val="FFFFFF"/>
                </a:solidFill>
                <a:latin typeface="Arial"/>
                <a:cs typeface="Arial"/>
              </a:rPr>
              <a:t>05</a:t>
            </a:r>
            <a:endParaRPr sz="36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28" name="object 2">
            <a:extLst>
              <a:ext uri="{FF2B5EF4-FFF2-40B4-BE49-F238E27FC236}">
                <a16:creationId xmlns:a16="http://schemas.microsoft.com/office/drawing/2014/main" id="{0669F459-FC51-4F2F-8202-79A21D02CFFC}"/>
              </a:ext>
            </a:extLst>
          </p:cNvPr>
          <p:cNvSpPr txBox="1">
            <a:spLocks/>
          </p:cNvSpPr>
          <p:nvPr/>
        </p:nvSpPr>
        <p:spPr>
          <a:xfrm>
            <a:off x="1002346" y="3173328"/>
            <a:ext cx="2492375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>
              <a:defRPr sz="3000" b="1" i="0">
                <a:solidFill>
                  <a:srgbClr val="E4E7EB"/>
                </a:solidFill>
                <a:latin typeface="微软雅黑"/>
                <a:ea typeface="+mj-ea"/>
                <a:cs typeface="微软雅黑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US" altLang="zh-CN" sz="3600" spc="-25" dirty="0">
                <a:solidFill>
                  <a:srgbClr val="7DB1F9"/>
                </a:solidFill>
              </a:rPr>
              <a:t>CONTENT</a:t>
            </a:r>
            <a:endParaRPr lang="zh-CN" altLang="en-US" sz="3600" spc="-25" dirty="0">
              <a:solidFill>
                <a:srgbClr val="7DB1F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925" y="215900"/>
            <a:ext cx="1549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5" dirty="0">
                <a:solidFill>
                  <a:srgbClr val="E4E7EB"/>
                </a:solidFill>
                <a:latin typeface="微软雅黑"/>
                <a:cs typeface="微软雅黑"/>
              </a:rPr>
              <a:t>第一部分</a:t>
            </a:r>
            <a:endParaRPr sz="3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8624" y="8000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91024" y="3000374"/>
            <a:ext cx="76200" cy="1524000"/>
          </a:xfrm>
          <a:custGeom>
            <a:avLst/>
            <a:gdLst/>
            <a:ahLst/>
            <a:cxnLst/>
            <a:rect l="l" t="t" r="r" b="b"/>
            <a:pathLst>
              <a:path w="76200" h="1524000">
                <a:moveTo>
                  <a:pt x="76199" y="1523999"/>
                </a:moveTo>
                <a:lnTo>
                  <a:pt x="0" y="1523999"/>
                </a:lnTo>
                <a:lnTo>
                  <a:pt x="0" y="0"/>
                </a:lnTo>
                <a:lnTo>
                  <a:pt x="76199" y="0"/>
                </a:lnTo>
                <a:lnTo>
                  <a:pt x="76199" y="1523999"/>
                </a:lnTo>
                <a:close/>
              </a:path>
            </a:pathLst>
          </a:custGeom>
          <a:solidFill>
            <a:srgbClr val="4A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909938" y="2863468"/>
            <a:ext cx="5742305" cy="1502410"/>
          </a:xfrm>
          <a:prstGeom prst="rect">
            <a:avLst/>
          </a:prstGeom>
        </p:spPr>
        <p:txBody>
          <a:bodyPr vert="horz" wrap="square" lIns="0" tIns="231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5400" b="1" spc="100" dirty="0">
                <a:solidFill>
                  <a:srgbClr val="FFFFFF"/>
                </a:solidFill>
                <a:latin typeface="微软雅黑"/>
                <a:cs typeface="微软雅黑"/>
              </a:rPr>
              <a:t>建立认知锚点</a:t>
            </a:r>
            <a:endParaRPr sz="5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2329815" algn="l"/>
                <a:tab pos="4184650" algn="l"/>
              </a:tabLst>
            </a:pPr>
            <a:r>
              <a:rPr sz="2250" b="0" spc="165" dirty="0">
                <a:solidFill>
                  <a:srgbClr val="BEDAFE"/>
                </a:solidFill>
                <a:latin typeface="微软雅黑 Light"/>
                <a:cs typeface="微软雅黑 Light"/>
              </a:rPr>
              <a:t>ESTABLISHING</a:t>
            </a:r>
            <a:r>
              <a:rPr sz="2250" b="0" dirty="0">
                <a:solidFill>
                  <a:srgbClr val="BEDAFE"/>
                </a:solidFill>
                <a:latin typeface="微软雅黑 Light"/>
                <a:cs typeface="微软雅黑 Light"/>
              </a:rPr>
              <a:t>	</a:t>
            </a:r>
            <a:r>
              <a:rPr sz="2250" b="0" spc="175" dirty="0">
                <a:solidFill>
                  <a:srgbClr val="BEDAFE"/>
                </a:solidFill>
                <a:latin typeface="微软雅黑 Light"/>
                <a:cs typeface="微软雅黑 Light"/>
              </a:rPr>
              <a:t>COGNITIVE</a:t>
            </a:r>
            <a:r>
              <a:rPr sz="2250" b="0" dirty="0">
                <a:solidFill>
                  <a:srgbClr val="BEDAFE"/>
                </a:solidFill>
                <a:latin typeface="微软雅黑 Light"/>
                <a:cs typeface="微软雅黑 Light"/>
              </a:rPr>
              <a:t>	</a:t>
            </a:r>
            <a:r>
              <a:rPr sz="2250" b="0" spc="170" dirty="0">
                <a:solidFill>
                  <a:srgbClr val="BEDAFE"/>
                </a:solidFill>
                <a:latin typeface="微软雅黑 Light"/>
                <a:cs typeface="微软雅黑 Light"/>
              </a:rPr>
              <a:t>ANCHORS</a:t>
            </a:r>
            <a:endParaRPr sz="2250">
              <a:latin typeface="微软雅黑 Light"/>
              <a:cs typeface="微软雅黑 Ligh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50" spc="-50" dirty="0"/>
              <a:t>3</a:t>
            </a:fld>
            <a:endParaRPr sz="1050"/>
          </a:p>
        </p:txBody>
      </p:sp>
      <p:sp>
        <p:nvSpPr>
          <p:cNvPr id="6" name="object 6"/>
          <p:cNvSpPr txBox="1"/>
          <p:nvPr/>
        </p:nvSpPr>
        <p:spPr>
          <a:xfrm>
            <a:off x="1511299" y="2644774"/>
            <a:ext cx="228155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400" b="1" spc="-25" dirty="0">
                <a:solidFill>
                  <a:srgbClr val="3B81F5"/>
                </a:solidFill>
                <a:latin typeface="微软雅黑"/>
                <a:cs typeface="微软雅黑"/>
              </a:rPr>
              <a:t>01</a:t>
            </a:r>
            <a:endParaRPr sz="14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925" y="215900"/>
            <a:ext cx="36245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</a:t>
            </a:r>
            <a:r>
              <a:rPr spc="-45" dirty="0"/>
              <a:t> </a:t>
            </a:r>
            <a:r>
              <a:rPr dirty="0"/>
              <a:t>Agent</a:t>
            </a:r>
            <a:r>
              <a:rPr spc="-10" dirty="0"/>
              <a:t>能做什么？</a:t>
            </a:r>
          </a:p>
        </p:txBody>
      </p:sp>
      <p:sp>
        <p:nvSpPr>
          <p:cNvPr id="3" name="object 3"/>
          <p:cNvSpPr/>
          <p:nvPr/>
        </p:nvSpPr>
        <p:spPr>
          <a:xfrm>
            <a:off x="428624" y="800099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2162174" y="38099"/>
                </a:moveTo>
                <a:lnTo>
                  <a:pt x="0" y="38099"/>
                </a:lnTo>
                <a:lnTo>
                  <a:pt x="0" y="0"/>
                </a:lnTo>
                <a:lnTo>
                  <a:pt x="2162174" y="0"/>
                </a:lnTo>
                <a:lnTo>
                  <a:pt x="2162174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624" y="1142999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46318" y="276224"/>
                </a:moveTo>
                <a:lnTo>
                  <a:pt x="29906" y="276224"/>
                </a:lnTo>
                <a:lnTo>
                  <a:pt x="25508" y="275350"/>
                </a:lnTo>
                <a:lnTo>
                  <a:pt x="0" y="246318"/>
                </a:lnTo>
                <a:lnTo>
                  <a:pt x="0" y="241746"/>
                </a:lnTo>
                <a:lnTo>
                  <a:pt x="0" y="29906"/>
                </a:lnTo>
                <a:lnTo>
                  <a:pt x="25508" y="874"/>
                </a:lnTo>
                <a:lnTo>
                  <a:pt x="29906" y="0"/>
                </a:lnTo>
                <a:lnTo>
                  <a:pt x="246318" y="0"/>
                </a:lnTo>
                <a:lnTo>
                  <a:pt x="275350" y="25508"/>
                </a:lnTo>
                <a:lnTo>
                  <a:pt x="276224" y="29906"/>
                </a:lnTo>
                <a:lnTo>
                  <a:pt x="276224" y="246318"/>
                </a:lnTo>
                <a:lnTo>
                  <a:pt x="250716" y="275350"/>
                </a:lnTo>
                <a:lnTo>
                  <a:pt x="246318" y="276224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9325" y="1190688"/>
            <a:ext cx="174625" cy="1701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50" b="1" spc="-25" dirty="0">
                <a:solidFill>
                  <a:srgbClr val="93C4FD"/>
                </a:solidFill>
                <a:latin typeface="微软雅黑"/>
                <a:cs typeface="微软雅黑"/>
              </a:rPr>
              <a:t>01</a:t>
            </a:r>
            <a:endParaRPr sz="950" dirty="0">
              <a:latin typeface="微软雅黑"/>
              <a:cs typeface="微软雅黑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28624" y="1733549"/>
            <a:ext cx="5562600" cy="1876425"/>
            <a:chOff x="428624" y="1733549"/>
            <a:chExt cx="5562600" cy="1876425"/>
          </a:xfrm>
        </p:grpSpPr>
        <p:sp>
          <p:nvSpPr>
            <p:cNvPr id="7" name="object 7"/>
            <p:cNvSpPr/>
            <p:nvPr/>
          </p:nvSpPr>
          <p:spPr>
            <a:xfrm>
              <a:off x="433387" y="1738312"/>
              <a:ext cx="5553075" cy="1866900"/>
            </a:xfrm>
            <a:custGeom>
              <a:avLst/>
              <a:gdLst/>
              <a:ahLst/>
              <a:cxnLst/>
              <a:rect l="l" t="t" r="r" b="b"/>
              <a:pathLst>
                <a:path w="5553075" h="1866900">
                  <a:moveTo>
                    <a:pt x="5493095" y="1866899"/>
                  </a:moveTo>
                  <a:lnTo>
                    <a:pt x="59979" y="1866899"/>
                  </a:lnTo>
                  <a:lnTo>
                    <a:pt x="55804" y="1866488"/>
                  </a:lnTo>
                  <a:lnTo>
                    <a:pt x="15821" y="1845117"/>
                  </a:lnTo>
                  <a:lnTo>
                    <a:pt x="0" y="1806920"/>
                  </a:lnTo>
                  <a:lnTo>
                    <a:pt x="0" y="1802705"/>
                  </a:lnTo>
                  <a:lnTo>
                    <a:pt x="0" y="59979"/>
                  </a:lnTo>
                  <a:lnTo>
                    <a:pt x="15821" y="21782"/>
                  </a:lnTo>
                  <a:lnTo>
                    <a:pt x="55804" y="411"/>
                  </a:lnTo>
                  <a:lnTo>
                    <a:pt x="59979" y="0"/>
                  </a:lnTo>
                  <a:lnTo>
                    <a:pt x="5493095" y="0"/>
                  </a:lnTo>
                  <a:lnTo>
                    <a:pt x="5531291" y="15821"/>
                  </a:lnTo>
                  <a:lnTo>
                    <a:pt x="5552663" y="55804"/>
                  </a:lnTo>
                  <a:lnTo>
                    <a:pt x="5553074" y="59979"/>
                  </a:lnTo>
                  <a:lnTo>
                    <a:pt x="5553074" y="1806920"/>
                  </a:lnTo>
                  <a:lnTo>
                    <a:pt x="5537252" y="1845117"/>
                  </a:lnTo>
                  <a:lnTo>
                    <a:pt x="5497269" y="1866488"/>
                  </a:lnTo>
                  <a:lnTo>
                    <a:pt x="5493095" y="1866899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3387" y="1738312"/>
              <a:ext cx="5553075" cy="1866900"/>
            </a:xfrm>
            <a:custGeom>
              <a:avLst/>
              <a:gdLst/>
              <a:ahLst/>
              <a:cxnLst/>
              <a:rect l="l" t="t" r="r" b="b"/>
              <a:pathLst>
                <a:path w="5553075" h="1866900">
                  <a:moveTo>
                    <a:pt x="0" y="1802705"/>
                  </a:moveTo>
                  <a:lnTo>
                    <a:pt x="0" y="64194"/>
                  </a:lnTo>
                  <a:lnTo>
                    <a:pt x="0" y="59979"/>
                  </a:lnTo>
                  <a:lnTo>
                    <a:pt x="411" y="55804"/>
                  </a:lnTo>
                  <a:lnTo>
                    <a:pt x="1233" y="51670"/>
                  </a:lnTo>
                  <a:lnTo>
                    <a:pt x="2055" y="47536"/>
                  </a:lnTo>
                  <a:lnTo>
                    <a:pt x="3273" y="43522"/>
                  </a:lnTo>
                  <a:lnTo>
                    <a:pt x="4886" y="39627"/>
                  </a:lnTo>
                  <a:lnTo>
                    <a:pt x="6499" y="35733"/>
                  </a:lnTo>
                  <a:lnTo>
                    <a:pt x="8476" y="32034"/>
                  </a:lnTo>
                  <a:lnTo>
                    <a:pt x="10818" y="28529"/>
                  </a:lnTo>
                  <a:lnTo>
                    <a:pt x="13160" y="25024"/>
                  </a:lnTo>
                  <a:lnTo>
                    <a:pt x="28529" y="10818"/>
                  </a:lnTo>
                  <a:lnTo>
                    <a:pt x="32034" y="8476"/>
                  </a:lnTo>
                  <a:lnTo>
                    <a:pt x="59979" y="0"/>
                  </a:lnTo>
                  <a:lnTo>
                    <a:pt x="64194" y="0"/>
                  </a:lnTo>
                  <a:lnTo>
                    <a:pt x="5488880" y="0"/>
                  </a:lnTo>
                  <a:lnTo>
                    <a:pt x="5493095" y="0"/>
                  </a:lnTo>
                  <a:lnTo>
                    <a:pt x="5497269" y="411"/>
                  </a:lnTo>
                  <a:lnTo>
                    <a:pt x="5501403" y="1233"/>
                  </a:lnTo>
                  <a:lnTo>
                    <a:pt x="5505537" y="2055"/>
                  </a:lnTo>
                  <a:lnTo>
                    <a:pt x="5509551" y="3273"/>
                  </a:lnTo>
                  <a:lnTo>
                    <a:pt x="5513445" y="4886"/>
                  </a:lnTo>
                  <a:lnTo>
                    <a:pt x="5517340" y="6499"/>
                  </a:lnTo>
                  <a:lnTo>
                    <a:pt x="5542255" y="28529"/>
                  </a:lnTo>
                  <a:lnTo>
                    <a:pt x="5544597" y="32034"/>
                  </a:lnTo>
                  <a:lnTo>
                    <a:pt x="5551840" y="51670"/>
                  </a:lnTo>
                  <a:lnTo>
                    <a:pt x="5552663" y="55804"/>
                  </a:lnTo>
                  <a:lnTo>
                    <a:pt x="5553074" y="59979"/>
                  </a:lnTo>
                  <a:lnTo>
                    <a:pt x="5553074" y="64194"/>
                  </a:lnTo>
                  <a:lnTo>
                    <a:pt x="5553074" y="1802705"/>
                  </a:lnTo>
                  <a:lnTo>
                    <a:pt x="5553074" y="1806920"/>
                  </a:lnTo>
                  <a:lnTo>
                    <a:pt x="5552663" y="1811095"/>
                  </a:lnTo>
                  <a:lnTo>
                    <a:pt x="5551840" y="1815229"/>
                  </a:lnTo>
                  <a:lnTo>
                    <a:pt x="5551018" y="1819362"/>
                  </a:lnTo>
                  <a:lnTo>
                    <a:pt x="5534272" y="1848097"/>
                  </a:lnTo>
                  <a:lnTo>
                    <a:pt x="5531291" y="1851077"/>
                  </a:lnTo>
                  <a:lnTo>
                    <a:pt x="5501403" y="1865665"/>
                  </a:lnTo>
                  <a:lnTo>
                    <a:pt x="5497269" y="1866488"/>
                  </a:lnTo>
                  <a:lnTo>
                    <a:pt x="5493095" y="1866899"/>
                  </a:lnTo>
                  <a:lnTo>
                    <a:pt x="5488880" y="1866899"/>
                  </a:lnTo>
                  <a:lnTo>
                    <a:pt x="64194" y="1866899"/>
                  </a:lnTo>
                  <a:lnTo>
                    <a:pt x="59979" y="1866899"/>
                  </a:lnTo>
                  <a:lnTo>
                    <a:pt x="55804" y="1866488"/>
                  </a:lnTo>
                  <a:lnTo>
                    <a:pt x="51670" y="1865665"/>
                  </a:lnTo>
                  <a:lnTo>
                    <a:pt x="47536" y="1864843"/>
                  </a:lnTo>
                  <a:lnTo>
                    <a:pt x="18802" y="1848097"/>
                  </a:lnTo>
                  <a:lnTo>
                    <a:pt x="15821" y="1845117"/>
                  </a:lnTo>
                  <a:lnTo>
                    <a:pt x="13160" y="1841874"/>
                  </a:lnTo>
                  <a:lnTo>
                    <a:pt x="10818" y="1838369"/>
                  </a:lnTo>
                  <a:lnTo>
                    <a:pt x="8476" y="1834864"/>
                  </a:lnTo>
                  <a:lnTo>
                    <a:pt x="1233" y="1815229"/>
                  </a:lnTo>
                  <a:lnTo>
                    <a:pt x="411" y="1811095"/>
                  </a:lnTo>
                  <a:lnTo>
                    <a:pt x="0" y="1806920"/>
                  </a:lnTo>
                  <a:lnTo>
                    <a:pt x="0" y="1802705"/>
                  </a:lnTo>
                  <a:close/>
                </a:path>
              </a:pathLst>
            </a:custGeom>
            <a:ln w="9524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8249" y="1838324"/>
              <a:ext cx="3943349" cy="1657349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6200773" y="1733549"/>
            <a:ext cx="5562600" cy="1876425"/>
            <a:chOff x="6200773" y="1733549"/>
            <a:chExt cx="5562600" cy="1876425"/>
          </a:xfrm>
        </p:grpSpPr>
        <p:sp>
          <p:nvSpPr>
            <p:cNvPr id="12" name="object 12"/>
            <p:cNvSpPr/>
            <p:nvPr/>
          </p:nvSpPr>
          <p:spPr>
            <a:xfrm>
              <a:off x="6205536" y="1738312"/>
              <a:ext cx="5553075" cy="1866900"/>
            </a:xfrm>
            <a:custGeom>
              <a:avLst/>
              <a:gdLst/>
              <a:ahLst/>
              <a:cxnLst/>
              <a:rect l="l" t="t" r="r" b="b"/>
              <a:pathLst>
                <a:path w="5553075" h="1866900">
                  <a:moveTo>
                    <a:pt x="5493096" y="1866899"/>
                  </a:moveTo>
                  <a:lnTo>
                    <a:pt x="59979" y="1866899"/>
                  </a:lnTo>
                  <a:lnTo>
                    <a:pt x="55804" y="1866488"/>
                  </a:lnTo>
                  <a:lnTo>
                    <a:pt x="15821" y="1845117"/>
                  </a:lnTo>
                  <a:lnTo>
                    <a:pt x="0" y="1806920"/>
                  </a:lnTo>
                  <a:lnTo>
                    <a:pt x="0" y="1802705"/>
                  </a:lnTo>
                  <a:lnTo>
                    <a:pt x="0" y="59979"/>
                  </a:lnTo>
                  <a:lnTo>
                    <a:pt x="15821" y="21782"/>
                  </a:lnTo>
                  <a:lnTo>
                    <a:pt x="55804" y="411"/>
                  </a:lnTo>
                  <a:lnTo>
                    <a:pt x="59979" y="0"/>
                  </a:lnTo>
                  <a:lnTo>
                    <a:pt x="5493096" y="0"/>
                  </a:lnTo>
                  <a:lnTo>
                    <a:pt x="5531291" y="15821"/>
                  </a:lnTo>
                  <a:lnTo>
                    <a:pt x="5552662" y="55804"/>
                  </a:lnTo>
                  <a:lnTo>
                    <a:pt x="5553073" y="59979"/>
                  </a:lnTo>
                  <a:lnTo>
                    <a:pt x="5553073" y="1806920"/>
                  </a:lnTo>
                  <a:lnTo>
                    <a:pt x="5537252" y="1845117"/>
                  </a:lnTo>
                  <a:lnTo>
                    <a:pt x="5497270" y="1866488"/>
                  </a:lnTo>
                  <a:lnTo>
                    <a:pt x="5493096" y="1866899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205536" y="1738312"/>
              <a:ext cx="5553075" cy="1866900"/>
            </a:xfrm>
            <a:custGeom>
              <a:avLst/>
              <a:gdLst/>
              <a:ahLst/>
              <a:cxnLst/>
              <a:rect l="l" t="t" r="r" b="b"/>
              <a:pathLst>
                <a:path w="5553075" h="1866900">
                  <a:moveTo>
                    <a:pt x="0" y="1802705"/>
                  </a:moveTo>
                  <a:lnTo>
                    <a:pt x="0" y="64194"/>
                  </a:lnTo>
                  <a:lnTo>
                    <a:pt x="0" y="59979"/>
                  </a:lnTo>
                  <a:lnTo>
                    <a:pt x="411" y="55804"/>
                  </a:lnTo>
                  <a:lnTo>
                    <a:pt x="1233" y="51670"/>
                  </a:lnTo>
                  <a:lnTo>
                    <a:pt x="2055" y="47536"/>
                  </a:lnTo>
                  <a:lnTo>
                    <a:pt x="3273" y="43522"/>
                  </a:lnTo>
                  <a:lnTo>
                    <a:pt x="4886" y="39627"/>
                  </a:lnTo>
                  <a:lnTo>
                    <a:pt x="6499" y="35733"/>
                  </a:lnTo>
                  <a:lnTo>
                    <a:pt x="8476" y="32034"/>
                  </a:lnTo>
                  <a:lnTo>
                    <a:pt x="10817" y="28529"/>
                  </a:lnTo>
                  <a:lnTo>
                    <a:pt x="13159" y="25024"/>
                  </a:lnTo>
                  <a:lnTo>
                    <a:pt x="15821" y="21782"/>
                  </a:lnTo>
                  <a:lnTo>
                    <a:pt x="18801" y="18801"/>
                  </a:lnTo>
                  <a:lnTo>
                    <a:pt x="21782" y="15821"/>
                  </a:lnTo>
                  <a:lnTo>
                    <a:pt x="25024" y="13160"/>
                  </a:lnTo>
                  <a:lnTo>
                    <a:pt x="28529" y="10818"/>
                  </a:lnTo>
                  <a:lnTo>
                    <a:pt x="32034" y="8476"/>
                  </a:lnTo>
                  <a:lnTo>
                    <a:pt x="35733" y="6499"/>
                  </a:lnTo>
                  <a:lnTo>
                    <a:pt x="39627" y="4886"/>
                  </a:lnTo>
                  <a:lnTo>
                    <a:pt x="43521" y="3273"/>
                  </a:lnTo>
                  <a:lnTo>
                    <a:pt x="47536" y="2055"/>
                  </a:lnTo>
                  <a:lnTo>
                    <a:pt x="51670" y="1233"/>
                  </a:lnTo>
                  <a:lnTo>
                    <a:pt x="55804" y="411"/>
                  </a:lnTo>
                  <a:lnTo>
                    <a:pt x="59979" y="0"/>
                  </a:lnTo>
                  <a:lnTo>
                    <a:pt x="64194" y="0"/>
                  </a:lnTo>
                  <a:lnTo>
                    <a:pt x="5488881" y="0"/>
                  </a:lnTo>
                  <a:lnTo>
                    <a:pt x="5493096" y="0"/>
                  </a:lnTo>
                  <a:lnTo>
                    <a:pt x="5497270" y="411"/>
                  </a:lnTo>
                  <a:lnTo>
                    <a:pt x="5534271" y="18801"/>
                  </a:lnTo>
                  <a:lnTo>
                    <a:pt x="5542254" y="28529"/>
                  </a:lnTo>
                  <a:lnTo>
                    <a:pt x="5544596" y="32034"/>
                  </a:lnTo>
                  <a:lnTo>
                    <a:pt x="5546573" y="35733"/>
                  </a:lnTo>
                  <a:lnTo>
                    <a:pt x="5548185" y="39627"/>
                  </a:lnTo>
                  <a:lnTo>
                    <a:pt x="5549799" y="43522"/>
                  </a:lnTo>
                  <a:lnTo>
                    <a:pt x="5551018" y="47536"/>
                  </a:lnTo>
                  <a:lnTo>
                    <a:pt x="5551840" y="51670"/>
                  </a:lnTo>
                  <a:lnTo>
                    <a:pt x="5552662" y="55804"/>
                  </a:lnTo>
                  <a:lnTo>
                    <a:pt x="5553073" y="59979"/>
                  </a:lnTo>
                  <a:lnTo>
                    <a:pt x="5553075" y="64194"/>
                  </a:lnTo>
                  <a:lnTo>
                    <a:pt x="5553075" y="1802705"/>
                  </a:lnTo>
                  <a:lnTo>
                    <a:pt x="5553073" y="1806920"/>
                  </a:lnTo>
                  <a:lnTo>
                    <a:pt x="5552662" y="1811095"/>
                  </a:lnTo>
                  <a:lnTo>
                    <a:pt x="5551840" y="1815229"/>
                  </a:lnTo>
                  <a:lnTo>
                    <a:pt x="5551018" y="1819362"/>
                  </a:lnTo>
                  <a:lnTo>
                    <a:pt x="5542254" y="1838369"/>
                  </a:lnTo>
                  <a:lnTo>
                    <a:pt x="5539913" y="1841874"/>
                  </a:lnTo>
                  <a:lnTo>
                    <a:pt x="5505537" y="1864843"/>
                  </a:lnTo>
                  <a:lnTo>
                    <a:pt x="5501403" y="1865665"/>
                  </a:lnTo>
                  <a:lnTo>
                    <a:pt x="5497270" y="1866488"/>
                  </a:lnTo>
                  <a:lnTo>
                    <a:pt x="5493096" y="1866899"/>
                  </a:lnTo>
                  <a:lnTo>
                    <a:pt x="5488881" y="1866899"/>
                  </a:lnTo>
                  <a:lnTo>
                    <a:pt x="64194" y="1866899"/>
                  </a:lnTo>
                  <a:lnTo>
                    <a:pt x="39627" y="1862012"/>
                  </a:lnTo>
                  <a:lnTo>
                    <a:pt x="35733" y="1860399"/>
                  </a:lnTo>
                  <a:lnTo>
                    <a:pt x="32034" y="1858422"/>
                  </a:lnTo>
                  <a:lnTo>
                    <a:pt x="28529" y="1856080"/>
                  </a:lnTo>
                  <a:lnTo>
                    <a:pt x="25024" y="1853738"/>
                  </a:lnTo>
                  <a:lnTo>
                    <a:pt x="21782" y="1851077"/>
                  </a:lnTo>
                  <a:lnTo>
                    <a:pt x="18801" y="1848097"/>
                  </a:lnTo>
                  <a:lnTo>
                    <a:pt x="15821" y="1845117"/>
                  </a:lnTo>
                  <a:lnTo>
                    <a:pt x="13159" y="1841874"/>
                  </a:lnTo>
                  <a:lnTo>
                    <a:pt x="10817" y="1838369"/>
                  </a:lnTo>
                  <a:lnTo>
                    <a:pt x="8476" y="1834864"/>
                  </a:lnTo>
                  <a:lnTo>
                    <a:pt x="6499" y="1831165"/>
                  </a:lnTo>
                  <a:lnTo>
                    <a:pt x="4886" y="1827271"/>
                  </a:lnTo>
                  <a:lnTo>
                    <a:pt x="3273" y="1823376"/>
                  </a:lnTo>
                  <a:lnTo>
                    <a:pt x="2055" y="1819362"/>
                  </a:lnTo>
                  <a:lnTo>
                    <a:pt x="1233" y="1815229"/>
                  </a:lnTo>
                  <a:lnTo>
                    <a:pt x="411" y="1811095"/>
                  </a:lnTo>
                  <a:lnTo>
                    <a:pt x="0" y="1806920"/>
                  </a:lnTo>
                  <a:lnTo>
                    <a:pt x="0" y="1802705"/>
                  </a:lnTo>
                  <a:close/>
                </a:path>
              </a:pathLst>
            </a:custGeom>
            <a:ln w="9524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515224" y="1838324"/>
              <a:ext cx="2933699" cy="1657349"/>
            </a:xfrm>
            <a:prstGeom prst="rect">
              <a:avLst/>
            </a:prstGeom>
          </p:spPr>
        </p:pic>
      </p:grpSp>
      <p:sp>
        <p:nvSpPr>
          <p:cNvPr id="15" name="object 15"/>
          <p:cNvSpPr/>
          <p:nvPr/>
        </p:nvSpPr>
        <p:spPr>
          <a:xfrm>
            <a:off x="428624" y="3819524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46318" y="276224"/>
                </a:moveTo>
                <a:lnTo>
                  <a:pt x="29906" y="276224"/>
                </a:lnTo>
                <a:lnTo>
                  <a:pt x="25508" y="275349"/>
                </a:lnTo>
                <a:lnTo>
                  <a:pt x="0" y="246318"/>
                </a:lnTo>
                <a:lnTo>
                  <a:pt x="0" y="241746"/>
                </a:lnTo>
                <a:lnTo>
                  <a:pt x="0" y="29906"/>
                </a:lnTo>
                <a:lnTo>
                  <a:pt x="25508" y="874"/>
                </a:lnTo>
                <a:lnTo>
                  <a:pt x="29906" y="0"/>
                </a:lnTo>
                <a:lnTo>
                  <a:pt x="246318" y="0"/>
                </a:lnTo>
                <a:lnTo>
                  <a:pt x="275350" y="25507"/>
                </a:lnTo>
                <a:lnTo>
                  <a:pt x="276224" y="29906"/>
                </a:lnTo>
                <a:lnTo>
                  <a:pt x="276224" y="246318"/>
                </a:lnTo>
                <a:lnTo>
                  <a:pt x="250716" y="275349"/>
                </a:lnTo>
                <a:lnTo>
                  <a:pt x="246318" y="276224"/>
                </a:lnTo>
                <a:close/>
              </a:path>
            </a:pathLst>
          </a:custGeom>
          <a:solidFill>
            <a:srgbClr val="7C3AE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6" name="object 16"/>
          <p:cNvGrpSpPr/>
          <p:nvPr/>
        </p:nvGrpSpPr>
        <p:grpSpPr>
          <a:xfrm>
            <a:off x="428624" y="4400549"/>
            <a:ext cx="5562600" cy="1885950"/>
            <a:chOff x="428624" y="4400549"/>
            <a:chExt cx="5562600" cy="1885950"/>
          </a:xfrm>
        </p:grpSpPr>
        <p:sp>
          <p:nvSpPr>
            <p:cNvPr id="17" name="object 17"/>
            <p:cNvSpPr/>
            <p:nvPr/>
          </p:nvSpPr>
          <p:spPr>
            <a:xfrm>
              <a:off x="433387" y="4405312"/>
              <a:ext cx="5553075" cy="1876425"/>
            </a:xfrm>
            <a:custGeom>
              <a:avLst/>
              <a:gdLst/>
              <a:ahLst/>
              <a:cxnLst/>
              <a:rect l="l" t="t" r="r" b="b"/>
              <a:pathLst>
                <a:path w="5553075" h="1876425">
                  <a:moveTo>
                    <a:pt x="5493095" y="1876424"/>
                  </a:moveTo>
                  <a:lnTo>
                    <a:pt x="59979" y="1876424"/>
                  </a:lnTo>
                  <a:lnTo>
                    <a:pt x="55804" y="1876013"/>
                  </a:lnTo>
                  <a:lnTo>
                    <a:pt x="15821" y="1854641"/>
                  </a:lnTo>
                  <a:lnTo>
                    <a:pt x="0" y="1816445"/>
                  </a:lnTo>
                  <a:lnTo>
                    <a:pt x="0" y="1812230"/>
                  </a:lnTo>
                  <a:lnTo>
                    <a:pt x="0" y="59978"/>
                  </a:lnTo>
                  <a:lnTo>
                    <a:pt x="15821" y="21782"/>
                  </a:lnTo>
                  <a:lnTo>
                    <a:pt x="55804" y="411"/>
                  </a:lnTo>
                  <a:lnTo>
                    <a:pt x="59979" y="0"/>
                  </a:lnTo>
                  <a:lnTo>
                    <a:pt x="5493095" y="0"/>
                  </a:lnTo>
                  <a:lnTo>
                    <a:pt x="5531291" y="15821"/>
                  </a:lnTo>
                  <a:lnTo>
                    <a:pt x="5552663" y="55804"/>
                  </a:lnTo>
                  <a:lnTo>
                    <a:pt x="5553074" y="59978"/>
                  </a:lnTo>
                  <a:lnTo>
                    <a:pt x="5553074" y="1816445"/>
                  </a:lnTo>
                  <a:lnTo>
                    <a:pt x="5537252" y="1854641"/>
                  </a:lnTo>
                  <a:lnTo>
                    <a:pt x="5497269" y="1876013"/>
                  </a:lnTo>
                  <a:lnTo>
                    <a:pt x="5493095" y="187642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33387" y="4405312"/>
              <a:ext cx="5553075" cy="1876425"/>
            </a:xfrm>
            <a:custGeom>
              <a:avLst/>
              <a:gdLst/>
              <a:ahLst/>
              <a:cxnLst/>
              <a:rect l="l" t="t" r="r" b="b"/>
              <a:pathLst>
                <a:path w="5553075" h="1876425">
                  <a:moveTo>
                    <a:pt x="0" y="1812230"/>
                  </a:moveTo>
                  <a:lnTo>
                    <a:pt x="0" y="64194"/>
                  </a:lnTo>
                  <a:lnTo>
                    <a:pt x="0" y="59978"/>
                  </a:lnTo>
                  <a:lnTo>
                    <a:pt x="411" y="55804"/>
                  </a:lnTo>
                  <a:lnTo>
                    <a:pt x="1233" y="51670"/>
                  </a:lnTo>
                  <a:lnTo>
                    <a:pt x="2055" y="47535"/>
                  </a:lnTo>
                  <a:lnTo>
                    <a:pt x="3273" y="43521"/>
                  </a:lnTo>
                  <a:lnTo>
                    <a:pt x="4886" y="39627"/>
                  </a:lnTo>
                  <a:lnTo>
                    <a:pt x="6499" y="35733"/>
                  </a:lnTo>
                  <a:lnTo>
                    <a:pt x="8476" y="32033"/>
                  </a:lnTo>
                  <a:lnTo>
                    <a:pt x="10818" y="28529"/>
                  </a:lnTo>
                  <a:lnTo>
                    <a:pt x="13160" y="25024"/>
                  </a:lnTo>
                  <a:lnTo>
                    <a:pt x="15821" y="21782"/>
                  </a:lnTo>
                  <a:lnTo>
                    <a:pt x="18802" y="18801"/>
                  </a:lnTo>
                  <a:lnTo>
                    <a:pt x="21782" y="15821"/>
                  </a:lnTo>
                  <a:lnTo>
                    <a:pt x="51670" y="1233"/>
                  </a:lnTo>
                  <a:lnTo>
                    <a:pt x="55804" y="411"/>
                  </a:lnTo>
                  <a:lnTo>
                    <a:pt x="59979" y="0"/>
                  </a:lnTo>
                  <a:lnTo>
                    <a:pt x="64194" y="0"/>
                  </a:lnTo>
                  <a:lnTo>
                    <a:pt x="5488880" y="0"/>
                  </a:lnTo>
                  <a:lnTo>
                    <a:pt x="5493095" y="0"/>
                  </a:lnTo>
                  <a:lnTo>
                    <a:pt x="5497269" y="411"/>
                  </a:lnTo>
                  <a:lnTo>
                    <a:pt x="5501403" y="1233"/>
                  </a:lnTo>
                  <a:lnTo>
                    <a:pt x="5505537" y="2055"/>
                  </a:lnTo>
                  <a:lnTo>
                    <a:pt x="5534272" y="18801"/>
                  </a:lnTo>
                  <a:lnTo>
                    <a:pt x="5537252" y="21781"/>
                  </a:lnTo>
                  <a:lnTo>
                    <a:pt x="5539913" y="25024"/>
                  </a:lnTo>
                  <a:lnTo>
                    <a:pt x="5542255" y="28529"/>
                  </a:lnTo>
                  <a:lnTo>
                    <a:pt x="5544597" y="32033"/>
                  </a:lnTo>
                  <a:lnTo>
                    <a:pt x="5551840" y="51669"/>
                  </a:lnTo>
                  <a:lnTo>
                    <a:pt x="5552663" y="55804"/>
                  </a:lnTo>
                  <a:lnTo>
                    <a:pt x="5553074" y="59978"/>
                  </a:lnTo>
                  <a:lnTo>
                    <a:pt x="5553074" y="64194"/>
                  </a:lnTo>
                  <a:lnTo>
                    <a:pt x="5553074" y="1812230"/>
                  </a:lnTo>
                  <a:lnTo>
                    <a:pt x="5553074" y="1816445"/>
                  </a:lnTo>
                  <a:lnTo>
                    <a:pt x="5552663" y="1820620"/>
                  </a:lnTo>
                  <a:lnTo>
                    <a:pt x="5551840" y="1824754"/>
                  </a:lnTo>
                  <a:lnTo>
                    <a:pt x="5551018" y="1828888"/>
                  </a:lnTo>
                  <a:lnTo>
                    <a:pt x="5528048" y="1863263"/>
                  </a:lnTo>
                  <a:lnTo>
                    <a:pt x="5513445" y="1871537"/>
                  </a:lnTo>
                  <a:lnTo>
                    <a:pt x="5509551" y="1873150"/>
                  </a:lnTo>
                  <a:lnTo>
                    <a:pt x="5505537" y="1874368"/>
                  </a:lnTo>
                  <a:lnTo>
                    <a:pt x="5501403" y="1875190"/>
                  </a:lnTo>
                  <a:lnTo>
                    <a:pt x="5497269" y="1876013"/>
                  </a:lnTo>
                  <a:lnTo>
                    <a:pt x="5493095" y="1876424"/>
                  </a:lnTo>
                  <a:lnTo>
                    <a:pt x="5488880" y="1876424"/>
                  </a:lnTo>
                  <a:lnTo>
                    <a:pt x="64194" y="1876424"/>
                  </a:lnTo>
                  <a:lnTo>
                    <a:pt x="59979" y="1876424"/>
                  </a:lnTo>
                  <a:lnTo>
                    <a:pt x="55804" y="1876013"/>
                  </a:lnTo>
                  <a:lnTo>
                    <a:pt x="51670" y="1875190"/>
                  </a:lnTo>
                  <a:lnTo>
                    <a:pt x="47536" y="1874368"/>
                  </a:lnTo>
                  <a:lnTo>
                    <a:pt x="28529" y="1865605"/>
                  </a:lnTo>
                  <a:lnTo>
                    <a:pt x="25025" y="1863263"/>
                  </a:lnTo>
                  <a:lnTo>
                    <a:pt x="2055" y="1828888"/>
                  </a:lnTo>
                  <a:lnTo>
                    <a:pt x="1233" y="1824754"/>
                  </a:lnTo>
                  <a:lnTo>
                    <a:pt x="411" y="1820620"/>
                  </a:lnTo>
                  <a:lnTo>
                    <a:pt x="0" y="1816445"/>
                  </a:lnTo>
                  <a:lnTo>
                    <a:pt x="0" y="1812230"/>
                  </a:lnTo>
                  <a:close/>
                </a:path>
              </a:pathLst>
            </a:custGeom>
            <a:ln w="9524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676399" y="4514849"/>
              <a:ext cx="3067050" cy="1657350"/>
            </a:xfrm>
            <a:prstGeom prst="rect">
              <a:avLst/>
            </a:prstGeom>
          </p:spPr>
        </p:pic>
      </p:grpSp>
      <p:sp>
        <p:nvSpPr>
          <p:cNvPr id="20" name="object 20"/>
          <p:cNvSpPr/>
          <p:nvPr/>
        </p:nvSpPr>
        <p:spPr>
          <a:xfrm>
            <a:off x="6200773" y="3819524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46319" y="276224"/>
                </a:moveTo>
                <a:lnTo>
                  <a:pt x="29906" y="276224"/>
                </a:lnTo>
                <a:lnTo>
                  <a:pt x="25507" y="275349"/>
                </a:lnTo>
                <a:lnTo>
                  <a:pt x="0" y="246318"/>
                </a:lnTo>
                <a:lnTo>
                  <a:pt x="0" y="241746"/>
                </a:lnTo>
                <a:lnTo>
                  <a:pt x="0" y="29906"/>
                </a:lnTo>
                <a:lnTo>
                  <a:pt x="25507" y="874"/>
                </a:lnTo>
                <a:lnTo>
                  <a:pt x="29906" y="0"/>
                </a:lnTo>
                <a:lnTo>
                  <a:pt x="246319" y="0"/>
                </a:lnTo>
                <a:lnTo>
                  <a:pt x="275350" y="25507"/>
                </a:lnTo>
                <a:lnTo>
                  <a:pt x="276224" y="29906"/>
                </a:lnTo>
                <a:lnTo>
                  <a:pt x="276224" y="246318"/>
                </a:lnTo>
                <a:lnTo>
                  <a:pt x="250717" y="275349"/>
                </a:lnTo>
                <a:lnTo>
                  <a:pt x="246319" y="276224"/>
                </a:lnTo>
                <a:close/>
              </a:path>
            </a:pathLst>
          </a:custGeom>
          <a:solidFill>
            <a:srgbClr val="4E45E4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1" name="object 21"/>
          <p:cNvGrpSpPr/>
          <p:nvPr/>
        </p:nvGrpSpPr>
        <p:grpSpPr>
          <a:xfrm>
            <a:off x="6200773" y="4400549"/>
            <a:ext cx="5562600" cy="1885950"/>
            <a:chOff x="6200773" y="4400549"/>
            <a:chExt cx="5562600" cy="1885950"/>
          </a:xfrm>
        </p:grpSpPr>
        <p:sp>
          <p:nvSpPr>
            <p:cNvPr id="22" name="object 22"/>
            <p:cNvSpPr/>
            <p:nvPr/>
          </p:nvSpPr>
          <p:spPr>
            <a:xfrm>
              <a:off x="6205536" y="4405312"/>
              <a:ext cx="5553075" cy="1876425"/>
            </a:xfrm>
            <a:custGeom>
              <a:avLst/>
              <a:gdLst/>
              <a:ahLst/>
              <a:cxnLst/>
              <a:rect l="l" t="t" r="r" b="b"/>
              <a:pathLst>
                <a:path w="5553075" h="1876425">
                  <a:moveTo>
                    <a:pt x="5493096" y="1876424"/>
                  </a:moveTo>
                  <a:lnTo>
                    <a:pt x="59979" y="1876424"/>
                  </a:lnTo>
                  <a:lnTo>
                    <a:pt x="55804" y="1876013"/>
                  </a:lnTo>
                  <a:lnTo>
                    <a:pt x="15821" y="1854641"/>
                  </a:lnTo>
                  <a:lnTo>
                    <a:pt x="0" y="1816445"/>
                  </a:lnTo>
                  <a:lnTo>
                    <a:pt x="0" y="1812230"/>
                  </a:lnTo>
                  <a:lnTo>
                    <a:pt x="0" y="59978"/>
                  </a:lnTo>
                  <a:lnTo>
                    <a:pt x="15821" y="21782"/>
                  </a:lnTo>
                  <a:lnTo>
                    <a:pt x="55804" y="411"/>
                  </a:lnTo>
                  <a:lnTo>
                    <a:pt x="59979" y="0"/>
                  </a:lnTo>
                  <a:lnTo>
                    <a:pt x="5493096" y="0"/>
                  </a:lnTo>
                  <a:lnTo>
                    <a:pt x="5531291" y="15821"/>
                  </a:lnTo>
                  <a:lnTo>
                    <a:pt x="5552662" y="55804"/>
                  </a:lnTo>
                  <a:lnTo>
                    <a:pt x="5553073" y="59978"/>
                  </a:lnTo>
                  <a:lnTo>
                    <a:pt x="5553073" y="1816445"/>
                  </a:lnTo>
                  <a:lnTo>
                    <a:pt x="5537252" y="1854641"/>
                  </a:lnTo>
                  <a:lnTo>
                    <a:pt x="5497270" y="1876013"/>
                  </a:lnTo>
                  <a:lnTo>
                    <a:pt x="5493096" y="187642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205536" y="4405312"/>
              <a:ext cx="5553075" cy="1876425"/>
            </a:xfrm>
            <a:custGeom>
              <a:avLst/>
              <a:gdLst/>
              <a:ahLst/>
              <a:cxnLst/>
              <a:rect l="l" t="t" r="r" b="b"/>
              <a:pathLst>
                <a:path w="5553075" h="1876425">
                  <a:moveTo>
                    <a:pt x="0" y="1812230"/>
                  </a:moveTo>
                  <a:lnTo>
                    <a:pt x="0" y="64194"/>
                  </a:lnTo>
                  <a:lnTo>
                    <a:pt x="0" y="59978"/>
                  </a:lnTo>
                  <a:lnTo>
                    <a:pt x="411" y="55804"/>
                  </a:lnTo>
                  <a:lnTo>
                    <a:pt x="1233" y="51670"/>
                  </a:lnTo>
                  <a:lnTo>
                    <a:pt x="2055" y="47535"/>
                  </a:lnTo>
                  <a:lnTo>
                    <a:pt x="3273" y="43521"/>
                  </a:lnTo>
                  <a:lnTo>
                    <a:pt x="4886" y="39627"/>
                  </a:lnTo>
                  <a:lnTo>
                    <a:pt x="6499" y="35733"/>
                  </a:lnTo>
                  <a:lnTo>
                    <a:pt x="8476" y="32033"/>
                  </a:lnTo>
                  <a:lnTo>
                    <a:pt x="10817" y="28529"/>
                  </a:lnTo>
                  <a:lnTo>
                    <a:pt x="13159" y="25024"/>
                  </a:lnTo>
                  <a:lnTo>
                    <a:pt x="15821" y="21782"/>
                  </a:lnTo>
                  <a:lnTo>
                    <a:pt x="18801" y="18801"/>
                  </a:lnTo>
                  <a:lnTo>
                    <a:pt x="21782" y="15821"/>
                  </a:lnTo>
                  <a:lnTo>
                    <a:pt x="25024" y="13160"/>
                  </a:lnTo>
                  <a:lnTo>
                    <a:pt x="28529" y="10818"/>
                  </a:lnTo>
                  <a:lnTo>
                    <a:pt x="32034" y="8476"/>
                  </a:lnTo>
                  <a:lnTo>
                    <a:pt x="59979" y="0"/>
                  </a:lnTo>
                  <a:lnTo>
                    <a:pt x="64194" y="0"/>
                  </a:lnTo>
                  <a:lnTo>
                    <a:pt x="5488881" y="0"/>
                  </a:lnTo>
                  <a:lnTo>
                    <a:pt x="5493096" y="0"/>
                  </a:lnTo>
                  <a:lnTo>
                    <a:pt x="5497270" y="411"/>
                  </a:lnTo>
                  <a:lnTo>
                    <a:pt x="5501403" y="1233"/>
                  </a:lnTo>
                  <a:lnTo>
                    <a:pt x="5505537" y="2055"/>
                  </a:lnTo>
                  <a:lnTo>
                    <a:pt x="5534271" y="18801"/>
                  </a:lnTo>
                  <a:lnTo>
                    <a:pt x="5537251" y="21781"/>
                  </a:lnTo>
                  <a:lnTo>
                    <a:pt x="5539913" y="25024"/>
                  </a:lnTo>
                  <a:lnTo>
                    <a:pt x="5542254" y="28529"/>
                  </a:lnTo>
                  <a:lnTo>
                    <a:pt x="5544596" y="32033"/>
                  </a:lnTo>
                  <a:lnTo>
                    <a:pt x="5546573" y="35733"/>
                  </a:lnTo>
                  <a:lnTo>
                    <a:pt x="5548185" y="39627"/>
                  </a:lnTo>
                  <a:lnTo>
                    <a:pt x="5549799" y="43521"/>
                  </a:lnTo>
                  <a:lnTo>
                    <a:pt x="5551018" y="47535"/>
                  </a:lnTo>
                  <a:lnTo>
                    <a:pt x="5551840" y="51669"/>
                  </a:lnTo>
                  <a:lnTo>
                    <a:pt x="5552662" y="55804"/>
                  </a:lnTo>
                  <a:lnTo>
                    <a:pt x="5553073" y="59978"/>
                  </a:lnTo>
                  <a:lnTo>
                    <a:pt x="5553075" y="64194"/>
                  </a:lnTo>
                  <a:lnTo>
                    <a:pt x="5553075" y="1812230"/>
                  </a:lnTo>
                  <a:lnTo>
                    <a:pt x="5553073" y="1816445"/>
                  </a:lnTo>
                  <a:lnTo>
                    <a:pt x="5552662" y="1820620"/>
                  </a:lnTo>
                  <a:lnTo>
                    <a:pt x="5551840" y="1824754"/>
                  </a:lnTo>
                  <a:lnTo>
                    <a:pt x="5551018" y="1828888"/>
                  </a:lnTo>
                  <a:lnTo>
                    <a:pt x="5542254" y="1847894"/>
                  </a:lnTo>
                  <a:lnTo>
                    <a:pt x="5539913" y="1851399"/>
                  </a:lnTo>
                  <a:lnTo>
                    <a:pt x="5505537" y="1874368"/>
                  </a:lnTo>
                  <a:lnTo>
                    <a:pt x="5501403" y="1875190"/>
                  </a:lnTo>
                  <a:lnTo>
                    <a:pt x="5497270" y="1876013"/>
                  </a:lnTo>
                  <a:lnTo>
                    <a:pt x="5493096" y="1876424"/>
                  </a:lnTo>
                  <a:lnTo>
                    <a:pt x="5488881" y="1876424"/>
                  </a:lnTo>
                  <a:lnTo>
                    <a:pt x="64194" y="1876424"/>
                  </a:lnTo>
                  <a:lnTo>
                    <a:pt x="59979" y="1876424"/>
                  </a:lnTo>
                  <a:lnTo>
                    <a:pt x="55804" y="1876013"/>
                  </a:lnTo>
                  <a:lnTo>
                    <a:pt x="51670" y="1875190"/>
                  </a:lnTo>
                  <a:lnTo>
                    <a:pt x="47536" y="1874368"/>
                  </a:lnTo>
                  <a:lnTo>
                    <a:pt x="43521" y="1873150"/>
                  </a:lnTo>
                  <a:lnTo>
                    <a:pt x="39627" y="1871537"/>
                  </a:lnTo>
                  <a:lnTo>
                    <a:pt x="35733" y="1869924"/>
                  </a:lnTo>
                  <a:lnTo>
                    <a:pt x="32034" y="1867946"/>
                  </a:lnTo>
                  <a:lnTo>
                    <a:pt x="28529" y="1865605"/>
                  </a:lnTo>
                  <a:lnTo>
                    <a:pt x="25024" y="1863263"/>
                  </a:lnTo>
                  <a:lnTo>
                    <a:pt x="4886" y="1836796"/>
                  </a:lnTo>
                  <a:lnTo>
                    <a:pt x="3273" y="1832901"/>
                  </a:lnTo>
                  <a:lnTo>
                    <a:pt x="2055" y="1828888"/>
                  </a:lnTo>
                  <a:lnTo>
                    <a:pt x="1233" y="1824754"/>
                  </a:lnTo>
                  <a:lnTo>
                    <a:pt x="411" y="1820620"/>
                  </a:lnTo>
                  <a:lnTo>
                    <a:pt x="0" y="1816445"/>
                  </a:lnTo>
                  <a:lnTo>
                    <a:pt x="0" y="1812230"/>
                  </a:lnTo>
                  <a:close/>
                </a:path>
              </a:pathLst>
            </a:custGeom>
            <a:ln w="9524">
              <a:solidFill>
                <a:srgbClr val="E4E7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429499" y="4514849"/>
              <a:ext cx="3105149" cy="165734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794990" y="1158017"/>
            <a:ext cx="3883660" cy="469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0" dirty="0">
                <a:solidFill>
                  <a:srgbClr val="93C4FD"/>
                </a:solidFill>
                <a:latin typeface="微软雅黑"/>
                <a:cs typeface="微软雅黑"/>
              </a:rPr>
              <a:t>自动会议协调</a:t>
            </a:r>
            <a:endParaRPr sz="13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950" spc="-15" dirty="0">
                <a:solidFill>
                  <a:srgbClr val="D0D5DA"/>
                </a:solidFill>
                <a:latin typeface="微软雅黑"/>
                <a:cs typeface="微软雅黑"/>
              </a:rPr>
              <a:t>智能代理日程助手，解决多方时间冲突，自动安排会议时间与参与人员。</a:t>
            </a:r>
            <a:endParaRPr sz="950">
              <a:latin typeface="微软雅黑"/>
              <a:cs typeface="微软雅黑"/>
            </a:endParaRPr>
          </a:p>
        </p:txBody>
      </p:sp>
      <p:sp>
        <p:nvSpPr>
          <p:cNvPr id="29" name="object 2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50" spc="-50" dirty="0"/>
              <a:t>4</a:t>
            </a:fld>
            <a:endParaRPr sz="1050"/>
          </a:p>
        </p:txBody>
      </p:sp>
      <p:sp>
        <p:nvSpPr>
          <p:cNvPr id="26" name="object 26"/>
          <p:cNvSpPr txBox="1"/>
          <p:nvPr/>
        </p:nvSpPr>
        <p:spPr>
          <a:xfrm>
            <a:off x="6565651" y="1158017"/>
            <a:ext cx="4244975" cy="469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20" dirty="0">
                <a:solidFill>
                  <a:srgbClr val="FFFFFF"/>
                </a:solidFill>
                <a:latin typeface="微软雅黑"/>
                <a:cs typeface="微软雅黑"/>
              </a:rPr>
              <a:t>多源报告生成</a:t>
            </a:r>
            <a:endParaRPr sz="1350" dirty="0">
              <a:solidFill>
                <a:srgbClr val="FFFFFF"/>
              </a:solidFill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950" spc="-15" dirty="0">
                <a:solidFill>
                  <a:srgbClr val="D0D5DA"/>
                </a:solidFill>
                <a:latin typeface="微软雅黑"/>
                <a:cs typeface="微软雅黑"/>
              </a:rPr>
              <a:t>整合多个数据源，端到端自动分析并生成商业洞察报告，降低人工拼接错误率。</a:t>
            </a:r>
            <a:endParaRPr sz="950" dirty="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79325" y="3825017"/>
            <a:ext cx="4319905" cy="469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8295" algn="l"/>
              </a:tabLst>
            </a:pPr>
            <a:r>
              <a:rPr sz="1425" b="1" spc="-37" baseline="2923" dirty="0">
                <a:solidFill>
                  <a:srgbClr val="C3B4FD"/>
                </a:solidFill>
                <a:latin typeface="微软雅黑"/>
                <a:cs typeface="微软雅黑"/>
              </a:rPr>
              <a:t>03</a:t>
            </a:r>
            <a:r>
              <a:rPr sz="1425" b="1" baseline="2923" dirty="0">
                <a:solidFill>
                  <a:srgbClr val="C3B4FD"/>
                </a:solidFill>
                <a:latin typeface="微软雅黑"/>
                <a:cs typeface="微软雅黑"/>
              </a:rPr>
              <a:t>	</a:t>
            </a:r>
            <a:r>
              <a:rPr sz="1350" b="1" spc="-20" dirty="0">
                <a:solidFill>
                  <a:srgbClr val="C3B4FD"/>
                </a:solidFill>
                <a:latin typeface="微软雅黑"/>
                <a:cs typeface="微软雅黑"/>
              </a:rPr>
              <a:t>智能客服升级</a:t>
            </a:r>
            <a:endParaRPr sz="1350">
              <a:latin typeface="微软雅黑"/>
              <a:cs typeface="微软雅黑"/>
            </a:endParaRPr>
          </a:p>
          <a:p>
            <a:pPr marL="328295">
              <a:lnSpc>
                <a:spcPct val="100000"/>
              </a:lnSpc>
              <a:spcBef>
                <a:spcPts val="730"/>
              </a:spcBef>
            </a:pPr>
            <a:r>
              <a:rPr sz="950" spc="-15" dirty="0">
                <a:solidFill>
                  <a:srgbClr val="D0D5DA"/>
                </a:solidFill>
                <a:latin typeface="微软雅黑"/>
                <a:cs typeface="微软雅黑"/>
              </a:rPr>
              <a:t>具备自主决策与多轮反思能力的客服系统，连接企业知识库实现精准服务。</a:t>
            </a:r>
            <a:endParaRPr sz="950">
              <a:latin typeface="微软雅黑"/>
              <a:cs typeface="微软雅黑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249987" y="3825017"/>
            <a:ext cx="4307840" cy="469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8295" algn="l"/>
              </a:tabLst>
            </a:pPr>
            <a:r>
              <a:rPr sz="1425" b="1" spc="-37" baseline="2923" dirty="0">
                <a:solidFill>
                  <a:srgbClr val="A5B4FB"/>
                </a:solidFill>
                <a:latin typeface="微软雅黑"/>
                <a:cs typeface="微软雅黑"/>
              </a:rPr>
              <a:t>04</a:t>
            </a:r>
            <a:r>
              <a:rPr sz="1425" b="1" baseline="2923" dirty="0">
                <a:solidFill>
                  <a:srgbClr val="A5B4FB"/>
                </a:solidFill>
                <a:latin typeface="微软雅黑"/>
                <a:cs typeface="微软雅黑"/>
              </a:rPr>
              <a:t>	</a:t>
            </a:r>
            <a:r>
              <a:rPr sz="1350" b="1" spc="-20" dirty="0">
                <a:solidFill>
                  <a:srgbClr val="A5B4FB"/>
                </a:solidFill>
                <a:latin typeface="微软雅黑"/>
                <a:cs typeface="微软雅黑"/>
              </a:rPr>
              <a:t>科研文献综述</a:t>
            </a:r>
            <a:endParaRPr sz="1350">
              <a:latin typeface="微软雅黑"/>
              <a:cs typeface="微软雅黑"/>
            </a:endParaRPr>
          </a:p>
          <a:p>
            <a:pPr marL="328295">
              <a:lnSpc>
                <a:spcPct val="100000"/>
              </a:lnSpc>
              <a:spcBef>
                <a:spcPts val="730"/>
              </a:spcBef>
            </a:pPr>
            <a:r>
              <a:rPr sz="950" spc="-10" dirty="0">
                <a:solidFill>
                  <a:srgbClr val="D0D5DA"/>
                </a:solidFill>
                <a:latin typeface="微软雅黑"/>
                <a:cs typeface="微软雅黑"/>
              </a:rPr>
              <a:t>多Agent</a:t>
            </a:r>
            <a:r>
              <a:rPr sz="950" spc="-15" dirty="0">
                <a:solidFill>
                  <a:srgbClr val="D0D5DA"/>
                </a:solidFill>
                <a:latin typeface="微软雅黑"/>
                <a:cs typeface="微软雅黑"/>
              </a:rPr>
              <a:t>协作自动化完成海量文献检索、筛选与综述撰写，加速科研进程。</a:t>
            </a:r>
            <a:endParaRPr sz="950">
              <a:latin typeface="微软雅黑"/>
              <a:cs typeface="微软雅黑"/>
            </a:endParaRPr>
          </a:p>
        </p:txBody>
      </p:sp>
      <p:sp>
        <p:nvSpPr>
          <p:cNvPr id="30" name="object 20">
            <a:extLst>
              <a:ext uri="{FF2B5EF4-FFF2-40B4-BE49-F238E27FC236}">
                <a16:creationId xmlns:a16="http://schemas.microsoft.com/office/drawing/2014/main" id="{9DDE9361-1747-46D9-9F37-7888E2EE4E79}"/>
              </a:ext>
            </a:extLst>
          </p:cNvPr>
          <p:cNvSpPr/>
          <p:nvPr/>
        </p:nvSpPr>
        <p:spPr>
          <a:xfrm>
            <a:off x="6200772" y="1137665"/>
            <a:ext cx="276225" cy="276225"/>
          </a:xfrm>
          <a:custGeom>
            <a:avLst/>
            <a:gdLst/>
            <a:ahLst/>
            <a:cxnLst/>
            <a:rect l="l" t="t" r="r" b="b"/>
            <a:pathLst>
              <a:path w="276225" h="276225">
                <a:moveTo>
                  <a:pt x="246319" y="276224"/>
                </a:moveTo>
                <a:lnTo>
                  <a:pt x="29906" y="276224"/>
                </a:lnTo>
                <a:lnTo>
                  <a:pt x="25507" y="275349"/>
                </a:lnTo>
                <a:lnTo>
                  <a:pt x="0" y="246318"/>
                </a:lnTo>
                <a:lnTo>
                  <a:pt x="0" y="241746"/>
                </a:lnTo>
                <a:lnTo>
                  <a:pt x="0" y="29906"/>
                </a:lnTo>
                <a:lnTo>
                  <a:pt x="25507" y="874"/>
                </a:lnTo>
                <a:lnTo>
                  <a:pt x="29906" y="0"/>
                </a:lnTo>
                <a:lnTo>
                  <a:pt x="246319" y="0"/>
                </a:lnTo>
                <a:lnTo>
                  <a:pt x="275350" y="25507"/>
                </a:lnTo>
                <a:lnTo>
                  <a:pt x="276224" y="29906"/>
                </a:lnTo>
                <a:lnTo>
                  <a:pt x="276224" y="246318"/>
                </a:lnTo>
                <a:lnTo>
                  <a:pt x="250717" y="275349"/>
                </a:lnTo>
                <a:lnTo>
                  <a:pt x="246319" y="276224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0" tIns="0" rIns="0" bIns="0" rtlCol="0" anchor="ctr"/>
          <a:lstStyle/>
          <a:p>
            <a:pPr algn="ctr"/>
            <a:r>
              <a:rPr lang="en-US" sz="950" b="1" dirty="0"/>
              <a:t>02</a:t>
            </a:r>
            <a:endParaRPr sz="950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925" y="254000"/>
            <a:ext cx="36245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</a:t>
            </a:r>
            <a:r>
              <a:rPr spc="-45" dirty="0"/>
              <a:t> </a:t>
            </a:r>
            <a:r>
              <a:rPr dirty="0"/>
              <a:t>Agent</a:t>
            </a:r>
            <a:r>
              <a:rPr spc="-10" dirty="0"/>
              <a:t>的本质定义</a:t>
            </a:r>
          </a:p>
        </p:txBody>
      </p:sp>
      <p:sp>
        <p:nvSpPr>
          <p:cNvPr id="3" name="object 3"/>
          <p:cNvSpPr/>
          <p:nvPr/>
        </p:nvSpPr>
        <p:spPr>
          <a:xfrm>
            <a:off x="428624" y="819149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2162174" y="38099"/>
                </a:moveTo>
                <a:lnTo>
                  <a:pt x="0" y="38099"/>
                </a:lnTo>
                <a:lnTo>
                  <a:pt x="0" y="0"/>
                </a:lnTo>
                <a:lnTo>
                  <a:pt x="2162174" y="0"/>
                </a:lnTo>
                <a:lnTo>
                  <a:pt x="2162174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625" y="1714500"/>
            <a:ext cx="11334750" cy="9525"/>
          </a:xfrm>
          <a:custGeom>
            <a:avLst/>
            <a:gdLst/>
            <a:ahLst/>
            <a:cxnLst/>
            <a:rect l="l" t="t" r="r" b="b"/>
            <a:pathLst>
              <a:path w="11334750" h="9525">
                <a:moveTo>
                  <a:pt x="11334749" y="9524"/>
                </a:moveTo>
                <a:lnTo>
                  <a:pt x="0" y="9524"/>
                </a:lnTo>
                <a:lnTo>
                  <a:pt x="0" y="0"/>
                </a:lnTo>
                <a:lnTo>
                  <a:pt x="11334749" y="0"/>
                </a:lnTo>
                <a:lnTo>
                  <a:pt x="11334749" y="9524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8625" y="9525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099" y="609599"/>
                </a:moveTo>
                <a:lnTo>
                  <a:pt x="0" y="609599"/>
                </a:lnTo>
                <a:lnTo>
                  <a:pt x="0" y="0"/>
                </a:lnTo>
                <a:lnTo>
                  <a:pt x="38099" y="0"/>
                </a:lnTo>
                <a:lnTo>
                  <a:pt x="38099" y="6095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06424" y="934466"/>
            <a:ext cx="1300480" cy="6197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b="1" spc="20" dirty="0">
                <a:solidFill>
                  <a:srgbClr val="60A5FA"/>
                </a:solidFill>
                <a:latin typeface="微软雅黑"/>
                <a:cs typeface="微软雅黑"/>
              </a:rPr>
              <a:t>CHARACTERISTIC</a:t>
            </a:r>
            <a:r>
              <a:rPr sz="900" b="1" spc="395" dirty="0">
                <a:solidFill>
                  <a:srgbClr val="60A5FA"/>
                </a:solidFill>
                <a:latin typeface="微软雅黑"/>
                <a:cs typeface="微软雅黑"/>
              </a:rPr>
              <a:t> </a:t>
            </a:r>
            <a:r>
              <a:rPr sz="900" b="1" spc="-25" dirty="0">
                <a:solidFill>
                  <a:srgbClr val="60A5FA"/>
                </a:solidFill>
                <a:latin typeface="微软雅黑"/>
                <a:cs typeface="微软雅黑"/>
              </a:rPr>
              <a:t>01</a:t>
            </a: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500" b="1" spc="-15" dirty="0">
                <a:solidFill>
                  <a:srgbClr val="E4E7EB"/>
                </a:solidFill>
                <a:latin typeface="微软雅黑"/>
                <a:cs typeface="微软雅黑"/>
              </a:rPr>
              <a:t>目标导向</a:t>
            </a: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50" spc="-10" dirty="0">
                <a:solidFill>
                  <a:srgbClr val="9CA2AF"/>
                </a:solidFill>
                <a:latin typeface="微软雅黑"/>
                <a:cs typeface="微软雅黑"/>
              </a:rPr>
              <a:t>Goal-Oriented</a:t>
            </a:r>
            <a:endParaRPr sz="1050">
              <a:latin typeface="微软雅黑"/>
              <a:cs typeface="微软雅黑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200274" y="9525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099" y="609599"/>
                </a:moveTo>
                <a:lnTo>
                  <a:pt x="0" y="609599"/>
                </a:lnTo>
                <a:lnTo>
                  <a:pt x="0" y="0"/>
                </a:lnTo>
                <a:lnTo>
                  <a:pt x="38099" y="0"/>
                </a:lnTo>
                <a:lnTo>
                  <a:pt x="38099" y="6095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2382241" y="934466"/>
            <a:ext cx="1300480" cy="6197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b="1" spc="20" dirty="0">
                <a:solidFill>
                  <a:srgbClr val="A68BFA"/>
                </a:solidFill>
                <a:latin typeface="微软雅黑"/>
                <a:cs typeface="微软雅黑"/>
              </a:rPr>
              <a:t>CHARACTERISTIC</a:t>
            </a:r>
            <a:r>
              <a:rPr sz="900" b="1" spc="395" dirty="0">
                <a:solidFill>
                  <a:srgbClr val="A68BFA"/>
                </a:solidFill>
                <a:latin typeface="微软雅黑"/>
                <a:cs typeface="微软雅黑"/>
              </a:rPr>
              <a:t> </a:t>
            </a:r>
            <a:r>
              <a:rPr sz="900" b="1" spc="-25" dirty="0">
                <a:solidFill>
                  <a:srgbClr val="A68BFA"/>
                </a:solidFill>
                <a:latin typeface="微软雅黑"/>
                <a:cs typeface="微软雅黑"/>
              </a:rPr>
              <a:t>02</a:t>
            </a: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500" b="1" spc="-15" dirty="0">
                <a:solidFill>
                  <a:srgbClr val="E4E7EB"/>
                </a:solidFill>
                <a:latin typeface="微软雅黑"/>
                <a:cs typeface="微软雅黑"/>
              </a:rPr>
              <a:t>自主决策</a:t>
            </a: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50" spc="-10" dirty="0">
                <a:solidFill>
                  <a:srgbClr val="9CA2AF"/>
                </a:solidFill>
                <a:latin typeface="微软雅黑"/>
                <a:cs typeface="微软雅黑"/>
              </a:rPr>
              <a:t>Autonomous</a:t>
            </a:r>
            <a:endParaRPr sz="1050">
              <a:latin typeface="微软雅黑"/>
              <a:cs typeface="微软雅黑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81449" y="9525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38099" y="609599"/>
                </a:moveTo>
                <a:lnTo>
                  <a:pt x="0" y="609599"/>
                </a:lnTo>
                <a:lnTo>
                  <a:pt x="0" y="0"/>
                </a:lnTo>
                <a:lnTo>
                  <a:pt x="38099" y="0"/>
                </a:lnTo>
                <a:lnTo>
                  <a:pt x="38099" y="6095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4158059" y="934466"/>
            <a:ext cx="1300480" cy="61976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15"/>
              </a:spcBef>
            </a:pPr>
            <a:r>
              <a:rPr sz="900" b="1" spc="20" dirty="0">
                <a:solidFill>
                  <a:srgbClr val="33D399"/>
                </a:solidFill>
                <a:latin typeface="微软雅黑"/>
                <a:cs typeface="微软雅黑"/>
              </a:rPr>
              <a:t>CHARACTERISTIC</a:t>
            </a:r>
            <a:r>
              <a:rPr sz="900" b="1" spc="395" dirty="0">
                <a:solidFill>
                  <a:srgbClr val="33D399"/>
                </a:solidFill>
                <a:latin typeface="微软雅黑"/>
                <a:cs typeface="微软雅黑"/>
              </a:rPr>
              <a:t> </a:t>
            </a:r>
            <a:r>
              <a:rPr sz="900" b="1" spc="-25" dirty="0">
                <a:solidFill>
                  <a:srgbClr val="33D399"/>
                </a:solidFill>
                <a:latin typeface="微软雅黑"/>
                <a:cs typeface="微软雅黑"/>
              </a:rPr>
              <a:t>03</a:t>
            </a:r>
            <a:endParaRPr sz="9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95"/>
              </a:spcBef>
            </a:pPr>
            <a:r>
              <a:rPr sz="1500" b="1" spc="-15" dirty="0">
                <a:solidFill>
                  <a:srgbClr val="E4E7EB"/>
                </a:solidFill>
                <a:latin typeface="微软雅黑"/>
                <a:cs typeface="微软雅黑"/>
              </a:rPr>
              <a:t>工具调用</a:t>
            </a: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25"/>
              </a:spcBef>
            </a:pPr>
            <a:r>
              <a:rPr sz="1050" spc="-30" dirty="0">
                <a:solidFill>
                  <a:srgbClr val="9CA2AF"/>
                </a:solidFill>
                <a:latin typeface="微软雅黑"/>
                <a:cs typeface="微软雅黑"/>
              </a:rPr>
              <a:t>Tool-</a:t>
            </a:r>
            <a:r>
              <a:rPr sz="1050" spc="-25" dirty="0">
                <a:solidFill>
                  <a:srgbClr val="9CA2AF"/>
                </a:solidFill>
                <a:latin typeface="微软雅黑"/>
                <a:cs typeface="微软雅黑"/>
              </a:rPr>
              <a:t>Use</a:t>
            </a:r>
            <a:endParaRPr sz="1050">
              <a:latin typeface="微软雅黑"/>
              <a:cs typeface="微软雅黑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566967" y="1033965"/>
            <a:ext cx="4209415" cy="406400"/>
          </a:xfrm>
          <a:prstGeom prst="rect">
            <a:avLst/>
          </a:prstGeom>
        </p:spPr>
        <p:txBody>
          <a:bodyPr vert="horz" wrap="square" lIns="0" tIns="4191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330"/>
              </a:spcBef>
            </a:pPr>
            <a:r>
              <a:rPr sz="1050" i="1" spc="-35" dirty="0">
                <a:solidFill>
                  <a:srgbClr val="D0D5DA"/>
                </a:solidFill>
                <a:latin typeface="微软雅黑"/>
                <a:cs typeface="微软雅黑"/>
              </a:rPr>
              <a:t>“AI </a:t>
            </a:r>
            <a:r>
              <a:rPr sz="1050" i="1" dirty="0">
                <a:solidFill>
                  <a:srgbClr val="D0D5DA"/>
                </a:solidFill>
                <a:latin typeface="微软雅黑"/>
                <a:cs typeface="微软雅黑"/>
              </a:rPr>
              <a:t>Agent</a:t>
            </a:r>
            <a:r>
              <a:rPr sz="1050" i="1" spc="-15" dirty="0">
                <a:solidFill>
                  <a:srgbClr val="D0D5DA"/>
                </a:solidFill>
                <a:latin typeface="微软雅黑"/>
                <a:cs typeface="微软雅黑"/>
              </a:rPr>
              <a:t> 是具备在特定环境中为实现目标而自主行动、推理并调用工</a:t>
            </a:r>
            <a:endParaRPr sz="1050">
              <a:latin typeface="微软雅黑"/>
              <a:cs typeface="微软雅黑"/>
            </a:endParaRPr>
          </a:p>
          <a:p>
            <a:pPr marR="5080" algn="r">
              <a:lnSpc>
                <a:spcPct val="100000"/>
              </a:lnSpc>
              <a:spcBef>
                <a:spcPts val="240"/>
              </a:spcBef>
            </a:pPr>
            <a:r>
              <a:rPr sz="1050" i="1" spc="-10" dirty="0">
                <a:solidFill>
                  <a:srgbClr val="D0D5DA"/>
                </a:solidFill>
                <a:latin typeface="微软雅黑"/>
                <a:cs typeface="微软雅黑"/>
              </a:rPr>
              <a:t>具的数字实体。”</a:t>
            </a:r>
            <a:endParaRPr sz="1050">
              <a:latin typeface="微软雅黑"/>
              <a:cs typeface="微软雅黑"/>
            </a:endParaRPr>
          </a:p>
        </p:txBody>
      </p:sp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625" y="2010965"/>
            <a:ext cx="192881" cy="150018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685006" y="1968500"/>
            <a:ext cx="217297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" dirty="0">
                <a:solidFill>
                  <a:srgbClr val="93C4FD"/>
                </a:solidFill>
                <a:latin typeface="微软雅黑"/>
                <a:cs typeface="微软雅黑"/>
              </a:rPr>
              <a:t>核心架构：大脑+手脚+思维</a:t>
            </a:r>
            <a:endParaRPr sz="1350">
              <a:latin typeface="微软雅黑"/>
              <a:cs typeface="微软雅黑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28625" y="2333624"/>
            <a:ext cx="6619875" cy="4048125"/>
            <a:chOff x="428625" y="2333624"/>
            <a:chExt cx="6619875" cy="4048125"/>
          </a:xfrm>
        </p:grpSpPr>
        <p:sp>
          <p:nvSpPr>
            <p:cNvPr id="15" name="object 15"/>
            <p:cNvSpPr/>
            <p:nvPr/>
          </p:nvSpPr>
          <p:spPr>
            <a:xfrm>
              <a:off x="433387" y="2338387"/>
              <a:ext cx="6610350" cy="4038600"/>
            </a:xfrm>
            <a:custGeom>
              <a:avLst/>
              <a:gdLst/>
              <a:ahLst/>
              <a:cxnLst/>
              <a:rect l="l" t="t" r="r" b="b"/>
              <a:pathLst>
                <a:path w="6610350" h="4038600">
                  <a:moveTo>
                    <a:pt x="6543602" y="4038598"/>
                  </a:moveTo>
                  <a:lnTo>
                    <a:pt x="66746" y="4038598"/>
                  </a:lnTo>
                  <a:lnTo>
                    <a:pt x="62101" y="4038141"/>
                  </a:lnTo>
                  <a:lnTo>
                    <a:pt x="24240" y="4020991"/>
                  </a:lnTo>
                  <a:lnTo>
                    <a:pt x="2287" y="3985698"/>
                  </a:lnTo>
                  <a:lnTo>
                    <a:pt x="0" y="3971852"/>
                  </a:lnTo>
                  <a:lnTo>
                    <a:pt x="0" y="3967162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6543602" y="0"/>
                  </a:lnTo>
                  <a:lnTo>
                    <a:pt x="6582499" y="14645"/>
                  </a:lnTo>
                  <a:lnTo>
                    <a:pt x="6606706" y="48432"/>
                  </a:lnTo>
                  <a:lnTo>
                    <a:pt x="6610348" y="66746"/>
                  </a:lnTo>
                  <a:lnTo>
                    <a:pt x="6610348" y="3971852"/>
                  </a:lnTo>
                  <a:lnTo>
                    <a:pt x="6595703" y="4010749"/>
                  </a:lnTo>
                  <a:lnTo>
                    <a:pt x="6561915" y="4034956"/>
                  </a:lnTo>
                  <a:lnTo>
                    <a:pt x="6548248" y="4038141"/>
                  </a:lnTo>
                  <a:lnTo>
                    <a:pt x="6543602" y="4038598"/>
                  </a:lnTo>
                  <a:close/>
                </a:path>
              </a:pathLst>
            </a:custGeom>
            <a:solidFill>
              <a:srgbClr val="1D3A8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33387" y="2338387"/>
              <a:ext cx="6610350" cy="4038600"/>
            </a:xfrm>
            <a:custGeom>
              <a:avLst/>
              <a:gdLst/>
              <a:ahLst/>
              <a:cxnLst/>
              <a:rect l="l" t="t" r="r" b="b"/>
              <a:pathLst>
                <a:path w="6610350" h="4038600">
                  <a:moveTo>
                    <a:pt x="0" y="3967162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71437" y="0"/>
                  </a:lnTo>
                  <a:lnTo>
                    <a:pt x="6538911" y="0"/>
                  </a:lnTo>
                  <a:lnTo>
                    <a:pt x="6566249" y="5437"/>
                  </a:lnTo>
                  <a:lnTo>
                    <a:pt x="6570583" y="7232"/>
                  </a:lnTo>
                  <a:lnTo>
                    <a:pt x="6574699" y="9433"/>
                  </a:lnTo>
                  <a:lnTo>
                    <a:pt x="6578599" y="12039"/>
                  </a:lnTo>
                  <a:lnTo>
                    <a:pt x="6582499" y="14645"/>
                  </a:lnTo>
                  <a:lnTo>
                    <a:pt x="6586109" y="17606"/>
                  </a:lnTo>
                  <a:lnTo>
                    <a:pt x="6589425" y="20923"/>
                  </a:lnTo>
                  <a:lnTo>
                    <a:pt x="6592742" y="24240"/>
                  </a:lnTo>
                  <a:lnTo>
                    <a:pt x="6595703" y="27848"/>
                  </a:lnTo>
                  <a:lnTo>
                    <a:pt x="6598309" y="31748"/>
                  </a:lnTo>
                  <a:lnTo>
                    <a:pt x="6600915" y="35648"/>
                  </a:lnTo>
                  <a:lnTo>
                    <a:pt x="6603116" y="39765"/>
                  </a:lnTo>
                  <a:lnTo>
                    <a:pt x="6604911" y="44099"/>
                  </a:lnTo>
                  <a:lnTo>
                    <a:pt x="6606706" y="48432"/>
                  </a:lnTo>
                  <a:lnTo>
                    <a:pt x="6608061" y="52899"/>
                  </a:lnTo>
                  <a:lnTo>
                    <a:pt x="6608976" y="57500"/>
                  </a:lnTo>
                  <a:lnTo>
                    <a:pt x="6609891" y="62101"/>
                  </a:lnTo>
                  <a:lnTo>
                    <a:pt x="6610348" y="66746"/>
                  </a:lnTo>
                  <a:lnTo>
                    <a:pt x="6610349" y="71437"/>
                  </a:lnTo>
                  <a:lnTo>
                    <a:pt x="6610349" y="3967162"/>
                  </a:lnTo>
                  <a:lnTo>
                    <a:pt x="6610348" y="3971852"/>
                  </a:lnTo>
                  <a:lnTo>
                    <a:pt x="6609891" y="3976497"/>
                  </a:lnTo>
                  <a:lnTo>
                    <a:pt x="6608976" y="3981097"/>
                  </a:lnTo>
                  <a:lnTo>
                    <a:pt x="6608061" y="3985698"/>
                  </a:lnTo>
                  <a:lnTo>
                    <a:pt x="6606706" y="3990165"/>
                  </a:lnTo>
                  <a:lnTo>
                    <a:pt x="6604911" y="3994498"/>
                  </a:lnTo>
                  <a:lnTo>
                    <a:pt x="6603116" y="3998832"/>
                  </a:lnTo>
                  <a:lnTo>
                    <a:pt x="6600915" y="4002949"/>
                  </a:lnTo>
                  <a:lnTo>
                    <a:pt x="6598309" y="4006849"/>
                  </a:lnTo>
                  <a:lnTo>
                    <a:pt x="6595703" y="4010749"/>
                  </a:lnTo>
                  <a:lnTo>
                    <a:pt x="6578600" y="4026559"/>
                  </a:lnTo>
                  <a:lnTo>
                    <a:pt x="6574699" y="4029165"/>
                  </a:lnTo>
                  <a:lnTo>
                    <a:pt x="6570583" y="4031365"/>
                  </a:lnTo>
                  <a:lnTo>
                    <a:pt x="6566249" y="4033161"/>
                  </a:lnTo>
                  <a:lnTo>
                    <a:pt x="6561915" y="4034956"/>
                  </a:lnTo>
                  <a:lnTo>
                    <a:pt x="6557448" y="4036311"/>
                  </a:lnTo>
                  <a:lnTo>
                    <a:pt x="6552848" y="4037226"/>
                  </a:lnTo>
                  <a:lnTo>
                    <a:pt x="6548248" y="4038141"/>
                  </a:lnTo>
                  <a:lnTo>
                    <a:pt x="6543602" y="4038599"/>
                  </a:lnTo>
                  <a:lnTo>
                    <a:pt x="6538911" y="4038599"/>
                  </a:lnTo>
                  <a:lnTo>
                    <a:pt x="71437" y="4038599"/>
                  </a:lnTo>
                  <a:lnTo>
                    <a:pt x="66746" y="4038599"/>
                  </a:lnTo>
                  <a:lnTo>
                    <a:pt x="62101" y="4038141"/>
                  </a:lnTo>
                  <a:lnTo>
                    <a:pt x="57500" y="4037226"/>
                  </a:lnTo>
                  <a:lnTo>
                    <a:pt x="52900" y="4036311"/>
                  </a:lnTo>
                  <a:lnTo>
                    <a:pt x="31748" y="4026559"/>
                  </a:lnTo>
                  <a:lnTo>
                    <a:pt x="27848" y="4023953"/>
                  </a:lnTo>
                  <a:lnTo>
                    <a:pt x="12039" y="4006849"/>
                  </a:lnTo>
                  <a:lnTo>
                    <a:pt x="9433" y="4002949"/>
                  </a:lnTo>
                  <a:lnTo>
                    <a:pt x="7232" y="3998832"/>
                  </a:lnTo>
                  <a:lnTo>
                    <a:pt x="5437" y="3994498"/>
                  </a:lnTo>
                  <a:lnTo>
                    <a:pt x="3642" y="3990165"/>
                  </a:lnTo>
                  <a:lnTo>
                    <a:pt x="2287" y="3985698"/>
                  </a:lnTo>
                  <a:lnTo>
                    <a:pt x="1372" y="3981097"/>
                  </a:lnTo>
                  <a:lnTo>
                    <a:pt x="457" y="3976497"/>
                  </a:lnTo>
                  <a:lnTo>
                    <a:pt x="0" y="3971852"/>
                  </a:lnTo>
                  <a:lnTo>
                    <a:pt x="0" y="3967162"/>
                  </a:lnTo>
                  <a:close/>
                </a:path>
              </a:pathLst>
            </a:custGeom>
            <a:ln w="9524">
              <a:solidFill>
                <a:srgbClr val="1D4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47749" y="2828924"/>
              <a:ext cx="5381624" cy="213359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595312" y="5443537"/>
              <a:ext cx="1990725" cy="771525"/>
            </a:xfrm>
            <a:custGeom>
              <a:avLst/>
              <a:gdLst/>
              <a:ahLst/>
              <a:cxnLst/>
              <a:rect l="l" t="t" r="r" b="b"/>
              <a:pathLst>
                <a:path w="1990725" h="771525">
                  <a:moveTo>
                    <a:pt x="1961808" y="771524"/>
                  </a:moveTo>
                  <a:lnTo>
                    <a:pt x="28916" y="771524"/>
                  </a:lnTo>
                  <a:lnTo>
                    <a:pt x="24664" y="770679"/>
                  </a:lnTo>
                  <a:lnTo>
                    <a:pt x="0" y="742607"/>
                  </a:lnTo>
                  <a:lnTo>
                    <a:pt x="0" y="7381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961808" y="0"/>
                  </a:lnTo>
                  <a:lnTo>
                    <a:pt x="1990724" y="28916"/>
                  </a:lnTo>
                  <a:lnTo>
                    <a:pt x="1990724" y="742607"/>
                  </a:lnTo>
                  <a:lnTo>
                    <a:pt x="1966060" y="770679"/>
                  </a:lnTo>
                  <a:lnTo>
                    <a:pt x="1961808" y="771524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95312" y="5443537"/>
              <a:ext cx="1990725" cy="771525"/>
            </a:xfrm>
            <a:custGeom>
              <a:avLst/>
              <a:gdLst/>
              <a:ahLst/>
              <a:cxnLst/>
              <a:rect l="l" t="t" r="r" b="b"/>
              <a:pathLst>
                <a:path w="1990725" h="771525">
                  <a:moveTo>
                    <a:pt x="0" y="7381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89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957387" y="0"/>
                  </a:lnTo>
                  <a:lnTo>
                    <a:pt x="1961808" y="0"/>
                  </a:lnTo>
                  <a:lnTo>
                    <a:pt x="1966060" y="845"/>
                  </a:lnTo>
                  <a:lnTo>
                    <a:pt x="1970144" y="2537"/>
                  </a:lnTo>
                  <a:lnTo>
                    <a:pt x="1974228" y="4229"/>
                  </a:lnTo>
                  <a:lnTo>
                    <a:pt x="1977834" y="6637"/>
                  </a:lnTo>
                  <a:lnTo>
                    <a:pt x="1980960" y="9764"/>
                  </a:lnTo>
                  <a:lnTo>
                    <a:pt x="1984086" y="12889"/>
                  </a:lnTo>
                  <a:lnTo>
                    <a:pt x="1990724" y="33337"/>
                  </a:lnTo>
                  <a:lnTo>
                    <a:pt x="1990724" y="738187"/>
                  </a:lnTo>
                  <a:lnTo>
                    <a:pt x="1970144" y="768986"/>
                  </a:lnTo>
                  <a:lnTo>
                    <a:pt x="1966060" y="770679"/>
                  </a:lnTo>
                  <a:lnTo>
                    <a:pt x="1961808" y="771524"/>
                  </a:lnTo>
                  <a:lnTo>
                    <a:pt x="1957387" y="771524"/>
                  </a:lnTo>
                  <a:lnTo>
                    <a:pt x="33337" y="771524"/>
                  </a:lnTo>
                  <a:lnTo>
                    <a:pt x="28916" y="771524"/>
                  </a:lnTo>
                  <a:lnTo>
                    <a:pt x="24664" y="770679"/>
                  </a:lnTo>
                  <a:lnTo>
                    <a:pt x="20579" y="768986"/>
                  </a:lnTo>
                  <a:lnTo>
                    <a:pt x="16495" y="767294"/>
                  </a:lnTo>
                  <a:lnTo>
                    <a:pt x="2537" y="750944"/>
                  </a:lnTo>
                  <a:lnTo>
                    <a:pt x="845" y="746860"/>
                  </a:lnTo>
                  <a:lnTo>
                    <a:pt x="0" y="742607"/>
                  </a:lnTo>
                  <a:lnTo>
                    <a:pt x="0" y="738187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14375" y="5591174"/>
              <a:ext cx="133350" cy="133350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01674" y="5479414"/>
            <a:ext cx="1740535" cy="6235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730"/>
              </a:spcBef>
            </a:pPr>
            <a:r>
              <a:rPr sz="1050" b="1" dirty="0">
                <a:solidFill>
                  <a:srgbClr val="60A5FA"/>
                </a:solidFill>
                <a:latin typeface="微软雅黑"/>
                <a:cs typeface="微软雅黑"/>
              </a:rPr>
              <a:t>大脑 </a:t>
            </a:r>
            <a:r>
              <a:rPr sz="1050" b="1" spc="-10" dirty="0">
                <a:solidFill>
                  <a:srgbClr val="60A5FA"/>
                </a:solidFill>
                <a:latin typeface="微软雅黑"/>
                <a:cs typeface="微软雅黑"/>
              </a:rPr>
              <a:t>(Brain)</a:t>
            </a:r>
            <a:endParaRPr sz="1050">
              <a:latin typeface="微软雅黑"/>
              <a:cs typeface="微软雅黑"/>
            </a:endParaRPr>
          </a:p>
          <a:p>
            <a:pPr marL="12700" marR="5080">
              <a:lnSpc>
                <a:spcPct val="111100"/>
              </a:lnSpc>
              <a:spcBef>
                <a:spcPts val="420"/>
              </a:spcBef>
            </a:pPr>
            <a:r>
              <a:rPr sz="900" dirty="0">
                <a:solidFill>
                  <a:srgbClr val="9CA2AF"/>
                </a:solidFill>
                <a:latin typeface="微软雅黑"/>
                <a:cs typeface="微软雅黑"/>
              </a:rPr>
              <a:t>基于LLM</a:t>
            </a:r>
            <a:r>
              <a:rPr sz="900" spc="-5" dirty="0">
                <a:solidFill>
                  <a:srgbClr val="9CA2AF"/>
                </a:solidFill>
                <a:latin typeface="微软雅黑"/>
                <a:cs typeface="微软雅黑"/>
              </a:rPr>
              <a:t>进行推理、感知环境与指</a:t>
            </a:r>
            <a:r>
              <a:rPr sz="900" spc="-15" dirty="0">
                <a:solidFill>
                  <a:srgbClr val="9CA2AF"/>
                </a:solidFill>
                <a:latin typeface="微软雅黑"/>
                <a:cs typeface="微软雅黑"/>
              </a:rPr>
              <a:t>令理解。</a:t>
            </a:r>
            <a:endParaRPr sz="900">
              <a:latin typeface="微软雅黑"/>
              <a:cs typeface="微软雅黑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2743199" y="5438774"/>
            <a:ext cx="1990725" cy="781050"/>
            <a:chOff x="2743199" y="5438774"/>
            <a:chExt cx="1990725" cy="781050"/>
          </a:xfrm>
        </p:grpSpPr>
        <p:sp>
          <p:nvSpPr>
            <p:cNvPr id="23" name="object 23"/>
            <p:cNvSpPr/>
            <p:nvPr/>
          </p:nvSpPr>
          <p:spPr>
            <a:xfrm>
              <a:off x="2747962" y="5443537"/>
              <a:ext cx="1981200" cy="771525"/>
            </a:xfrm>
            <a:custGeom>
              <a:avLst/>
              <a:gdLst/>
              <a:ahLst/>
              <a:cxnLst/>
              <a:rect l="l" t="t" r="r" b="b"/>
              <a:pathLst>
                <a:path w="1981200" h="771525">
                  <a:moveTo>
                    <a:pt x="1952283" y="771524"/>
                  </a:moveTo>
                  <a:lnTo>
                    <a:pt x="28916" y="771524"/>
                  </a:lnTo>
                  <a:lnTo>
                    <a:pt x="24663" y="770679"/>
                  </a:lnTo>
                  <a:lnTo>
                    <a:pt x="0" y="742607"/>
                  </a:lnTo>
                  <a:lnTo>
                    <a:pt x="0" y="7381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952283" y="0"/>
                  </a:lnTo>
                  <a:lnTo>
                    <a:pt x="1981199" y="28916"/>
                  </a:lnTo>
                  <a:lnTo>
                    <a:pt x="1981199" y="742607"/>
                  </a:lnTo>
                  <a:lnTo>
                    <a:pt x="1956535" y="770679"/>
                  </a:lnTo>
                  <a:lnTo>
                    <a:pt x="1952283" y="771524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47962" y="5443537"/>
              <a:ext cx="1981200" cy="771525"/>
            </a:xfrm>
            <a:custGeom>
              <a:avLst/>
              <a:gdLst/>
              <a:ahLst/>
              <a:cxnLst/>
              <a:rect l="l" t="t" r="r" b="b"/>
              <a:pathLst>
                <a:path w="1981200" h="771525">
                  <a:moveTo>
                    <a:pt x="0" y="7381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89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947862" y="0"/>
                  </a:lnTo>
                  <a:lnTo>
                    <a:pt x="1952283" y="0"/>
                  </a:lnTo>
                  <a:lnTo>
                    <a:pt x="1956535" y="845"/>
                  </a:lnTo>
                  <a:lnTo>
                    <a:pt x="1960619" y="2537"/>
                  </a:lnTo>
                  <a:lnTo>
                    <a:pt x="1964703" y="4229"/>
                  </a:lnTo>
                  <a:lnTo>
                    <a:pt x="1968308" y="6637"/>
                  </a:lnTo>
                  <a:lnTo>
                    <a:pt x="1971435" y="9764"/>
                  </a:lnTo>
                  <a:lnTo>
                    <a:pt x="1974560" y="12889"/>
                  </a:lnTo>
                  <a:lnTo>
                    <a:pt x="1976969" y="16494"/>
                  </a:lnTo>
                  <a:lnTo>
                    <a:pt x="1978661" y="20579"/>
                  </a:lnTo>
                  <a:lnTo>
                    <a:pt x="1980353" y="24663"/>
                  </a:lnTo>
                  <a:lnTo>
                    <a:pt x="1981199" y="28916"/>
                  </a:lnTo>
                  <a:lnTo>
                    <a:pt x="1981200" y="33337"/>
                  </a:lnTo>
                  <a:lnTo>
                    <a:pt x="1981200" y="738187"/>
                  </a:lnTo>
                  <a:lnTo>
                    <a:pt x="1960619" y="768986"/>
                  </a:lnTo>
                  <a:lnTo>
                    <a:pt x="1956535" y="770679"/>
                  </a:lnTo>
                  <a:lnTo>
                    <a:pt x="1952283" y="771524"/>
                  </a:lnTo>
                  <a:lnTo>
                    <a:pt x="1947862" y="771524"/>
                  </a:lnTo>
                  <a:lnTo>
                    <a:pt x="33337" y="771524"/>
                  </a:lnTo>
                  <a:lnTo>
                    <a:pt x="28916" y="771524"/>
                  </a:lnTo>
                  <a:lnTo>
                    <a:pt x="24663" y="770679"/>
                  </a:lnTo>
                  <a:lnTo>
                    <a:pt x="20579" y="768986"/>
                  </a:lnTo>
                  <a:lnTo>
                    <a:pt x="16495" y="767294"/>
                  </a:lnTo>
                  <a:lnTo>
                    <a:pt x="2537" y="750944"/>
                  </a:lnTo>
                  <a:lnTo>
                    <a:pt x="845" y="746860"/>
                  </a:lnTo>
                  <a:lnTo>
                    <a:pt x="0" y="742607"/>
                  </a:lnTo>
                  <a:lnTo>
                    <a:pt x="0" y="738187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867024" y="5607843"/>
              <a:ext cx="150018" cy="100012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2850455" y="5479414"/>
            <a:ext cx="1596390" cy="6235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730"/>
              </a:spcBef>
            </a:pPr>
            <a:r>
              <a:rPr sz="1050" b="1" dirty="0">
                <a:solidFill>
                  <a:srgbClr val="33D399"/>
                </a:solidFill>
                <a:latin typeface="微软雅黑"/>
                <a:cs typeface="微软雅黑"/>
              </a:rPr>
              <a:t>思维 </a:t>
            </a:r>
            <a:r>
              <a:rPr sz="1050" b="1" spc="-10" dirty="0">
                <a:solidFill>
                  <a:srgbClr val="33D399"/>
                </a:solidFill>
                <a:latin typeface="微软雅黑"/>
                <a:cs typeface="微软雅黑"/>
              </a:rPr>
              <a:t>(Mind)</a:t>
            </a:r>
            <a:endParaRPr sz="1050">
              <a:latin typeface="微软雅黑"/>
              <a:cs typeface="微软雅黑"/>
            </a:endParaRPr>
          </a:p>
          <a:p>
            <a:pPr marL="12700" marR="5080">
              <a:lnSpc>
                <a:spcPct val="111100"/>
              </a:lnSpc>
              <a:spcBef>
                <a:spcPts val="420"/>
              </a:spcBef>
            </a:pPr>
            <a:r>
              <a:rPr sz="900" dirty="0">
                <a:solidFill>
                  <a:srgbClr val="9CA2AF"/>
                </a:solidFill>
                <a:latin typeface="微软雅黑"/>
                <a:cs typeface="微软雅黑"/>
              </a:rPr>
              <a:t>记忆存储(Memory)</a:t>
            </a:r>
            <a:r>
              <a:rPr sz="900" spc="-10" dirty="0">
                <a:solidFill>
                  <a:srgbClr val="9CA2AF"/>
                </a:solidFill>
                <a:latin typeface="微软雅黑"/>
                <a:cs typeface="微软雅黑"/>
              </a:rPr>
              <a:t>与行动规划</a:t>
            </a:r>
            <a:r>
              <a:rPr sz="900" spc="-50" dirty="0">
                <a:solidFill>
                  <a:srgbClr val="9CA2AF"/>
                </a:solidFill>
                <a:latin typeface="微软雅黑"/>
                <a:cs typeface="微软雅黑"/>
              </a:rPr>
              <a:t> </a:t>
            </a:r>
            <a:r>
              <a:rPr sz="900" spc="-10" dirty="0">
                <a:solidFill>
                  <a:srgbClr val="9CA2AF"/>
                </a:solidFill>
                <a:latin typeface="微软雅黑"/>
                <a:cs typeface="微软雅黑"/>
              </a:rPr>
              <a:t>(Planning/Reflection)</a:t>
            </a:r>
            <a:r>
              <a:rPr sz="900" spc="-50" dirty="0">
                <a:solidFill>
                  <a:srgbClr val="9CA2AF"/>
                </a:solidFill>
                <a:latin typeface="微软雅黑"/>
                <a:cs typeface="微软雅黑"/>
              </a:rPr>
              <a:t>。</a:t>
            </a:r>
            <a:endParaRPr sz="900">
              <a:latin typeface="微软雅黑"/>
              <a:cs typeface="微软雅黑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886324" y="5438774"/>
            <a:ext cx="2000250" cy="781050"/>
            <a:chOff x="4886324" y="5438774"/>
            <a:chExt cx="2000250" cy="781050"/>
          </a:xfrm>
        </p:grpSpPr>
        <p:sp>
          <p:nvSpPr>
            <p:cNvPr id="28" name="object 28"/>
            <p:cNvSpPr/>
            <p:nvPr/>
          </p:nvSpPr>
          <p:spPr>
            <a:xfrm>
              <a:off x="4891086" y="5443537"/>
              <a:ext cx="1990725" cy="771525"/>
            </a:xfrm>
            <a:custGeom>
              <a:avLst/>
              <a:gdLst/>
              <a:ahLst/>
              <a:cxnLst/>
              <a:rect l="l" t="t" r="r" b="b"/>
              <a:pathLst>
                <a:path w="1990725" h="771525">
                  <a:moveTo>
                    <a:pt x="1961807" y="771524"/>
                  </a:moveTo>
                  <a:lnTo>
                    <a:pt x="28916" y="771524"/>
                  </a:lnTo>
                  <a:lnTo>
                    <a:pt x="24664" y="770679"/>
                  </a:lnTo>
                  <a:lnTo>
                    <a:pt x="0" y="742607"/>
                  </a:lnTo>
                  <a:lnTo>
                    <a:pt x="0" y="7381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961807" y="0"/>
                  </a:lnTo>
                  <a:lnTo>
                    <a:pt x="1990724" y="28916"/>
                  </a:lnTo>
                  <a:lnTo>
                    <a:pt x="1990724" y="742607"/>
                  </a:lnTo>
                  <a:lnTo>
                    <a:pt x="1966060" y="770679"/>
                  </a:lnTo>
                  <a:lnTo>
                    <a:pt x="1961807" y="771524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91086" y="5443537"/>
              <a:ext cx="1990725" cy="771525"/>
            </a:xfrm>
            <a:custGeom>
              <a:avLst/>
              <a:gdLst/>
              <a:ahLst/>
              <a:cxnLst/>
              <a:rect l="l" t="t" r="r" b="b"/>
              <a:pathLst>
                <a:path w="1990725" h="771525">
                  <a:moveTo>
                    <a:pt x="0" y="7381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89"/>
                  </a:lnTo>
                  <a:lnTo>
                    <a:pt x="9764" y="9764"/>
                  </a:lnTo>
                  <a:lnTo>
                    <a:pt x="12890" y="6637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957387" y="0"/>
                  </a:lnTo>
                  <a:lnTo>
                    <a:pt x="1961807" y="0"/>
                  </a:lnTo>
                  <a:lnTo>
                    <a:pt x="1966060" y="845"/>
                  </a:lnTo>
                  <a:lnTo>
                    <a:pt x="1970144" y="2537"/>
                  </a:lnTo>
                  <a:lnTo>
                    <a:pt x="1974228" y="4229"/>
                  </a:lnTo>
                  <a:lnTo>
                    <a:pt x="1977834" y="6637"/>
                  </a:lnTo>
                  <a:lnTo>
                    <a:pt x="1980960" y="9764"/>
                  </a:lnTo>
                  <a:lnTo>
                    <a:pt x="1984085" y="12889"/>
                  </a:lnTo>
                  <a:lnTo>
                    <a:pt x="1990725" y="33337"/>
                  </a:lnTo>
                  <a:lnTo>
                    <a:pt x="1990725" y="738187"/>
                  </a:lnTo>
                  <a:lnTo>
                    <a:pt x="1970144" y="768986"/>
                  </a:lnTo>
                  <a:lnTo>
                    <a:pt x="1966060" y="770679"/>
                  </a:lnTo>
                  <a:lnTo>
                    <a:pt x="1961807" y="771524"/>
                  </a:lnTo>
                  <a:lnTo>
                    <a:pt x="1957387" y="771524"/>
                  </a:lnTo>
                  <a:lnTo>
                    <a:pt x="33337" y="771524"/>
                  </a:lnTo>
                  <a:lnTo>
                    <a:pt x="28916" y="771524"/>
                  </a:lnTo>
                  <a:lnTo>
                    <a:pt x="24664" y="770679"/>
                  </a:lnTo>
                  <a:lnTo>
                    <a:pt x="20579" y="768986"/>
                  </a:lnTo>
                  <a:lnTo>
                    <a:pt x="16495" y="767294"/>
                  </a:lnTo>
                  <a:lnTo>
                    <a:pt x="12890" y="764886"/>
                  </a:lnTo>
                  <a:lnTo>
                    <a:pt x="9764" y="761760"/>
                  </a:lnTo>
                  <a:lnTo>
                    <a:pt x="6638" y="758633"/>
                  </a:lnTo>
                  <a:lnTo>
                    <a:pt x="4229" y="755028"/>
                  </a:lnTo>
                  <a:lnTo>
                    <a:pt x="2537" y="750944"/>
                  </a:lnTo>
                  <a:lnTo>
                    <a:pt x="845" y="746860"/>
                  </a:lnTo>
                  <a:lnTo>
                    <a:pt x="0" y="742607"/>
                  </a:lnTo>
                  <a:lnTo>
                    <a:pt x="0" y="738187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009524" y="5590549"/>
              <a:ext cx="134782" cy="134782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999235" y="5479414"/>
            <a:ext cx="1695450" cy="6235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83515">
              <a:lnSpc>
                <a:spcPct val="100000"/>
              </a:lnSpc>
              <a:spcBef>
                <a:spcPts val="730"/>
              </a:spcBef>
            </a:pPr>
            <a:r>
              <a:rPr sz="1050" b="1" spc="-5" dirty="0">
                <a:solidFill>
                  <a:srgbClr val="A68BFA"/>
                </a:solidFill>
                <a:latin typeface="微软雅黑"/>
                <a:cs typeface="微软雅黑"/>
              </a:rPr>
              <a:t>手脚 (</a:t>
            </a:r>
            <a:r>
              <a:rPr sz="1050" b="1" spc="-10" dirty="0">
                <a:solidFill>
                  <a:srgbClr val="A68BFA"/>
                </a:solidFill>
                <a:latin typeface="微软雅黑"/>
                <a:cs typeface="微软雅黑"/>
              </a:rPr>
              <a:t>Tools)</a:t>
            </a:r>
            <a:endParaRPr sz="1050">
              <a:latin typeface="微软雅黑"/>
              <a:cs typeface="微软雅黑"/>
            </a:endParaRPr>
          </a:p>
          <a:p>
            <a:pPr marL="12700" marR="5080">
              <a:lnSpc>
                <a:spcPct val="111100"/>
              </a:lnSpc>
              <a:spcBef>
                <a:spcPts val="420"/>
              </a:spcBef>
            </a:pPr>
            <a:r>
              <a:rPr sz="900" spc="-10" dirty="0">
                <a:solidFill>
                  <a:srgbClr val="9CA2AF"/>
                </a:solidFill>
                <a:latin typeface="微软雅黑"/>
                <a:cs typeface="微软雅黑"/>
              </a:rPr>
              <a:t>通过API</a:t>
            </a:r>
            <a:r>
              <a:rPr sz="900" spc="-15" dirty="0">
                <a:solidFill>
                  <a:srgbClr val="9CA2AF"/>
                </a:solidFill>
                <a:latin typeface="微软雅黑"/>
                <a:cs typeface="微软雅黑"/>
              </a:rPr>
              <a:t>与工具连接外部世界，执</a:t>
            </a:r>
            <a:r>
              <a:rPr sz="900" spc="-10" dirty="0">
                <a:solidFill>
                  <a:srgbClr val="9CA2AF"/>
                </a:solidFill>
                <a:latin typeface="微软雅黑"/>
                <a:cs typeface="微软雅黑"/>
              </a:rPr>
              <a:t>行具体操作。</a:t>
            </a:r>
            <a:endParaRPr sz="900">
              <a:latin typeface="微软雅黑"/>
              <a:cs typeface="微软雅黑"/>
            </a:endParaRPr>
          </a:p>
        </p:txBody>
      </p:sp>
      <p:pic>
        <p:nvPicPr>
          <p:cNvPr id="32" name="object 3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353265" y="1999379"/>
            <a:ext cx="171516" cy="173191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7586315" y="1968500"/>
            <a:ext cx="1911350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b="1" spc="-5" dirty="0">
                <a:solidFill>
                  <a:srgbClr val="A5B4FB"/>
                </a:solidFill>
                <a:latin typeface="微软雅黑"/>
                <a:cs typeface="微软雅黑"/>
              </a:rPr>
              <a:t>能力跃迁：从生成到行动</a:t>
            </a:r>
            <a:endParaRPr sz="1350">
              <a:latin typeface="微软雅黑"/>
              <a:cs typeface="微软雅黑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353299" y="2333624"/>
            <a:ext cx="4410075" cy="1219200"/>
            <a:chOff x="7353299" y="2333624"/>
            <a:chExt cx="4410075" cy="1219200"/>
          </a:xfrm>
        </p:grpSpPr>
        <p:sp>
          <p:nvSpPr>
            <p:cNvPr id="35" name="object 35"/>
            <p:cNvSpPr/>
            <p:nvPr/>
          </p:nvSpPr>
          <p:spPr>
            <a:xfrm>
              <a:off x="7353299" y="2333624"/>
              <a:ext cx="4410075" cy="1219200"/>
            </a:xfrm>
            <a:custGeom>
              <a:avLst/>
              <a:gdLst/>
              <a:ahLst/>
              <a:cxnLst/>
              <a:rect l="l" t="t" r="r" b="b"/>
              <a:pathLst>
                <a:path w="4410075" h="1219200">
                  <a:moveTo>
                    <a:pt x="4371974" y="1219199"/>
                  </a:moveTo>
                  <a:lnTo>
                    <a:pt x="38099" y="1219199"/>
                  </a:lnTo>
                  <a:lnTo>
                    <a:pt x="30497" y="1218502"/>
                  </a:lnTo>
                  <a:lnTo>
                    <a:pt x="697" y="1188701"/>
                  </a:lnTo>
                  <a:lnTo>
                    <a:pt x="0" y="11810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4371974" y="0"/>
                  </a:lnTo>
                  <a:lnTo>
                    <a:pt x="4407284" y="23474"/>
                  </a:lnTo>
                  <a:lnTo>
                    <a:pt x="4410074" y="38099"/>
                  </a:lnTo>
                  <a:lnTo>
                    <a:pt x="4410074" y="1181099"/>
                  </a:lnTo>
                  <a:lnTo>
                    <a:pt x="4386600" y="1216409"/>
                  </a:lnTo>
                  <a:lnTo>
                    <a:pt x="4371974" y="12191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543924" y="2371724"/>
              <a:ext cx="2028824" cy="1142999"/>
            </a:xfrm>
            <a:prstGeom prst="rect">
              <a:avLst/>
            </a:prstGeom>
          </p:spPr>
        </p:pic>
      </p:grpSp>
      <p:grpSp>
        <p:nvGrpSpPr>
          <p:cNvPr id="37" name="object 37"/>
          <p:cNvGrpSpPr/>
          <p:nvPr/>
        </p:nvGrpSpPr>
        <p:grpSpPr>
          <a:xfrm>
            <a:off x="7353299" y="3705224"/>
            <a:ext cx="4410075" cy="914400"/>
            <a:chOff x="7353299" y="3705224"/>
            <a:chExt cx="4410075" cy="914400"/>
          </a:xfrm>
        </p:grpSpPr>
        <p:sp>
          <p:nvSpPr>
            <p:cNvPr id="38" name="object 38"/>
            <p:cNvSpPr/>
            <p:nvPr/>
          </p:nvSpPr>
          <p:spPr>
            <a:xfrm>
              <a:off x="7362824" y="3705224"/>
              <a:ext cx="4400550" cy="914400"/>
            </a:xfrm>
            <a:custGeom>
              <a:avLst/>
              <a:gdLst/>
              <a:ahLst/>
              <a:cxnLst/>
              <a:rect l="l" t="t" r="r" b="b"/>
              <a:pathLst>
                <a:path w="4400550" h="914400">
                  <a:moveTo>
                    <a:pt x="4367501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4367501" y="0"/>
                  </a:lnTo>
                  <a:lnTo>
                    <a:pt x="4372361" y="966"/>
                  </a:lnTo>
                  <a:lnTo>
                    <a:pt x="4399582" y="28187"/>
                  </a:lnTo>
                  <a:lnTo>
                    <a:pt x="4400548" y="33047"/>
                  </a:lnTo>
                  <a:lnTo>
                    <a:pt x="4400548" y="881351"/>
                  </a:lnTo>
                  <a:lnTo>
                    <a:pt x="4372361" y="913432"/>
                  </a:lnTo>
                  <a:lnTo>
                    <a:pt x="4367501" y="914399"/>
                  </a:lnTo>
                  <a:close/>
                </a:path>
              </a:pathLst>
            </a:custGeom>
            <a:solidFill>
              <a:srgbClr val="1F2937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7353299" y="3705224"/>
              <a:ext cx="19050" cy="914400"/>
            </a:xfrm>
            <a:custGeom>
              <a:avLst/>
              <a:gdLst/>
              <a:ahLst/>
              <a:cxnLst/>
              <a:rect l="l" t="t" r="r" b="b"/>
              <a:pathLst>
                <a:path w="19050" h="914400">
                  <a:moveTo>
                    <a:pt x="19049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914399"/>
                  </a:lnTo>
                  <a:close/>
                </a:path>
              </a:pathLst>
            </a:custGeom>
            <a:solidFill>
              <a:srgbClr val="6A72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486262" y="3905249"/>
              <a:ext cx="152786" cy="133379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7738715" y="3736339"/>
            <a:ext cx="1663700" cy="7759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050" b="1" spc="-10" dirty="0">
                <a:solidFill>
                  <a:srgbClr val="E4E7EB"/>
                </a:solidFill>
                <a:latin typeface="微软雅黑"/>
                <a:cs typeface="微软雅黑"/>
              </a:rPr>
              <a:t>生成式 </a:t>
            </a:r>
            <a:r>
              <a:rPr sz="1050" b="1" dirty="0">
                <a:solidFill>
                  <a:srgbClr val="E4E7EB"/>
                </a:solidFill>
                <a:latin typeface="微软雅黑"/>
                <a:cs typeface="微软雅黑"/>
              </a:rPr>
              <a:t>AI</a:t>
            </a:r>
            <a:r>
              <a:rPr sz="1050" b="1" spc="-25" dirty="0">
                <a:solidFill>
                  <a:srgbClr val="E4E7EB"/>
                </a:solidFill>
                <a:latin typeface="微软雅黑"/>
                <a:cs typeface="微软雅黑"/>
              </a:rPr>
              <a:t> </a:t>
            </a:r>
            <a:r>
              <a:rPr sz="1050" b="1" dirty="0">
                <a:solidFill>
                  <a:srgbClr val="E4E7EB"/>
                </a:solidFill>
                <a:latin typeface="微软雅黑"/>
                <a:cs typeface="微软雅黑"/>
              </a:rPr>
              <a:t>(Generative</a:t>
            </a:r>
            <a:r>
              <a:rPr sz="1050" b="1" spc="-25" dirty="0">
                <a:solidFill>
                  <a:srgbClr val="E4E7EB"/>
                </a:solidFill>
                <a:latin typeface="微软雅黑"/>
                <a:cs typeface="微软雅黑"/>
              </a:rPr>
              <a:t> AI)</a:t>
            </a:r>
            <a:endParaRPr sz="1050">
              <a:latin typeface="微软雅黑"/>
              <a:cs typeface="微软雅黑"/>
            </a:endParaRPr>
          </a:p>
          <a:p>
            <a:pPr marL="95885" indent="-83185">
              <a:lnSpc>
                <a:spcPct val="100000"/>
              </a:lnSpc>
              <a:spcBef>
                <a:spcPts val="540"/>
              </a:spcBef>
              <a:buChar char="•"/>
              <a:tabLst>
                <a:tab pos="95885" algn="l"/>
              </a:tabLst>
            </a:pPr>
            <a:r>
              <a:rPr sz="900" spc="-10" dirty="0">
                <a:solidFill>
                  <a:srgbClr val="9CA2AF"/>
                </a:solidFill>
                <a:latin typeface="微软雅黑"/>
                <a:cs typeface="微软雅黑"/>
              </a:rPr>
              <a:t>仅具备内容创造能力</a:t>
            </a:r>
            <a:endParaRPr sz="900">
              <a:latin typeface="微软雅黑"/>
              <a:cs typeface="微软雅黑"/>
            </a:endParaRPr>
          </a:p>
          <a:p>
            <a:pPr marL="95885" indent="-83185">
              <a:lnSpc>
                <a:spcPct val="100000"/>
              </a:lnSpc>
              <a:spcBef>
                <a:spcPts val="120"/>
              </a:spcBef>
              <a:buChar char="•"/>
              <a:tabLst>
                <a:tab pos="95885" algn="l"/>
              </a:tabLst>
            </a:pPr>
            <a:r>
              <a:rPr sz="900" dirty="0">
                <a:solidFill>
                  <a:srgbClr val="9CA2AF"/>
                </a:solidFill>
                <a:latin typeface="微软雅黑"/>
                <a:cs typeface="微软雅黑"/>
              </a:rPr>
              <a:t>缺乏自主性，依赖即时</a:t>
            </a:r>
            <a:r>
              <a:rPr sz="900" spc="-10" dirty="0">
                <a:solidFill>
                  <a:srgbClr val="9CA2AF"/>
                </a:solidFill>
                <a:latin typeface="微软雅黑"/>
                <a:cs typeface="微软雅黑"/>
              </a:rPr>
              <a:t>Prompt</a:t>
            </a:r>
            <a:endParaRPr sz="900">
              <a:latin typeface="微软雅黑"/>
              <a:cs typeface="微软雅黑"/>
            </a:endParaRPr>
          </a:p>
          <a:p>
            <a:pPr marL="95885" indent="-83185">
              <a:lnSpc>
                <a:spcPct val="100000"/>
              </a:lnSpc>
              <a:spcBef>
                <a:spcPts val="120"/>
              </a:spcBef>
              <a:buChar char="•"/>
              <a:tabLst>
                <a:tab pos="95885" algn="l"/>
              </a:tabLst>
            </a:pPr>
            <a:r>
              <a:rPr sz="900" spc="-5" dirty="0">
                <a:solidFill>
                  <a:srgbClr val="9CA2AF"/>
                </a:solidFill>
                <a:latin typeface="微软雅黑"/>
                <a:cs typeface="微软雅黑"/>
              </a:rPr>
              <a:t>知识相对静态，无外部交互</a:t>
            </a:r>
            <a:endParaRPr sz="900">
              <a:latin typeface="微软雅黑"/>
              <a:cs typeface="微软雅黑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7353299" y="5019674"/>
            <a:ext cx="4410075" cy="914400"/>
            <a:chOff x="7353299" y="5019674"/>
            <a:chExt cx="4410075" cy="914400"/>
          </a:xfrm>
        </p:grpSpPr>
        <p:sp>
          <p:nvSpPr>
            <p:cNvPr id="43" name="object 43"/>
            <p:cNvSpPr/>
            <p:nvPr/>
          </p:nvSpPr>
          <p:spPr>
            <a:xfrm>
              <a:off x="7362824" y="5019674"/>
              <a:ext cx="4400550" cy="914400"/>
            </a:xfrm>
            <a:custGeom>
              <a:avLst/>
              <a:gdLst/>
              <a:ahLst/>
              <a:cxnLst/>
              <a:rect l="l" t="t" r="r" b="b"/>
              <a:pathLst>
                <a:path w="4400550" h="914400">
                  <a:moveTo>
                    <a:pt x="4367501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4367501" y="0"/>
                  </a:lnTo>
                  <a:lnTo>
                    <a:pt x="4372361" y="966"/>
                  </a:lnTo>
                  <a:lnTo>
                    <a:pt x="4399582" y="28186"/>
                  </a:lnTo>
                  <a:lnTo>
                    <a:pt x="4400548" y="33047"/>
                  </a:lnTo>
                  <a:lnTo>
                    <a:pt x="4400548" y="881351"/>
                  </a:lnTo>
                  <a:lnTo>
                    <a:pt x="4372361" y="913432"/>
                  </a:lnTo>
                  <a:lnTo>
                    <a:pt x="4367501" y="914399"/>
                  </a:lnTo>
                  <a:close/>
                </a:path>
              </a:pathLst>
            </a:custGeom>
            <a:solidFill>
              <a:srgbClr val="1D3A8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7353299" y="5019674"/>
              <a:ext cx="19050" cy="914400"/>
            </a:xfrm>
            <a:custGeom>
              <a:avLst/>
              <a:gdLst/>
              <a:ahLst/>
              <a:cxnLst/>
              <a:rect l="l" t="t" r="r" b="b"/>
              <a:pathLst>
                <a:path w="19050" h="914400">
                  <a:moveTo>
                    <a:pt x="19049" y="914399"/>
                  </a:moveTo>
                  <a:lnTo>
                    <a:pt x="0" y="91439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9143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5" name="object 4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486649" y="5210174"/>
              <a:ext cx="190499" cy="152399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7776815" y="5050789"/>
            <a:ext cx="1809114" cy="775970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1050" b="1" dirty="0">
                <a:solidFill>
                  <a:srgbClr val="DAE9FE"/>
                </a:solidFill>
                <a:latin typeface="微软雅黑"/>
                <a:cs typeface="微软雅黑"/>
              </a:rPr>
              <a:t>AI Agent (Agentic </a:t>
            </a:r>
            <a:r>
              <a:rPr sz="1050" b="1" spc="-25" dirty="0">
                <a:solidFill>
                  <a:srgbClr val="DAE9FE"/>
                </a:solidFill>
                <a:latin typeface="微软雅黑"/>
                <a:cs typeface="微软雅黑"/>
              </a:rPr>
              <a:t>AI)</a:t>
            </a:r>
            <a:endParaRPr sz="1050">
              <a:latin typeface="微软雅黑"/>
              <a:cs typeface="微软雅黑"/>
            </a:endParaRPr>
          </a:p>
          <a:p>
            <a:pPr marL="95885" indent="-83185">
              <a:lnSpc>
                <a:spcPct val="100000"/>
              </a:lnSpc>
              <a:spcBef>
                <a:spcPts val="540"/>
              </a:spcBef>
              <a:buChar char="•"/>
              <a:tabLst>
                <a:tab pos="95885" algn="l"/>
              </a:tabLst>
            </a:pPr>
            <a:r>
              <a:rPr sz="900" spc="-5" dirty="0">
                <a:solidFill>
                  <a:srgbClr val="BEDAFE"/>
                </a:solidFill>
                <a:latin typeface="微软雅黑"/>
                <a:cs typeface="微软雅黑"/>
              </a:rPr>
              <a:t>具备目标导向的执行力</a:t>
            </a:r>
            <a:endParaRPr sz="900">
              <a:latin typeface="微软雅黑"/>
              <a:cs typeface="微软雅黑"/>
            </a:endParaRPr>
          </a:p>
          <a:p>
            <a:pPr marL="95885" indent="-83185">
              <a:lnSpc>
                <a:spcPct val="100000"/>
              </a:lnSpc>
              <a:spcBef>
                <a:spcPts val="120"/>
              </a:spcBef>
              <a:buChar char="•"/>
              <a:tabLst>
                <a:tab pos="95885" algn="l"/>
              </a:tabLst>
            </a:pPr>
            <a:r>
              <a:rPr sz="900" spc="-5" dirty="0">
                <a:solidFill>
                  <a:srgbClr val="BEDAFE"/>
                </a:solidFill>
                <a:latin typeface="微软雅黑"/>
                <a:cs typeface="微软雅黑"/>
              </a:rPr>
              <a:t>能自主规划、反思与纠错</a:t>
            </a:r>
            <a:endParaRPr sz="900">
              <a:latin typeface="微软雅黑"/>
              <a:cs typeface="微软雅黑"/>
            </a:endParaRPr>
          </a:p>
          <a:p>
            <a:pPr marL="95885" indent="-83185">
              <a:lnSpc>
                <a:spcPct val="100000"/>
              </a:lnSpc>
              <a:spcBef>
                <a:spcPts val="120"/>
              </a:spcBef>
              <a:buChar char="•"/>
              <a:tabLst>
                <a:tab pos="95885" algn="l"/>
              </a:tabLst>
            </a:pPr>
            <a:r>
              <a:rPr sz="900" spc="-5" dirty="0">
                <a:solidFill>
                  <a:srgbClr val="BEDAFE"/>
                </a:solidFill>
                <a:latin typeface="微软雅黑"/>
                <a:cs typeface="微软雅黑"/>
              </a:rPr>
              <a:t>调用工具形成感知-决策-行动闭环</a:t>
            </a:r>
            <a:endParaRPr sz="900">
              <a:latin typeface="微软雅黑"/>
              <a:cs typeface="微软雅黑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495352" y="4704034"/>
            <a:ext cx="130730" cy="151056"/>
          </a:xfrm>
          <a:prstGeom prst="rect">
            <a:avLst/>
          </a:prstGeom>
        </p:spPr>
      </p:pic>
      <p:sp>
        <p:nvSpPr>
          <p:cNvPr id="48" name="object 4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50" spc="-50" dirty="0"/>
              <a:t>5</a:t>
            </a:fld>
            <a:endParaRPr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925" y="215900"/>
            <a:ext cx="51816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从生成式</a:t>
            </a:r>
            <a:r>
              <a:rPr spc="-25" dirty="0"/>
              <a:t>AI</a:t>
            </a:r>
            <a:r>
              <a:rPr spc="-30" dirty="0"/>
              <a:t>到</a:t>
            </a:r>
            <a:r>
              <a:rPr dirty="0"/>
              <a:t>AI</a:t>
            </a:r>
            <a:r>
              <a:rPr spc="-25" dirty="0"/>
              <a:t> </a:t>
            </a:r>
            <a:r>
              <a:rPr dirty="0"/>
              <a:t>Agent</a:t>
            </a:r>
            <a:r>
              <a:rPr spc="-20" dirty="0"/>
              <a:t>的跃迁</a:t>
            </a:r>
          </a:p>
        </p:txBody>
      </p:sp>
      <p:sp>
        <p:nvSpPr>
          <p:cNvPr id="3" name="object 3"/>
          <p:cNvSpPr/>
          <p:nvPr/>
        </p:nvSpPr>
        <p:spPr>
          <a:xfrm>
            <a:off x="428624" y="800099"/>
            <a:ext cx="3095625" cy="38100"/>
          </a:xfrm>
          <a:custGeom>
            <a:avLst/>
            <a:gdLst/>
            <a:ahLst/>
            <a:cxnLst/>
            <a:rect l="l" t="t" r="r" b="b"/>
            <a:pathLst>
              <a:path w="3095625" h="38100">
                <a:moveTo>
                  <a:pt x="3095624" y="38099"/>
                </a:moveTo>
                <a:lnTo>
                  <a:pt x="0" y="38099"/>
                </a:lnTo>
                <a:lnTo>
                  <a:pt x="0" y="0"/>
                </a:lnTo>
                <a:lnTo>
                  <a:pt x="3095624" y="0"/>
                </a:lnTo>
                <a:lnTo>
                  <a:pt x="3095624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368549" y="1294606"/>
            <a:ext cx="745490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spc="135" dirty="0">
                <a:solidFill>
                  <a:srgbClr val="D0D5DA"/>
                </a:solidFill>
                <a:latin typeface="微软雅黑"/>
                <a:cs typeface="微软雅黑"/>
              </a:rPr>
              <a:t>从 </a:t>
            </a:r>
            <a:r>
              <a:rPr sz="1450" b="1" spc="35" dirty="0">
                <a:solidFill>
                  <a:srgbClr val="93C4FD"/>
                </a:solidFill>
                <a:latin typeface="微软雅黑"/>
                <a:cs typeface="微软雅黑"/>
              </a:rPr>
              <a:t>单一内容生成 </a:t>
            </a:r>
            <a:r>
              <a:rPr sz="1450" spc="135" dirty="0">
                <a:solidFill>
                  <a:srgbClr val="D0D5DA"/>
                </a:solidFill>
                <a:latin typeface="微软雅黑"/>
                <a:cs typeface="微软雅黑"/>
              </a:rPr>
              <a:t>向 </a:t>
            </a:r>
            <a:r>
              <a:rPr sz="1450" b="1" spc="30" dirty="0">
                <a:solidFill>
                  <a:srgbClr val="C3B4FD"/>
                </a:solidFill>
                <a:latin typeface="微软雅黑"/>
                <a:cs typeface="微软雅黑"/>
              </a:rPr>
              <a:t>多智能体协作系统 </a:t>
            </a:r>
            <a:r>
              <a:rPr sz="1450" spc="30" dirty="0">
                <a:solidFill>
                  <a:srgbClr val="D0D5DA"/>
                </a:solidFill>
                <a:latin typeface="微软雅黑"/>
                <a:cs typeface="微软雅黑"/>
              </a:rPr>
              <a:t>的演进， 本质是 </a:t>
            </a:r>
            <a:r>
              <a:rPr sz="1450" b="1" spc="65" dirty="0">
                <a:solidFill>
                  <a:srgbClr val="FFFFFF"/>
                </a:solidFill>
                <a:latin typeface="微软雅黑"/>
                <a:cs typeface="微软雅黑"/>
              </a:rPr>
              <a:t>自主性 </a:t>
            </a:r>
            <a:r>
              <a:rPr sz="1450" spc="135" dirty="0">
                <a:solidFill>
                  <a:srgbClr val="D0D5DA"/>
                </a:solidFill>
                <a:latin typeface="微软雅黑"/>
                <a:cs typeface="微软雅黑"/>
              </a:rPr>
              <a:t>与 </a:t>
            </a:r>
            <a:r>
              <a:rPr sz="1450" b="1" spc="45" dirty="0">
                <a:solidFill>
                  <a:srgbClr val="FFFFFF"/>
                </a:solidFill>
                <a:latin typeface="微软雅黑"/>
                <a:cs typeface="微软雅黑"/>
              </a:rPr>
              <a:t>系统复杂度 </a:t>
            </a:r>
            <a:r>
              <a:rPr sz="1450" spc="-15" dirty="0">
                <a:solidFill>
                  <a:srgbClr val="D0D5DA"/>
                </a:solidFill>
                <a:latin typeface="微软雅黑"/>
                <a:cs typeface="微软雅黑"/>
              </a:rPr>
              <a:t>的提升。</a:t>
            </a:r>
            <a:endParaRPr sz="1450">
              <a:latin typeface="微软雅黑"/>
              <a:cs typeface="微软雅黑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28624" y="1857374"/>
            <a:ext cx="3381375" cy="4371975"/>
            <a:chOff x="428624" y="1857374"/>
            <a:chExt cx="3381375" cy="4371975"/>
          </a:xfrm>
        </p:grpSpPr>
        <p:sp>
          <p:nvSpPr>
            <p:cNvPr id="6" name="object 6"/>
            <p:cNvSpPr/>
            <p:nvPr/>
          </p:nvSpPr>
          <p:spPr>
            <a:xfrm>
              <a:off x="428624" y="1871662"/>
              <a:ext cx="3381375" cy="4358005"/>
            </a:xfrm>
            <a:custGeom>
              <a:avLst/>
              <a:gdLst/>
              <a:ahLst/>
              <a:cxnLst/>
              <a:rect l="l" t="t" r="r" b="b"/>
              <a:pathLst>
                <a:path w="3381375" h="4358005">
                  <a:moveTo>
                    <a:pt x="3311064" y="4357687"/>
                  </a:moveTo>
                  <a:lnTo>
                    <a:pt x="70310" y="4357687"/>
                  </a:lnTo>
                  <a:lnTo>
                    <a:pt x="65416" y="4357205"/>
                  </a:lnTo>
                  <a:lnTo>
                    <a:pt x="29335" y="4342258"/>
                  </a:lnTo>
                  <a:lnTo>
                    <a:pt x="3837" y="4306666"/>
                  </a:lnTo>
                  <a:lnTo>
                    <a:pt x="0" y="4287376"/>
                  </a:lnTo>
                  <a:lnTo>
                    <a:pt x="0" y="4282435"/>
                  </a:lnTo>
                  <a:lnTo>
                    <a:pt x="0" y="0"/>
                  </a:lnTo>
                  <a:lnTo>
                    <a:pt x="3381374" y="0"/>
                  </a:lnTo>
                  <a:lnTo>
                    <a:pt x="3381374" y="4287376"/>
                  </a:lnTo>
                  <a:lnTo>
                    <a:pt x="3365947" y="4328350"/>
                  </a:lnTo>
                  <a:lnTo>
                    <a:pt x="3330355" y="4353849"/>
                  </a:lnTo>
                  <a:lnTo>
                    <a:pt x="3315957" y="4357205"/>
                  </a:lnTo>
                  <a:lnTo>
                    <a:pt x="3311064" y="4357687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28624" y="1857374"/>
              <a:ext cx="3381375" cy="28575"/>
            </a:xfrm>
            <a:custGeom>
              <a:avLst/>
              <a:gdLst/>
              <a:ahLst/>
              <a:cxnLst/>
              <a:rect l="l" t="t" r="r" b="b"/>
              <a:pathLst>
                <a:path w="3381375" h="28575">
                  <a:moveTo>
                    <a:pt x="3381374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3381374" y="0"/>
                  </a:lnTo>
                  <a:lnTo>
                    <a:pt x="3381374" y="28574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19124" y="2114549"/>
              <a:ext cx="333375" cy="381000"/>
            </a:xfrm>
            <a:custGeom>
              <a:avLst/>
              <a:gdLst/>
              <a:ahLst/>
              <a:cxnLst/>
              <a:rect l="l" t="t" r="r" b="b"/>
              <a:pathLst>
                <a:path w="333375" h="381000">
                  <a:moveTo>
                    <a:pt x="300738" y="380999"/>
                  </a:moveTo>
                  <a:lnTo>
                    <a:pt x="32636" y="380999"/>
                  </a:lnTo>
                  <a:lnTo>
                    <a:pt x="27836" y="380045"/>
                  </a:lnTo>
                  <a:lnTo>
                    <a:pt x="0" y="348363"/>
                  </a:lnTo>
                  <a:lnTo>
                    <a:pt x="0" y="343374"/>
                  </a:lnTo>
                  <a:lnTo>
                    <a:pt x="0" y="32636"/>
                  </a:lnTo>
                  <a:lnTo>
                    <a:pt x="27836" y="954"/>
                  </a:lnTo>
                  <a:lnTo>
                    <a:pt x="32636" y="0"/>
                  </a:lnTo>
                  <a:lnTo>
                    <a:pt x="300738" y="0"/>
                  </a:lnTo>
                  <a:lnTo>
                    <a:pt x="332420" y="27836"/>
                  </a:lnTo>
                  <a:lnTo>
                    <a:pt x="333374" y="32636"/>
                  </a:lnTo>
                  <a:lnTo>
                    <a:pt x="333374" y="348363"/>
                  </a:lnTo>
                  <a:lnTo>
                    <a:pt x="305538" y="380045"/>
                  </a:lnTo>
                  <a:lnTo>
                    <a:pt x="300738" y="380999"/>
                  </a:lnTo>
                  <a:close/>
                </a:path>
              </a:pathLst>
            </a:custGeom>
            <a:solidFill>
              <a:srgbClr val="374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95352" y="2200302"/>
              <a:ext cx="188063" cy="188063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055290" y="2018077"/>
            <a:ext cx="873760" cy="50736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50" b="1" spc="20" dirty="0">
                <a:solidFill>
                  <a:srgbClr val="F2F4F5"/>
                </a:solidFill>
                <a:latin typeface="微软雅黑"/>
                <a:cs typeface="微软雅黑"/>
              </a:rPr>
              <a:t>生成式 </a:t>
            </a:r>
            <a:r>
              <a:rPr sz="1450" b="1" spc="-25" dirty="0">
                <a:solidFill>
                  <a:srgbClr val="F2F4F5"/>
                </a:solidFill>
                <a:latin typeface="微软雅黑"/>
                <a:cs typeface="微软雅黑"/>
              </a:rPr>
              <a:t>AI</a:t>
            </a:r>
            <a:endParaRPr sz="14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1000" dirty="0">
                <a:solidFill>
                  <a:srgbClr val="9CA2AF"/>
                </a:solidFill>
                <a:latin typeface="微软雅黑"/>
                <a:cs typeface="微软雅黑"/>
              </a:rPr>
              <a:t>Generative</a:t>
            </a:r>
            <a:r>
              <a:rPr sz="1000" spc="145" dirty="0">
                <a:solidFill>
                  <a:srgbClr val="9CA2AF"/>
                </a:solidFill>
                <a:latin typeface="微软雅黑"/>
                <a:cs typeface="微软雅黑"/>
              </a:rPr>
              <a:t> </a:t>
            </a:r>
            <a:r>
              <a:rPr sz="1000" spc="-25" dirty="0">
                <a:solidFill>
                  <a:srgbClr val="9CA2AF"/>
                </a:solidFill>
                <a:latin typeface="微软雅黑"/>
                <a:cs typeface="微软雅黑"/>
              </a:rPr>
              <a:t>AI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19124" y="2676524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110363" y="266699"/>
                </a:moveTo>
                <a:lnTo>
                  <a:pt x="32636" y="266699"/>
                </a:lnTo>
                <a:lnTo>
                  <a:pt x="27836" y="265745"/>
                </a:lnTo>
                <a:lnTo>
                  <a:pt x="0" y="234063"/>
                </a:lnTo>
                <a:lnTo>
                  <a:pt x="0" y="229074"/>
                </a:lnTo>
                <a:lnTo>
                  <a:pt x="0" y="32636"/>
                </a:lnTo>
                <a:lnTo>
                  <a:pt x="27836" y="954"/>
                </a:lnTo>
                <a:lnTo>
                  <a:pt x="32636" y="0"/>
                </a:lnTo>
                <a:lnTo>
                  <a:pt x="1110363" y="0"/>
                </a:lnTo>
                <a:lnTo>
                  <a:pt x="1142045" y="27836"/>
                </a:lnTo>
                <a:lnTo>
                  <a:pt x="1142999" y="32636"/>
                </a:lnTo>
                <a:lnTo>
                  <a:pt x="1142999" y="234063"/>
                </a:lnTo>
                <a:lnTo>
                  <a:pt x="1115163" y="265745"/>
                </a:lnTo>
                <a:lnTo>
                  <a:pt x="1110363" y="266699"/>
                </a:lnTo>
                <a:close/>
              </a:path>
            </a:pathLst>
          </a:custGeom>
          <a:solidFill>
            <a:srgbClr val="1D3A8A">
              <a:alpha val="3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716855" y="2713164"/>
            <a:ext cx="946785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spc="-10" dirty="0">
                <a:solidFill>
                  <a:srgbClr val="BEDAFE"/>
                </a:solidFill>
                <a:latin typeface="微软雅黑"/>
                <a:cs typeface="微软雅黑"/>
              </a:rPr>
              <a:t>前身：内容创造</a:t>
            </a:r>
            <a:endParaRPr sz="1000">
              <a:latin typeface="微软雅黑"/>
              <a:cs typeface="微软雅黑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65378" y="3946569"/>
            <a:ext cx="115526" cy="200135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400549" y="1857374"/>
            <a:ext cx="3390900" cy="4371975"/>
            <a:chOff x="4400549" y="1857374"/>
            <a:chExt cx="3390900" cy="4371975"/>
          </a:xfrm>
        </p:grpSpPr>
        <p:sp>
          <p:nvSpPr>
            <p:cNvPr id="15" name="object 15"/>
            <p:cNvSpPr/>
            <p:nvPr/>
          </p:nvSpPr>
          <p:spPr>
            <a:xfrm>
              <a:off x="4400549" y="1871662"/>
              <a:ext cx="3390900" cy="4358005"/>
            </a:xfrm>
            <a:custGeom>
              <a:avLst/>
              <a:gdLst/>
              <a:ahLst/>
              <a:cxnLst/>
              <a:rect l="l" t="t" r="r" b="b"/>
              <a:pathLst>
                <a:path w="3390900" h="4358005">
                  <a:moveTo>
                    <a:pt x="3320589" y="4357687"/>
                  </a:moveTo>
                  <a:lnTo>
                    <a:pt x="70310" y="4357687"/>
                  </a:lnTo>
                  <a:lnTo>
                    <a:pt x="65416" y="4357205"/>
                  </a:lnTo>
                  <a:lnTo>
                    <a:pt x="29335" y="4342258"/>
                  </a:lnTo>
                  <a:lnTo>
                    <a:pt x="3836" y="4306666"/>
                  </a:lnTo>
                  <a:lnTo>
                    <a:pt x="0" y="4287376"/>
                  </a:lnTo>
                  <a:lnTo>
                    <a:pt x="0" y="4282435"/>
                  </a:lnTo>
                  <a:lnTo>
                    <a:pt x="0" y="0"/>
                  </a:lnTo>
                  <a:lnTo>
                    <a:pt x="3390899" y="0"/>
                  </a:lnTo>
                  <a:lnTo>
                    <a:pt x="3390899" y="4287376"/>
                  </a:lnTo>
                  <a:lnTo>
                    <a:pt x="3375471" y="4328350"/>
                  </a:lnTo>
                  <a:lnTo>
                    <a:pt x="3339880" y="4353849"/>
                  </a:lnTo>
                  <a:lnTo>
                    <a:pt x="3325482" y="4357205"/>
                  </a:lnTo>
                  <a:lnTo>
                    <a:pt x="3320589" y="4357687"/>
                  </a:lnTo>
                  <a:close/>
                </a:path>
              </a:pathLst>
            </a:custGeom>
            <a:solidFill>
              <a:srgbClr val="1D3A8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400549" y="1857374"/>
              <a:ext cx="3390900" cy="28575"/>
            </a:xfrm>
            <a:custGeom>
              <a:avLst/>
              <a:gdLst/>
              <a:ahLst/>
              <a:cxnLst/>
              <a:rect l="l" t="t" r="r" b="b"/>
              <a:pathLst>
                <a:path w="3390900" h="28575">
                  <a:moveTo>
                    <a:pt x="3390899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3390899" y="0"/>
                  </a:lnTo>
                  <a:lnTo>
                    <a:pt x="3390899" y="2857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591049" y="2114549"/>
              <a:ext cx="390525" cy="381000"/>
            </a:xfrm>
            <a:custGeom>
              <a:avLst/>
              <a:gdLst/>
              <a:ahLst/>
              <a:cxnLst/>
              <a:rect l="l" t="t" r="r" b="b"/>
              <a:pathLst>
                <a:path w="390525" h="381000">
                  <a:moveTo>
                    <a:pt x="357888" y="380999"/>
                  </a:moveTo>
                  <a:lnTo>
                    <a:pt x="32636" y="380999"/>
                  </a:lnTo>
                  <a:lnTo>
                    <a:pt x="27836" y="380045"/>
                  </a:lnTo>
                  <a:lnTo>
                    <a:pt x="0" y="348363"/>
                  </a:lnTo>
                  <a:lnTo>
                    <a:pt x="0" y="343374"/>
                  </a:lnTo>
                  <a:lnTo>
                    <a:pt x="0" y="32636"/>
                  </a:lnTo>
                  <a:lnTo>
                    <a:pt x="27836" y="954"/>
                  </a:lnTo>
                  <a:lnTo>
                    <a:pt x="32636" y="0"/>
                  </a:lnTo>
                  <a:lnTo>
                    <a:pt x="357888" y="0"/>
                  </a:lnTo>
                  <a:lnTo>
                    <a:pt x="389570" y="27836"/>
                  </a:lnTo>
                  <a:lnTo>
                    <a:pt x="390524" y="32636"/>
                  </a:lnTo>
                  <a:lnTo>
                    <a:pt x="390524" y="348363"/>
                  </a:lnTo>
                  <a:lnTo>
                    <a:pt x="362687" y="380045"/>
                  </a:lnTo>
                  <a:lnTo>
                    <a:pt x="357888" y="3809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67249" y="2200274"/>
              <a:ext cx="235148" cy="188118"/>
            </a:xfrm>
            <a:prstGeom prst="rect">
              <a:avLst/>
            </a:prstGeom>
          </p:spPr>
        </p:pic>
      </p:grpSp>
      <p:grpSp>
        <p:nvGrpSpPr>
          <p:cNvPr id="19" name="object 19"/>
          <p:cNvGrpSpPr/>
          <p:nvPr/>
        </p:nvGrpSpPr>
        <p:grpSpPr>
          <a:xfrm>
            <a:off x="619124" y="4686299"/>
            <a:ext cx="3000375" cy="1352550"/>
            <a:chOff x="619124" y="4686299"/>
            <a:chExt cx="3000375" cy="1352550"/>
          </a:xfrm>
        </p:grpSpPr>
        <p:sp>
          <p:nvSpPr>
            <p:cNvPr id="20" name="object 20"/>
            <p:cNvSpPr/>
            <p:nvPr/>
          </p:nvSpPr>
          <p:spPr>
            <a:xfrm>
              <a:off x="619124" y="4686299"/>
              <a:ext cx="3000375" cy="1352550"/>
            </a:xfrm>
            <a:custGeom>
              <a:avLst/>
              <a:gdLst/>
              <a:ahLst/>
              <a:cxnLst/>
              <a:rect l="l" t="t" r="r" b="b"/>
              <a:pathLst>
                <a:path w="3000375" h="1352550">
                  <a:moveTo>
                    <a:pt x="2967738" y="1352549"/>
                  </a:moveTo>
                  <a:lnTo>
                    <a:pt x="32636" y="1352549"/>
                  </a:lnTo>
                  <a:lnTo>
                    <a:pt x="27836" y="1351594"/>
                  </a:lnTo>
                  <a:lnTo>
                    <a:pt x="0" y="1319913"/>
                  </a:lnTo>
                  <a:lnTo>
                    <a:pt x="0" y="1314924"/>
                  </a:lnTo>
                  <a:lnTo>
                    <a:pt x="0" y="32635"/>
                  </a:lnTo>
                  <a:lnTo>
                    <a:pt x="27836" y="954"/>
                  </a:lnTo>
                  <a:lnTo>
                    <a:pt x="32636" y="0"/>
                  </a:lnTo>
                  <a:lnTo>
                    <a:pt x="2967738" y="0"/>
                  </a:lnTo>
                  <a:lnTo>
                    <a:pt x="2999419" y="27836"/>
                  </a:lnTo>
                  <a:lnTo>
                    <a:pt x="3000374" y="32635"/>
                  </a:lnTo>
                  <a:lnTo>
                    <a:pt x="3000374" y="1319913"/>
                  </a:lnTo>
                  <a:lnTo>
                    <a:pt x="2972537" y="1351594"/>
                  </a:lnTo>
                  <a:lnTo>
                    <a:pt x="2967738" y="1352549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19199" y="4762499"/>
              <a:ext cx="1800224" cy="1200149"/>
            </a:xfrm>
            <a:prstGeom prst="rect">
              <a:avLst/>
            </a:prstGeom>
          </p:spPr>
        </p:pic>
      </p:grpSp>
      <p:sp>
        <p:nvSpPr>
          <p:cNvPr id="22" name="object 22"/>
          <p:cNvSpPr txBox="1"/>
          <p:nvPr/>
        </p:nvSpPr>
        <p:spPr>
          <a:xfrm>
            <a:off x="5077966" y="2018077"/>
            <a:ext cx="862330" cy="50736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50" b="1" dirty="0">
                <a:solidFill>
                  <a:srgbClr val="DAE9FE"/>
                </a:solidFill>
                <a:latin typeface="微软雅黑"/>
                <a:cs typeface="微软雅黑"/>
              </a:rPr>
              <a:t>AI</a:t>
            </a:r>
            <a:r>
              <a:rPr sz="1450" b="1" spc="35" dirty="0">
                <a:solidFill>
                  <a:srgbClr val="DAE9FE"/>
                </a:solidFill>
                <a:latin typeface="微软雅黑"/>
                <a:cs typeface="微软雅黑"/>
              </a:rPr>
              <a:t> </a:t>
            </a:r>
            <a:r>
              <a:rPr sz="1450" b="1" spc="-10" dirty="0">
                <a:solidFill>
                  <a:srgbClr val="DAE9FE"/>
                </a:solidFill>
                <a:latin typeface="微软雅黑"/>
                <a:cs typeface="微软雅黑"/>
              </a:rPr>
              <a:t>Agent</a:t>
            </a:r>
            <a:endParaRPr sz="14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1000" spc="-10" dirty="0">
                <a:solidFill>
                  <a:srgbClr val="93C4FD"/>
                </a:solidFill>
                <a:latin typeface="微软雅黑"/>
                <a:cs typeface="微软雅黑"/>
              </a:rPr>
              <a:t>自主智能体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4591049" y="2676524"/>
            <a:ext cx="1543050" cy="266700"/>
          </a:xfrm>
          <a:custGeom>
            <a:avLst/>
            <a:gdLst/>
            <a:ahLst/>
            <a:cxnLst/>
            <a:rect l="l" t="t" r="r" b="b"/>
            <a:pathLst>
              <a:path w="1543050" h="266700">
                <a:moveTo>
                  <a:pt x="1510413" y="266699"/>
                </a:moveTo>
                <a:lnTo>
                  <a:pt x="32636" y="266699"/>
                </a:lnTo>
                <a:lnTo>
                  <a:pt x="27836" y="265745"/>
                </a:lnTo>
                <a:lnTo>
                  <a:pt x="0" y="234063"/>
                </a:lnTo>
                <a:lnTo>
                  <a:pt x="0" y="229074"/>
                </a:lnTo>
                <a:lnTo>
                  <a:pt x="0" y="32636"/>
                </a:lnTo>
                <a:lnTo>
                  <a:pt x="27836" y="954"/>
                </a:lnTo>
                <a:lnTo>
                  <a:pt x="32636" y="0"/>
                </a:lnTo>
                <a:lnTo>
                  <a:pt x="1510413" y="0"/>
                </a:lnTo>
                <a:lnTo>
                  <a:pt x="1542094" y="27836"/>
                </a:lnTo>
                <a:lnTo>
                  <a:pt x="1543049" y="32636"/>
                </a:lnTo>
                <a:lnTo>
                  <a:pt x="1543049" y="234063"/>
                </a:lnTo>
                <a:lnTo>
                  <a:pt x="1515212" y="265745"/>
                </a:lnTo>
                <a:lnTo>
                  <a:pt x="1510413" y="266699"/>
                </a:lnTo>
                <a:close/>
              </a:path>
            </a:pathLst>
          </a:custGeom>
          <a:solidFill>
            <a:srgbClr val="2562EB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4692501" y="2713164"/>
            <a:ext cx="134112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spc="-5" dirty="0">
                <a:solidFill>
                  <a:srgbClr val="FFFFFF"/>
                </a:solidFill>
                <a:latin typeface="微软雅黑"/>
                <a:cs typeface="微软雅黑"/>
              </a:rPr>
              <a:t>跃迁：目标导向与行动</a:t>
            </a:r>
            <a:endParaRPr sz="1000">
              <a:latin typeface="微软雅黑"/>
              <a:cs typeface="微软雅黑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591049" y="4972049"/>
            <a:ext cx="3009900" cy="1352550"/>
            <a:chOff x="4591049" y="4972049"/>
            <a:chExt cx="3009900" cy="1352550"/>
          </a:xfrm>
        </p:grpSpPr>
        <p:sp>
          <p:nvSpPr>
            <p:cNvPr id="26" name="object 26"/>
            <p:cNvSpPr/>
            <p:nvPr/>
          </p:nvSpPr>
          <p:spPr>
            <a:xfrm>
              <a:off x="4591049" y="4972049"/>
              <a:ext cx="3009900" cy="1352550"/>
            </a:xfrm>
            <a:custGeom>
              <a:avLst/>
              <a:gdLst/>
              <a:ahLst/>
              <a:cxnLst/>
              <a:rect l="l" t="t" r="r" b="b"/>
              <a:pathLst>
                <a:path w="3009900" h="1352550">
                  <a:moveTo>
                    <a:pt x="2977263" y="1352549"/>
                  </a:moveTo>
                  <a:lnTo>
                    <a:pt x="32636" y="1352549"/>
                  </a:lnTo>
                  <a:lnTo>
                    <a:pt x="27836" y="1351594"/>
                  </a:lnTo>
                  <a:lnTo>
                    <a:pt x="0" y="1319912"/>
                  </a:lnTo>
                  <a:lnTo>
                    <a:pt x="0" y="1314924"/>
                  </a:lnTo>
                  <a:lnTo>
                    <a:pt x="0" y="32635"/>
                  </a:lnTo>
                  <a:lnTo>
                    <a:pt x="27836" y="954"/>
                  </a:lnTo>
                  <a:lnTo>
                    <a:pt x="32636" y="0"/>
                  </a:lnTo>
                  <a:lnTo>
                    <a:pt x="2977263" y="0"/>
                  </a:lnTo>
                  <a:lnTo>
                    <a:pt x="3008944" y="27836"/>
                  </a:lnTo>
                  <a:lnTo>
                    <a:pt x="3009899" y="32635"/>
                  </a:lnTo>
                  <a:lnTo>
                    <a:pt x="3009899" y="1319912"/>
                  </a:lnTo>
                  <a:lnTo>
                    <a:pt x="2982062" y="1351594"/>
                  </a:lnTo>
                  <a:lnTo>
                    <a:pt x="2977263" y="1352549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457824" y="5048249"/>
              <a:ext cx="1276350" cy="1200149"/>
            </a:xfrm>
            <a:prstGeom prst="rect">
              <a:avLst/>
            </a:prstGeom>
          </p:spPr>
        </p:pic>
      </p:grpSp>
      <p:pic>
        <p:nvPicPr>
          <p:cNvPr id="28" name="object 2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037303" y="3946569"/>
            <a:ext cx="115526" cy="200135"/>
          </a:xfrm>
          <a:prstGeom prst="rect">
            <a:avLst/>
          </a:prstGeom>
        </p:spPr>
      </p:pic>
      <p:grpSp>
        <p:nvGrpSpPr>
          <p:cNvPr id="29" name="object 29"/>
          <p:cNvGrpSpPr/>
          <p:nvPr/>
        </p:nvGrpSpPr>
        <p:grpSpPr>
          <a:xfrm>
            <a:off x="8381998" y="1857374"/>
            <a:ext cx="3381375" cy="4371975"/>
            <a:chOff x="8381998" y="1857374"/>
            <a:chExt cx="3381375" cy="4371975"/>
          </a:xfrm>
        </p:grpSpPr>
        <p:sp>
          <p:nvSpPr>
            <p:cNvPr id="30" name="object 30"/>
            <p:cNvSpPr/>
            <p:nvPr/>
          </p:nvSpPr>
          <p:spPr>
            <a:xfrm>
              <a:off x="8381998" y="1871662"/>
              <a:ext cx="3381375" cy="4358005"/>
            </a:xfrm>
            <a:custGeom>
              <a:avLst/>
              <a:gdLst/>
              <a:ahLst/>
              <a:cxnLst/>
              <a:rect l="l" t="t" r="r" b="b"/>
              <a:pathLst>
                <a:path w="3381375" h="4358005">
                  <a:moveTo>
                    <a:pt x="3311064" y="4357687"/>
                  </a:moveTo>
                  <a:lnTo>
                    <a:pt x="70310" y="4357687"/>
                  </a:lnTo>
                  <a:lnTo>
                    <a:pt x="65416" y="4357205"/>
                  </a:lnTo>
                  <a:lnTo>
                    <a:pt x="29335" y="4342258"/>
                  </a:lnTo>
                  <a:lnTo>
                    <a:pt x="3836" y="4306666"/>
                  </a:lnTo>
                  <a:lnTo>
                    <a:pt x="0" y="4287376"/>
                  </a:lnTo>
                  <a:lnTo>
                    <a:pt x="0" y="4282435"/>
                  </a:lnTo>
                  <a:lnTo>
                    <a:pt x="0" y="0"/>
                  </a:lnTo>
                  <a:lnTo>
                    <a:pt x="3381375" y="0"/>
                  </a:lnTo>
                  <a:lnTo>
                    <a:pt x="3381375" y="4287376"/>
                  </a:lnTo>
                  <a:lnTo>
                    <a:pt x="3365946" y="4328350"/>
                  </a:lnTo>
                  <a:lnTo>
                    <a:pt x="3330353" y="4353849"/>
                  </a:lnTo>
                  <a:lnTo>
                    <a:pt x="3315958" y="4357205"/>
                  </a:lnTo>
                  <a:lnTo>
                    <a:pt x="3311064" y="4357687"/>
                  </a:lnTo>
                  <a:close/>
                </a:path>
              </a:pathLst>
            </a:custGeom>
            <a:solidFill>
              <a:srgbClr val="4B1C94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381998" y="1857374"/>
              <a:ext cx="3381375" cy="28575"/>
            </a:xfrm>
            <a:custGeom>
              <a:avLst/>
              <a:gdLst/>
              <a:ahLst/>
              <a:cxnLst/>
              <a:rect l="l" t="t" r="r" b="b"/>
              <a:pathLst>
                <a:path w="3381375" h="28575">
                  <a:moveTo>
                    <a:pt x="3381374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3381374" y="0"/>
                  </a:lnTo>
                  <a:lnTo>
                    <a:pt x="3381374" y="28574"/>
                  </a:lnTo>
                  <a:close/>
                </a:path>
              </a:pathLst>
            </a:custGeom>
            <a:solidFill>
              <a:srgbClr val="8B5C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572498" y="211454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48363" y="380999"/>
                  </a:moveTo>
                  <a:lnTo>
                    <a:pt x="32636" y="380999"/>
                  </a:lnTo>
                  <a:lnTo>
                    <a:pt x="27836" y="380045"/>
                  </a:lnTo>
                  <a:lnTo>
                    <a:pt x="0" y="348363"/>
                  </a:lnTo>
                  <a:lnTo>
                    <a:pt x="0" y="343374"/>
                  </a:lnTo>
                  <a:lnTo>
                    <a:pt x="0" y="32636"/>
                  </a:lnTo>
                  <a:lnTo>
                    <a:pt x="27836" y="954"/>
                  </a:lnTo>
                  <a:lnTo>
                    <a:pt x="32636" y="0"/>
                  </a:lnTo>
                  <a:lnTo>
                    <a:pt x="348363" y="0"/>
                  </a:lnTo>
                  <a:lnTo>
                    <a:pt x="380045" y="27836"/>
                  </a:lnTo>
                  <a:lnTo>
                    <a:pt x="380999" y="32636"/>
                  </a:lnTo>
                  <a:lnTo>
                    <a:pt x="380999" y="348363"/>
                  </a:lnTo>
                  <a:lnTo>
                    <a:pt x="353162" y="380045"/>
                  </a:lnTo>
                  <a:lnTo>
                    <a:pt x="348363" y="380999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639174" y="2200274"/>
              <a:ext cx="235148" cy="188118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9053611" y="2018077"/>
            <a:ext cx="1014730" cy="50736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50" b="1" dirty="0">
                <a:solidFill>
                  <a:srgbClr val="ECE8FE"/>
                </a:solidFill>
                <a:latin typeface="微软雅黑"/>
                <a:cs typeface="微软雅黑"/>
              </a:rPr>
              <a:t>Agentic</a:t>
            </a:r>
            <a:r>
              <a:rPr sz="1450" b="1" spc="114" dirty="0">
                <a:solidFill>
                  <a:srgbClr val="ECE8FE"/>
                </a:solidFill>
                <a:latin typeface="微软雅黑"/>
                <a:cs typeface="微软雅黑"/>
              </a:rPr>
              <a:t> </a:t>
            </a:r>
            <a:r>
              <a:rPr sz="1450" b="1" spc="-25" dirty="0">
                <a:solidFill>
                  <a:srgbClr val="ECE8FE"/>
                </a:solidFill>
                <a:latin typeface="微软雅黑"/>
                <a:cs typeface="微软雅黑"/>
              </a:rPr>
              <a:t>AI</a:t>
            </a:r>
            <a:endParaRPr sz="14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sz="1000" spc="-10" dirty="0">
                <a:solidFill>
                  <a:srgbClr val="C3B4FD"/>
                </a:solidFill>
                <a:latin typeface="微软雅黑"/>
                <a:cs typeface="微软雅黑"/>
              </a:rPr>
              <a:t>多智能体协作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8572498" y="2676524"/>
            <a:ext cx="1533525" cy="266700"/>
          </a:xfrm>
          <a:custGeom>
            <a:avLst/>
            <a:gdLst/>
            <a:ahLst/>
            <a:cxnLst/>
            <a:rect l="l" t="t" r="r" b="b"/>
            <a:pathLst>
              <a:path w="1533525" h="266700">
                <a:moveTo>
                  <a:pt x="1500889" y="266699"/>
                </a:moveTo>
                <a:lnTo>
                  <a:pt x="32636" y="266699"/>
                </a:lnTo>
                <a:lnTo>
                  <a:pt x="27836" y="265745"/>
                </a:lnTo>
                <a:lnTo>
                  <a:pt x="0" y="234063"/>
                </a:lnTo>
                <a:lnTo>
                  <a:pt x="0" y="229074"/>
                </a:lnTo>
                <a:lnTo>
                  <a:pt x="0" y="32636"/>
                </a:lnTo>
                <a:lnTo>
                  <a:pt x="27836" y="954"/>
                </a:lnTo>
                <a:lnTo>
                  <a:pt x="32636" y="0"/>
                </a:lnTo>
                <a:lnTo>
                  <a:pt x="1500889" y="0"/>
                </a:lnTo>
                <a:lnTo>
                  <a:pt x="1532569" y="27836"/>
                </a:lnTo>
                <a:lnTo>
                  <a:pt x="1533524" y="32636"/>
                </a:lnTo>
                <a:lnTo>
                  <a:pt x="1533524" y="234063"/>
                </a:lnTo>
                <a:lnTo>
                  <a:pt x="1505687" y="265745"/>
                </a:lnTo>
                <a:lnTo>
                  <a:pt x="1500889" y="266699"/>
                </a:lnTo>
                <a:close/>
              </a:path>
            </a:pathLst>
          </a:custGeom>
          <a:solidFill>
            <a:srgbClr val="7C3AEC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8668146" y="2713164"/>
            <a:ext cx="1341120" cy="18351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b="1" spc="-5" dirty="0">
                <a:solidFill>
                  <a:srgbClr val="FFFFFF"/>
                </a:solidFill>
                <a:latin typeface="微软雅黑"/>
                <a:cs typeface="微软雅黑"/>
              </a:rPr>
              <a:t>进化：复杂系统级目标</a:t>
            </a:r>
            <a:endParaRPr sz="1000">
              <a:latin typeface="微软雅黑"/>
              <a:cs typeface="微软雅黑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572498" y="4972049"/>
            <a:ext cx="3000375" cy="1352550"/>
            <a:chOff x="8572498" y="4972049"/>
            <a:chExt cx="3000375" cy="1352550"/>
          </a:xfrm>
        </p:grpSpPr>
        <p:sp>
          <p:nvSpPr>
            <p:cNvPr id="38" name="object 38"/>
            <p:cNvSpPr/>
            <p:nvPr/>
          </p:nvSpPr>
          <p:spPr>
            <a:xfrm>
              <a:off x="8572498" y="4972049"/>
              <a:ext cx="3000375" cy="1352550"/>
            </a:xfrm>
            <a:custGeom>
              <a:avLst/>
              <a:gdLst/>
              <a:ahLst/>
              <a:cxnLst/>
              <a:rect l="l" t="t" r="r" b="b"/>
              <a:pathLst>
                <a:path w="3000375" h="1352550">
                  <a:moveTo>
                    <a:pt x="2967738" y="1352549"/>
                  </a:moveTo>
                  <a:lnTo>
                    <a:pt x="32636" y="1352549"/>
                  </a:lnTo>
                  <a:lnTo>
                    <a:pt x="27836" y="1351594"/>
                  </a:lnTo>
                  <a:lnTo>
                    <a:pt x="0" y="1319912"/>
                  </a:lnTo>
                  <a:lnTo>
                    <a:pt x="0" y="1314924"/>
                  </a:lnTo>
                  <a:lnTo>
                    <a:pt x="0" y="32635"/>
                  </a:lnTo>
                  <a:lnTo>
                    <a:pt x="27836" y="954"/>
                  </a:lnTo>
                  <a:lnTo>
                    <a:pt x="32636" y="0"/>
                  </a:lnTo>
                  <a:lnTo>
                    <a:pt x="2967738" y="0"/>
                  </a:lnTo>
                  <a:lnTo>
                    <a:pt x="2999419" y="27836"/>
                  </a:lnTo>
                  <a:lnTo>
                    <a:pt x="3000374" y="32635"/>
                  </a:lnTo>
                  <a:lnTo>
                    <a:pt x="3000374" y="1319912"/>
                  </a:lnTo>
                  <a:lnTo>
                    <a:pt x="2972537" y="1351594"/>
                  </a:lnTo>
                  <a:lnTo>
                    <a:pt x="2967738" y="1352549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924924" y="5048249"/>
              <a:ext cx="2295524" cy="1200149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604043" y="3101993"/>
            <a:ext cx="3016250" cy="1235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1610" marR="128905" indent="-169545">
              <a:lnSpc>
                <a:spcPct val="119300"/>
              </a:lnSpc>
              <a:spcBef>
                <a:spcPts val="95"/>
              </a:spcBef>
              <a:buClr>
                <a:srgbClr val="3B81F5"/>
              </a:buClr>
              <a:buChar char="·"/>
              <a:tabLst>
                <a:tab pos="183515" algn="l"/>
              </a:tabLst>
            </a:pPr>
            <a:r>
              <a:rPr sz="1100" b="1" dirty="0">
                <a:solidFill>
                  <a:srgbClr val="FFFFFF"/>
                </a:solidFill>
                <a:latin typeface="微软雅黑"/>
                <a:cs typeface="微软雅黑"/>
              </a:rPr>
              <a:t>缺乏自主性： </a:t>
            </a:r>
            <a:r>
              <a:rPr sz="1100" dirty="0">
                <a:solidFill>
                  <a:srgbClr val="D0D5DA"/>
                </a:solidFill>
                <a:latin typeface="微软雅黑"/>
                <a:cs typeface="微软雅黑"/>
              </a:rPr>
              <a:t>被动响应Prompt</a:t>
            </a:r>
            <a:r>
              <a:rPr sz="1100" spc="-10" dirty="0">
                <a:solidFill>
                  <a:srgbClr val="D0D5DA"/>
                </a:solidFill>
                <a:latin typeface="微软雅黑"/>
                <a:cs typeface="微软雅黑"/>
              </a:rPr>
              <a:t>，无法主动	</a:t>
            </a:r>
            <a:r>
              <a:rPr sz="1100" spc="-15" dirty="0">
                <a:solidFill>
                  <a:srgbClr val="D0D5DA"/>
                </a:solidFill>
                <a:latin typeface="微软雅黑"/>
                <a:cs typeface="微软雅黑"/>
              </a:rPr>
              <a:t>发起行动</a:t>
            </a:r>
            <a:endParaRPr sz="1100">
              <a:latin typeface="微软雅黑"/>
              <a:cs typeface="微软雅黑"/>
            </a:endParaRPr>
          </a:p>
          <a:p>
            <a:pPr marL="182245" indent="-169545">
              <a:lnSpc>
                <a:spcPct val="100000"/>
              </a:lnSpc>
              <a:spcBef>
                <a:spcPts val="780"/>
              </a:spcBef>
              <a:buClr>
                <a:srgbClr val="3B81F5"/>
              </a:buClr>
              <a:buChar char="·"/>
              <a:tabLst>
                <a:tab pos="182245" algn="l"/>
              </a:tabLst>
            </a:pPr>
            <a:r>
              <a:rPr sz="1100" b="1" spc="35" dirty="0">
                <a:solidFill>
                  <a:srgbClr val="FFFFFF"/>
                </a:solidFill>
                <a:latin typeface="微软雅黑"/>
                <a:cs typeface="微软雅黑"/>
              </a:rPr>
              <a:t>因果理解缺失： </a:t>
            </a:r>
            <a:r>
              <a:rPr sz="1100" spc="-5" dirty="0">
                <a:solidFill>
                  <a:srgbClr val="D0D5DA"/>
                </a:solidFill>
                <a:latin typeface="微软雅黑"/>
                <a:cs typeface="微软雅黑"/>
              </a:rPr>
              <a:t>统计相关性而非因果推断</a:t>
            </a:r>
            <a:endParaRPr sz="1100">
              <a:latin typeface="微软雅黑"/>
              <a:cs typeface="微软雅黑"/>
            </a:endParaRPr>
          </a:p>
          <a:p>
            <a:pPr marL="182245" indent="-169545">
              <a:lnSpc>
                <a:spcPct val="100000"/>
              </a:lnSpc>
              <a:spcBef>
                <a:spcPts val="855"/>
              </a:spcBef>
              <a:buClr>
                <a:srgbClr val="3B81F5"/>
              </a:buClr>
              <a:buChar char="·"/>
              <a:tabLst>
                <a:tab pos="182245" algn="l"/>
              </a:tabLst>
            </a:pPr>
            <a:r>
              <a:rPr sz="1100" b="1" spc="50" dirty="0">
                <a:solidFill>
                  <a:srgbClr val="FFFFFF"/>
                </a:solidFill>
                <a:latin typeface="微软雅黑"/>
                <a:cs typeface="微软雅黑"/>
              </a:rPr>
              <a:t>单轮交互： </a:t>
            </a:r>
            <a:r>
              <a:rPr sz="1100" spc="-5" dirty="0">
                <a:solidFill>
                  <a:srgbClr val="D0D5DA"/>
                </a:solidFill>
                <a:latin typeface="微软雅黑"/>
                <a:cs typeface="微软雅黑"/>
              </a:rPr>
              <a:t>传统的检索-生成模式，缺乏规划</a:t>
            </a:r>
            <a:endParaRPr sz="1100">
              <a:latin typeface="微软雅黑"/>
              <a:cs typeface="微软雅黑"/>
            </a:endParaRPr>
          </a:p>
          <a:p>
            <a:pPr marL="182245" indent="-169545">
              <a:lnSpc>
                <a:spcPct val="100000"/>
              </a:lnSpc>
              <a:spcBef>
                <a:spcPts val="780"/>
              </a:spcBef>
              <a:buClr>
                <a:srgbClr val="3B81F5"/>
              </a:buClr>
              <a:buChar char="·"/>
              <a:tabLst>
                <a:tab pos="182245" algn="l"/>
              </a:tabLst>
            </a:pPr>
            <a:r>
              <a:rPr sz="1100" b="1" spc="45" dirty="0">
                <a:solidFill>
                  <a:srgbClr val="FFFFFF"/>
                </a:solidFill>
                <a:latin typeface="微软雅黑"/>
                <a:cs typeface="微软雅黑"/>
              </a:rPr>
              <a:t>存在幻觉： </a:t>
            </a:r>
            <a:r>
              <a:rPr sz="1100" spc="-5" dirty="0">
                <a:solidFill>
                  <a:srgbClr val="D0D5DA"/>
                </a:solidFill>
                <a:latin typeface="微软雅黑"/>
                <a:cs typeface="微软雅黑"/>
              </a:rPr>
              <a:t>易生成看似合理但错误的信息</a:t>
            </a:r>
            <a:endParaRPr sz="1100">
              <a:latin typeface="微软雅黑"/>
              <a:cs typeface="微软雅黑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50" spc="-50" dirty="0"/>
              <a:t>6</a:t>
            </a:fld>
            <a:endParaRPr sz="1050"/>
          </a:p>
        </p:txBody>
      </p:sp>
      <p:sp>
        <p:nvSpPr>
          <p:cNvPr id="41" name="object 41"/>
          <p:cNvSpPr txBox="1"/>
          <p:nvPr/>
        </p:nvSpPr>
        <p:spPr>
          <a:xfrm>
            <a:off x="4579689" y="3101993"/>
            <a:ext cx="3020060" cy="1635125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182245" indent="-169545">
              <a:lnSpc>
                <a:spcPct val="100000"/>
              </a:lnSpc>
              <a:spcBef>
                <a:spcPts val="350"/>
              </a:spcBef>
              <a:buClr>
                <a:srgbClr val="3B81F5"/>
              </a:buClr>
              <a:buChar char="·"/>
              <a:tabLst>
                <a:tab pos="182245" algn="l"/>
              </a:tabLst>
            </a:pPr>
            <a:r>
              <a:rPr sz="1100" b="1" spc="30" dirty="0">
                <a:solidFill>
                  <a:srgbClr val="FFFFFF"/>
                </a:solidFill>
                <a:latin typeface="微软雅黑"/>
                <a:cs typeface="微软雅黑"/>
              </a:rPr>
              <a:t>目标导向行为： </a:t>
            </a:r>
            <a:r>
              <a:rPr sz="1100" spc="-5" dirty="0">
                <a:solidFill>
                  <a:srgbClr val="D0D5DA"/>
                </a:solidFill>
                <a:latin typeface="微软雅黑"/>
                <a:cs typeface="微软雅黑"/>
              </a:rPr>
              <a:t>能规划并追求特定目标</a:t>
            </a:r>
            <a:endParaRPr sz="1100">
              <a:latin typeface="微软雅黑"/>
              <a:cs typeface="微软雅黑"/>
            </a:endParaRPr>
          </a:p>
          <a:p>
            <a:pPr marL="183515">
              <a:lnSpc>
                <a:spcPct val="100000"/>
              </a:lnSpc>
              <a:spcBef>
                <a:spcPts val="254"/>
              </a:spcBef>
            </a:pPr>
            <a:r>
              <a:rPr sz="1100" spc="-10" dirty="0">
                <a:solidFill>
                  <a:srgbClr val="D0D5DA"/>
                </a:solidFill>
                <a:latin typeface="微软雅黑"/>
                <a:cs typeface="微软雅黑"/>
              </a:rPr>
              <a:t>（Planning）</a:t>
            </a:r>
            <a:endParaRPr sz="1100">
              <a:latin typeface="微软雅黑"/>
              <a:cs typeface="微软雅黑"/>
            </a:endParaRPr>
          </a:p>
          <a:p>
            <a:pPr marL="182245" indent="-169545">
              <a:lnSpc>
                <a:spcPct val="100000"/>
              </a:lnSpc>
              <a:spcBef>
                <a:spcPts val="780"/>
              </a:spcBef>
              <a:buClr>
                <a:srgbClr val="3B81F5"/>
              </a:buClr>
              <a:buChar char="·"/>
              <a:tabLst>
                <a:tab pos="182245" algn="l"/>
              </a:tabLst>
            </a:pPr>
            <a:r>
              <a:rPr sz="1100" b="1" spc="35" dirty="0">
                <a:solidFill>
                  <a:srgbClr val="FFFFFF"/>
                </a:solidFill>
                <a:latin typeface="微软雅黑"/>
                <a:cs typeface="微软雅黑"/>
              </a:rPr>
              <a:t>具备行动力： </a:t>
            </a:r>
            <a:r>
              <a:rPr sz="1100" dirty="0">
                <a:solidFill>
                  <a:srgbClr val="D0D5DA"/>
                </a:solidFill>
                <a:latin typeface="微软雅黑"/>
                <a:cs typeface="微软雅黑"/>
              </a:rPr>
              <a:t>使用工具</a:t>
            </a:r>
            <a:r>
              <a:rPr sz="1100" spc="-10" dirty="0">
                <a:solidFill>
                  <a:srgbClr val="D0D5DA"/>
                </a:solidFill>
                <a:latin typeface="微软雅黑"/>
                <a:cs typeface="微软雅黑"/>
              </a:rPr>
              <a:t>（Tools）与环境交互</a:t>
            </a:r>
            <a:endParaRPr sz="1100">
              <a:latin typeface="微软雅黑"/>
              <a:cs typeface="微软雅黑"/>
            </a:endParaRPr>
          </a:p>
          <a:p>
            <a:pPr marL="181610" marR="70485" indent="-169545">
              <a:lnSpc>
                <a:spcPct val="119300"/>
              </a:lnSpc>
              <a:spcBef>
                <a:spcPts val="600"/>
              </a:spcBef>
              <a:buClr>
                <a:srgbClr val="3B81F5"/>
              </a:buClr>
              <a:buChar char="·"/>
              <a:tabLst>
                <a:tab pos="183515" algn="l"/>
              </a:tabLst>
            </a:pPr>
            <a:r>
              <a:rPr sz="1100" b="1" dirty="0">
                <a:solidFill>
                  <a:srgbClr val="FFFFFF"/>
                </a:solidFill>
                <a:latin typeface="微软雅黑"/>
                <a:cs typeface="微软雅黑"/>
              </a:rPr>
              <a:t>核心架构： </a:t>
            </a:r>
            <a:r>
              <a:rPr sz="1100" dirty="0">
                <a:solidFill>
                  <a:srgbClr val="D0D5DA"/>
                </a:solidFill>
                <a:latin typeface="微软雅黑"/>
                <a:cs typeface="微软雅黑"/>
              </a:rPr>
              <a:t>LLM</a:t>
            </a:r>
            <a:r>
              <a:rPr sz="1100" spc="-5" dirty="0">
                <a:solidFill>
                  <a:srgbClr val="D0D5DA"/>
                </a:solidFill>
                <a:latin typeface="微软雅黑"/>
                <a:cs typeface="微软雅黑"/>
              </a:rPr>
              <a:t>作为大脑，集成记忆与反思	</a:t>
            </a:r>
            <a:r>
              <a:rPr sz="1100" spc="-25" dirty="0">
                <a:solidFill>
                  <a:srgbClr val="D0D5DA"/>
                </a:solidFill>
                <a:latin typeface="微软雅黑"/>
                <a:cs typeface="微软雅黑"/>
              </a:rPr>
              <a:t>机制</a:t>
            </a:r>
            <a:endParaRPr sz="1100">
              <a:latin typeface="微软雅黑"/>
              <a:cs typeface="微软雅黑"/>
            </a:endParaRPr>
          </a:p>
          <a:p>
            <a:pPr marL="181610" marR="26670" indent="-169545">
              <a:lnSpc>
                <a:spcPct val="119300"/>
              </a:lnSpc>
              <a:spcBef>
                <a:spcPts val="525"/>
              </a:spcBef>
              <a:buClr>
                <a:srgbClr val="3B81F5"/>
              </a:buClr>
              <a:buChar char="·"/>
              <a:tabLst>
                <a:tab pos="183515" algn="l"/>
              </a:tabLst>
            </a:pPr>
            <a:r>
              <a:rPr sz="1100" b="1" dirty="0">
                <a:solidFill>
                  <a:srgbClr val="FFFFFF"/>
                </a:solidFill>
                <a:latin typeface="微软雅黑"/>
                <a:cs typeface="微软雅黑"/>
              </a:rPr>
              <a:t>ReAct范式： </a:t>
            </a:r>
            <a:r>
              <a:rPr sz="1100" dirty="0">
                <a:solidFill>
                  <a:srgbClr val="D0D5DA"/>
                </a:solidFill>
                <a:latin typeface="微软雅黑"/>
                <a:cs typeface="微软雅黑"/>
              </a:rPr>
              <a:t>推理(Reason)与行动(Act</a:t>
            </a:r>
            <a:r>
              <a:rPr sz="1100" spc="-20" dirty="0">
                <a:solidFill>
                  <a:srgbClr val="D0D5DA"/>
                </a:solidFill>
                <a:latin typeface="微软雅黑"/>
                <a:cs typeface="微软雅黑"/>
              </a:rPr>
              <a:t>)的闭	</a:t>
            </a:r>
            <a:r>
              <a:rPr sz="1100" spc="-50" dirty="0">
                <a:solidFill>
                  <a:srgbClr val="D0D5DA"/>
                </a:solidFill>
                <a:latin typeface="微软雅黑"/>
                <a:cs typeface="微软雅黑"/>
              </a:rPr>
              <a:t>环</a:t>
            </a:r>
            <a:endParaRPr sz="1100">
              <a:latin typeface="微软雅黑"/>
              <a:cs typeface="微软雅黑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8555335" y="3101993"/>
            <a:ext cx="2992755" cy="16351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1610" marR="57785" indent="-169545">
              <a:lnSpc>
                <a:spcPct val="119300"/>
              </a:lnSpc>
              <a:spcBef>
                <a:spcPts val="95"/>
              </a:spcBef>
              <a:buClr>
                <a:srgbClr val="3B81F5"/>
              </a:buClr>
              <a:buChar char="·"/>
              <a:tabLst>
                <a:tab pos="183515" algn="l"/>
              </a:tabLst>
            </a:pPr>
            <a:r>
              <a:rPr sz="1100" b="1" dirty="0">
                <a:solidFill>
                  <a:srgbClr val="FFFFFF"/>
                </a:solidFill>
                <a:latin typeface="微软雅黑"/>
                <a:cs typeface="微软雅黑"/>
              </a:rPr>
              <a:t>系统级协作： </a:t>
            </a:r>
            <a:r>
              <a:rPr sz="1100" dirty="0">
                <a:solidFill>
                  <a:srgbClr val="D0D5DA"/>
                </a:solidFill>
                <a:latin typeface="微软雅黑"/>
                <a:cs typeface="微软雅黑"/>
              </a:rPr>
              <a:t>多个专业Agent</a:t>
            </a:r>
            <a:r>
              <a:rPr sz="1100" spc="-10" dirty="0">
                <a:solidFill>
                  <a:srgbClr val="D0D5DA"/>
                </a:solidFill>
                <a:latin typeface="微软雅黑"/>
                <a:cs typeface="微软雅黑"/>
              </a:rPr>
              <a:t>协同解决复杂	</a:t>
            </a:r>
            <a:r>
              <a:rPr sz="1100" spc="-25" dirty="0">
                <a:solidFill>
                  <a:srgbClr val="D0D5DA"/>
                </a:solidFill>
                <a:latin typeface="微软雅黑"/>
                <a:cs typeface="微软雅黑"/>
              </a:rPr>
              <a:t>问题</a:t>
            </a:r>
            <a:endParaRPr sz="1100">
              <a:latin typeface="微软雅黑"/>
              <a:cs typeface="微软雅黑"/>
            </a:endParaRPr>
          </a:p>
          <a:p>
            <a:pPr marL="181610" marR="43815" indent="-169545">
              <a:lnSpc>
                <a:spcPct val="119300"/>
              </a:lnSpc>
              <a:spcBef>
                <a:spcPts val="525"/>
              </a:spcBef>
              <a:buClr>
                <a:srgbClr val="3B81F5"/>
              </a:buClr>
              <a:buChar char="·"/>
              <a:tabLst>
                <a:tab pos="183515" algn="l"/>
              </a:tabLst>
            </a:pPr>
            <a:r>
              <a:rPr sz="1100" b="1" dirty="0">
                <a:solidFill>
                  <a:srgbClr val="FFFFFF"/>
                </a:solidFill>
                <a:latin typeface="微软雅黑"/>
                <a:cs typeface="微软雅黑"/>
              </a:rPr>
              <a:t>结构化通信： </a:t>
            </a:r>
            <a:r>
              <a:rPr sz="1100" spc="-5" dirty="0">
                <a:solidFill>
                  <a:srgbClr val="D0D5DA"/>
                </a:solidFill>
                <a:latin typeface="微软雅黑"/>
                <a:cs typeface="微软雅黑"/>
              </a:rPr>
              <a:t>角色动态分配、共享内存与沟	</a:t>
            </a:r>
            <a:r>
              <a:rPr sz="1100" spc="-20" dirty="0">
                <a:solidFill>
                  <a:srgbClr val="D0D5DA"/>
                </a:solidFill>
                <a:latin typeface="微软雅黑"/>
                <a:cs typeface="微软雅黑"/>
              </a:rPr>
              <a:t>通机制</a:t>
            </a:r>
            <a:endParaRPr sz="1100">
              <a:latin typeface="微软雅黑"/>
              <a:cs typeface="微软雅黑"/>
            </a:endParaRPr>
          </a:p>
          <a:p>
            <a:pPr marL="181610" marR="43815" indent="-169545">
              <a:lnSpc>
                <a:spcPct val="119300"/>
              </a:lnSpc>
              <a:spcBef>
                <a:spcPts val="600"/>
              </a:spcBef>
              <a:buClr>
                <a:srgbClr val="3B81F5"/>
              </a:buClr>
              <a:buChar char="·"/>
              <a:tabLst>
                <a:tab pos="183515" algn="l"/>
              </a:tabLst>
            </a:pPr>
            <a:r>
              <a:rPr sz="1100" b="1" dirty="0">
                <a:solidFill>
                  <a:srgbClr val="FFFFFF"/>
                </a:solidFill>
                <a:latin typeface="微软雅黑"/>
                <a:cs typeface="微软雅黑"/>
              </a:rPr>
              <a:t>典型场景： </a:t>
            </a:r>
            <a:r>
              <a:rPr sz="1100" spc="-5" dirty="0">
                <a:solidFill>
                  <a:srgbClr val="D0D5DA"/>
                </a:solidFill>
                <a:latin typeface="微软雅黑"/>
                <a:cs typeface="微软雅黑"/>
              </a:rPr>
              <a:t>跨部门流程、联合科研、复杂决	</a:t>
            </a:r>
            <a:r>
              <a:rPr sz="1100" spc="-50" dirty="0">
                <a:solidFill>
                  <a:srgbClr val="D0D5DA"/>
                </a:solidFill>
                <a:latin typeface="微软雅黑"/>
                <a:cs typeface="微软雅黑"/>
              </a:rPr>
              <a:t>策</a:t>
            </a:r>
            <a:endParaRPr sz="1100">
              <a:latin typeface="微软雅黑"/>
              <a:cs typeface="微软雅黑"/>
            </a:endParaRPr>
          </a:p>
          <a:p>
            <a:pPr marL="182245" indent="-169545">
              <a:lnSpc>
                <a:spcPct val="100000"/>
              </a:lnSpc>
              <a:spcBef>
                <a:spcPts val="780"/>
              </a:spcBef>
              <a:buClr>
                <a:srgbClr val="3B81F5"/>
              </a:buClr>
              <a:buChar char="·"/>
              <a:tabLst>
                <a:tab pos="182245" algn="l"/>
              </a:tabLst>
            </a:pPr>
            <a:r>
              <a:rPr sz="1100" b="1" dirty="0">
                <a:solidFill>
                  <a:srgbClr val="FFFFFF"/>
                </a:solidFill>
                <a:latin typeface="微软雅黑"/>
                <a:cs typeface="微软雅黑"/>
              </a:rPr>
              <a:t>1+1&gt;2</a:t>
            </a:r>
            <a:r>
              <a:rPr sz="1100" b="1" spc="145" dirty="0">
                <a:solidFill>
                  <a:srgbClr val="FFFFFF"/>
                </a:solidFill>
                <a:latin typeface="微软雅黑"/>
                <a:cs typeface="微软雅黑"/>
              </a:rPr>
              <a:t>： </a:t>
            </a:r>
            <a:r>
              <a:rPr sz="1100" dirty="0">
                <a:solidFill>
                  <a:srgbClr val="D0D5DA"/>
                </a:solidFill>
                <a:latin typeface="微软雅黑"/>
                <a:cs typeface="微软雅黑"/>
              </a:rPr>
              <a:t>克服单体Agent</a:t>
            </a:r>
            <a:r>
              <a:rPr sz="1100" spc="-10" dirty="0">
                <a:solidFill>
                  <a:srgbClr val="D0D5DA"/>
                </a:solidFill>
                <a:latin typeface="微软雅黑"/>
                <a:cs typeface="微软雅黑"/>
              </a:rPr>
              <a:t>的能力瓶颈与幻觉</a:t>
            </a:r>
            <a:endParaRPr sz="11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199" y="0"/>
            <a:ext cx="4876800" cy="6858000"/>
          </a:xfrm>
          <a:custGeom>
            <a:avLst/>
            <a:gdLst/>
            <a:ahLst/>
            <a:cxnLst/>
            <a:rect l="l" t="t" r="r" b="b"/>
            <a:pathLst>
              <a:path w="4876800" h="6858000">
                <a:moveTo>
                  <a:pt x="4876799" y="6857999"/>
                </a:moveTo>
                <a:lnTo>
                  <a:pt x="0" y="6857999"/>
                </a:lnTo>
                <a:lnTo>
                  <a:pt x="731519" y="0"/>
                </a:lnTo>
                <a:lnTo>
                  <a:pt x="4876799" y="0"/>
                </a:lnTo>
                <a:lnTo>
                  <a:pt x="4876799" y="6857999"/>
                </a:lnTo>
                <a:close/>
              </a:path>
            </a:pathLst>
          </a:custGeom>
          <a:solidFill>
            <a:srgbClr val="4A54A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76199" y="0"/>
                </a:lnTo>
                <a:lnTo>
                  <a:pt x="76199" y="68579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925" y="215900"/>
            <a:ext cx="362457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AI</a:t>
            </a:r>
            <a:r>
              <a:rPr spc="-45" dirty="0"/>
              <a:t> </a:t>
            </a:r>
            <a:r>
              <a:rPr dirty="0"/>
              <a:t>Agent</a:t>
            </a:r>
            <a:r>
              <a:rPr spc="-10" dirty="0"/>
              <a:t>的核心特征</a:t>
            </a:r>
          </a:p>
        </p:txBody>
      </p:sp>
      <p:sp>
        <p:nvSpPr>
          <p:cNvPr id="5" name="object 5"/>
          <p:cNvSpPr/>
          <p:nvPr/>
        </p:nvSpPr>
        <p:spPr>
          <a:xfrm>
            <a:off x="428624" y="800099"/>
            <a:ext cx="2162175" cy="38100"/>
          </a:xfrm>
          <a:custGeom>
            <a:avLst/>
            <a:gdLst/>
            <a:ahLst/>
            <a:cxnLst/>
            <a:rect l="l" t="t" r="r" b="b"/>
            <a:pathLst>
              <a:path w="2162175" h="38100">
                <a:moveTo>
                  <a:pt x="2162174" y="38099"/>
                </a:moveTo>
                <a:lnTo>
                  <a:pt x="0" y="38099"/>
                </a:lnTo>
                <a:lnTo>
                  <a:pt x="0" y="0"/>
                </a:lnTo>
                <a:lnTo>
                  <a:pt x="2162174" y="0"/>
                </a:lnTo>
                <a:lnTo>
                  <a:pt x="2162174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28624" y="1142999"/>
            <a:ext cx="5514975" cy="2371725"/>
            <a:chOff x="428624" y="1142999"/>
            <a:chExt cx="5514975" cy="2371725"/>
          </a:xfrm>
        </p:grpSpPr>
        <p:sp>
          <p:nvSpPr>
            <p:cNvPr id="7" name="object 7"/>
            <p:cNvSpPr/>
            <p:nvPr/>
          </p:nvSpPr>
          <p:spPr>
            <a:xfrm>
              <a:off x="433387" y="1147762"/>
              <a:ext cx="5505450" cy="2362200"/>
            </a:xfrm>
            <a:custGeom>
              <a:avLst/>
              <a:gdLst/>
              <a:ahLst/>
              <a:cxnLst/>
              <a:rect l="l" t="t" r="r" b="b"/>
              <a:pathLst>
                <a:path w="5505450" h="2362200">
                  <a:moveTo>
                    <a:pt x="5439589" y="2362199"/>
                  </a:moveTo>
                  <a:lnTo>
                    <a:pt x="65860" y="2362199"/>
                  </a:lnTo>
                  <a:lnTo>
                    <a:pt x="61276" y="2361748"/>
                  </a:lnTo>
                  <a:lnTo>
                    <a:pt x="23918" y="2344826"/>
                  </a:lnTo>
                  <a:lnTo>
                    <a:pt x="2257" y="2310001"/>
                  </a:lnTo>
                  <a:lnTo>
                    <a:pt x="0" y="2296339"/>
                  </a:lnTo>
                  <a:lnTo>
                    <a:pt x="0" y="2291710"/>
                  </a:lnTo>
                  <a:lnTo>
                    <a:pt x="0" y="65860"/>
                  </a:lnTo>
                  <a:lnTo>
                    <a:pt x="14450" y="27478"/>
                  </a:lnTo>
                  <a:lnTo>
                    <a:pt x="47790" y="3594"/>
                  </a:lnTo>
                  <a:lnTo>
                    <a:pt x="65860" y="0"/>
                  </a:lnTo>
                  <a:lnTo>
                    <a:pt x="5439589" y="0"/>
                  </a:lnTo>
                  <a:lnTo>
                    <a:pt x="5477970" y="14450"/>
                  </a:lnTo>
                  <a:lnTo>
                    <a:pt x="5501854" y="47789"/>
                  </a:lnTo>
                  <a:lnTo>
                    <a:pt x="5505449" y="65860"/>
                  </a:lnTo>
                  <a:lnTo>
                    <a:pt x="5505449" y="2296339"/>
                  </a:lnTo>
                  <a:lnTo>
                    <a:pt x="5490998" y="2334720"/>
                  </a:lnTo>
                  <a:lnTo>
                    <a:pt x="5457659" y="2358604"/>
                  </a:lnTo>
                  <a:lnTo>
                    <a:pt x="5444172" y="2361748"/>
                  </a:lnTo>
                  <a:lnTo>
                    <a:pt x="5439589" y="2362199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33387" y="1147762"/>
              <a:ext cx="5505450" cy="2362200"/>
            </a:xfrm>
            <a:custGeom>
              <a:avLst/>
              <a:gdLst/>
              <a:ahLst/>
              <a:cxnLst/>
              <a:rect l="l" t="t" r="r" b="b"/>
              <a:pathLst>
                <a:path w="5505450" h="2362200">
                  <a:moveTo>
                    <a:pt x="0" y="2291710"/>
                  </a:moveTo>
                  <a:lnTo>
                    <a:pt x="0" y="70488"/>
                  </a:lnTo>
                  <a:lnTo>
                    <a:pt x="0" y="65860"/>
                  </a:lnTo>
                  <a:lnTo>
                    <a:pt x="451" y="61276"/>
                  </a:lnTo>
                  <a:lnTo>
                    <a:pt x="1354" y="56737"/>
                  </a:lnTo>
                  <a:lnTo>
                    <a:pt x="2257" y="52197"/>
                  </a:lnTo>
                  <a:lnTo>
                    <a:pt x="3594" y="47789"/>
                  </a:lnTo>
                  <a:lnTo>
                    <a:pt x="5365" y="43513"/>
                  </a:lnTo>
                  <a:lnTo>
                    <a:pt x="7136" y="39237"/>
                  </a:lnTo>
                  <a:lnTo>
                    <a:pt x="9308" y="35175"/>
                  </a:lnTo>
                  <a:lnTo>
                    <a:pt x="11879" y="31327"/>
                  </a:lnTo>
                  <a:lnTo>
                    <a:pt x="14450" y="27478"/>
                  </a:lnTo>
                  <a:lnTo>
                    <a:pt x="17372" y="23918"/>
                  </a:lnTo>
                  <a:lnTo>
                    <a:pt x="20645" y="20645"/>
                  </a:lnTo>
                  <a:lnTo>
                    <a:pt x="23918" y="17372"/>
                  </a:lnTo>
                  <a:lnTo>
                    <a:pt x="27479" y="14450"/>
                  </a:lnTo>
                  <a:lnTo>
                    <a:pt x="31327" y="11879"/>
                  </a:lnTo>
                  <a:lnTo>
                    <a:pt x="35175" y="9308"/>
                  </a:lnTo>
                  <a:lnTo>
                    <a:pt x="65860" y="0"/>
                  </a:lnTo>
                  <a:lnTo>
                    <a:pt x="70488" y="0"/>
                  </a:lnTo>
                  <a:lnTo>
                    <a:pt x="5434960" y="0"/>
                  </a:lnTo>
                  <a:lnTo>
                    <a:pt x="5439589" y="0"/>
                  </a:lnTo>
                  <a:lnTo>
                    <a:pt x="5444172" y="451"/>
                  </a:lnTo>
                  <a:lnTo>
                    <a:pt x="5448711" y="1354"/>
                  </a:lnTo>
                  <a:lnTo>
                    <a:pt x="5453251" y="2257"/>
                  </a:lnTo>
                  <a:lnTo>
                    <a:pt x="5457659" y="3594"/>
                  </a:lnTo>
                  <a:lnTo>
                    <a:pt x="5461935" y="5365"/>
                  </a:lnTo>
                  <a:lnTo>
                    <a:pt x="5466211" y="7136"/>
                  </a:lnTo>
                  <a:lnTo>
                    <a:pt x="5470273" y="9307"/>
                  </a:lnTo>
                  <a:lnTo>
                    <a:pt x="5474121" y="11879"/>
                  </a:lnTo>
                  <a:lnTo>
                    <a:pt x="5477970" y="14450"/>
                  </a:lnTo>
                  <a:lnTo>
                    <a:pt x="5481531" y="17372"/>
                  </a:lnTo>
                  <a:lnTo>
                    <a:pt x="5484803" y="20645"/>
                  </a:lnTo>
                  <a:lnTo>
                    <a:pt x="5488076" y="23918"/>
                  </a:lnTo>
                  <a:lnTo>
                    <a:pt x="5490998" y="27478"/>
                  </a:lnTo>
                  <a:lnTo>
                    <a:pt x="5493569" y="31327"/>
                  </a:lnTo>
                  <a:lnTo>
                    <a:pt x="5496140" y="35175"/>
                  </a:lnTo>
                  <a:lnTo>
                    <a:pt x="5498311" y="39237"/>
                  </a:lnTo>
                  <a:lnTo>
                    <a:pt x="5500083" y="43513"/>
                  </a:lnTo>
                  <a:lnTo>
                    <a:pt x="5501854" y="47789"/>
                  </a:lnTo>
                  <a:lnTo>
                    <a:pt x="5505449" y="70488"/>
                  </a:lnTo>
                  <a:lnTo>
                    <a:pt x="5505449" y="2291710"/>
                  </a:lnTo>
                  <a:lnTo>
                    <a:pt x="5493570" y="2330871"/>
                  </a:lnTo>
                  <a:lnTo>
                    <a:pt x="5474121" y="2350320"/>
                  </a:lnTo>
                  <a:lnTo>
                    <a:pt x="5470273" y="2352891"/>
                  </a:lnTo>
                  <a:lnTo>
                    <a:pt x="5434960" y="2362199"/>
                  </a:lnTo>
                  <a:lnTo>
                    <a:pt x="70488" y="2362199"/>
                  </a:lnTo>
                  <a:lnTo>
                    <a:pt x="31327" y="2350319"/>
                  </a:lnTo>
                  <a:lnTo>
                    <a:pt x="27479" y="2347748"/>
                  </a:lnTo>
                  <a:lnTo>
                    <a:pt x="23918" y="2344826"/>
                  </a:lnTo>
                  <a:lnTo>
                    <a:pt x="20645" y="2341553"/>
                  </a:lnTo>
                  <a:lnTo>
                    <a:pt x="17372" y="2338281"/>
                  </a:lnTo>
                  <a:lnTo>
                    <a:pt x="1354" y="2305461"/>
                  </a:lnTo>
                  <a:lnTo>
                    <a:pt x="451" y="2300922"/>
                  </a:lnTo>
                  <a:lnTo>
                    <a:pt x="0" y="2296339"/>
                  </a:lnTo>
                  <a:lnTo>
                    <a:pt x="0" y="2291710"/>
                  </a:lnTo>
                  <a:close/>
                </a:path>
              </a:pathLst>
            </a:custGeom>
            <a:ln w="9524">
              <a:solidFill>
                <a:srgbClr val="1C4E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6737" y="1381136"/>
              <a:ext cx="5048250" cy="571500"/>
            </a:xfrm>
            <a:custGeom>
              <a:avLst/>
              <a:gdLst/>
              <a:ahLst/>
              <a:cxnLst/>
              <a:rect l="l" t="t" r="r" b="b"/>
              <a:pathLst>
                <a:path w="5048250" h="571500">
                  <a:moveTo>
                    <a:pt x="447675" y="216496"/>
                  </a:moveTo>
                  <a:lnTo>
                    <a:pt x="441947" y="172974"/>
                  </a:lnTo>
                  <a:lnTo>
                    <a:pt x="427837" y="131394"/>
                  </a:lnTo>
                  <a:lnTo>
                    <a:pt x="405879" y="93383"/>
                  </a:lnTo>
                  <a:lnTo>
                    <a:pt x="376936" y="60375"/>
                  </a:lnTo>
                  <a:lnTo>
                    <a:pt x="342099" y="33642"/>
                  </a:lnTo>
                  <a:lnTo>
                    <a:pt x="302729" y="14224"/>
                  </a:lnTo>
                  <a:lnTo>
                    <a:pt x="260324" y="2870"/>
                  </a:lnTo>
                  <a:lnTo>
                    <a:pt x="231178" y="0"/>
                  </a:lnTo>
                  <a:lnTo>
                    <a:pt x="216509" y="0"/>
                  </a:lnTo>
                  <a:lnTo>
                    <a:pt x="172986" y="5727"/>
                  </a:lnTo>
                  <a:lnTo>
                    <a:pt x="131406" y="19837"/>
                  </a:lnTo>
                  <a:lnTo>
                    <a:pt x="93395" y="41795"/>
                  </a:lnTo>
                  <a:lnTo>
                    <a:pt x="60388" y="70739"/>
                  </a:lnTo>
                  <a:lnTo>
                    <a:pt x="33655" y="105575"/>
                  </a:lnTo>
                  <a:lnTo>
                    <a:pt x="14236" y="144945"/>
                  </a:lnTo>
                  <a:lnTo>
                    <a:pt x="2882" y="187350"/>
                  </a:lnTo>
                  <a:lnTo>
                    <a:pt x="12" y="216496"/>
                  </a:lnTo>
                  <a:lnTo>
                    <a:pt x="12" y="231165"/>
                  </a:lnTo>
                  <a:lnTo>
                    <a:pt x="5740" y="274688"/>
                  </a:lnTo>
                  <a:lnTo>
                    <a:pt x="19850" y="316268"/>
                  </a:lnTo>
                  <a:lnTo>
                    <a:pt x="41808" y="354279"/>
                  </a:lnTo>
                  <a:lnTo>
                    <a:pt x="70751" y="387286"/>
                  </a:lnTo>
                  <a:lnTo>
                    <a:pt x="105587" y="414020"/>
                  </a:lnTo>
                  <a:lnTo>
                    <a:pt x="144957" y="433438"/>
                  </a:lnTo>
                  <a:lnTo>
                    <a:pt x="187363" y="444792"/>
                  </a:lnTo>
                  <a:lnTo>
                    <a:pt x="216509" y="447675"/>
                  </a:lnTo>
                  <a:lnTo>
                    <a:pt x="231178" y="447675"/>
                  </a:lnTo>
                  <a:lnTo>
                    <a:pt x="274701" y="441934"/>
                  </a:lnTo>
                  <a:lnTo>
                    <a:pt x="316280" y="427824"/>
                  </a:lnTo>
                  <a:lnTo>
                    <a:pt x="354291" y="405866"/>
                  </a:lnTo>
                  <a:lnTo>
                    <a:pt x="387299" y="376923"/>
                  </a:lnTo>
                  <a:lnTo>
                    <a:pt x="414032" y="342087"/>
                  </a:lnTo>
                  <a:lnTo>
                    <a:pt x="433451" y="302717"/>
                  </a:lnTo>
                  <a:lnTo>
                    <a:pt x="444804" y="260311"/>
                  </a:lnTo>
                  <a:lnTo>
                    <a:pt x="447675" y="231165"/>
                  </a:lnTo>
                  <a:lnTo>
                    <a:pt x="447675" y="223837"/>
                  </a:lnTo>
                  <a:lnTo>
                    <a:pt x="447675" y="216496"/>
                  </a:lnTo>
                  <a:close/>
                </a:path>
                <a:path w="5048250" h="571500">
                  <a:moveTo>
                    <a:pt x="5048250" y="561975"/>
                  </a:moveTo>
                  <a:lnTo>
                    <a:pt x="0" y="561975"/>
                  </a:lnTo>
                  <a:lnTo>
                    <a:pt x="0" y="571500"/>
                  </a:lnTo>
                  <a:lnTo>
                    <a:pt x="5048250" y="571500"/>
                  </a:lnTo>
                  <a:lnTo>
                    <a:pt x="5048250" y="561975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90575" y="1495467"/>
              <a:ext cx="197346" cy="22553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66737" y="2552712"/>
              <a:ext cx="57150" cy="657225"/>
            </a:xfrm>
            <a:custGeom>
              <a:avLst/>
              <a:gdLst/>
              <a:ahLst/>
              <a:cxnLst/>
              <a:rect l="l" t="t" r="r" b="b"/>
              <a:pathLst>
                <a:path w="57150" h="657225">
                  <a:moveTo>
                    <a:pt x="57150" y="624852"/>
                  </a:moveTo>
                  <a:lnTo>
                    <a:pt x="32372" y="600075"/>
                  </a:lnTo>
                  <a:lnTo>
                    <a:pt x="24790" y="600075"/>
                  </a:lnTo>
                  <a:lnTo>
                    <a:pt x="0" y="624852"/>
                  </a:lnTo>
                  <a:lnTo>
                    <a:pt x="0" y="632434"/>
                  </a:lnTo>
                  <a:lnTo>
                    <a:pt x="24790" y="657212"/>
                  </a:lnTo>
                  <a:lnTo>
                    <a:pt x="32372" y="657212"/>
                  </a:lnTo>
                  <a:lnTo>
                    <a:pt x="57150" y="632434"/>
                  </a:lnTo>
                  <a:lnTo>
                    <a:pt x="57150" y="628650"/>
                  </a:lnTo>
                  <a:lnTo>
                    <a:pt x="57150" y="624852"/>
                  </a:lnTo>
                  <a:close/>
                </a:path>
                <a:path w="57150" h="657225">
                  <a:moveTo>
                    <a:pt x="57150" y="320052"/>
                  </a:moveTo>
                  <a:lnTo>
                    <a:pt x="32372" y="295275"/>
                  </a:lnTo>
                  <a:lnTo>
                    <a:pt x="24790" y="295275"/>
                  </a:lnTo>
                  <a:lnTo>
                    <a:pt x="0" y="320052"/>
                  </a:lnTo>
                  <a:lnTo>
                    <a:pt x="0" y="327634"/>
                  </a:lnTo>
                  <a:lnTo>
                    <a:pt x="24790" y="352412"/>
                  </a:lnTo>
                  <a:lnTo>
                    <a:pt x="32372" y="352412"/>
                  </a:lnTo>
                  <a:lnTo>
                    <a:pt x="57150" y="327634"/>
                  </a:lnTo>
                  <a:lnTo>
                    <a:pt x="57150" y="323850"/>
                  </a:lnTo>
                  <a:lnTo>
                    <a:pt x="57150" y="320052"/>
                  </a:lnTo>
                  <a:close/>
                </a:path>
                <a:path w="57150" h="657225">
                  <a:moveTo>
                    <a:pt x="57150" y="24777"/>
                  </a:moveTo>
                  <a:lnTo>
                    <a:pt x="32372" y="0"/>
                  </a:lnTo>
                  <a:lnTo>
                    <a:pt x="24790" y="0"/>
                  </a:lnTo>
                  <a:lnTo>
                    <a:pt x="0" y="24777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72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77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49790" y="1429936"/>
            <a:ext cx="4305300" cy="18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4045">
              <a:lnSpc>
                <a:spcPct val="100000"/>
              </a:lnSpc>
              <a:spcBef>
                <a:spcPts val="125"/>
              </a:spcBef>
            </a:pPr>
            <a:r>
              <a:rPr sz="1750" b="1" spc="5" dirty="0">
                <a:solidFill>
                  <a:srgbClr val="DAE9FE"/>
                </a:solidFill>
                <a:latin typeface="微软雅黑"/>
                <a:cs typeface="微软雅黑"/>
              </a:rPr>
              <a:t>自主性 (</a:t>
            </a:r>
            <a:r>
              <a:rPr sz="1750" b="1" spc="-10" dirty="0">
                <a:solidFill>
                  <a:srgbClr val="DAE9FE"/>
                </a:solidFill>
                <a:latin typeface="微软雅黑"/>
                <a:cs typeface="微软雅黑"/>
              </a:rPr>
              <a:t>Autonomy)</a:t>
            </a:r>
            <a:endParaRPr sz="175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75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b="1" dirty="0" err="1">
                <a:solidFill>
                  <a:srgbClr val="93C4FD"/>
                </a:solidFill>
                <a:latin typeface="微软雅黑"/>
                <a:cs typeface="微软雅黑"/>
              </a:rPr>
              <a:t>核心定义：</a:t>
            </a:r>
            <a:r>
              <a:rPr sz="1300" spc="-5" dirty="0" err="1">
                <a:solidFill>
                  <a:srgbClr val="E4E7EB"/>
                </a:solidFill>
                <a:latin typeface="微软雅黑"/>
                <a:cs typeface="微软雅黑"/>
              </a:rPr>
              <a:t>部署后以最少人工干预独立行动的数字实体</a:t>
            </a:r>
            <a:r>
              <a:rPr sz="1300" spc="-5" dirty="0">
                <a:solidFill>
                  <a:srgbClr val="E4E7EB"/>
                </a:solidFill>
                <a:latin typeface="微软雅黑"/>
                <a:cs typeface="微软雅黑"/>
              </a:rPr>
              <a:t>。</a:t>
            </a:r>
            <a:endParaRPr lang="en-US" sz="1300" spc="-5" dirty="0">
              <a:solidFill>
                <a:srgbClr val="E4E7EB"/>
              </a:solidFill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sz="1300" dirty="0">
              <a:latin typeface="微软雅黑"/>
              <a:cs typeface="微软雅黑"/>
            </a:endParaRPr>
          </a:p>
          <a:p>
            <a:pPr marL="229235" marR="907415">
              <a:lnSpc>
                <a:spcPct val="168500"/>
              </a:lnSpc>
              <a:spcBef>
                <a:spcPts val="195"/>
              </a:spcBef>
            </a:pPr>
            <a:r>
              <a:rPr sz="1150" spc="-5" dirty="0">
                <a:solidFill>
                  <a:srgbClr val="9CA2AF"/>
                </a:solidFill>
                <a:latin typeface="微软雅黑"/>
                <a:cs typeface="微软雅黑"/>
              </a:rPr>
              <a:t>从单纯的内容生成向目标导向的“行动者”转变具备感知上下文、推理并启动行动的能力</a:t>
            </a:r>
            <a:endParaRPr sz="1150" dirty="0">
              <a:latin typeface="微软雅黑"/>
              <a:cs typeface="微软雅黑"/>
            </a:endParaRPr>
          </a:p>
          <a:p>
            <a:pPr marL="229235">
              <a:lnSpc>
                <a:spcPct val="100000"/>
              </a:lnSpc>
              <a:spcBef>
                <a:spcPts val="1020"/>
              </a:spcBef>
            </a:pPr>
            <a:r>
              <a:rPr sz="1150" spc="-5" dirty="0">
                <a:solidFill>
                  <a:srgbClr val="9CA2AF"/>
                </a:solidFill>
                <a:latin typeface="微软雅黑"/>
                <a:cs typeface="微软雅黑"/>
              </a:rPr>
              <a:t>挑战：目前仍部分依赖人工提示，正向完全动态目标制定进化</a:t>
            </a:r>
            <a:endParaRPr sz="1150" dirty="0">
              <a:latin typeface="微软雅黑"/>
              <a:cs typeface="微软雅黑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248398" y="1142999"/>
            <a:ext cx="5514975" cy="2371725"/>
            <a:chOff x="6248398" y="1142999"/>
            <a:chExt cx="5514975" cy="2371725"/>
          </a:xfrm>
        </p:grpSpPr>
        <p:sp>
          <p:nvSpPr>
            <p:cNvPr id="14" name="object 14"/>
            <p:cNvSpPr/>
            <p:nvPr/>
          </p:nvSpPr>
          <p:spPr>
            <a:xfrm>
              <a:off x="6253161" y="1147762"/>
              <a:ext cx="5505450" cy="2362200"/>
            </a:xfrm>
            <a:custGeom>
              <a:avLst/>
              <a:gdLst/>
              <a:ahLst/>
              <a:cxnLst/>
              <a:rect l="l" t="t" r="r" b="b"/>
              <a:pathLst>
                <a:path w="5505450" h="2362200">
                  <a:moveTo>
                    <a:pt x="5439589" y="2362199"/>
                  </a:moveTo>
                  <a:lnTo>
                    <a:pt x="65861" y="2362199"/>
                  </a:lnTo>
                  <a:lnTo>
                    <a:pt x="61277" y="2361748"/>
                  </a:lnTo>
                  <a:lnTo>
                    <a:pt x="23918" y="2344826"/>
                  </a:lnTo>
                  <a:lnTo>
                    <a:pt x="2257" y="2310001"/>
                  </a:lnTo>
                  <a:lnTo>
                    <a:pt x="0" y="2296339"/>
                  </a:lnTo>
                  <a:lnTo>
                    <a:pt x="0" y="2291710"/>
                  </a:lnTo>
                  <a:lnTo>
                    <a:pt x="0" y="65860"/>
                  </a:lnTo>
                  <a:lnTo>
                    <a:pt x="14450" y="27478"/>
                  </a:lnTo>
                  <a:lnTo>
                    <a:pt x="47790" y="3594"/>
                  </a:lnTo>
                  <a:lnTo>
                    <a:pt x="65861" y="0"/>
                  </a:lnTo>
                  <a:lnTo>
                    <a:pt x="5439589" y="0"/>
                  </a:lnTo>
                  <a:lnTo>
                    <a:pt x="5477969" y="14450"/>
                  </a:lnTo>
                  <a:lnTo>
                    <a:pt x="5501853" y="47789"/>
                  </a:lnTo>
                  <a:lnTo>
                    <a:pt x="5505448" y="65860"/>
                  </a:lnTo>
                  <a:lnTo>
                    <a:pt x="5505448" y="2296339"/>
                  </a:lnTo>
                  <a:lnTo>
                    <a:pt x="5490998" y="2334720"/>
                  </a:lnTo>
                  <a:lnTo>
                    <a:pt x="5457660" y="2358604"/>
                  </a:lnTo>
                  <a:lnTo>
                    <a:pt x="5444172" y="2361748"/>
                  </a:lnTo>
                  <a:lnTo>
                    <a:pt x="5439589" y="2362199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253161" y="1147762"/>
              <a:ext cx="5505450" cy="2362200"/>
            </a:xfrm>
            <a:custGeom>
              <a:avLst/>
              <a:gdLst/>
              <a:ahLst/>
              <a:cxnLst/>
              <a:rect l="l" t="t" r="r" b="b"/>
              <a:pathLst>
                <a:path w="5505450" h="2362200">
                  <a:moveTo>
                    <a:pt x="0" y="2291710"/>
                  </a:moveTo>
                  <a:lnTo>
                    <a:pt x="0" y="70488"/>
                  </a:lnTo>
                  <a:lnTo>
                    <a:pt x="0" y="65860"/>
                  </a:lnTo>
                  <a:lnTo>
                    <a:pt x="451" y="61276"/>
                  </a:lnTo>
                  <a:lnTo>
                    <a:pt x="17373" y="23918"/>
                  </a:lnTo>
                  <a:lnTo>
                    <a:pt x="20645" y="20645"/>
                  </a:lnTo>
                  <a:lnTo>
                    <a:pt x="23918" y="17372"/>
                  </a:lnTo>
                  <a:lnTo>
                    <a:pt x="61277" y="451"/>
                  </a:lnTo>
                  <a:lnTo>
                    <a:pt x="65861" y="0"/>
                  </a:lnTo>
                  <a:lnTo>
                    <a:pt x="70489" y="0"/>
                  </a:lnTo>
                  <a:lnTo>
                    <a:pt x="5434961" y="0"/>
                  </a:lnTo>
                  <a:lnTo>
                    <a:pt x="5439589" y="0"/>
                  </a:lnTo>
                  <a:lnTo>
                    <a:pt x="5444172" y="451"/>
                  </a:lnTo>
                  <a:lnTo>
                    <a:pt x="5448711" y="1354"/>
                  </a:lnTo>
                  <a:lnTo>
                    <a:pt x="5453252" y="2257"/>
                  </a:lnTo>
                  <a:lnTo>
                    <a:pt x="5457660" y="3594"/>
                  </a:lnTo>
                  <a:lnTo>
                    <a:pt x="5461935" y="5365"/>
                  </a:lnTo>
                  <a:lnTo>
                    <a:pt x="5466210" y="7136"/>
                  </a:lnTo>
                  <a:lnTo>
                    <a:pt x="5470273" y="9307"/>
                  </a:lnTo>
                  <a:lnTo>
                    <a:pt x="5474120" y="11879"/>
                  </a:lnTo>
                  <a:lnTo>
                    <a:pt x="5477969" y="14450"/>
                  </a:lnTo>
                  <a:lnTo>
                    <a:pt x="5481530" y="17372"/>
                  </a:lnTo>
                  <a:lnTo>
                    <a:pt x="5484803" y="20645"/>
                  </a:lnTo>
                  <a:lnTo>
                    <a:pt x="5488076" y="23918"/>
                  </a:lnTo>
                  <a:lnTo>
                    <a:pt x="5500082" y="43513"/>
                  </a:lnTo>
                  <a:lnTo>
                    <a:pt x="5501853" y="47789"/>
                  </a:lnTo>
                  <a:lnTo>
                    <a:pt x="5505450" y="70488"/>
                  </a:lnTo>
                  <a:lnTo>
                    <a:pt x="5505450" y="2291710"/>
                  </a:lnTo>
                  <a:lnTo>
                    <a:pt x="5493569" y="2330871"/>
                  </a:lnTo>
                  <a:lnTo>
                    <a:pt x="5490998" y="2334720"/>
                  </a:lnTo>
                  <a:lnTo>
                    <a:pt x="5488076" y="2338281"/>
                  </a:lnTo>
                  <a:lnTo>
                    <a:pt x="5484803" y="2341553"/>
                  </a:lnTo>
                  <a:lnTo>
                    <a:pt x="5481530" y="2344826"/>
                  </a:lnTo>
                  <a:lnTo>
                    <a:pt x="5477969" y="2347748"/>
                  </a:lnTo>
                  <a:lnTo>
                    <a:pt x="5474120" y="2350320"/>
                  </a:lnTo>
                  <a:lnTo>
                    <a:pt x="5470273" y="2352891"/>
                  </a:lnTo>
                  <a:lnTo>
                    <a:pt x="5434961" y="2362199"/>
                  </a:lnTo>
                  <a:lnTo>
                    <a:pt x="70489" y="2362199"/>
                  </a:lnTo>
                  <a:lnTo>
                    <a:pt x="31327" y="2350319"/>
                  </a:lnTo>
                  <a:lnTo>
                    <a:pt x="27479" y="2347748"/>
                  </a:lnTo>
                  <a:lnTo>
                    <a:pt x="3593" y="2314409"/>
                  </a:lnTo>
                  <a:lnTo>
                    <a:pt x="1354" y="2305461"/>
                  </a:lnTo>
                  <a:lnTo>
                    <a:pt x="451" y="2300922"/>
                  </a:lnTo>
                  <a:lnTo>
                    <a:pt x="0" y="2296339"/>
                  </a:lnTo>
                  <a:lnTo>
                    <a:pt x="0" y="2291710"/>
                  </a:lnTo>
                  <a:close/>
                </a:path>
              </a:pathLst>
            </a:custGeom>
            <a:ln w="9524">
              <a:solidFill>
                <a:srgbClr val="1C4E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476999" y="1943099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50482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048249" y="0"/>
                  </a:lnTo>
                  <a:lnTo>
                    <a:pt x="5048249" y="9524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476999" y="1381125"/>
              <a:ext cx="457200" cy="447675"/>
            </a:xfrm>
            <a:custGeom>
              <a:avLst/>
              <a:gdLst/>
              <a:ahLst/>
              <a:cxnLst/>
              <a:rect l="l" t="t" r="r" b="b"/>
              <a:pathLst>
                <a:path w="457200" h="447675">
                  <a:moveTo>
                    <a:pt x="240693" y="447674"/>
                  </a:moveTo>
                  <a:lnTo>
                    <a:pt x="216506" y="447674"/>
                  </a:lnTo>
                  <a:lnTo>
                    <a:pt x="209192" y="447315"/>
                  </a:lnTo>
                  <a:lnTo>
                    <a:pt x="165875" y="440164"/>
                  </a:lnTo>
                  <a:lnTo>
                    <a:pt x="124786" y="424699"/>
                  </a:lnTo>
                  <a:lnTo>
                    <a:pt x="87503" y="401516"/>
                  </a:lnTo>
                  <a:lnTo>
                    <a:pt x="55459" y="371505"/>
                  </a:lnTo>
                  <a:lnTo>
                    <a:pt x="29885" y="335818"/>
                  </a:lnTo>
                  <a:lnTo>
                    <a:pt x="11766" y="295829"/>
                  </a:lnTo>
                  <a:lnTo>
                    <a:pt x="1796" y="253072"/>
                  </a:lnTo>
                  <a:lnTo>
                    <a:pt x="0" y="231168"/>
                  </a:lnTo>
                  <a:lnTo>
                    <a:pt x="0" y="223837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3" y="131405"/>
                  </a:lnTo>
                  <a:lnTo>
                    <a:pt x="41796" y="93384"/>
                  </a:lnTo>
                  <a:lnTo>
                    <a:pt x="70744" y="60376"/>
                  </a:lnTo>
                  <a:lnTo>
                    <a:pt x="105574" y="33650"/>
                  </a:lnTo>
                  <a:lnTo>
                    <a:pt x="144951" y="14232"/>
                  </a:lnTo>
                  <a:lnTo>
                    <a:pt x="187358" y="2870"/>
                  </a:lnTo>
                  <a:lnTo>
                    <a:pt x="216506" y="0"/>
                  </a:lnTo>
                  <a:lnTo>
                    <a:pt x="240693" y="0"/>
                  </a:lnTo>
                  <a:lnTo>
                    <a:pt x="284221" y="5730"/>
                  </a:lnTo>
                  <a:lnTo>
                    <a:pt x="325793" y="19843"/>
                  </a:lnTo>
                  <a:lnTo>
                    <a:pt x="363814" y="41796"/>
                  </a:lnTo>
                  <a:lnTo>
                    <a:pt x="396822" y="70744"/>
                  </a:lnTo>
                  <a:lnTo>
                    <a:pt x="423548" y="105575"/>
                  </a:lnTo>
                  <a:lnTo>
                    <a:pt x="442966" y="144951"/>
                  </a:lnTo>
                  <a:lnTo>
                    <a:pt x="454328" y="187358"/>
                  </a:lnTo>
                  <a:lnTo>
                    <a:pt x="457199" y="216506"/>
                  </a:lnTo>
                  <a:lnTo>
                    <a:pt x="457199" y="231168"/>
                  </a:lnTo>
                  <a:lnTo>
                    <a:pt x="451468" y="274695"/>
                  </a:lnTo>
                  <a:lnTo>
                    <a:pt x="437355" y="316269"/>
                  </a:lnTo>
                  <a:lnTo>
                    <a:pt x="415403" y="354290"/>
                  </a:lnTo>
                  <a:lnTo>
                    <a:pt x="386455" y="387297"/>
                  </a:lnTo>
                  <a:lnTo>
                    <a:pt x="351623" y="414023"/>
                  </a:lnTo>
                  <a:lnTo>
                    <a:pt x="312247" y="433441"/>
                  </a:lnTo>
                  <a:lnTo>
                    <a:pt x="269840" y="444803"/>
                  </a:lnTo>
                  <a:lnTo>
                    <a:pt x="248006" y="447315"/>
                  </a:lnTo>
                  <a:lnTo>
                    <a:pt x="240693" y="447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53199" y="1543049"/>
              <a:ext cx="304799" cy="12382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6476987" y="2552712"/>
              <a:ext cx="57150" cy="657225"/>
            </a:xfrm>
            <a:custGeom>
              <a:avLst/>
              <a:gdLst/>
              <a:ahLst/>
              <a:cxnLst/>
              <a:rect l="l" t="t" r="r" b="b"/>
              <a:pathLst>
                <a:path w="57150" h="657225">
                  <a:moveTo>
                    <a:pt x="57150" y="624852"/>
                  </a:moveTo>
                  <a:lnTo>
                    <a:pt x="32372" y="600075"/>
                  </a:lnTo>
                  <a:lnTo>
                    <a:pt x="24790" y="600075"/>
                  </a:lnTo>
                  <a:lnTo>
                    <a:pt x="0" y="624852"/>
                  </a:lnTo>
                  <a:lnTo>
                    <a:pt x="0" y="632434"/>
                  </a:lnTo>
                  <a:lnTo>
                    <a:pt x="24790" y="657212"/>
                  </a:lnTo>
                  <a:lnTo>
                    <a:pt x="32372" y="657212"/>
                  </a:lnTo>
                  <a:lnTo>
                    <a:pt x="57150" y="632434"/>
                  </a:lnTo>
                  <a:lnTo>
                    <a:pt x="57150" y="628650"/>
                  </a:lnTo>
                  <a:lnTo>
                    <a:pt x="57150" y="624852"/>
                  </a:lnTo>
                  <a:close/>
                </a:path>
                <a:path w="57150" h="657225">
                  <a:moveTo>
                    <a:pt x="57150" y="320052"/>
                  </a:moveTo>
                  <a:lnTo>
                    <a:pt x="32372" y="295275"/>
                  </a:lnTo>
                  <a:lnTo>
                    <a:pt x="24790" y="295275"/>
                  </a:lnTo>
                  <a:lnTo>
                    <a:pt x="0" y="320052"/>
                  </a:lnTo>
                  <a:lnTo>
                    <a:pt x="0" y="327634"/>
                  </a:lnTo>
                  <a:lnTo>
                    <a:pt x="24790" y="352412"/>
                  </a:lnTo>
                  <a:lnTo>
                    <a:pt x="32372" y="352412"/>
                  </a:lnTo>
                  <a:lnTo>
                    <a:pt x="57150" y="327634"/>
                  </a:lnTo>
                  <a:lnTo>
                    <a:pt x="57150" y="323850"/>
                  </a:lnTo>
                  <a:lnTo>
                    <a:pt x="57150" y="320052"/>
                  </a:lnTo>
                  <a:close/>
                </a:path>
                <a:path w="57150" h="657225">
                  <a:moveTo>
                    <a:pt x="57150" y="24777"/>
                  </a:moveTo>
                  <a:lnTo>
                    <a:pt x="32372" y="0"/>
                  </a:lnTo>
                  <a:lnTo>
                    <a:pt x="24790" y="0"/>
                  </a:lnTo>
                  <a:lnTo>
                    <a:pt x="0" y="24777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72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77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6468913" y="1429936"/>
            <a:ext cx="4594860" cy="18965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4045">
              <a:lnSpc>
                <a:spcPct val="100000"/>
              </a:lnSpc>
              <a:spcBef>
                <a:spcPts val="125"/>
              </a:spcBef>
            </a:pPr>
            <a:r>
              <a:rPr sz="1750" b="1" spc="5" dirty="0">
                <a:solidFill>
                  <a:srgbClr val="DAE9FE"/>
                </a:solidFill>
                <a:latin typeface="微软雅黑"/>
                <a:cs typeface="微软雅黑"/>
              </a:rPr>
              <a:t>任务特定性 (</a:t>
            </a:r>
            <a:r>
              <a:rPr sz="1750" b="1" spc="-10" dirty="0">
                <a:solidFill>
                  <a:srgbClr val="DAE9FE"/>
                </a:solidFill>
                <a:latin typeface="微软雅黑"/>
                <a:cs typeface="微软雅黑"/>
              </a:rPr>
              <a:t>Specificity)</a:t>
            </a:r>
            <a:endParaRPr sz="175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75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b="1" dirty="0" err="1">
                <a:solidFill>
                  <a:srgbClr val="93C4FD"/>
                </a:solidFill>
                <a:latin typeface="微软雅黑"/>
                <a:cs typeface="微软雅黑"/>
              </a:rPr>
              <a:t>核心定义：</a:t>
            </a:r>
            <a:r>
              <a:rPr sz="1300" spc="-5" dirty="0" err="1">
                <a:solidFill>
                  <a:srgbClr val="E4E7EB"/>
                </a:solidFill>
                <a:latin typeface="微软雅黑"/>
                <a:cs typeface="微软雅黑"/>
              </a:rPr>
              <a:t>为狭窄范围任务优化，模块化设计专注特定领域</a:t>
            </a:r>
            <a:r>
              <a:rPr sz="1300" spc="-5" dirty="0">
                <a:solidFill>
                  <a:srgbClr val="E4E7EB"/>
                </a:solidFill>
                <a:latin typeface="微软雅黑"/>
                <a:cs typeface="微软雅黑"/>
              </a:rPr>
              <a:t>。</a:t>
            </a:r>
            <a:endParaRPr lang="en-US" sz="1300" spc="-5" dirty="0">
              <a:solidFill>
                <a:srgbClr val="E4E7EB"/>
              </a:solidFill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sz="1300" dirty="0">
              <a:latin typeface="微软雅黑"/>
              <a:cs typeface="微软雅黑"/>
            </a:endParaRPr>
          </a:p>
          <a:p>
            <a:pPr marL="229235" marR="1074420">
              <a:lnSpc>
                <a:spcPct val="168500"/>
              </a:lnSpc>
              <a:spcBef>
                <a:spcPts val="195"/>
              </a:spcBef>
            </a:pPr>
            <a:r>
              <a:rPr sz="1150" dirty="0">
                <a:solidFill>
                  <a:srgbClr val="9CA2AF"/>
                </a:solidFill>
                <a:latin typeface="微软雅黑"/>
                <a:cs typeface="微软雅黑"/>
              </a:rPr>
              <a:t>典型场景：Salesforce Einstein</a:t>
            </a:r>
            <a:r>
              <a:rPr sz="1150" spc="-10" dirty="0">
                <a:solidFill>
                  <a:srgbClr val="9CA2AF"/>
                </a:solidFill>
                <a:latin typeface="微软雅黑"/>
                <a:cs typeface="微软雅黑"/>
              </a:rPr>
              <a:t> (客户支持自动化)</a:t>
            </a:r>
            <a:r>
              <a:rPr sz="1150" spc="-5" dirty="0">
                <a:solidFill>
                  <a:srgbClr val="9CA2AF"/>
                </a:solidFill>
                <a:latin typeface="微软雅黑"/>
                <a:cs typeface="微软雅黑"/>
              </a:rPr>
              <a:t>优化方向：特定工作流的调度、查询过滤或分类</a:t>
            </a:r>
            <a:endParaRPr sz="1150" dirty="0">
              <a:latin typeface="微软雅黑"/>
              <a:cs typeface="微软雅黑"/>
            </a:endParaRPr>
          </a:p>
          <a:p>
            <a:pPr marL="229235">
              <a:lnSpc>
                <a:spcPct val="100000"/>
              </a:lnSpc>
              <a:spcBef>
                <a:spcPts val="1020"/>
              </a:spcBef>
            </a:pPr>
            <a:r>
              <a:rPr sz="1150" spc="-5" dirty="0">
                <a:solidFill>
                  <a:srgbClr val="9CA2AF"/>
                </a:solidFill>
                <a:latin typeface="微软雅黑"/>
                <a:cs typeface="微软雅黑"/>
              </a:rPr>
              <a:t>优势：相比通用模型，在垂直领域具备更高的可靠性</a:t>
            </a:r>
            <a:endParaRPr sz="1150" dirty="0">
              <a:latin typeface="微软雅黑"/>
              <a:cs typeface="微软雅黑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28624" y="3819524"/>
            <a:ext cx="5514975" cy="2371725"/>
            <a:chOff x="428624" y="3819524"/>
            <a:chExt cx="5514975" cy="2371725"/>
          </a:xfrm>
        </p:grpSpPr>
        <p:sp>
          <p:nvSpPr>
            <p:cNvPr id="22" name="object 22"/>
            <p:cNvSpPr/>
            <p:nvPr/>
          </p:nvSpPr>
          <p:spPr>
            <a:xfrm>
              <a:off x="433387" y="3824287"/>
              <a:ext cx="5505450" cy="2362200"/>
            </a:xfrm>
            <a:custGeom>
              <a:avLst/>
              <a:gdLst/>
              <a:ahLst/>
              <a:cxnLst/>
              <a:rect l="l" t="t" r="r" b="b"/>
              <a:pathLst>
                <a:path w="5505450" h="2362200">
                  <a:moveTo>
                    <a:pt x="5439589" y="2362199"/>
                  </a:moveTo>
                  <a:lnTo>
                    <a:pt x="65860" y="2362199"/>
                  </a:lnTo>
                  <a:lnTo>
                    <a:pt x="61276" y="2361748"/>
                  </a:lnTo>
                  <a:lnTo>
                    <a:pt x="23918" y="2344826"/>
                  </a:lnTo>
                  <a:lnTo>
                    <a:pt x="2257" y="2310002"/>
                  </a:lnTo>
                  <a:lnTo>
                    <a:pt x="0" y="2296339"/>
                  </a:lnTo>
                  <a:lnTo>
                    <a:pt x="0" y="2291711"/>
                  </a:lnTo>
                  <a:lnTo>
                    <a:pt x="0" y="65860"/>
                  </a:lnTo>
                  <a:lnTo>
                    <a:pt x="14450" y="27478"/>
                  </a:lnTo>
                  <a:lnTo>
                    <a:pt x="47790" y="3594"/>
                  </a:lnTo>
                  <a:lnTo>
                    <a:pt x="65860" y="0"/>
                  </a:lnTo>
                  <a:lnTo>
                    <a:pt x="5439589" y="0"/>
                  </a:lnTo>
                  <a:lnTo>
                    <a:pt x="5477970" y="14450"/>
                  </a:lnTo>
                  <a:lnTo>
                    <a:pt x="5501854" y="47789"/>
                  </a:lnTo>
                  <a:lnTo>
                    <a:pt x="5505449" y="65860"/>
                  </a:lnTo>
                  <a:lnTo>
                    <a:pt x="5505449" y="2296339"/>
                  </a:lnTo>
                  <a:lnTo>
                    <a:pt x="5490998" y="2334720"/>
                  </a:lnTo>
                  <a:lnTo>
                    <a:pt x="5457659" y="2358604"/>
                  </a:lnTo>
                  <a:lnTo>
                    <a:pt x="5444172" y="2361748"/>
                  </a:lnTo>
                  <a:lnTo>
                    <a:pt x="5439589" y="2362199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33387" y="3824287"/>
              <a:ext cx="5505450" cy="2362200"/>
            </a:xfrm>
            <a:custGeom>
              <a:avLst/>
              <a:gdLst/>
              <a:ahLst/>
              <a:cxnLst/>
              <a:rect l="l" t="t" r="r" b="b"/>
              <a:pathLst>
                <a:path w="5505450" h="2362200">
                  <a:moveTo>
                    <a:pt x="0" y="2291711"/>
                  </a:moveTo>
                  <a:lnTo>
                    <a:pt x="0" y="70488"/>
                  </a:lnTo>
                  <a:lnTo>
                    <a:pt x="0" y="65860"/>
                  </a:lnTo>
                  <a:lnTo>
                    <a:pt x="451" y="61276"/>
                  </a:lnTo>
                  <a:lnTo>
                    <a:pt x="1354" y="56736"/>
                  </a:lnTo>
                  <a:lnTo>
                    <a:pt x="2257" y="52197"/>
                  </a:lnTo>
                  <a:lnTo>
                    <a:pt x="3594" y="47789"/>
                  </a:lnTo>
                  <a:lnTo>
                    <a:pt x="5365" y="43513"/>
                  </a:lnTo>
                  <a:lnTo>
                    <a:pt x="7136" y="39237"/>
                  </a:lnTo>
                  <a:lnTo>
                    <a:pt x="9308" y="35175"/>
                  </a:lnTo>
                  <a:lnTo>
                    <a:pt x="11879" y="31326"/>
                  </a:lnTo>
                  <a:lnTo>
                    <a:pt x="14450" y="27478"/>
                  </a:lnTo>
                  <a:lnTo>
                    <a:pt x="17372" y="23918"/>
                  </a:lnTo>
                  <a:lnTo>
                    <a:pt x="20645" y="20645"/>
                  </a:lnTo>
                  <a:lnTo>
                    <a:pt x="23918" y="17372"/>
                  </a:lnTo>
                  <a:lnTo>
                    <a:pt x="61276" y="451"/>
                  </a:lnTo>
                  <a:lnTo>
                    <a:pt x="65860" y="0"/>
                  </a:lnTo>
                  <a:lnTo>
                    <a:pt x="70488" y="0"/>
                  </a:lnTo>
                  <a:lnTo>
                    <a:pt x="5434960" y="0"/>
                  </a:lnTo>
                  <a:lnTo>
                    <a:pt x="5439589" y="0"/>
                  </a:lnTo>
                  <a:lnTo>
                    <a:pt x="5444172" y="451"/>
                  </a:lnTo>
                  <a:lnTo>
                    <a:pt x="5474121" y="11878"/>
                  </a:lnTo>
                  <a:lnTo>
                    <a:pt x="5477970" y="14450"/>
                  </a:lnTo>
                  <a:lnTo>
                    <a:pt x="5481531" y="17372"/>
                  </a:lnTo>
                  <a:lnTo>
                    <a:pt x="5484803" y="20645"/>
                  </a:lnTo>
                  <a:lnTo>
                    <a:pt x="5488076" y="23918"/>
                  </a:lnTo>
                  <a:lnTo>
                    <a:pt x="5490998" y="27478"/>
                  </a:lnTo>
                  <a:lnTo>
                    <a:pt x="5493569" y="31327"/>
                  </a:lnTo>
                  <a:lnTo>
                    <a:pt x="5496140" y="35175"/>
                  </a:lnTo>
                  <a:lnTo>
                    <a:pt x="5498311" y="39237"/>
                  </a:lnTo>
                  <a:lnTo>
                    <a:pt x="5500083" y="43513"/>
                  </a:lnTo>
                  <a:lnTo>
                    <a:pt x="5501854" y="47789"/>
                  </a:lnTo>
                  <a:lnTo>
                    <a:pt x="5505449" y="70488"/>
                  </a:lnTo>
                  <a:lnTo>
                    <a:pt x="5505449" y="2291711"/>
                  </a:lnTo>
                  <a:lnTo>
                    <a:pt x="5500083" y="2318685"/>
                  </a:lnTo>
                  <a:lnTo>
                    <a:pt x="5498311" y="2322962"/>
                  </a:lnTo>
                  <a:lnTo>
                    <a:pt x="5484803" y="2341553"/>
                  </a:lnTo>
                  <a:lnTo>
                    <a:pt x="5481531" y="2344826"/>
                  </a:lnTo>
                  <a:lnTo>
                    <a:pt x="5477970" y="2347747"/>
                  </a:lnTo>
                  <a:lnTo>
                    <a:pt x="5474121" y="2350319"/>
                  </a:lnTo>
                  <a:lnTo>
                    <a:pt x="5470273" y="2352890"/>
                  </a:lnTo>
                  <a:lnTo>
                    <a:pt x="5466211" y="2355061"/>
                  </a:lnTo>
                  <a:lnTo>
                    <a:pt x="5461935" y="2356833"/>
                  </a:lnTo>
                  <a:lnTo>
                    <a:pt x="5457659" y="2358604"/>
                  </a:lnTo>
                  <a:lnTo>
                    <a:pt x="5453251" y="2359941"/>
                  </a:lnTo>
                  <a:lnTo>
                    <a:pt x="5448711" y="2360844"/>
                  </a:lnTo>
                  <a:lnTo>
                    <a:pt x="5444172" y="2361748"/>
                  </a:lnTo>
                  <a:lnTo>
                    <a:pt x="5439589" y="2362199"/>
                  </a:lnTo>
                  <a:lnTo>
                    <a:pt x="5434960" y="2362199"/>
                  </a:lnTo>
                  <a:lnTo>
                    <a:pt x="70488" y="2362199"/>
                  </a:lnTo>
                  <a:lnTo>
                    <a:pt x="65860" y="2362199"/>
                  </a:lnTo>
                  <a:lnTo>
                    <a:pt x="61276" y="2361748"/>
                  </a:lnTo>
                  <a:lnTo>
                    <a:pt x="56737" y="2360844"/>
                  </a:lnTo>
                  <a:lnTo>
                    <a:pt x="52197" y="2359941"/>
                  </a:lnTo>
                  <a:lnTo>
                    <a:pt x="47790" y="2358604"/>
                  </a:lnTo>
                  <a:lnTo>
                    <a:pt x="43513" y="2356833"/>
                  </a:lnTo>
                  <a:lnTo>
                    <a:pt x="39237" y="2355061"/>
                  </a:lnTo>
                  <a:lnTo>
                    <a:pt x="20645" y="2341553"/>
                  </a:lnTo>
                  <a:lnTo>
                    <a:pt x="17372" y="2338281"/>
                  </a:lnTo>
                  <a:lnTo>
                    <a:pt x="5365" y="2318685"/>
                  </a:lnTo>
                  <a:lnTo>
                    <a:pt x="3594" y="2314409"/>
                  </a:lnTo>
                  <a:lnTo>
                    <a:pt x="2257" y="2310002"/>
                  </a:lnTo>
                  <a:lnTo>
                    <a:pt x="1354" y="2305462"/>
                  </a:lnTo>
                  <a:lnTo>
                    <a:pt x="451" y="2300922"/>
                  </a:lnTo>
                  <a:lnTo>
                    <a:pt x="0" y="2296339"/>
                  </a:lnTo>
                  <a:lnTo>
                    <a:pt x="0" y="2291711"/>
                  </a:lnTo>
                  <a:close/>
                </a:path>
              </a:pathLst>
            </a:custGeom>
            <a:ln w="9524">
              <a:solidFill>
                <a:srgbClr val="1C4E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66749" y="4619624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50482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048249" y="0"/>
                  </a:lnTo>
                  <a:lnTo>
                    <a:pt x="5048249" y="9524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6749" y="4048124"/>
              <a:ext cx="447675" cy="457200"/>
            </a:xfrm>
            <a:custGeom>
              <a:avLst/>
              <a:gdLst/>
              <a:ahLst/>
              <a:cxnLst/>
              <a:rect l="l" t="t" r="r" b="b"/>
              <a:pathLst>
                <a:path w="447675" h="457200">
                  <a:moveTo>
                    <a:pt x="231168" y="457199"/>
                  </a:moveTo>
                  <a:lnTo>
                    <a:pt x="216506" y="457199"/>
                  </a:lnTo>
                  <a:lnTo>
                    <a:pt x="209193" y="456840"/>
                  </a:lnTo>
                  <a:lnTo>
                    <a:pt x="165876" y="449688"/>
                  </a:lnTo>
                  <a:lnTo>
                    <a:pt x="124786" y="434224"/>
                  </a:lnTo>
                  <a:lnTo>
                    <a:pt x="87503" y="411041"/>
                  </a:lnTo>
                  <a:lnTo>
                    <a:pt x="55459" y="381029"/>
                  </a:lnTo>
                  <a:lnTo>
                    <a:pt x="29886" y="345343"/>
                  </a:lnTo>
                  <a:lnTo>
                    <a:pt x="11766" y="305353"/>
                  </a:lnTo>
                  <a:lnTo>
                    <a:pt x="1796" y="262597"/>
                  </a:lnTo>
                  <a:lnTo>
                    <a:pt x="0" y="233362"/>
                  </a:lnTo>
                  <a:lnTo>
                    <a:pt x="0" y="216506"/>
                  </a:lnTo>
                  <a:lnTo>
                    <a:pt x="5731" y="172978"/>
                  </a:lnTo>
                  <a:lnTo>
                    <a:pt x="19843" y="131405"/>
                  </a:lnTo>
                  <a:lnTo>
                    <a:pt x="41796" y="93384"/>
                  </a:lnTo>
                  <a:lnTo>
                    <a:pt x="70744" y="60376"/>
                  </a:lnTo>
                  <a:lnTo>
                    <a:pt x="105575" y="33650"/>
                  </a:lnTo>
                  <a:lnTo>
                    <a:pt x="144951" y="14232"/>
                  </a:lnTo>
                  <a:lnTo>
                    <a:pt x="187358" y="2870"/>
                  </a:lnTo>
                  <a:lnTo>
                    <a:pt x="216506" y="0"/>
                  </a:lnTo>
                  <a:lnTo>
                    <a:pt x="231168" y="0"/>
                  </a:lnTo>
                  <a:lnTo>
                    <a:pt x="274696" y="5731"/>
                  </a:lnTo>
                  <a:lnTo>
                    <a:pt x="316269" y="19843"/>
                  </a:lnTo>
                  <a:lnTo>
                    <a:pt x="354290" y="41795"/>
                  </a:lnTo>
                  <a:lnTo>
                    <a:pt x="387298" y="70743"/>
                  </a:lnTo>
                  <a:lnTo>
                    <a:pt x="414024" y="105574"/>
                  </a:lnTo>
                  <a:lnTo>
                    <a:pt x="433441" y="144951"/>
                  </a:lnTo>
                  <a:lnTo>
                    <a:pt x="444804" y="187358"/>
                  </a:lnTo>
                  <a:lnTo>
                    <a:pt x="447675" y="216506"/>
                  </a:lnTo>
                  <a:lnTo>
                    <a:pt x="447675" y="240693"/>
                  </a:lnTo>
                  <a:lnTo>
                    <a:pt x="441943" y="284220"/>
                  </a:lnTo>
                  <a:lnTo>
                    <a:pt x="427830" y="325793"/>
                  </a:lnTo>
                  <a:lnTo>
                    <a:pt x="405878" y="363814"/>
                  </a:lnTo>
                  <a:lnTo>
                    <a:pt x="376930" y="396822"/>
                  </a:lnTo>
                  <a:lnTo>
                    <a:pt x="342099" y="423548"/>
                  </a:lnTo>
                  <a:lnTo>
                    <a:pt x="302723" y="442965"/>
                  </a:lnTo>
                  <a:lnTo>
                    <a:pt x="260315" y="454328"/>
                  </a:lnTo>
                  <a:lnTo>
                    <a:pt x="231168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04850" y="4086224"/>
              <a:ext cx="371474" cy="380999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666737" y="5219712"/>
              <a:ext cx="57150" cy="657225"/>
            </a:xfrm>
            <a:custGeom>
              <a:avLst/>
              <a:gdLst/>
              <a:ahLst/>
              <a:cxnLst/>
              <a:rect l="l" t="t" r="r" b="b"/>
              <a:pathLst>
                <a:path w="57150" h="657225">
                  <a:moveTo>
                    <a:pt x="57150" y="624852"/>
                  </a:moveTo>
                  <a:lnTo>
                    <a:pt x="32372" y="600075"/>
                  </a:lnTo>
                  <a:lnTo>
                    <a:pt x="24790" y="600075"/>
                  </a:lnTo>
                  <a:lnTo>
                    <a:pt x="0" y="624852"/>
                  </a:lnTo>
                  <a:lnTo>
                    <a:pt x="0" y="632434"/>
                  </a:lnTo>
                  <a:lnTo>
                    <a:pt x="24790" y="657212"/>
                  </a:lnTo>
                  <a:lnTo>
                    <a:pt x="32372" y="657212"/>
                  </a:lnTo>
                  <a:lnTo>
                    <a:pt x="57150" y="632434"/>
                  </a:lnTo>
                  <a:lnTo>
                    <a:pt x="57150" y="628650"/>
                  </a:lnTo>
                  <a:lnTo>
                    <a:pt x="57150" y="624852"/>
                  </a:lnTo>
                  <a:close/>
                </a:path>
                <a:path w="57150" h="657225">
                  <a:moveTo>
                    <a:pt x="57150" y="329577"/>
                  </a:moveTo>
                  <a:lnTo>
                    <a:pt x="32372" y="304800"/>
                  </a:lnTo>
                  <a:lnTo>
                    <a:pt x="24790" y="304800"/>
                  </a:lnTo>
                  <a:lnTo>
                    <a:pt x="0" y="329577"/>
                  </a:lnTo>
                  <a:lnTo>
                    <a:pt x="0" y="337159"/>
                  </a:lnTo>
                  <a:lnTo>
                    <a:pt x="24790" y="361937"/>
                  </a:lnTo>
                  <a:lnTo>
                    <a:pt x="32372" y="361937"/>
                  </a:lnTo>
                  <a:lnTo>
                    <a:pt x="57150" y="337159"/>
                  </a:lnTo>
                  <a:lnTo>
                    <a:pt x="57150" y="333375"/>
                  </a:lnTo>
                  <a:lnTo>
                    <a:pt x="57150" y="329577"/>
                  </a:lnTo>
                  <a:close/>
                </a:path>
                <a:path w="57150" h="657225">
                  <a:moveTo>
                    <a:pt x="57150" y="24777"/>
                  </a:moveTo>
                  <a:lnTo>
                    <a:pt x="32372" y="0"/>
                  </a:lnTo>
                  <a:lnTo>
                    <a:pt x="24790" y="0"/>
                  </a:lnTo>
                  <a:lnTo>
                    <a:pt x="0" y="24777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72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77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45199" y="4077464"/>
            <a:ext cx="4824095" cy="18568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R="366395" algn="ctr">
              <a:lnSpc>
                <a:spcPct val="100000"/>
              </a:lnSpc>
              <a:spcBef>
                <a:spcPts val="125"/>
              </a:spcBef>
            </a:pPr>
            <a:r>
              <a:rPr sz="1750" b="1" spc="5" dirty="0">
                <a:solidFill>
                  <a:srgbClr val="DAE9FE"/>
                </a:solidFill>
                <a:latin typeface="微软雅黑"/>
                <a:cs typeface="微软雅黑"/>
              </a:rPr>
              <a:t>反应性与适应性 (</a:t>
            </a:r>
            <a:r>
              <a:rPr sz="1750" b="1" spc="-10" dirty="0">
                <a:solidFill>
                  <a:srgbClr val="DAE9FE"/>
                </a:solidFill>
                <a:latin typeface="微软雅黑"/>
                <a:cs typeface="微软雅黑"/>
              </a:rPr>
              <a:t>Adaptability)</a:t>
            </a:r>
            <a:endParaRPr sz="175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75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b="1" dirty="0" err="1">
                <a:solidFill>
                  <a:srgbClr val="93C4FD"/>
                </a:solidFill>
                <a:latin typeface="微软雅黑"/>
                <a:cs typeface="微软雅黑"/>
              </a:rPr>
              <a:t>核心定义：</a:t>
            </a:r>
            <a:r>
              <a:rPr sz="1300" spc="-5" dirty="0" err="1">
                <a:solidFill>
                  <a:srgbClr val="E4E7EB"/>
                </a:solidFill>
                <a:latin typeface="微软雅黑"/>
                <a:cs typeface="微软雅黑"/>
              </a:rPr>
              <a:t>响应环境变化并利用反馈循环修正行为</a:t>
            </a:r>
            <a:r>
              <a:rPr sz="1300" spc="-5" dirty="0">
                <a:solidFill>
                  <a:srgbClr val="E4E7EB"/>
                </a:solidFill>
                <a:latin typeface="微软雅黑"/>
                <a:cs typeface="微软雅黑"/>
              </a:rPr>
              <a:t>。</a:t>
            </a:r>
            <a:endParaRPr lang="en-US" sz="1300" spc="-5" dirty="0">
              <a:solidFill>
                <a:srgbClr val="E4E7EB"/>
              </a:solidFill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sz="1300" dirty="0">
              <a:latin typeface="微软雅黑"/>
              <a:cs typeface="微软雅黑"/>
            </a:endParaRPr>
          </a:p>
          <a:p>
            <a:pPr marL="229235">
              <a:lnSpc>
                <a:spcPct val="100000"/>
              </a:lnSpc>
              <a:spcBef>
                <a:spcPts val="1140"/>
              </a:spcBef>
            </a:pPr>
            <a:r>
              <a:rPr sz="1150" spc="10" dirty="0">
                <a:solidFill>
                  <a:srgbClr val="9CA2AF"/>
                </a:solidFill>
                <a:latin typeface="微软雅黑"/>
                <a:cs typeface="微软雅黑"/>
              </a:rPr>
              <a:t>机制：多轮反思机制与验证闭环 (</a:t>
            </a:r>
            <a:r>
              <a:rPr sz="1150" dirty="0">
                <a:solidFill>
                  <a:srgbClr val="9CA2AF"/>
                </a:solidFill>
                <a:latin typeface="微软雅黑"/>
                <a:cs typeface="微软雅黑"/>
              </a:rPr>
              <a:t>Agentic</a:t>
            </a:r>
            <a:r>
              <a:rPr sz="1150" spc="260" dirty="0">
                <a:solidFill>
                  <a:srgbClr val="9CA2AF"/>
                </a:solidFill>
                <a:latin typeface="微软雅黑"/>
                <a:cs typeface="微软雅黑"/>
              </a:rPr>
              <a:t> </a:t>
            </a:r>
            <a:r>
              <a:rPr sz="1150" spc="-20" dirty="0">
                <a:solidFill>
                  <a:srgbClr val="9CA2AF"/>
                </a:solidFill>
                <a:latin typeface="微软雅黑"/>
                <a:cs typeface="微软雅黑"/>
              </a:rPr>
              <a:t>RAG)</a:t>
            </a:r>
            <a:endParaRPr sz="1150" dirty="0">
              <a:latin typeface="微软雅黑"/>
              <a:cs typeface="微软雅黑"/>
            </a:endParaRPr>
          </a:p>
          <a:p>
            <a:pPr marL="229235" marR="5080">
              <a:lnSpc>
                <a:spcPct val="168500"/>
              </a:lnSpc>
              <a:spcBef>
                <a:spcPts val="75"/>
              </a:spcBef>
            </a:pPr>
            <a:r>
              <a:rPr sz="1150" dirty="0">
                <a:solidFill>
                  <a:srgbClr val="9CA2AF"/>
                </a:solidFill>
                <a:latin typeface="微软雅黑"/>
                <a:cs typeface="微软雅黑"/>
              </a:rPr>
              <a:t>能力：利用LlamaIndex</a:t>
            </a:r>
            <a:r>
              <a:rPr sz="1150" spc="-5" dirty="0">
                <a:solidFill>
                  <a:srgbClr val="9CA2AF"/>
                </a:solidFill>
                <a:latin typeface="微软雅黑"/>
                <a:cs typeface="微软雅黑"/>
              </a:rPr>
              <a:t>等框架连接动态数据，根据反馈实时调整策略进展：端到端强化学习提升了在移动端环境的鲁棒性</a:t>
            </a:r>
            <a:endParaRPr sz="1150" dirty="0">
              <a:latin typeface="微软雅黑"/>
              <a:cs typeface="微软雅黑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48398" y="3819524"/>
            <a:ext cx="5514975" cy="2371725"/>
            <a:chOff x="6248398" y="3819524"/>
            <a:chExt cx="5514975" cy="2371725"/>
          </a:xfrm>
        </p:grpSpPr>
        <p:sp>
          <p:nvSpPr>
            <p:cNvPr id="30" name="object 30"/>
            <p:cNvSpPr/>
            <p:nvPr/>
          </p:nvSpPr>
          <p:spPr>
            <a:xfrm>
              <a:off x="6253161" y="3824287"/>
              <a:ext cx="5505450" cy="2362200"/>
            </a:xfrm>
            <a:custGeom>
              <a:avLst/>
              <a:gdLst/>
              <a:ahLst/>
              <a:cxnLst/>
              <a:rect l="l" t="t" r="r" b="b"/>
              <a:pathLst>
                <a:path w="5505450" h="2362200">
                  <a:moveTo>
                    <a:pt x="5439589" y="2362199"/>
                  </a:moveTo>
                  <a:lnTo>
                    <a:pt x="65861" y="2362199"/>
                  </a:lnTo>
                  <a:lnTo>
                    <a:pt x="61277" y="2361748"/>
                  </a:lnTo>
                  <a:lnTo>
                    <a:pt x="23918" y="2344826"/>
                  </a:lnTo>
                  <a:lnTo>
                    <a:pt x="2257" y="2310002"/>
                  </a:lnTo>
                  <a:lnTo>
                    <a:pt x="0" y="2296339"/>
                  </a:lnTo>
                  <a:lnTo>
                    <a:pt x="0" y="2291711"/>
                  </a:lnTo>
                  <a:lnTo>
                    <a:pt x="0" y="65860"/>
                  </a:lnTo>
                  <a:lnTo>
                    <a:pt x="14450" y="27478"/>
                  </a:lnTo>
                  <a:lnTo>
                    <a:pt x="47790" y="3594"/>
                  </a:lnTo>
                  <a:lnTo>
                    <a:pt x="65861" y="0"/>
                  </a:lnTo>
                  <a:lnTo>
                    <a:pt x="5439589" y="0"/>
                  </a:lnTo>
                  <a:lnTo>
                    <a:pt x="5477969" y="14450"/>
                  </a:lnTo>
                  <a:lnTo>
                    <a:pt x="5501853" y="47789"/>
                  </a:lnTo>
                  <a:lnTo>
                    <a:pt x="5505448" y="65860"/>
                  </a:lnTo>
                  <a:lnTo>
                    <a:pt x="5505448" y="2296339"/>
                  </a:lnTo>
                  <a:lnTo>
                    <a:pt x="5490998" y="2334720"/>
                  </a:lnTo>
                  <a:lnTo>
                    <a:pt x="5457660" y="2358604"/>
                  </a:lnTo>
                  <a:lnTo>
                    <a:pt x="5444172" y="2361748"/>
                  </a:lnTo>
                  <a:lnTo>
                    <a:pt x="5439589" y="2362199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253161" y="3824287"/>
              <a:ext cx="5505450" cy="2362200"/>
            </a:xfrm>
            <a:custGeom>
              <a:avLst/>
              <a:gdLst/>
              <a:ahLst/>
              <a:cxnLst/>
              <a:rect l="l" t="t" r="r" b="b"/>
              <a:pathLst>
                <a:path w="5505450" h="2362200">
                  <a:moveTo>
                    <a:pt x="0" y="2291711"/>
                  </a:moveTo>
                  <a:lnTo>
                    <a:pt x="0" y="70488"/>
                  </a:lnTo>
                  <a:lnTo>
                    <a:pt x="0" y="65860"/>
                  </a:lnTo>
                  <a:lnTo>
                    <a:pt x="451" y="61276"/>
                  </a:lnTo>
                  <a:lnTo>
                    <a:pt x="17373" y="23918"/>
                  </a:lnTo>
                  <a:lnTo>
                    <a:pt x="20645" y="20645"/>
                  </a:lnTo>
                  <a:lnTo>
                    <a:pt x="23918" y="17372"/>
                  </a:lnTo>
                  <a:lnTo>
                    <a:pt x="61277" y="451"/>
                  </a:lnTo>
                  <a:lnTo>
                    <a:pt x="65861" y="0"/>
                  </a:lnTo>
                  <a:lnTo>
                    <a:pt x="70489" y="0"/>
                  </a:lnTo>
                  <a:lnTo>
                    <a:pt x="5434961" y="0"/>
                  </a:lnTo>
                  <a:lnTo>
                    <a:pt x="5439589" y="0"/>
                  </a:lnTo>
                  <a:lnTo>
                    <a:pt x="5444172" y="451"/>
                  </a:lnTo>
                  <a:lnTo>
                    <a:pt x="5474120" y="11878"/>
                  </a:lnTo>
                  <a:lnTo>
                    <a:pt x="5477969" y="14450"/>
                  </a:lnTo>
                  <a:lnTo>
                    <a:pt x="5481530" y="17372"/>
                  </a:lnTo>
                  <a:lnTo>
                    <a:pt x="5484803" y="20645"/>
                  </a:lnTo>
                  <a:lnTo>
                    <a:pt x="5488076" y="23918"/>
                  </a:lnTo>
                  <a:lnTo>
                    <a:pt x="5500082" y="43513"/>
                  </a:lnTo>
                  <a:lnTo>
                    <a:pt x="5501853" y="47789"/>
                  </a:lnTo>
                  <a:lnTo>
                    <a:pt x="5505450" y="70488"/>
                  </a:lnTo>
                  <a:lnTo>
                    <a:pt x="5505450" y="2291711"/>
                  </a:lnTo>
                  <a:lnTo>
                    <a:pt x="5500082" y="2318685"/>
                  </a:lnTo>
                  <a:lnTo>
                    <a:pt x="5498312" y="2322962"/>
                  </a:lnTo>
                  <a:lnTo>
                    <a:pt x="5484803" y="2341553"/>
                  </a:lnTo>
                  <a:lnTo>
                    <a:pt x="5481530" y="2344826"/>
                  </a:lnTo>
                  <a:lnTo>
                    <a:pt x="5477969" y="2347747"/>
                  </a:lnTo>
                  <a:lnTo>
                    <a:pt x="5474120" y="2350319"/>
                  </a:lnTo>
                  <a:lnTo>
                    <a:pt x="5470273" y="2352890"/>
                  </a:lnTo>
                  <a:lnTo>
                    <a:pt x="5466210" y="2355061"/>
                  </a:lnTo>
                  <a:lnTo>
                    <a:pt x="5461935" y="2356833"/>
                  </a:lnTo>
                  <a:lnTo>
                    <a:pt x="5457660" y="2358604"/>
                  </a:lnTo>
                  <a:lnTo>
                    <a:pt x="5453252" y="2359941"/>
                  </a:lnTo>
                  <a:lnTo>
                    <a:pt x="5448711" y="2360844"/>
                  </a:lnTo>
                  <a:lnTo>
                    <a:pt x="5444172" y="2361748"/>
                  </a:lnTo>
                  <a:lnTo>
                    <a:pt x="5439589" y="2362199"/>
                  </a:lnTo>
                  <a:lnTo>
                    <a:pt x="5434961" y="2362199"/>
                  </a:lnTo>
                  <a:lnTo>
                    <a:pt x="70489" y="2362199"/>
                  </a:lnTo>
                  <a:lnTo>
                    <a:pt x="65861" y="2362199"/>
                  </a:lnTo>
                  <a:lnTo>
                    <a:pt x="61277" y="2361748"/>
                  </a:lnTo>
                  <a:lnTo>
                    <a:pt x="56737" y="2360844"/>
                  </a:lnTo>
                  <a:lnTo>
                    <a:pt x="52197" y="2359941"/>
                  </a:lnTo>
                  <a:lnTo>
                    <a:pt x="20645" y="2341553"/>
                  </a:lnTo>
                  <a:lnTo>
                    <a:pt x="17373" y="2338281"/>
                  </a:lnTo>
                  <a:lnTo>
                    <a:pt x="5365" y="2318685"/>
                  </a:lnTo>
                  <a:lnTo>
                    <a:pt x="3593" y="2314409"/>
                  </a:lnTo>
                  <a:lnTo>
                    <a:pt x="2257" y="2310002"/>
                  </a:lnTo>
                  <a:lnTo>
                    <a:pt x="1354" y="2305462"/>
                  </a:lnTo>
                  <a:lnTo>
                    <a:pt x="451" y="2300922"/>
                  </a:lnTo>
                  <a:lnTo>
                    <a:pt x="0" y="2296339"/>
                  </a:lnTo>
                  <a:lnTo>
                    <a:pt x="0" y="2291711"/>
                  </a:lnTo>
                  <a:close/>
                </a:path>
              </a:pathLst>
            </a:custGeom>
            <a:ln w="9524">
              <a:solidFill>
                <a:srgbClr val="1C4E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6476999" y="4619624"/>
              <a:ext cx="5048250" cy="9525"/>
            </a:xfrm>
            <a:custGeom>
              <a:avLst/>
              <a:gdLst/>
              <a:ahLst/>
              <a:cxnLst/>
              <a:rect l="l" t="t" r="r" b="b"/>
              <a:pathLst>
                <a:path w="5048250" h="9525">
                  <a:moveTo>
                    <a:pt x="50482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048249" y="0"/>
                  </a:lnTo>
                  <a:lnTo>
                    <a:pt x="5048249" y="9524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476999" y="404812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36086" y="457199"/>
                  </a:moveTo>
                  <a:lnTo>
                    <a:pt x="221113" y="457199"/>
                  </a:lnTo>
                  <a:lnTo>
                    <a:pt x="213644" y="456832"/>
                  </a:lnTo>
                  <a:lnTo>
                    <a:pt x="169405" y="449529"/>
                  </a:lnTo>
                  <a:lnTo>
                    <a:pt x="127441" y="433735"/>
                  </a:lnTo>
                  <a:lnTo>
                    <a:pt x="89365" y="410059"/>
                  </a:lnTo>
                  <a:lnTo>
                    <a:pt x="56639" y="379409"/>
                  </a:lnTo>
                  <a:lnTo>
                    <a:pt x="30522" y="342963"/>
                  </a:lnTo>
                  <a:lnTo>
                    <a:pt x="12016" y="302123"/>
                  </a:lnTo>
                  <a:lnTo>
                    <a:pt x="1835" y="258457"/>
                  </a:lnTo>
                  <a:lnTo>
                    <a:pt x="0" y="236086"/>
                  </a:lnTo>
                  <a:lnTo>
                    <a:pt x="0" y="221112"/>
                  </a:lnTo>
                  <a:lnTo>
                    <a:pt x="5853" y="176658"/>
                  </a:lnTo>
                  <a:lnTo>
                    <a:pt x="20266" y="134200"/>
                  </a:lnTo>
                  <a:lnTo>
                    <a:pt x="42685" y="95370"/>
                  </a:lnTo>
                  <a:lnTo>
                    <a:pt x="72249" y="61660"/>
                  </a:lnTo>
                  <a:lnTo>
                    <a:pt x="107821" y="34366"/>
                  </a:lnTo>
                  <a:lnTo>
                    <a:pt x="148035" y="14535"/>
                  </a:lnTo>
                  <a:lnTo>
                    <a:pt x="191344" y="2931"/>
                  </a:lnTo>
                  <a:lnTo>
                    <a:pt x="221113" y="0"/>
                  </a:lnTo>
                  <a:lnTo>
                    <a:pt x="236086" y="0"/>
                  </a:lnTo>
                  <a:lnTo>
                    <a:pt x="280539" y="5852"/>
                  </a:lnTo>
                  <a:lnTo>
                    <a:pt x="322997" y="20265"/>
                  </a:lnTo>
                  <a:lnTo>
                    <a:pt x="361827" y="42684"/>
                  </a:lnTo>
                  <a:lnTo>
                    <a:pt x="395538" y="72249"/>
                  </a:lnTo>
                  <a:lnTo>
                    <a:pt x="422832" y="107820"/>
                  </a:lnTo>
                  <a:lnTo>
                    <a:pt x="442663" y="148034"/>
                  </a:lnTo>
                  <a:lnTo>
                    <a:pt x="454267" y="191345"/>
                  </a:lnTo>
                  <a:lnTo>
                    <a:pt x="457199" y="221112"/>
                  </a:lnTo>
                  <a:lnTo>
                    <a:pt x="457199" y="228599"/>
                  </a:lnTo>
                  <a:lnTo>
                    <a:pt x="457199" y="236086"/>
                  </a:lnTo>
                  <a:lnTo>
                    <a:pt x="451346" y="280540"/>
                  </a:lnTo>
                  <a:lnTo>
                    <a:pt x="436932" y="322997"/>
                  </a:lnTo>
                  <a:lnTo>
                    <a:pt x="414513" y="361827"/>
                  </a:lnTo>
                  <a:lnTo>
                    <a:pt x="384949" y="395538"/>
                  </a:lnTo>
                  <a:lnTo>
                    <a:pt x="349377" y="422832"/>
                  </a:lnTo>
                  <a:lnTo>
                    <a:pt x="309163" y="442663"/>
                  </a:lnTo>
                  <a:lnTo>
                    <a:pt x="265853" y="454267"/>
                  </a:lnTo>
                  <a:lnTo>
                    <a:pt x="243555" y="456832"/>
                  </a:lnTo>
                  <a:lnTo>
                    <a:pt x="236086" y="4571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515099" y="4086224"/>
              <a:ext cx="380999" cy="380999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6476987" y="5219712"/>
              <a:ext cx="57150" cy="657225"/>
            </a:xfrm>
            <a:custGeom>
              <a:avLst/>
              <a:gdLst/>
              <a:ahLst/>
              <a:cxnLst/>
              <a:rect l="l" t="t" r="r" b="b"/>
              <a:pathLst>
                <a:path w="57150" h="657225">
                  <a:moveTo>
                    <a:pt x="57150" y="624852"/>
                  </a:moveTo>
                  <a:lnTo>
                    <a:pt x="32372" y="600075"/>
                  </a:lnTo>
                  <a:lnTo>
                    <a:pt x="24790" y="600075"/>
                  </a:lnTo>
                  <a:lnTo>
                    <a:pt x="0" y="624852"/>
                  </a:lnTo>
                  <a:lnTo>
                    <a:pt x="0" y="632434"/>
                  </a:lnTo>
                  <a:lnTo>
                    <a:pt x="24790" y="657212"/>
                  </a:lnTo>
                  <a:lnTo>
                    <a:pt x="32372" y="657212"/>
                  </a:lnTo>
                  <a:lnTo>
                    <a:pt x="57150" y="632434"/>
                  </a:lnTo>
                  <a:lnTo>
                    <a:pt x="57150" y="628650"/>
                  </a:lnTo>
                  <a:lnTo>
                    <a:pt x="57150" y="624852"/>
                  </a:lnTo>
                  <a:close/>
                </a:path>
                <a:path w="57150" h="657225">
                  <a:moveTo>
                    <a:pt x="57150" y="329577"/>
                  </a:moveTo>
                  <a:lnTo>
                    <a:pt x="32372" y="304800"/>
                  </a:lnTo>
                  <a:lnTo>
                    <a:pt x="24790" y="304800"/>
                  </a:lnTo>
                  <a:lnTo>
                    <a:pt x="0" y="329577"/>
                  </a:lnTo>
                  <a:lnTo>
                    <a:pt x="0" y="337159"/>
                  </a:lnTo>
                  <a:lnTo>
                    <a:pt x="24790" y="361937"/>
                  </a:lnTo>
                  <a:lnTo>
                    <a:pt x="32372" y="361937"/>
                  </a:lnTo>
                  <a:lnTo>
                    <a:pt x="57150" y="337159"/>
                  </a:lnTo>
                  <a:lnTo>
                    <a:pt x="57150" y="333375"/>
                  </a:lnTo>
                  <a:lnTo>
                    <a:pt x="57150" y="329577"/>
                  </a:lnTo>
                  <a:close/>
                </a:path>
                <a:path w="57150" h="657225">
                  <a:moveTo>
                    <a:pt x="57150" y="24777"/>
                  </a:moveTo>
                  <a:lnTo>
                    <a:pt x="32372" y="0"/>
                  </a:lnTo>
                  <a:lnTo>
                    <a:pt x="24790" y="0"/>
                  </a:lnTo>
                  <a:lnTo>
                    <a:pt x="0" y="24777"/>
                  </a:lnTo>
                  <a:lnTo>
                    <a:pt x="0" y="32359"/>
                  </a:lnTo>
                  <a:lnTo>
                    <a:pt x="24790" y="57150"/>
                  </a:lnTo>
                  <a:lnTo>
                    <a:pt x="32372" y="57150"/>
                  </a:lnTo>
                  <a:lnTo>
                    <a:pt x="57150" y="32359"/>
                  </a:lnTo>
                  <a:lnTo>
                    <a:pt x="57150" y="28575"/>
                  </a:lnTo>
                  <a:lnTo>
                    <a:pt x="57150" y="24777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468913" y="4077464"/>
            <a:ext cx="4528820" cy="185685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614045">
              <a:lnSpc>
                <a:spcPct val="100000"/>
              </a:lnSpc>
              <a:spcBef>
                <a:spcPts val="125"/>
              </a:spcBef>
            </a:pPr>
            <a:r>
              <a:rPr sz="1750" b="1" spc="-10" dirty="0">
                <a:solidFill>
                  <a:srgbClr val="DAE9FE"/>
                </a:solidFill>
                <a:latin typeface="微软雅黑"/>
                <a:cs typeface="微软雅黑"/>
              </a:rPr>
              <a:t>工具增强 (Tool</a:t>
            </a:r>
            <a:r>
              <a:rPr sz="1750" b="1" spc="-20" dirty="0">
                <a:solidFill>
                  <a:srgbClr val="DAE9FE"/>
                </a:solidFill>
                <a:latin typeface="微软雅黑"/>
                <a:cs typeface="微软雅黑"/>
              </a:rPr>
              <a:t> Use)</a:t>
            </a:r>
            <a:endParaRPr sz="1750" dirty="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145"/>
              </a:spcBef>
            </a:pPr>
            <a:endParaRPr sz="1750" dirty="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300" b="1" dirty="0" err="1">
                <a:solidFill>
                  <a:srgbClr val="93C4FD"/>
                </a:solidFill>
                <a:latin typeface="微软雅黑"/>
                <a:cs typeface="微软雅黑"/>
              </a:rPr>
              <a:t>核心定义：</a:t>
            </a:r>
            <a:r>
              <a:rPr sz="1300" dirty="0" err="1">
                <a:solidFill>
                  <a:srgbClr val="E4E7EB"/>
                </a:solidFill>
                <a:latin typeface="微软雅黑"/>
                <a:cs typeface="微软雅黑"/>
              </a:rPr>
              <a:t>集成外部工具、API</a:t>
            </a:r>
            <a:r>
              <a:rPr sz="1300" spc="-5" dirty="0" err="1">
                <a:solidFill>
                  <a:srgbClr val="E4E7EB"/>
                </a:solidFill>
                <a:latin typeface="微软雅黑"/>
                <a:cs typeface="微软雅黑"/>
              </a:rPr>
              <a:t>和计算平台，打破模型边界</a:t>
            </a:r>
            <a:r>
              <a:rPr sz="1300" spc="-5" dirty="0">
                <a:solidFill>
                  <a:srgbClr val="E4E7EB"/>
                </a:solidFill>
                <a:latin typeface="微软雅黑"/>
                <a:cs typeface="微软雅黑"/>
              </a:rPr>
              <a:t>。</a:t>
            </a:r>
            <a:endParaRPr lang="en-US" sz="1300" spc="-5" dirty="0">
              <a:solidFill>
                <a:srgbClr val="E4E7EB"/>
              </a:solidFill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endParaRPr sz="1300" dirty="0">
              <a:latin typeface="微软雅黑"/>
              <a:cs typeface="微软雅黑"/>
            </a:endParaRPr>
          </a:p>
          <a:p>
            <a:pPr marL="229235">
              <a:lnSpc>
                <a:spcPct val="100000"/>
              </a:lnSpc>
              <a:spcBef>
                <a:spcPts val="1140"/>
              </a:spcBef>
            </a:pPr>
            <a:r>
              <a:rPr sz="1150" spc="-5" dirty="0">
                <a:solidFill>
                  <a:srgbClr val="9CA2AF"/>
                </a:solidFill>
                <a:latin typeface="微软雅黑"/>
                <a:cs typeface="微软雅黑"/>
              </a:rPr>
              <a:t>功能：实时信息访问、代码执行与复杂计算</a:t>
            </a:r>
            <a:endParaRPr sz="1150" dirty="0">
              <a:latin typeface="微软雅黑"/>
              <a:cs typeface="微软雅黑"/>
            </a:endParaRPr>
          </a:p>
          <a:p>
            <a:pPr marL="229235" marR="42545">
              <a:lnSpc>
                <a:spcPct val="168500"/>
              </a:lnSpc>
              <a:spcBef>
                <a:spcPts val="75"/>
              </a:spcBef>
            </a:pPr>
            <a:r>
              <a:rPr sz="1150" dirty="0">
                <a:solidFill>
                  <a:srgbClr val="9CA2AF"/>
                </a:solidFill>
                <a:latin typeface="微软雅黑"/>
                <a:cs typeface="微软雅黑"/>
              </a:rPr>
              <a:t>标准：OpenAI MCP、LangChain</a:t>
            </a:r>
            <a:r>
              <a:rPr sz="1150" spc="-5" dirty="0">
                <a:solidFill>
                  <a:srgbClr val="9CA2AF"/>
                </a:solidFill>
                <a:latin typeface="微软雅黑"/>
                <a:cs typeface="微软雅黑"/>
              </a:rPr>
              <a:t>等协议实现跨模块标准化交互</a:t>
            </a:r>
            <a:r>
              <a:rPr sz="1150" dirty="0">
                <a:solidFill>
                  <a:srgbClr val="9CA2AF"/>
                </a:solidFill>
                <a:latin typeface="微软雅黑"/>
                <a:cs typeface="微软雅黑"/>
              </a:rPr>
              <a:t>价值：将LLM</a:t>
            </a:r>
            <a:r>
              <a:rPr sz="1150" spc="-5" dirty="0">
                <a:solidFill>
                  <a:srgbClr val="9CA2AF"/>
                </a:solidFill>
                <a:latin typeface="微软雅黑"/>
                <a:cs typeface="微软雅黑"/>
              </a:rPr>
              <a:t>从“大脑”扩展为具备“手脚”的完整系统</a:t>
            </a:r>
            <a:endParaRPr sz="1150" dirty="0">
              <a:latin typeface="微软雅黑"/>
              <a:cs typeface="微软雅黑"/>
            </a:endParaRPr>
          </a:p>
        </p:txBody>
      </p: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50" spc="-50" dirty="0"/>
              <a:t>7</a:t>
            </a:fld>
            <a:endParaRPr sz="10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925" y="215900"/>
            <a:ext cx="1549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5" dirty="0">
                <a:solidFill>
                  <a:srgbClr val="E4E7EB"/>
                </a:solidFill>
                <a:latin typeface="微软雅黑"/>
                <a:cs typeface="微软雅黑"/>
              </a:rPr>
              <a:t>第二部分</a:t>
            </a:r>
            <a:endParaRPr sz="3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8624" y="8000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362449" y="3000374"/>
            <a:ext cx="76200" cy="1524000"/>
          </a:xfrm>
          <a:custGeom>
            <a:avLst/>
            <a:gdLst/>
            <a:ahLst/>
            <a:cxnLst/>
            <a:rect l="l" t="t" r="r" b="b"/>
            <a:pathLst>
              <a:path w="76200" h="1524000">
                <a:moveTo>
                  <a:pt x="76199" y="1523999"/>
                </a:moveTo>
                <a:lnTo>
                  <a:pt x="0" y="1523999"/>
                </a:lnTo>
                <a:lnTo>
                  <a:pt x="0" y="0"/>
                </a:lnTo>
                <a:lnTo>
                  <a:pt x="76199" y="0"/>
                </a:lnTo>
                <a:lnTo>
                  <a:pt x="76199" y="1523999"/>
                </a:lnTo>
                <a:close/>
              </a:path>
            </a:pathLst>
          </a:custGeom>
          <a:solidFill>
            <a:srgbClr val="4A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883149" y="2778125"/>
            <a:ext cx="5801995" cy="1966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280285">
              <a:lnSpc>
                <a:spcPts val="5620"/>
              </a:lnSpc>
              <a:spcBef>
                <a:spcPts val="100"/>
              </a:spcBef>
            </a:pPr>
            <a:r>
              <a:rPr sz="4500" b="1" spc="80" dirty="0">
                <a:solidFill>
                  <a:srgbClr val="FFFFFF"/>
                </a:solidFill>
                <a:latin typeface="微软雅黑"/>
                <a:cs typeface="微软雅黑"/>
              </a:rPr>
              <a:t>主流框架全景</a:t>
            </a:r>
            <a:r>
              <a:rPr sz="4500" b="1" spc="75" dirty="0">
                <a:solidFill>
                  <a:srgbClr val="FFFFFF"/>
                </a:solidFill>
                <a:latin typeface="微软雅黑"/>
                <a:cs typeface="微软雅黑"/>
              </a:rPr>
              <a:t>与选型逻辑</a:t>
            </a:r>
            <a:endParaRPr sz="4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</a:pPr>
            <a:r>
              <a:rPr sz="1800" b="0" spc="150" dirty="0">
                <a:solidFill>
                  <a:srgbClr val="BEDAFE"/>
                </a:solidFill>
                <a:latin typeface="微软雅黑 Light"/>
                <a:cs typeface="微软雅黑 Light"/>
              </a:rPr>
              <a:t>FRAMEWORK</a:t>
            </a:r>
            <a:r>
              <a:rPr sz="1800" b="0" spc="370" dirty="0">
                <a:solidFill>
                  <a:srgbClr val="BEDAFE"/>
                </a:solidFill>
                <a:latin typeface="微软雅黑 Light"/>
                <a:cs typeface="微软雅黑 Light"/>
              </a:rPr>
              <a:t> </a:t>
            </a:r>
            <a:r>
              <a:rPr sz="1800" b="0" spc="120" dirty="0">
                <a:solidFill>
                  <a:srgbClr val="BEDAFE"/>
                </a:solidFill>
                <a:latin typeface="微软雅黑 Light"/>
                <a:cs typeface="微软雅黑 Light"/>
              </a:rPr>
              <a:t>PANORAMA</a:t>
            </a:r>
            <a:r>
              <a:rPr sz="1800" b="0" spc="375" dirty="0">
                <a:solidFill>
                  <a:srgbClr val="BEDAFE"/>
                </a:solidFill>
                <a:latin typeface="微软雅黑 Light"/>
                <a:cs typeface="微软雅黑 Light"/>
              </a:rPr>
              <a:t> </a:t>
            </a:r>
            <a:r>
              <a:rPr sz="1800" b="0" dirty="0">
                <a:solidFill>
                  <a:srgbClr val="BEDAFE"/>
                </a:solidFill>
                <a:latin typeface="微软雅黑 Light"/>
                <a:cs typeface="微软雅黑 Light"/>
              </a:rPr>
              <a:t>&amp;</a:t>
            </a:r>
            <a:r>
              <a:rPr sz="1800" b="0" spc="375" dirty="0">
                <a:solidFill>
                  <a:srgbClr val="BEDAFE"/>
                </a:solidFill>
                <a:latin typeface="微软雅黑 Light"/>
                <a:cs typeface="微软雅黑 Light"/>
              </a:rPr>
              <a:t> </a:t>
            </a:r>
            <a:r>
              <a:rPr sz="1800" b="0" spc="155" dirty="0">
                <a:solidFill>
                  <a:srgbClr val="BEDAFE"/>
                </a:solidFill>
                <a:latin typeface="微软雅黑 Light"/>
                <a:cs typeface="微软雅黑 Light"/>
              </a:rPr>
              <a:t>SELECTION</a:t>
            </a:r>
            <a:r>
              <a:rPr sz="1800" b="0" spc="375" dirty="0">
                <a:solidFill>
                  <a:srgbClr val="BEDAFE"/>
                </a:solidFill>
                <a:latin typeface="微软雅黑 Light"/>
                <a:cs typeface="微软雅黑 Light"/>
              </a:rPr>
              <a:t> </a:t>
            </a:r>
            <a:r>
              <a:rPr sz="1800" b="0" spc="95" dirty="0">
                <a:solidFill>
                  <a:srgbClr val="BEDAFE"/>
                </a:solidFill>
                <a:latin typeface="微软雅黑 Light"/>
                <a:cs typeface="微软雅黑 Light"/>
              </a:rPr>
              <a:t>LOGIC</a:t>
            </a:r>
            <a:endParaRPr sz="1800">
              <a:latin typeface="微软雅黑 Light"/>
              <a:cs typeface="微软雅黑 Ligh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50" spc="-50" dirty="0"/>
              <a:t>8</a:t>
            </a:fld>
            <a:endParaRPr sz="1050"/>
          </a:p>
        </p:txBody>
      </p:sp>
      <p:sp>
        <p:nvSpPr>
          <p:cNvPr id="6" name="object 6"/>
          <p:cNvSpPr txBox="1"/>
          <p:nvPr/>
        </p:nvSpPr>
        <p:spPr>
          <a:xfrm>
            <a:off x="1484510" y="2644774"/>
            <a:ext cx="228155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400" b="1" spc="-25" dirty="0">
                <a:solidFill>
                  <a:srgbClr val="3B81F5"/>
                </a:solidFill>
                <a:latin typeface="微软雅黑"/>
                <a:cs typeface="微软雅黑"/>
              </a:rPr>
              <a:t>02</a:t>
            </a:r>
            <a:endParaRPr sz="14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199" y="0"/>
            <a:ext cx="4876800" cy="6858000"/>
          </a:xfrm>
          <a:custGeom>
            <a:avLst/>
            <a:gdLst/>
            <a:ahLst/>
            <a:cxnLst/>
            <a:rect l="l" t="t" r="r" b="b"/>
            <a:pathLst>
              <a:path w="4876800" h="6858000">
                <a:moveTo>
                  <a:pt x="4876799" y="6857999"/>
                </a:moveTo>
                <a:lnTo>
                  <a:pt x="0" y="6857999"/>
                </a:lnTo>
                <a:lnTo>
                  <a:pt x="731519" y="0"/>
                </a:lnTo>
                <a:lnTo>
                  <a:pt x="4876799" y="0"/>
                </a:lnTo>
                <a:lnTo>
                  <a:pt x="4876799" y="6857999"/>
                </a:lnTo>
                <a:close/>
              </a:path>
            </a:pathLst>
          </a:custGeom>
          <a:solidFill>
            <a:srgbClr val="4A54A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76199" y="0"/>
                </a:lnTo>
                <a:lnTo>
                  <a:pt x="76199" y="68579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15925" y="280670"/>
            <a:ext cx="494157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10" dirty="0"/>
              <a:t>框架分类：单智能体 </a:t>
            </a:r>
            <a:r>
              <a:rPr sz="2600" dirty="0"/>
              <a:t>vs</a:t>
            </a:r>
            <a:r>
              <a:rPr sz="2600" spc="15" dirty="0"/>
              <a:t> 多智能体</a:t>
            </a:r>
            <a:endParaRPr sz="2600"/>
          </a:p>
        </p:txBody>
      </p:sp>
      <p:sp>
        <p:nvSpPr>
          <p:cNvPr id="5" name="object 5"/>
          <p:cNvSpPr/>
          <p:nvPr/>
        </p:nvSpPr>
        <p:spPr>
          <a:xfrm>
            <a:off x="428624" y="800099"/>
            <a:ext cx="2952750" cy="38100"/>
          </a:xfrm>
          <a:custGeom>
            <a:avLst/>
            <a:gdLst/>
            <a:ahLst/>
            <a:cxnLst/>
            <a:rect l="l" t="t" r="r" b="b"/>
            <a:pathLst>
              <a:path w="2952750" h="38100">
                <a:moveTo>
                  <a:pt x="2952749" y="38099"/>
                </a:moveTo>
                <a:lnTo>
                  <a:pt x="0" y="38099"/>
                </a:lnTo>
                <a:lnTo>
                  <a:pt x="0" y="0"/>
                </a:lnTo>
                <a:lnTo>
                  <a:pt x="2952749" y="0"/>
                </a:lnTo>
                <a:lnTo>
                  <a:pt x="295274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28624" y="1104899"/>
            <a:ext cx="5362575" cy="4552950"/>
            <a:chOff x="428624" y="1104899"/>
            <a:chExt cx="5362575" cy="4552950"/>
          </a:xfrm>
        </p:grpSpPr>
        <p:sp>
          <p:nvSpPr>
            <p:cNvPr id="7" name="object 7"/>
            <p:cNvSpPr/>
            <p:nvPr/>
          </p:nvSpPr>
          <p:spPr>
            <a:xfrm>
              <a:off x="428624" y="1104899"/>
              <a:ext cx="5362575" cy="4552950"/>
            </a:xfrm>
            <a:custGeom>
              <a:avLst/>
              <a:gdLst/>
              <a:ahLst/>
              <a:cxnLst/>
              <a:rect l="l" t="t" r="r" b="b"/>
              <a:pathLst>
                <a:path w="5362575" h="4552950">
                  <a:moveTo>
                    <a:pt x="5248752" y="4552949"/>
                  </a:moveTo>
                  <a:lnTo>
                    <a:pt x="113821" y="4552949"/>
                  </a:lnTo>
                  <a:lnTo>
                    <a:pt x="102609" y="4552407"/>
                  </a:lnTo>
                  <a:lnTo>
                    <a:pt x="60112" y="4539493"/>
                  </a:lnTo>
                  <a:lnTo>
                    <a:pt x="25792" y="4511299"/>
                  </a:lnTo>
                  <a:lnTo>
                    <a:pt x="4873" y="4472118"/>
                  </a:lnTo>
                  <a:lnTo>
                    <a:pt x="0" y="4439127"/>
                  </a:lnTo>
                  <a:lnTo>
                    <a:pt x="0" y="113821"/>
                  </a:lnTo>
                  <a:lnTo>
                    <a:pt x="8664" y="70263"/>
                  </a:lnTo>
                  <a:lnTo>
                    <a:pt x="33337" y="33337"/>
                  </a:lnTo>
                  <a:lnTo>
                    <a:pt x="70263" y="8664"/>
                  </a:lnTo>
                  <a:lnTo>
                    <a:pt x="113821" y="0"/>
                  </a:lnTo>
                  <a:lnTo>
                    <a:pt x="5248752" y="0"/>
                  </a:lnTo>
                  <a:lnTo>
                    <a:pt x="5292309" y="8664"/>
                  </a:lnTo>
                  <a:lnTo>
                    <a:pt x="5329236" y="33337"/>
                  </a:lnTo>
                  <a:lnTo>
                    <a:pt x="5353909" y="70263"/>
                  </a:lnTo>
                  <a:lnTo>
                    <a:pt x="5362574" y="113821"/>
                  </a:lnTo>
                  <a:lnTo>
                    <a:pt x="5362574" y="4439127"/>
                  </a:lnTo>
                  <a:lnTo>
                    <a:pt x="5353909" y="4482684"/>
                  </a:lnTo>
                  <a:lnTo>
                    <a:pt x="5329236" y="4519611"/>
                  </a:lnTo>
                  <a:lnTo>
                    <a:pt x="5292309" y="4544284"/>
                  </a:lnTo>
                  <a:lnTo>
                    <a:pt x="5248752" y="4552949"/>
                  </a:lnTo>
                  <a:close/>
                </a:path>
              </a:pathLst>
            </a:custGeom>
            <a:solidFill>
              <a:srgbClr val="1D3A8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8612" y="1104911"/>
              <a:ext cx="5362575" cy="4552950"/>
            </a:xfrm>
            <a:custGeom>
              <a:avLst/>
              <a:gdLst/>
              <a:ahLst/>
              <a:cxnLst/>
              <a:rect l="l" t="t" r="r" b="b"/>
              <a:pathLst>
                <a:path w="5362575" h="4552950">
                  <a:moveTo>
                    <a:pt x="5124450" y="695325"/>
                  </a:moveTo>
                  <a:lnTo>
                    <a:pt x="238125" y="695325"/>
                  </a:lnTo>
                  <a:lnTo>
                    <a:pt x="238125" y="704850"/>
                  </a:lnTo>
                  <a:lnTo>
                    <a:pt x="5124450" y="704850"/>
                  </a:lnTo>
                  <a:lnTo>
                    <a:pt x="5124450" y="695325"/>
                  </a:lnTo>
                  <a:close/>
                </a:path>
                <a:path w="5362575" h="4552950">
                  <a:moveTo>
                    <a:pt x="5362575" y="113817"/>
                  </a:moveTo>
                  <a:lnTo>
                    <a:pt x="5353913" y="70256"/>
                  </a:lnTo>
                  <a:lnTo>
                    <a:pt x="5353050" y="68427"/>
                  </a:lnTo>
                  <a:lnTo>
                    <a:pt x="5353050" y="106972"/>
                  </a:lnTo>
                  <a:lnTo>
                    <a:pt x="5353050" y="4445965"/>
                  </a:lnTo>
                  <a:lnTo>
                    <a:pt x="5342496" y="4485360"/>
                  </a:lnTo>
                  <a:lnTo>
                    <a:pt x="5317668" y="4517707"/>
                  </a:lnTo>
                  <a:lnTo>
                    <a:pt x="5282349" y="4538103"/>
                  </a:lnTo>
                  <a:lnTo>
                    <a:pt x="5255603" y="4543425"/>
                  </a:lnTo>
                  <a:lnTo>
                    <a:pt x="106984" y="4543425"/>
                  </a:lnTo>
                  <a:lnTo>
                    <a:pt x="67589" y="4532858"/>
                  </a:lnTo>
                  <a:lnTo>
                    <a:pt x="35242" y="4508030"/>
                  </a:lnTo>
                  <a:lnTo>
                    <a:pt x="14846" y="4472711"/>
                  </a:lnTo>
                  <a:lnTo>
                    <a:pt x="9525" y="4445965"/>
                  </a:lnTo>
                  <a:lnTo>
                    <a:pt x="9525" y="106972"/>
                  </a:lnTo>
                  <a:lnTo>
                    <a:pt x="20091" y="67576"/>
                  </a:lnTo>
                  <a:lnTo>
                    <a:pt x="44919" y="35229"/>
                  </a:lnTo>
                  <a:lnTo>
                    <a:pt x="80238" y="14833"/>
                  </a:lnTo>
                  <a:lnTo>
                    <a:pt x="106984" y="9525"/>
                  </a:lnTo>
                  <a:lnTo>
                    <a:pt x="5255603" y="9525"/>
                  </a:lnTo>
                  <a:lnTo>
                    <a:pt x="5294998" y="20078"/>
                  </a:lnTo>
                  <a:lnTo>
                    <a:pt x="5327345" y="44907"/>
                  </a:lnTo>
                  <a:lnTo>
                    <a:pt x="5347741" y="80225"/>
                  </a:lnTo>
                  <a:lnTo>
                    <a:pt x="5353050" y="106972"/>
                  </a:lnTo>
                  <a:lnTo>
                    <a:pt x="5353050" y="68427"/>
                  </a:lnTo>
                  <a:lnTo>
                    <a:pt x="5329237" y="33337"/>
                  </a:lnTo>
                  <a:lnTo>
                    <a:pt x="5294134" y="9525"/>
                  </a:lnTo>
                  <a:lnTo>
                    <a:pt x="5292318" y="8661"/>
                  </a:lnTo>
                  <a:lnTo>
                    <a:pt x="5281752" y="4864"/>
                  </a:lnTo>
                  <a:lnTo>
                    <a:pt x="5270970" y="2159"/>
                  </a:lnTo>
                  <a:lnTo>
                    <a:pt x="5259971" y="533"/>
                  </a:lnTo>
                  <a:lnTo>
                    <a:pt x="5248757" y="0"/>
                  </a:lnTo>
                  <a:lnTo>
                    <a:pt x="113830" y="0"/>
                  </a:lnTo>
                  <a:lnTo>
                    <a:pt x="70269" y="8661"/>
                  </a:lnTo>
                  <a:lnTo>
                    <a:pt x="33350" y="33337"/>
                  </a:lnTo>
                  <a:lnTo>
                    <a:pt x="8674" y="70256"/>
                  </a:lnTo>
                  <a:lnTo>
                    <a:pt x="0" y="113817"/>
                  </a:lnTo>
                  <a:lnTo>
                    <a:pt x="0" y="4439120"/>
                  </a:lnTo>
                  <a:lnTo>
                    <a:pt x="8674" y="4482681"/>
                  </a:lnTo>
                  <a:lnTo>
                    <a:pt x="33350" y="4519600"/>
                  </a:lnTo>
                  <a:lnTo>
                    <a:pt x="70269" y="4544276"/>
                  </a:lnTo>
                  <a:lnTo>
                    <a:pt x="113830" y="4552950"/>
                  </a:lnTo>
                  <a:lnTo>
                    <a:pt x="5248757" y="4552950"/>
                  </a:lnTo>
                  <a:lnTo>
                    <a:pt x="5292318" y="4544276"/>
                  </a:lnTo>
                  <a:lnTo>
                    <a:pt x="5329237" y="4519600"/>
                  </a:lnTo>
                  <a:lnTo>
                    <a:pt x="5353913" y="4482681"/>
                  </a:lnTo>
                  <a:lnTo>
                    <a:pt x="5362575" y="4439120"/>
                  </a:lnTo>
                  <a:lnTo>
                    <a:pt x="5362575" y="113817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66749" y="13430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200" y="375288"/>
                  </a:lnTo>
                  <a:lnTo>
                    <a:pt x="100697" y="358507"/>
                  </a:lnTo>
                  <a:lnTo>
                    <a:pt x="62575" y="331659"/>
                  </a:lnTo>
                  <a:lnTo>
                    <a:pt x="32104" y="296335"/>
                  </a:lnTo>
                  <a:lnTo>
                    <a:pt x="11130" y="254666"/>
                  </a:lnTo>
                  <a:lnTo>
                    <a:pt x="915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200" y="135199"/>
                  </a:lnTo>
                  <a:lnTo>
                    <a:pt x="27095" y="92572"/>
                  </a:lnTo>
                  <a:lnTo>
                    <a:pt x="55796" y="55796"/>
                  </a:lnTo>
                  <a:lnTo>
                    <a:pt x="92572" y="27095"/>
                  </a:lnTo>
                  <a:lnTo>
                    <a:pt x="135200" y="8200"/>
                  </a:lnTo>
                  <a:lnTo>
                    <a:pt x="181141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4" y="92572"/>
                  </a:lnTo>
                  <a:lnTo>
                    <a:pt x="372799" y="135199"/>
                  </a:lnTo>
                  <a:lnTo>
                    <a:pt x="380771" y="181141"/>
                  </a:lnTo>
                  <a:lnTo>
                    <a:pt x="380999" y="190499"/>
                  </a:lnTo>
                  <a:lnTo>
                    <a:pt x="380771" y="199858"/>
                  </a:lnTo>
                  <a:lnTo>
                    <a:pt x="372799" y="245799"/>
                  </a:lnTo>
                  <a:lnTo>
                    <a:pt x="353903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33424" y="1438304"/>
              <a:ext cx="236934" cy="189547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146075" y="1397857"/>
            <a:ext cx="2616200" cy="253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b="1" spc="-20" dirty="0">
                <a:solidFill>
                  <a:srgbClr val="93C4FD"/>
                </a:solidFill>
                <a:latin typeface="微软雅黑"/>
                <a:cs typeface="微软雅黑"/>
              </a:rPr>
              <a:t>单智能体框架 (Single-</a:t>
            </a:r>
            <a:r>
              <a:rPr sz="1500" b="1" spc="-10" dirty="0">
                <a:solidFill>
                  <a:srgbClr val="93C4FD"/>
                </a:solidFill>
                <a:latin typeface="微软雅黑"/>
                <a:cs typeface="微软雅黑"/>
              </a:rPr>
              <a:t>Agent)</a:t>
            </a:r>
            <a:endParaRPr sz="1500">
              <a:latin typeface="微软雅黑"/>
              <a:cs typeface="微软雅黑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66749" y="2000250"/>
            <a:ext cx="4886325" cy="3419475"/>
            <a:chOff x="666749" y="2000250"/>
            <a:chExt cx="4886325" cy="3419475"/>
          </a:xfrm>
        </p:grpSpPr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49" y="2000250"/>
              <a:ext cx="113704" cy="113704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49" y="2276475"/>
              <a:ext cx="113704" cy="11370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66749" y="2552700"/>
              <a:ext cx="113704" cy="1137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66749" y="3276599"/>
              <a:ext cx="4886325" cy="2143125"/>
            </a:xfrm>
            <a:custGeom>
              <a:avLst/>
              <a:gdLst/>
              <a:ahLst/>
              <a:cxnLst/>
              <a:rect l="l" t="t" r="r" b="b"/>
              <a:pathLst>
                <a:path w="4886325" h="2143125">
                  <a:moveTo>
                    <a:pt x="4810443" y="2143124"/>
                  </a:moveTo>
                  <a:lnTo>
                    <a:pt x="75881" y="2143124"/>
                  </a:lnTo>
                  <a:lnTo>
                    <a:pt x="68406" y="2142763"/>
                  </a:lnTo>
                  <a:lnTo>
                    <a:pt x="27765" y="2125929"/>
                  </a:lnTo>
                  <a:lnTo>
                    <a:pt x="3248" y="2089237"/>
                  </a:lnTo>
                  <a:lnTo>
                    <a:pt x="0" y="2067243"/>
                  </a:lnTo>
                  <a:lnTo>
                    <a:pt x="0" y="75881"/>
                  </a:lnTo>
                  <a:lnTo>
                    <a:pt x="12776" y="33715"/>
                  </a:lnTo>
                  <a:lnTo>
                    <a:pt x="46842" y="5776"/>
                  </a:lnTo>
                  <a:lnTo>
                    <a:pt x="75881" y="0"/>
                  </a:lnTo>
                  <a:lnTo>
                    <a:pt x="4810443" y="0"/>
                  </a:lnTo>
                  <a:lnTo>
                    <a:pt x="4852608" y="12776"/>
                  </a:lnTo>
                  <a:lnTo>
                    <a:pt x="4880548" y="46842"/>
                  </a:lnTo>
                  <a:lnTo>
                    <a:pt x="4886324" y="75881"/>
                  </a:lnTo>
                  <a:lnTo>
                    <a:pt x="4886324" y="2067243"/>
                  </a:lnTo>
                  <a:lnTo>
                    <a:pt x="4873547" y="2109407"/>
                  </a:lnTo>
                  <a:lnTo>
                    <a:pt x="4839480" y="2137347"/>
                  </a:lnTo>
                  <a:lnTo>
                    <a:pt x="4810443" y="2143124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66749" y="3276600"/>
              <a:ext cx="4886325" cy="2143125"/>
            </a:xfrm>
            <a:custGeom>
              <a:avLst/>
              <a:gdLst/>
              <a:ahLst/>
              <a:cxnLst/>
              <a:rect l="l" t="t" r="r" b="b"/>
              <a:pathLst>
                <a:path w="4886325" h="2143125">
                  <a:moveTo>
                    <a:pt x="4810443" y="2143124"/>
                  </a:moveTo>
                  <a:lnTo>
                    <a:pt x="75881" y="2143124"/>
                  </a:lnTo>
                  <a:lnTo>
                    <a:pt x="68406" y="2142763"/>
                  </a:lnTo>
                  <a:lnTo>
                    <a:pt x="27765" y="2125929"/>
                  </a:lnTo>
                  <a:lnTo>
                    <a:pt x="3248" y="2089237"/>
                  </a:lnTo>
                  <a:lnTo>
                    <a:pt x="0" y="2067243"/>
                  </a:lnTo>
                  <a:lnTo>
                    <a:pt x="0" y="75880"/>
                  </a:lnTo>
                  <a:lnTo>
                    <a:pt x="12776" y="33715"/>
                  </a:lnTo>
                  <a:lnTo>
                    <a:pt x="46842" y="5776"/>
                  </a:lnTo>
                  <a:lnTo>
                    <a:pt x="75881" y="0"/>
                  </a:lnTo>
                  <a:lnTo>
                    <a:pt x="4810443" y="0"/>
                  </a:lnTo>
                  <a:lnTo>
                    <a:pt x="4847176" y="9525"/>
                  </a:lnTo>
                  <a:lnTo>
                    <a:pt x="71524" y="9525"/>
                  </a:lnTo>
                  <a:lnTo>
                    <a:pt x="67209" y="9950"/>
                  </a:lnTo>
                  <a:lnTo>
                    <a:pt x="32041" y="25879"/>
                  </a:lnTo>
                  <a:lnTo>
                    <a:pt x="11649" y="58662"/>
                  </a:lnTo>
                  <a:lnTo>
                    <a:pt x="9524" y="71523"/>
                  </a:lnTo>
                  <a:lnTo>
                    <a:pt x="9524" y="2071599"/>
                  </a:lnTo>
                  <a:lnTo>
                    <a:pt x="23128" y="2107731"/>
                  </a:lnTo>
                  <a:lnTo>
                    <a:pt x="54513" y="2130215"/>
                  </a:lnTo>
                  <a:lnTo>
                    <a:pt x="71524" y="2133599"/>
                  </a:lnTo>
                  <a:lnTo>
                    <a:pt x="4847176" y="2133599"/>
                  </a:lnTo>
                  <a:lnTo>
                    <a:pt x="4846249" y="2134153"/>
                  </a:lnTo>
                  <a:lnTo>
                    <a:pt x="4839481" y="2137347"/>
                  </a:lnTo>
                  <a:lnTo>
                    <a:pt x="4832437" y="2139874"/>
                  </a:lnTo>
                  <a:lnTo>
                    <a:pt x="4825249" y="2141680"/>
                  </a:lnTo>
                  <a:lnTo>
                    <a:pt x="4817918" y="2142763"/>
                  </a:lnTo>
                  <a:lnTo>
                    <a:pt x="4810443" y="2143124"/>
                  </a:lnTo>
                  <a:close/>
                </a:path>
                <a:path w="4886325" h="2143125">
                  <a:moveTo>
                    <a:pt x="4847176" y="2133599"/>
                  </a:moveTo>
                  <a:lnTo>
                    <a:pt x="4814799" y="2133599"/>
                  </a:lnTo>
                  <a:lnTo>
                    <a:pt x="4819114" y="2133174"/>
                  </a:lnTo>
                  <a:lnTo>
                    <a:pt x="4827661" y="2131474"/>
                  </a:lnTo>
                  <a:lnTo>
                    <a:pt x="4860444" y="2111083"/>
                  </a:lnTo>
                  <a:lnTo>
                    <a:pt x="4876374" y="2075914"/>
                  </a:lnTo>
                  <a:lnTo>
                    <a:pt x="4876799" y="2071599"/>
                  </a:lnTo>
                  <a:lnTo>
                    <a:pt x="4876799" y="71523"/>
                  </a:lnTo>
                  <a:lnTo>
                    <a:pt x="4863195" y="35392"/>
                  </a:lnTo>
                  <a:lnTo>
                    <a:pt x="4831810" y="12908"/>
                  </a:lnTo>
                  <a:lnTo>
                    <a:pt x="4814799" y="9525"/>
                  </a:lnTo>
                  <a:lnTo>
                    <a:pt x="4847176" y="9525"/>
                  </a:lnTo>
                  <a:lnTo>
                    <a:pt x="4877354" y="40074"/>
                  </a:lnTo>
                  <a:lnTo>
                    <a:pt x="4886324" y="2067243"/>
                  </a:lnTo>
                  <a:lnTo>
                    <a:pt x="4885963" y="2074718"/>
                  </a:lnTo>
                  <a:lnTo>
                    <a:pt x="4869129" y="2115357"/>
                  </a:lnTo>
                  <a:lnTo>
                    <a:pt x="4852608" y="2130347"/>
                  </a:lnTo>
                  <a:lnTo>
                    <a:pt x="4847176" y="21335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24049" y="3400425"/>
              <a:ext cx="2362199" cy="166687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371724" y="5169685"/>
              <a:ext cx="127843" cy="99433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842615" y="1959546"/>
            <a:ext cx="4561840" cy="1085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95"/>
              </a:spcBef>
            </a:pPr>
            <a:r>
              <a:rPr sz="1050" b="1" spc="-25" dirty="0">
                <a:solidFill>
                  <a:srgbClr val="E4E7EB"/>
                </a:solidFill>
                <a:latin typeface="微软雅黑"/>
                <a:cs typeface="微软雅黑"/>
              </a:rPr>
              <a:t>核心特征：</a:t>
            </a:r>
            <a:r>
              <a:rPr sz="1050" spc="-20" dirty="0">
                <a:solidFill>
                  <a:srgbClr val="D0D5DA"/>
                </a:solidFill>
                <a:latin typeface="微软雅黑"/>
                <a:cs typeface="微软雅黑"/>
              </a:rPr>
              <a:t>LLM</a:t>
            </a:r>
            <a:r>
              <a:rPr sz="1050" spc="-30" dirty="0">
                <a:solidFill>
                  <a:srgbClr val="D0D5DA"/>
                </a:solidFill>
                <a:latin typeface="微软雅黑"/>
                <a:cs typeface="微软雅黑"/>
              </a:rPr>
              <a:t>作为唯一"大脑"，具备独立行动、工具使用与自主决策能力。</a:t>
            </a:r>
            <a:endParaRPr sz="1050">
              <a:latin typeface="微软雅黑"/>
              <a:cs typeface="微软雅黑"/>
            </a:endParaRPr>
          </a:p>
          <a:p>
            <a:pPr marL="51435" marR="519430">
              <a:lnSpc>
                <a:spcPts val="2180"/>
              </a:lnSpc>
              <a:spcBef>
                <a:spcPts val="145"/>
              </a:spcBef>
            </a:pPr>
            <a:r>
              <a:rPr sz="1050" b="1" spc="-25" dirty="0">
                <a:solidFill>
                  <a:srgbClr val="E4E7EB"/>
                </a:solidFill>
                <a:latin typeface="微软雅黑"/>
                <a:cs typeface="微软雅黑"/>
              </a:rPr>
              <a:t>适用场景：</a:t>
            </a:r>
            <a:r>
              <a:rPr sz="1050" spc="-30" dirty="0">
                <a:solidFill>
                  <a:srgbClr val="D0D5DA"/>
                </a:solidFill>
                <a:latin typeface="微软雅黑"/>
                <a:cs typeface="微软雅黑"/>
              </a:rPr>
              <a:t>特定任务自动化、知识库检索、个性化推荐、邮件分类。</a:t>
            </a:r>
            <a:r>
              <a:rPr sz="1050" b="1" spc="-30" dirty="0">
                <a:solidFill>
                  <a:srgbClr val="E4E7EB"/>
                </a:solidFill>
                <a:latin typeface="微软雅黑"/>
                <a:cs typeface="微软雅黑"/>
              </a:rPr>
              <a:t>代表框架：</a:t>
            </a:r>
            <a:endParaRPr sz="1050">
              <a:latin typeface="微软雅黑"/>
              <a:cs typeface="微软雅黑"/>
            </a:endParaRPr>
          </a:p>
          <a:p>
            <a:pPr marL="95250" indent="-82550">
              <a:lnSpc>
                <a:spcPct val="100000"/>
              </a:lnSpc>
              <a:spcBef>
                <a:spcPts val="310"/>
              </a:spcBef>
              <a:buClr>
                <a:srgbClr val="9CA2AF"/>
              </a:buClr>
              <a:buFont typeface="΢"/>
              <a:buChar char="•"/>
              <a:tabLst>
                <a:tab pos="95250" algn="l"/>
              </a:tabLst>
            </a:pPr>
            <a:r>
              <a:rPr sz="900" b="1" dirty="0">
                <a:solidFill>
                  <a:srgbClr val="E4E7EB"/>
                </a:solidFill>
                <a:latin typeface="微软雅黑"/>
                <a:cs typeface="微软雅黑"/>
              </a:rPr>
              <a:t>Dify</a:t>
            </a:r>
            <a:r>
              <a:rPr sz="900" b="1" spc="25" dirty="0">
                <a:solidFill>
                  <a:srgbClr val="E4E7EB"/>
                </a:solidFill>
                <a:latin typeface="微软雅黑"/>
                <a:cs typeface="微软雅黑"/>
              </a:rPr>
              <a:t> / </a:t>
            </a:r>
            <a:r>
              <a:rPr sz="900" b="1" spc="-10" dirty="0">
                <a:solidFill>
                  <a:srgbClr val="E4E7EB"/>
                </a:solidFill>
                <a:latin typeface="微软雅黑"/>
                <a:cs typeface="微软雅黑"/>
              </a:rPr>
              <a:t>Coze：</a:t>
            </a:r>
            <a:r>
              <a:rPr sz="900" spc="-25" dirty="0">
                <a:solidFill>
                  <a:srgbClr val="9CA2AF"/>
                </a:solidFill>
                <a:latin typeface="微软雅黑"/>
                <a:cs typeface="微软雅黑"/>
              </a:rPr>
              <a:t>低代码可视化平台，适合快速验证。</a:t>
            </a:r>
            <a:endParaRPr sz="900">
              <a:latin typeface="微软雅黑"/>
              <a:cs typeface="微软雅黑"/>
            </a:endParaRPr>
          </a:p>
          <a:p>
            <a:pPr marL="95250" indent="-82550">
              <a:lnSpc>
                <a:spcPct val="100000"/>
              </a:lnSpc>
              <a:spcBef>
                <a:spcPts val="120"/>
              </a:spcBef>
              <a:buClr>
                <a:srgbClr val="9CA2AF"/>
              </a:buClr>
              <a:buFont typeface="΢"/>
              <a:buChar char="•"/>
              <a:tabLst>
                <a:tab pos="95250" algn="l"/>
              </a:tabLst>
            </a:pPr>
            <a:r>
              <a:rPr sz="900" b="1" spc="-20" dirty="0">
                <a:solidFill>
                  <a:srgbClr val="E4E7EB"/>
                </a:solidFill>
                <a:latin typeface="微软雅黑"/>
                <a:cs typeface="微软雅黑"/>
              </a:rPr>
              <a:t>LangChain：</a:t>
            </a:r>
            <a:r>
              <a:rPr sz="900" spc="-25" dirty="0">
                <a:solidFill>
                  <a:srgbClr val="9CA2AF"/>
                </a:solidFill>
                <a:latin typeface="微软雅黑"/>
                <a:cs typeface="微软雅黑"/>
              </a:rPr>
              <a:t>代码级开发，灵活集成外部工具。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557422" y="5131371"/>
            <a:ext cx="1301115" cy="161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BEDAFE"/>
                </a:solidFill>
                <a:latin typeface="微软雅黑"/>
                <a:cs typeface="微软雅黑"/>
              </a:rPr>
              <a:t>Dify</a:t>
            </a:r>
            <a:r>
              <a:rPr sz="900" spc="-25" dirty="0">
                <a:solidFill>
                  <a:srgbClr val="BEDAFE"/>
                </a:solidFill>
                <a:latin typeface="微软雅黑"/>
                <a:cs typeface="微软雅黑"/>
              </a:rPr>
              <a:t> 可视化单智能体编排</a:t>
            </a:r>
            <a:endParaRPr sz="900">
              <a:latin typeface="微软雅黑"/>
              <a:cs typeface="微软雅黑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00799" y="1104899"/>
            <a:ext cx="5362575" cy="4552950"/>
            <a:chOff x="6400799" y="1104899"/>
            <a:chExt cx="5362575" cy="4552950"/>
          </a:xfrm>
        </p:grpSpPr>
        <p:sp>
          <p:nvSpPr>
            <p:cNvPr id="23" name="object 23"/>
            <p:cNvSpPr/>
            <p:nvPr/>
          </p:nvSpPr>
          <p:spPr>
            <a:xfrm>
              <a:off x="6400799" y="1104899"/>
              <a:ext cx="5362575" cy="4552950"/>
            </a:xfrm>
            <a:custGeom>
              <a:avLst/>
              <a:gdLst/>
              <a:ahLst/>
              <a:cxnLst/>
              <a:rect l="l" t="t" r="r" b="b"/>
              <a:pathLst>
                <a:path w="5362575" h="4552950">
                  <a:moveTo>
                    <a:pt x="5248753" y="4552949"/>
                  </a:moveTo>
                  <a:lnTo>
                    <a:pt x="113821" y="4552949"/>
                  </a:lnTo>
                  <a:lnTo>
                    <a:pt x="102608" y="4552407"/>
                  </a:lnTo>
                  <a:lnTo>
                    <a:pt x="60111" y="4539493"/>
                  </a:lnTo>
                  <a:lnTo>
                    <a:pt x="25791" y="4511299"/>
                  </a:lnTo>
                  <a:lnTo>
                    <a:pt x="4872" y="4472118"/>
                  </a:lnTo>
                  <a:lnTo>
                    <a:pt x="0" y="4439127"/>
                  </a:lnTo>
                  <a:lnTo>
                    <a:pt x="0" y="113821"/>
                  </a:lnTo>
                  <a:lnTo>
                    <a:pt x="8663" y="70263"/>
                  </a:lnTo>
                  <a:lnTo>
                    <a:pt x="33336" y="33337"/>
                  </a:lnTo>
                  <a:lnTo>
                    <a:pt x="70262" y="8664"/>
                  </a:lnTo>
                  <a:lnTo>
                    <a:pt x="113821" y="0"/>
                  </a:lnTo>
                  <a:lnTo>
                    <a:pt x="5248753" y="0"/>
                  </a:lnTo>
                  <a:lnTo>
                    <a:pt x="5292309" y="8664"/>
                  </a:lnTo>
                  <a:lnTo>
                    <a:pt x="5329236" y="33337"/>
                  </a:lnTo>
                  <a:lnTo>
                    <a:pt x="5353909" y="70263"/>
                  </a:lnTo>
                  <a:lnTo>
                    <a:pt x="5362574" y="113821"/>
                  </a:lnTo>
                  <a:lnTo>
                    <a:pt x="5362574" y="4439127"/>
                  </a:lnTo>
                  <a:lnTo>
                    <a:pt x="5353909" y="4482684"/>
                  </a:lnTo>
                  <a:lnTo>
                    <a:pt x="5329236" y="4519611"/>
                  </a:lnTo>
                  <a:lnTo>
                    <a:pt x="5292309" y="4544284"/>
                  </a:lnTo>
                  <a:lnTo>
                    <a:pt x="5248753" y="4552949"/>
                  </a:lnTo>
                  <a:close/>
                </a:path>
              </a:pathLst>
            </a:custGeom>
            <a:solidFill>
              <a:srgbClr val="4B1C94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400787" y="1104911"/>
              <a:ext cx="5362575" cy="4552950"/>
            </a:xfrm>
            <a:custGeom>
              <a:avLst/>
              <a:gdLst/>
              <a:ahLst/>
              <a:cxnLst/>
              <a:rect l="l" t="t" r="r" b="b"/>
              <a:pathLst>
                <a:path w="5362575" h="4552950">
                  <a:moveTo>
                    <a:pt x="5124450" y="695325"/>
                  </a:moveTo>
                  <a:lnTo>
                    <a:pt x="238125" y="695325"/>
                  </a:lnTo>
                  <a:lnTo>
                    <a:pt x="238125" y="704850"/>
                  </a:lnTo>
                  <a:lnTo>
                    <a:pt x="5124450" y="704850"/>
                  </a:lnTo>
                  <a:lnTo>
                    <a:pt x="5124450" y="695325"/>
                  </a:lnTo>
                  <a:close/>
                </a:path>
                <a:path w="5362575" h="4552950">
                  <a:moveTo>
                    <a:pt x="5362575" y="113817"/>
                  </a:moveTo>
                  <a:lnTo>
                    <a:pt x="5353913" y="70256"/>
                  </a:lnTo>
                  <a:lnTo>
                    <a:pt x="5353050" y="68427"/>
                  </a:lnTo>
                  <a:lnTo>
                    <a:pt x="5353050" y="106972"/>
                  </a:lnTo>
                  <a:lnTo>
                    <a:pt x="5353050" y="4445965"/>
                  </a:lnTo>
                  <a:lnTo>
                    <a:pt x="5342496" y="4485360"/>
                  </a:lnTo>
                  <a:lnTo>
                    <a:pt x="5317668" y="4517707"/>
                  </a:lnTo>
                  <a:lnTo>
                    <a:pt x="5282336" y="4538103"/>
                  </a:lnTo>
                  <a:lnTo>
                    <a:pt x="5255603" y="4543425"/>
                  </a:lnTo>
                  <a:lnTo>
                    <a:pt x="106972" y="4543425"/>
                  </a:lnTo>
                  <a:lnTo>
                    <a:pt x="67589" y="4532858"/>
                  </a:lnTo>
                  <a:lnTo>
                    <a:pt x="35229" y="4508030"/>
                  </a:lnTo>
                  <a:lnTo>
                    <a:pt x="14846" y="4472711"/>
                  </a:lnTo>
                  <a:lnTo>
                    <a:pt x="9525" y="4445965"/>
                  </a:lnTo>
                  <a:lnTo>
                    <a:pt x="9525" y="106972"/>
                  </a:lnTo>
                  <a:lnTo>
                    <a:pt x="20091" y="67576"/>
                  </a:lnTo>
                  <a:lnTo>
                    <a:pt x="44919" y="35229"/>
                  </a:lnTo>
                  <a:lnTo>
                    <a:pt x="80238" y="14833"/>
                  </a:lnTo>
                  <a:lnTo>
                    <a:pt x="106972" y="9525"/>
                  </a:lnTo>
                  <a:lnTo>
                    <a:pt x="5255603" y="9525"/>
                  </a:lnTo>
                  <a:lnTo>
                    <a:pt x="5294998" y="20078"/>
                  </a:lnTo>
                  <a:lnTo>
                    <a:pt x="5327345" y="44907"/>
                  </a:lnTo>
                  <a:lnTo>
                    <a:pt x="5347741" y="80225"/>
                  </a:lnTo>
                  <a:lnTo>
                    <a:pt x="5353050" y="106972"/>
                  </a:lnTo>
                  <a:lnTo>
                    <a:pt x="5353050" y="68427"/>
                  </a:lnTo>
                  <a:lnTo>
                    <a:pt x="5329237" y="33337"/>
                  </a:lnTo>
                  <a:lnTo>
                    <a:pt x="5294134" y="9525"/>
                  </a:lnTo>
                  <a:lnTo>
                    <a:pt x="5292318" y="8661"/>
                  </a:lnTo>
                  <a:lnTo>
                    <a:pt x="5281752" y="4864"/>
                  </a:lnTo>
                  <a:lnTo>
                    <a:pt x="5270970" y="2159"/>
                  </a:lnTo>
                  <a:lnTo>
                    <a:pt x="5259971" y="533"/>
                  </a:lnTo>
                  <a:lnTo>
                    <a:pt x="5248757" y="0"/>
                  </a:lnTo>
                  <a:lnTo>
                    <a:pt x="113830" y="0"/>
                  </a:lnTo>
                  <a:lnTo>
                    <a:pt x="70269" y="8661"/>
                  </a:lnTo>
                  <a:lnTo>
                    <a:pt x="33337" y="33337"/>
                  </a:lnTo>
                  <a:lnTo>
                    <a:pt x="8674" y="70256"/>
                  </a:lnTo>
                  <a:lnTo>
                    <a:pt x="0" y="113817"/>
                  </a:lnTo>
                  <a:lnTo>
                    <a:pt x="0" y="4439120"/>
                  </a:lnTo>
                  <a:lnTo>
                    <a:pt x="8674" y="4482681"/>
                  </a:lnTo>
                  <a:lnTo>
                    <a:pt x="33337" y="4519600"/>
                  </a:lnTo>
                  <a:lnTo>
                    <a:pt x="70269" y="4544276"/>
                  </a:lnTo>
                  <a:lnTo>
                    <a:pt x="113830" y="4552950"/>
                  </a:lnTo>
                  <a:lnTo>
                    <a:pt x="5248757" y="4552950"/>
                  </a:lnTo>
                  <a:lnTo>
                    <a:pt x="5292318" y="4544276"/>
                  </a:lnTo>
                  <a:lnTo>
                    <a:pt x="5329237" y="4519600"/>
                  </a:lnTo>
                  <a:lnTo>
                    <a:pt x="5353913" y="4482681"/>
                  </a:lnTo>
                  <a:lnTo>
                    <a:pt x="5362575" y="4439120"/>
                  </a:lnTo>
                  <a:lnTo>
                    <a:pt x="5362575" y="113817"/>
                  </a:lnTo>
                  <a:close/>
                </a:path>
              </a:pathLst>
            </a:custGeom>
            <a:solidFill>
              <a:srgbClr val="8B5C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638924" y="134302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190499" y="380999"/>
                  </a:moveTo>
                  <a:lnTo>
                    <a:pt x="144199" y="375288"/>
                  </a:lnTo>
                  <a:lnTo>
                    <a:pt x="100696" y="358507"/>
                  </a:lnTo>
                  <a:lnTo>
                    <a:pt x="62574" y="331659"/>
                  </a:lnTo>
                  <a:lnTo>
                    <a:pt x="32103" y="296335"/>
                  </a:lnTo>
                  <a:lnTo>
                    <a:pt x="11129" y="254666"/>
                  </a:lnTo>
                  <a:lnTo>
                    <a:pt x="914" y="209172"/>
                  </a:lnTo>
                  <a:lnTo>
                    <a:pt x="0" y="190499"/>
                  </a:lnTo>
                  <a:lnTo>
                    <a:pt x="228" y="181141"/>
                  </a:lnTo>
                  <a:lnTo>
                    <a:pt x="8199" y="135199"/>
                  </a:lnTo>
                  <a:lnTo>
                    <a:pt x="27094" y="92572"/>
                  </a:lnTo>
                  <a:lnTo>
                    <a:pt x="55795" y="55796"/>
                  </a:lnTo>
                  <a:lnTo>
                    <a:pt x="92571" y="27095"/>
                  </a:lnTo>
                  <a:lnTo>
                    <a:pt x="135198" y="8200"/>
                  </a:lnTo>
                  <a:lnTo>
                    <a:pt x="181140" y="228"/>
                  </a:lnTo>
                  <a:lnTo>
                    <a:pt x="190499" y="0"/>
                  </a:lnTo>
                  <a:lnTo>
                    <a:pt x="199858" y="228"/>
                  </a:lnTo>
                  <a:lnTo>
                    <a:pt x="245799" y="8200"/>
                  </a:lnTo>
                  <a:lnTo>
                    <a:pt x="288427" y="27095"/>
                  </a:lnTo>
                  <a:lnTo>
                    <a:pt x="325203" y="55796"/>
                  </a:lnTo>
                  <a:lnTo>
                    <a:pt x="353902" y="92572"/>
                  </a:lnTo>
                  <a:lnTo>
                    <a:pt x="372798" y="135199"/>
                  </a:lnTo>
                  <a:lnTo>
                    <a:pt x="380770" y="181141"/>
                  </a:lnTo>
                  <a:lnTo>
                    <a:pt x="380999" y="190499"/>
                  </a:lnTo>
                  <a:lnTo>
                    <a:pt x="380770" y="199858"/>
                  </a:lnTo>
                  <a:lnTo>
                    <a:pt x="372798" y="245799"/>
                  </a:lnTo>
                  <a:lnTo>
                    <a:pt x="353902" y="288427"/>
                  </a:lnTo>
                  <a:lnTo>
                    <a:pt x="325203" y="325203"/>
                  </a:lnTo>
                  <a:lnTo>
                    <a:pt x="288427" y="353903"/>
                  </a:lnTo>
                  <a:lnTo>
                    <a:pt x="245799" y="372799"/>
                  </a:lnTo>
                  <a:lnTo>
                    <a:pt x="199858" y="380771"/>
                  </a:lnTo>
                  <a:lnTo>
                    <a:pt x="190499" y="380999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715124" y="1438304"/>
              <a:ext cx="236860" cy="189547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7121673" y="1397857"/>
            <a:ext cx="2539365" cy="253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b="1" spc="-20" dirty="0">
                <a:solidFill>
                  <a:srgbClr val="C3B4FD"/>
                </a:solidFill>
                <a:latin typeface="微软雅黑"/>
                <a:cs typeface="微软雅黑"/>
              </a:rPr>
              <a:t>多智能体框架 (Multi-</a:t>
            </a:r>
            <a:r>
              <a:rPr sz="1500" b="1" spc="-10" dirty="0">
                <a:solidFill>
                  <a:srgbClr val="C3B4FD"/>
                </a:solidFill>
                <a:latin typeface="微软雅黑"/>
                <a:cs typeface="微软雅黑"/>
              </a:rPr>
              <a:t>Agent)</a:t>
            </a:r>
            <a:endParaRPr sz="1500">
              <a:latin typeface="微软雅黑"/>
              <a:cs typeface="微软雅黑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638924" y="2000250"/>
            <a:ext cx="4886325" cy="3419475"/>
            <a:chOff x="6638924" y="2000250"/>
            <a:chExt cx="4886325" cy="3419475"/>
          </a:xfrm>
        </p:grpSpPr>
        <p:pic>
          <p:nvPicPr>
            <p:cNvPr id="29" name="object 29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8924" y="2000250"/>
              <a:ext cx="113704" cy="113704"/>
            </a:xfrm>
            <a:prstGeom prst="rect">
              <a:avLst/>
            </a:prstGeom>
          </p:spPr>
        </p:pic>
        <p:pic>
          <p:nvPicPr>
            <p:cNvPr id="30" name="object 3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8924" y="2276475"/>
              <a:ext cx="113704" cy="113704"/>
            </a:xfrm>
            <a:prstGeom prst="rect">
              <a:avLst/>
            </a:prstGeom>
          </p:spPr>
        </p:pic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638924" y="2552700"/>
              <a:ext cx="113704" cy="113704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6638924" y="3276599"/>
              <a:ext cx="4886325" cy="2143125"/>
            </a:xfrm>
            <a:custGeom>
              <a:avLst/>
              <a:gdLst/>
              <a:ahLst/>
              <a:cxnLst/>
              <a:rect l="l" t="t" r="r" b="b"/>
              <a:pathLst>
                <a:path w="4886325" h="2143125">
                  <a:moveTo>
                    <a:pt x="4810443" y="2143124"/>
                  </a:moveTo>
                  <a:lnTo>
                    <a:pt x="75881" y="2143124"/>
                  </a:lnTo>
                  <a:lnTo>
                    <a:pt x="68405" y="2142763"/>
                  </a:lnTo>
                  <a:lnTo>
                    <a:pt x="27765" y="2125929"/>
                  </a:lnTo>
                  <a:lnTo>
                    <a:pt x="3248" y="2089237"/>
                  </a:lnTo>
                  <a:lnTo>
                    <a:pt x="0" y="2067243"/>
                  </a:lnTo>
                  <a:lnTo>
                    <a:pt x="0" y="75881"/>
                  </a:lnTo>
                  <a:lnTo>
                    <a:pt x="12775" y="33715"/>
                  </a:lnTo>
                  <a:lnTo>
                    <a:pt x="46841" y="5776"/>
                  </a:lnTo>
                  <a:lnTo>
                    <a:pt x="75881" y="0"/>
                  </a:lnTo>
                  <a:lnTo>
                    <a:pt x="4810443" y="0"/>
                  </a:lnTo>
                  <a:lnTo>
                    <a:pt x="4852607" y="12776"/>
                  </a:lnTo>
                  <a:lnTo>
                    <a:pt x="4880546" y="46842"/>
                  </a:lnTo>
                  <a:lnTo>
                    <a:pt x="4886324" y="75881"/>
                  </a:lnTo>
                  <a:lnTo>
                    <a:pt x="4886324" y="2067243"/>
                  </a:lnTo>
                  <a:lnTo>
                    <a:pt x="4873546" y="2109407"/>
                  </a:lnTo>
                  <a:lnTo>
                    <a:pt x="4839480" y="2137347"/>
                  </a:lnTo>
                  <a:lnTo>
                    <a:pt x="4810443" y="2143124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638924" y="3276600"/>
              <a:ext cx="4886325" cy="2143125"/>
            </a:xfrm>
            <a:custGeom>
              <a:avLst/>
              <a:gdLst/>
              <a:ahLst/>
              <a:cxnLst/>
              <a:rect l="l" t="t" r="r" b="b"/>
              <a:pathLst>
                <a:path w="4886325" h="2143125">
                  <a:moveTo>
                    <a:pt x="4810443" y="2143124"/>
                  </a:moveTo>
                  <a:lnTo>
                    <a:pt x="75881" y="2143124"/>
                  </a:lnTo>
                  <a:lnTo>
                    <a:pt x="68405" y="2142763"/>
                  </a:lnTo>
                  <a:lnTo>
                    <a:pt x="27765" y="2125929"/>
                  </a:lnTo>
                  <a:lnTo>
                    <a:pt x="3248" y="2089237"/>
                  </a:lnTo>
                  <a:lnTo>
                    <a:pt x="0" y="2067243"/>
                  </a:lnTo>
                  <a:lnTo>
                    <a:pt x="0" y="75880"/>
                  </a:lnTo>
                  <a:lnTo>
                    <a:pt x="12775" y="33715"/>
                  </a:lnTo>
                  <a:lnTo>
                    <a:pt x="46841" y="5776"/>
                  </a:lnTo>
                  <a:lnTo>
                    <a:pt x="75881" y="0"/>
                  </a:lnTo>
                  <a:lnTo>
                    <a:pt x="4810443" y="0"/>
                  </a:lnTo>
                  <a:lnTo>
                    <a:pt x="4847175" y="9525"/>
                  </a:lnTo>
                  <a:lnTo>
                    <a:pt x="71523" y="9525"/>
                  </a:lnTo>
                  <a:lnTo>
                    <a:pt x="67208" y="9950"/>
                  </a:lnTo>
                  <a:lnTo>
                    <a:pt x="32040" y="25879"/>
                  </a:lnTo>
                  <a:lnTo>
                    <a:pt x="11648" y="58662"/>
                  </a:lnTo>
                  <a:lnTo>
                    <a:pt x="9524" y="71523"/>
                  </a:lnTo>
                  <a:lnTo>
                    <a:pt x="9524" y="2071599"/>
                  </a:lnTo>
                  <a:lnTo>
                    <a:pt x="23127" y="2107731"/>
                  </a:lnTo>
                  <a:lnTo>
                    <a:pt x="54511" y="2130215"/>
                  </a:lnTo>
                  <a:lnTo>
                    <a:pt x="71523" y="2133599"/>
                  </a:lnTo>
                  <a:lnTo>
                    <a:pt x="4847175" y="2133599"/>
                  </a:lnTo>
                  <a:lnTo>
                    <a:pt x="4846248" y="2134153"/>
                  </a:lnTo>
                  <a:lnTo>
                    <a:pt x="4839480" y="2137347"/>
                  </a:lnTo>
                  <a:lnTo>
                    <a:pt x="4832436" y="2139874"/>
                  </a:lnTo>
                  <a:lnTo>
                    <a:pt x="4825248" y="2141680"/>
                  </a:lnTo>
                  <a:lnTo>
                    <a:pt x="4817917" y="2142763"/>
                  </a:lnTo>
                  <a:lnTo>
                    <a:pt x="4810443" y="2143124"/>
                  </a:lnTo>
                  <a:close/>
                </a:path>
                <a:path w="4886325" h="2143125">
                  <a:moveTo>
                    <a:pt x="4847175" y="2133599"/>
                  </a:moveTo>
                  <a:lnTo>
                    <a:pt x="4814799" y="2133599"/>
                  </a:lnTo>
                  <a:lnTo>
                    <a:pt x="4819114" y="2133174"/>
                  </a:lnTo>
                  <a:lnTo>
                    <a:pt x="4827660" y="2131474"/>
                  </a:lnTo>
                  <a:lnTo>
                    <a:pt x="4860443" y="2111083"/>
                  </a:lnTo>
                  <a:lnTo>
                    <a:pt x="4876372" y="2075914"/>
                  </a:lnTo>
                  <a:lnTo>
                    <a:pt x="4876798" y="2071599"/>
                  </a:lnTo>
                  <a:lnTo>
                    <a:pt x="4876798" y="71523"/>
                  </a:lnTo>
                  <a:lnTo>
                    <a:pt x="4863194" y="35392"/>
                  </a:lnTo>
                  <a:lnTo>
                    <a:pt x="4831810" y="12908"/>
                  </a:lnTo>
                  <a:lnTo>
                    <a:pt x="4814799" y="9525"/>
                  </a:lnTo>
                  <a:lnTo>
                    <a:pt x="4847175" y="9525"/>
                  </a:lnTo>
                  <a:lnTo>
                    <a:pt x="4877353" y="40074"/>
                  </a:lnTo>
                  <a:lnTo>
                    <a:pt x="4886324" y="2067243"/>
                  </a:lnTo>
                  <a:lnTo>
                    <a:pt x="4885963" y="2074718"/>
                  </a:lnTo>
                  <a:lnTo>
                    <a:pt x="4869128" y="2115357"/>
                  </a:lnTo>
                  <a:lnTo>
                    <a:pt x="4852607" y="2130347"/>
                  </a:lnTo>
                  <a:lnTo>
                    <a:pt x="4847175" y="21335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600949" y="3400425"/>
              <a:ext cx="2962274" cy="166687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000999" y="5162549"/>
              <a:ext cx="142130" cy="113704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6818213" y="1959546"/>
            <a:ext cx="4445635" cy="1085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1435">
              <a:lnSpc>
                <a:spcPct val="100000"/>
              </a:lnSpc>
              <a:spcBef>
                <a:spcPts val="95"/>
              </a:spcBef>
            </a:pPr>
            <a:r>
              <a:rPr sz="1050" b="1" spc="-25" dirty="0">
                <a:solidFill>
                  <a:srgbClr val="E4E7EB"/>
                </a:solidFill>
                <a:latin typeface="微软雅黑"/>
                <a:cs typeface="微软雅黑"/>
              </a:rPr>
              <a:t>核心特征：</a:t>
            </a:r>
            <a:r>
              <a:rPr sz="1050" spc="-30" dirty="0">
                <a:solidFill>
                  <a:srgbClr val="D0D5DA"/>
                </a:solidFill>
                <a:latin typeface="微软雅黑"/>
                <a:cs typeface="微软雅黑"/>
              </a:rPr>
              <a:t>多个专家角色分工协作，通过通信与辩论解决复杂系统级问题。</a:t>
            </a:r>
            <a:endParaRPr sz="1050">
              <a:latin typeface="微软雅黑"/>
              <a:cs typeface="微软雅黑"/>
            </a:endParaRPr>
          </a:p>
          <a:p>
            <a:pPr marL="51435" marR="668655">
              <a:lnSpc>
                <a:spcPts val="2180"/>
              </a:lnSpc>
              <a:spcBef>
                <a:spcPts val="145"/>
              </a:spcBef>
            </a:pPr>
            <a:r>
              <a:rPr sz="1050" b="1" spc="-25" dirty="0">
                <a:solidFill>
                  <a:srgbClr val="E4E7EB"/>
                </a:solidFill>
                <a:latin typeface="微软雅黑"/>
                <a:cs typeface="微软雅黑"/>
              </a:rPr>
              <a:t>适用场景：</a:t>
            </a:r>
            <a:r>
              <a:rPr sz="1050" spc="-30" dirty="0">
                <a:solidFill>
                  <a:srgbClr val="D0D5DA"/>
                </a:solidFill>
                <a:latin typeface="微软雅黑"/>
                <a:cs typeface="微软雅黑"/>
              </a:rPr>
              <a:t>科研文献综述、跨部门复杂流程、多角色模拟决策。</a:t>
            </a:r>
            <a:r>
              <a:rPr sz="1050" b="1" spc="-30" dirty="0">
                <a:solidFill>
                  <a:srgbClr val="E4E7EB"/>
                </a:solidFill>
                <a:latin typeface="微软雅黑"/>
                <a:cs typeface="微软雅黑"/>
              </a:rPr>
              <a:t>代表框架：</a:t>
            </a:r>
            <a:endParaRPr sz="1050">
              <a:latin typeface="微软雅黑"/>
              <a:cs typeface="微软雅黑"/>
            </a:endParaRPr>
          </a:p>
          <a:p>
            <a:pPr marL="95250" indent="-82550">
              <a:lnSpc>
                <a:spcPct val="100000"/>
              </a:lnSpc>
              <a:spcBef>
                <a:spcPts val="310"/>
              </a:spcBef>
              <a:buClr>
                <a:srgbClr val="9CA2AF"/>
              </a:buClr>
              <a:buFont typeface="΢"/>
              <a:buChar char="•"/>
              <a:tabLst>
                <a:tab pos="95250" algn="l"/>
              </a:tabLst>
            </a:pPr>
            <a:r>
              <a:rPr sz="900" b="1" spc="-20" dirty="0">
                <a:solidFill>
                  <a:srgbClr val="E4E7EB"/>
                </a:solidFill>
                <a:latin typeface="微软雅黑"/>
                <a:cs typeface="微软雅黑"/>
              </a:rPr>
              <a:t>AutoGen：</a:t>
            </a:r>
            <a:r>
              <a:rPr sz="900" spc="-25" dirty="0">
                <a:solidFill>
                  <a:srgbClr val="9CA2AF"/>
                </a:solidFill>
                <a:latin typeface="微软雅黑"/>
                <a:cs typeface="微软雅黑"/>
              </a:rPr>
              <a:t>多智能体对话模式，擅长协作。</a:t>
            </a:r>
            <a:endParaRPr sz="900">
              <a:latin typeface="微软雅黑"/>
              <a:cs typeface="微软雅黑"/>
            </a:endParaRPr>
          </a:p>
          <a:p>
            <a:pPr marL="95250" indent="-82550">
              <a:lnSpc>
                <a:spcPct val="100000"/>
              </a:lnSpc>
              <a:spcBef>
                <a:spcPts val="120"/>
              </a:spcBef>
              <a:buClr>
                <a:srgbClr val="9CA2AF"/>
              </a:buClr>
              <a:buFont typeface="΢"/>
              <a:buChar char="•"/>
              <a:tabLst>
                <a:tab pos="95250" algn="l"/>
              </a:tabLst>
            </a:pPr>
            <a:r>
              <a:rPr sz="900" b="1" spc="-20" dirty="0">
                <a:solidFill>
                  <a:srgbClr val="E4E7EB"/>
                </a:solidFill>
                <a:latin typeface="微软雅黑"/>
                <a:cs typeface="微软雅黑"/>
              </a:rPr>
              <a:t>LangGraph/CrewAI：</a:t>
            </a:r>
            <a:r>
              <a:rPr sz="900" spc="-25" dirty="0">
                <a:solidFill>
                  <a:srgbClr val="9CA2AF"/>
                </a:solidFill>
                <a:latin typeface="微软雅黑"/>
                <a:cs typeface="微软雅黑"/>
              </a:rPr>
              <a:t>精准状态机控制与角色扮演。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8199347" y="5131371"/>
            <a:ext cx="1982470" cy="161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5" dirty="0">
                <a:solidFill>
                  <a:srgbClr val="DDD5FE"/>
                </a:solidFill>
                <a:latin typeface="微软雅黑"/>
                <a:cs typeface="微软雅黑"/>
              </a:rPr>
              <a:t>多智能体分组协作架构 (</a:t>
            </a:r>
            <a:r>
              <a:rPr sz="900" spc="-20" dirty="0">
                <a:solidFill>
                  <a:srgbClr val="DDD5FE"/>
                </a:solidFill>
                <a:latin typeface="微软雅黑"/>
                <a:cs typeface="微软雅黑"/>
              </a:rPr>
              <a:t>AutoGen</a:t>
            </a:r>
            <a:r>
              <a:rPr sz="900" spc="-30" dirty="0">
                <a:solidFill>
                  <a:srgbClr val="DDD5FE"/>
                </a:solidFill>
                <a:latin typeface="微软雅黑"/>
                <a:cs typeface="微软雅黑"/>
              </a:rPr>
              <a:t>模式)</a:t>
            </a:r>
            <a:endParaRPr sz="900">
              <a:latin typeface="微软雅黑"/>
              <a:cs typeface="微软雅黑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28624" y="5962649"/>
            <a:ext cx="11334750" cy="428625"/>
            <a:chOff x="428624" y="5962649"/>
            <a:chExt cx="11334750" cy="428625"/>
          </a:xfrm>
        </p:grpSpPr>
        <p:sp>
          <p:nvSpPr>
            <p:cNvPr id="39" name="object 39"/>
            <p:cNvSpPr/>
            <p:nvPr/>
          </p:nvSpPr>
          <p:spPr>
            <a:xfrm>
              <a:off x="433387" y="5967412"/>
              <a:ext cx="11325225" cy="419100"/>
            </a:xfrm>
            <a:custGeom>
              <a:avLst/>
              <a:gdLst/>
              <a:ahLst/>
              <a:cxnLst/>
              <a:rect l="l" t="t" r="r" b="b"/>
              <a:pathLst>
                <a:path w="11325225" h="419100">
                  <a:moveTo>
                    <a:pt x="11258773" y="419099"/>
                  </a:moveTo>
                  <a:lnTo>
                    <a:pt x="66448" y="419099"/>
                  </a:lnTo>
                  <a:lnTo>
                    <a:pt x="61824" y="418644"/>
                  </a:lnTo>
                  <a:lnTo>
                    <a:pt x="24132" y="401570"/>
                  </a:lnTo>
                  <a:lnTo>
                    <a:pt x="2277" y="366435"/>
                  </a:lnTo>
                  <a:lnTo>
                    <a:pt x="0" y="352651"/>
                  </a:lnTo>
                  <a:lnTo>
                    <a:pt x="0" y="347981"/>
                  </a:lnTo>
                  <a:lnTo>
                    <a:pt x="0" y="66448"/>
                  </a:lnTo>
                  <a:lnTo>
                    <a:pt x="14579" y="27723"/>
                  </a:lnTo>
                  <a:lnTo>
                    <a:pt x="48216" y="3625"/>
                  </a:lnTo>
                  <a:lnTo>
                    <a:pt x="66448" y="0"/>
                  </a:lnTo>
                  <a:lnTo>
                    <a:pt x="11258773" y="0"/>
                  </a:lnTo>
                  <a:lnTo>
                    <a:pt x="11297497" y="14579"/>
                  </a:lnTo>
                  <a:lnTo>
                    <a:pt x="11321595" y="48216"/>
                  </a:lnTo>
                  <a:lnTo>
                    <a:pt x="11325222" y="66448"/>
                  </a:lnTo>
                  <a:lnTo>
                    <a:pt x="11325222" y="352651"/>
                  </a:lnTo>
                  <a:lnTo>
                    <a:pt x="11310642" y="391374"/>
                  </a:lnTo>
                  <a:lnTo>
                    <a:pt x="11277006" y="415472"/>
                  </a:lnTo>
                  <a:lnTo>
                    <a:pt x="11263398" y="418644"/>
                  </a:lnTo>
                  <a:lnTo>
                    <a:pt x="11258773" y="419099"/>
                  </a:lnTo>
                  <a:close/>
                </a:path>
              </a:pathLst>
            </a:custGeom>
            <a:solidFill>
              <a:srgbClr val="1F2937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33387" y="5967412"/>
              <a:ext cx="11325225" cy="419100"/>
            </a:xfrm>
            <a:custGeom>
              <a:avLst/>
              <a:gdLst/>
              <a:ahLst/>
              <a:cxnLst/>
              <a:rect l="l" t="t" r="r" b="b"/>
              <a:pathLst>
                <a:path w="11325225" h="419100">
                  <a:moveTo>
                    <a:pt x="0" y="347981"/>
                  </a:moveTo>
                  <a:lnTo>
                    <a:pt x="0" y="71118"/>
                  </a:lnTo>
                  <a:lnTo>
                    <a:pt x="0" y="66448"/>
                  </a:lnTo>
                  <a:lnTo>
                    <a:pt x="455" y="61824"/>
                  </a:lnTo>
                  <a:lnTo>
                    <a:pt x="11985" y="31606"/>
                  </a:lnTo>
                  <a:lnTo>
                    <a:pt x="14579" y="27723"/>
                  </a:lnTo>
                  <a:lnTo>
                    <a:pt x="17528" y="24131"/>
                  </a:lnTo>
                  <a:lnTo>
                    <a:pt x="20830" y="20829"/>
                  </a:lnTo>
                  <a:lnTo>
                    <a:pt x="24132" y="17527"/>
                  </a:lnTo>
                  <a:lnTo>
                    <a:pt x="43902" y="5413"/>
                  </a:lnTo>
                  <a:lnTo>
                    <a:pt x="48216" y="3625"/>
                  </a:lnTo>
                  <a:lnTo>
                    <a:pt x="52664" y="2277"/>
                  </a:lnTo>
                  <a:lnTo>
                    <a:pt x="57244" y="1366"/>
                  </a:lnTo>
                  <a:lnTo>
                    <a:pt x="61824" y="455"/>
                  </a:lnTo>
                  <a:lnTo>
                    <a:pt x="66448" y="0"/>
                  </a:lnTo>
                  <a:lnTo>
                    <a:pt x="71118" y="0"/>
                  </a:lnTo>
                  <a:lnTo>
                    <a:pt x="11254105" y="0"/>
                  </a:lnTo>
                  <a:lnTo>
                    <a:pt x="11258773" y="0"/>
                  </a:lnTo>
                  <a:lnTo>
                    <a:pt x="11263398" y="455"/>
                  </a:lnTo>
                  <a:lnTo>
                    <a:pt x="11267978" y="1366"/>
                  </a:lnTo>
                  <a:lnTo>
                    <a:pt x="11272558" y="2277"/>
                  </a:lnTo>
                  <a:lnTo>
                    <a:pt x="11277006" y="3625"/>
                  </a:lnTo>
                  <a:lnTo>
                    <a:pt x="11281319" y="5413"/>
                  </a:lnTo>
                  <a:lnTo>
                    <a:pt x="11285634" y="7199"/>
                  </a:lnTo>
                  <a:lnTo>
                    <a:pt x="11289732" y="9390"/>
                  </a:lnTo>
                  <a:lnTo>
                    <a:pt x="11293614" y="11984"/>
                  </a:lnTo>
                  <a:lnTo>
                    <a:pt x="11297497" y="14579"/>
                  </a:lnTo>
                  <a:lnTo>
                    <a:pt x="11301090" y="17527"/>
                  </a:lnTo>
                  <a:lnTo>
                    <a:pt x="11304392" y="20829"/>
                  </a:lnTo>
                  <a:lnTo>
                    <a:pt x="11307694" y="24131"/>
                  </a:lnTo>
                  <a:lnTo>
                    <a:pt x="11310642" y="27723"/>
                  </a:lnTo>
                  <a:lnTo>
                    <a:pt x="11313236" y="31606"/>
                  </a:lnTo>
                  <a:lnTo>
                    <a:pt x="11315830" y="35489"/>
                  </a:lnTo>
                  <a:lnTo>
                    <a:pt x="11325224" y="71118"/>
                  </a:lnTo>
                  <a:lnTo>
                    <a:pt x="11325224" y="347981"/>
                  </a:lnTo>
                  <a:lnTo>
                    <a:pt x="11319808" y="375196"/>
                  </a:lnTo>
                  <a:lnTo>
                    <a:pt x="11318021" y="379510"/>
                  </a:lnTo>
                  <a:lnTo>
                    <a:pt x="11293614" y="407112"/>
                  </a:lnTo>
                  <a:lnTo>
                    <a:pt x="11289732" y="409707"/>
                  </a:lnTo>
                  <a:lnTo>
                    <a:pt x="11285634" y="411898"/>
                  </a:lnTo>
                  <a:lnTo>
                    <a:pt x="11281319" y="413685"/>
                  </a:lnTo>
                  <a:lnTo>
                    <a:pt x="11277006" y="415472"/>
                  </a:lnTo>
                  <a:lnTo>
                    <a:pt x="11254105" y="419099"/>
                  </a:lnTo>
                  <a:lnTo>
                    <a:pt x="71118" y="419099"/>
                  </a:lnTo>
                  <a:lnTo>
                    <a:pt x="43902" y="413685"/>
                  </a:lnTo>
                  <a:lnTo>
                    <a:pt x="39588" y="411898"/>
                  </a:lnTo>
                  <a:lnTo>
                    <a:pt x="35489" y="409707"/>
                  </a:lnTo>
                  <a:lnTo>
                    <a:pt x="31607" y="407112"/>
                  </a:lnTo>
                  <a:lnTo>
                    <a:pt x="27724" y="404518"/>
                  </a:lnTo>
                  <a:lnTo>
                    <a:pt x="11985" y="387492"/>
                  </a:lnTo>
                  <a:lnTo>
                    <a:pt x="9391" y="383609"/>
                  </a:lnTo>
                  <a:lnTo>
                    <a:pt x="7200" y="379510"/>
                  </a:lnTo>
                  <a:lnTo>
                    <a:pt x="5413" y="375196"/>
                  </a:lnTo>
                  <a:lnTo>
                    <a:pt x="3626" y="370882"/>
                  </a:lnTo>
                  <a:lnTo>
                    <a:pt x="2277" y="366435"/>
                  </a:lnTo>
                  <a:lnTo>
                    <a:pt x="1366" y="361855"/>
                  </a:lnTo>
                  <a:lnTo>
                    <a:pt x="455" y="357275"/>
                  </a:lnTo>
                  <a:lnTo>
                    <a:pt x="0" y="352651"/>
                  </a:lnTo>
                  <a:lnTo>
                    <a:pt x="0" y="347981"/>
                  </a:lnTo>
                  <a:close/>
                </a:path>
              </a:pathLst>
            </a:custGeom>
            <a:ln w="9524">
              <a:solidFill>
                <a:srgbClr val="4A54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56598" y="6115049"/>
              <a:ext cx="91268" cy="132754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714474" y="6083871"/>
            <a:ext cx="689610" cy="184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50" b="1" spc="-30" dirty="0">
                <a:solidFill>
                  <a:srgbClr val="D0D5DA"/>
                </a:solidFill>
                <a:latin typeface="微软雅黑"/>
                <a:cs typeface="微软雅黑"/>
              </a:rPr>
              <a:t>选型建议：</a:t>
            </a:r>
            <a:endParaRPr sz="1050">
              <a:latin typeface="微软雅黑"/>
              <a:cs typeface="微软雅黑"/>
            </a:endParaRPr>
          </a:p>
        </p:txBody>
      </p:sp>
      <p:pic>
        <p:nvPicPr>
          <p:cNvPr id="43" name="object 4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7133514" y="6145233"/>
            <a:ext cx="100815" cy="72410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7260381" y="6093396"/>
            <a:ext cx="1197610" cy="161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9CA2AF"/>
                </a:solidFill>
                <a:latin typeface="微软雅黑"/>
                <a:cs typeface="微软雅黑"/>
              </a:rPr>
              <a:t>快速验证 → </a:t>
            </a:r>
            <a:r>
              <a:rPr sz="900" spc="-10" dirty="0">
                <a:solidFill>
                  <a:srgbClr val="9CA2AF"/>
                </a:solidFill>
                <a:latin typeface="微软雅黑"/>
                <a:cs typeface="微软雅黑"/>
              </a:rPr>
              <a:t>Dify/Coze</a:t>
            </a:r>
            <a:endParaRPr sz="900">
              <a:latin typeface="微软雅黑"/>
              <a:cs typeface="微软雅黑"/>
            </a:endParaRPr>
          </a:p>
        </p:txBody>
      </p:sp>
      <p:pic>
        <p:nvPicPr>
          <p:cNvPr id="45" name="object 45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8667039" y="6145233"/>
            <a:ext cx="100815" cy="72410"/>
          </a:xfrm>
          <a:prstGeom prst="rect">
            <a:avLst/>
          </a:prstGeom>
        </p:spPr>
      </p:pic>
      <p:sp>
        <p:nvSpPr>
          <p:cNvPr id="46" name="object 46"/>
          <p:cNvSpPr txBox="1"/>
          <p:nvPr/>
        </p:nvSpPr>
        <p:spPr>
          <a:xfrm>
            <a:off x="8796883" y="6093396"/>
            <a:ext cx="1259205" cy="161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9CA2AF"/>
                </a:solidFill>
                <a:latin typeface="微软雅黑"/>
                <a:cs typeface="微软雅黑"/>
              </a:rPr>
              <a:t>复杂编排 → </a:t>
            </a:r>
            <a:r>
              <a:rPr sz="900" spc="-10" dirty="0">
                <a:solidFill>
                  <a:srgbClr val="9CA2AF"/>
                </a:solidFill>
                <a:latin typeface="微软雅黑"/>
                <a:cs typeface="微软雅黑"/>
              </a:rPr>
              <a:t>LangGraph</a:t>
            </a:r>
            <a:endParaRPr sz="900">
              <a:latin typeface="微软雅黑"/>
              <a:cs typeface="微软雅黑"/>
            </a:endParaRPr>
          </a:p>
        </p:txBody>
      </p:sp>
      <p:pic>
        <p:nvPicPr>
          <p:cNvPr id="47" name="object 47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0267239" y="6145233"/>
            <a:ext cx="100815" cy="72410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10394999" y="6093396"/>
            <a:ext cx="1257935" cy="161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20" dirty="0">
                <a:solidFill>
                  <a:srgbClr val="9CA2AF"/>
                </a:solidFill>
                <a:latin typeface="微软雅黑"/>
                <a:cs typeface="微软雅黑"/>
              </a:rPr>
              <a:t>多角色协作 → </a:t>
            </a:r>
            <a:r>
              <a:rPr sz="900" spc="-10" dirty="0">
                <a:solidFill>
                  <a:srgbClr val="9CA2AF"/>
                </a:solidFill>
                <a:latin typeface="微软雅黑"/>
                <a:cs typeface="微软雅黑"/>
              </a:rPr>
              <a:t>AutoGen</a:t>
            </a:r>
            <a:endParaRPr sz="900">
              <a:latin typeface="微软雅黑"/>
              <a:cs typeface="微软雅黑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5934073" y="1104899"/>
            <a:ext cx="323850" cy="4552950"/>
            <a:chOff x="5934073" y="1104899"/>
            <a:chExt cx="323850" cy="4552950"/>
          </a:xfrm>
        </p:grpSpPr>
        <p:pic>
          <p:nvPicPr>
            <p:cNvPr id="50" name="object 5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095999" y="1104899"/>
              <a:ext cx="9524" cy="4552949"/>
            </a:xfrm>
            <a:prstGeom prst="rect">
              <a:avLst/>
            </a:prstGeom>
          </p:spPr>
        </p:pic>
        <p:sp>
          <p:nvSpPr>
            <p:cNvPr id="51" name="object 51"/>
            <p:cNvSpPr/>
            <p:nvPr/>
          </p:nvSpPr>
          <p:spPr>
            <a:xfrm>
              <a:off x="5938836" y="3262312"/>
              <a:ext cx="314325" cy="238125"/>
            </a:xfrm>
            <a:custGeom>
              <a:avLst/>
              <a:gdLst/>
              <a:ahLst/>
              <a:cxnLst/>
              <a:rect l="l" t="t" r="r" b="b"/>
              <a:pathLst>
                <a:path w="314325" h="238125">
                  <a:moveTo>
                    <a:pt x="285546" y="238124"/>
                  </a:moveTo>
                  <a:lnTo>
                    <a:pt x="28778" y="238124"/>
                  </a:lnTo>
                  <a:lnTo>
                    <a:pt x="24546" y="237282"/>
                  </a:lnTo>
                  <a:lnTo>
                    <a:pt x="0" y="209346"/>
                  </a:lnTo>
                  <a:lnTo>
                    <a:pt x="0" y="204946"/>
                  </a:lnTo>
                  <a:lnTo>
                    <a:pt x="0" y="28778"/>
                  </a:lnTo>
                  <a:lnTo>
                    <a:pt x="28778" y="0"/>
                  </a:lnTo>
                  <a:lnTo>
                    <a:pt x="285546" y="0"/>
                  </a:lnTo>
                  <a:lnTo>
                    <a:pt x="314324" y="28778"/>
                  </a:lnTo>
                  <a:lnTo>
                    <a:pt x="314324" y="209346"/>
                  </a:lnTo>
                  <a:lnTo>
                    <a:pt x="289778" y="237282"/>
                  </a:lnTo>
                  <a:lnTo>
                    <a:pt x="285546" y="238124"/>
                  </a:lnTo>
                  <a:close/>
                </a:path>
              </a:pathLst>
            </a:custGeom>
            <a:solidFill>
              <a:srgbClr val="1F2937">
                <a:alpha val="50000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5938836" y="3262312"/>
              <a:ext cx="314325" cy="238125"/>
            </a:xfrm>
            <a:custGeom>
              <a:avLst/>
              <a:gdLst/>
              <a:ahLst/>
              <a:cxnLst/>
              <a:rect l="l" t="t" r="r" b="b"/>
              <a:pathLst>
                <a:path w="314325" h="238125">
                  <a:moveTo>
                    <a:pt x="0" y="204946"/>
                  </a:moveTo>
                  <a:lnTo>
                    <a:pt x="0" y="33178"/>
                  </a:lnTo>
                  <a:lnTo>
                    <a:pt x="0" y="28778"/>
                  </a:lnTo>
                  <a:lnTo>
                    <a:pt x="841" y="24545"/>
                  </a:lnTo>
                  <a:lnTo>
                    <a:pt x="2526" y="20481"/>
                  </a:lnTo>
                  <a:lnTo>
                    <a:pt x="4209" y="16416"/>
                  </a:lnTo>
                  <a:lnTo>
                    <a:pt x="6606" y="12828"/>
                  </a:lnTo>
                  <a:lnTo>
                    <a:pt x="9718" y="9717"/>
                  </a:lnTo>
                  <a:lnTo>
                    <a:pt x="12829" y="6606"/>
                  </a:lnTo>
                  <a:lnTo>
                    <a:pt x="16417" y="4209"/>
                  </a:lnTo>
                  <a:lnTo>
                    <a:pt x="20481" y="2525"/>
                  </a:lnTo>
                  <a:lnTo>
                    <a:pt x="24546" y="841"/>
                  </a:lnTo>
                  <a:lnTo>
                    <a:pt x="28778" y="0"/>
                  </a:lnTo>
                  <a:lnTo>
                    <a:pt x="33178" y="0"/>
                  </a:lnTo>
                  <a:lnTo>
                    <a:pt x="281147" y="0"/>
                  </a:lnTo>
                  <a:lnTo>
                    <a:pt x="285546" y="0"/>
                  </a:lnTo>
                  <a:lnTo>
                    <a:pt x="289778" y="841"/>
                  </a:lnTo>
                  <a:lnTo>
                    <a:pt x="311798" y="20481"/>
                  </a:lnTo>
                  <a:lnTo>
                    <a:pt x="313483" y="24545"/>
                  </a:lnTo>
                  <a:lnTo>
                    <a:pt x="314324" y="28778"/>
                  </a:lnTo>
                  <a:lnTo>
                    <a:pt x="314325" y="33178"/>
                  </a:lnTo>
                  <a:lnTo>
                    <a:pt x="314325" y="204946"/>
                  </a:lnTo>
                  <a:lnTo>
                    <a:pt x="314324" y="209346"/>
                  </a:lnTo>
                  <a:lnTo>
                    <a:pt x="313483" y="213578"/>
                  </a:lnTo>
                  <a:lnTo>
                    <a:pt x="311798" y="217643"/>
                  </a:lnTo>
                  <a:lnTo>
                    <a:pt x="310115" y="221707"/>
                  </a:lnTo>
                  <a:lnTo>
                    <a:pt x="293843" y="235598"/>
                  </a:lnTo>
                  <a:lnTo>
                    <a:pt x="289778" y="237282"/>
                  </a:lnTo>
                  <a:lnTo>
                    <a:pt x="285546" y="238124"/>
                  </a:lnTo>
                  <a:lnTo>
                    <a:pt x="281147" y="238124"/>
                  </a:lnTo>
                  <a:lnTo>
                    <a:pt x="33178" y="238124"/>
                  </a:lnTo>
                  <a:lnTo>
                    <a:pt x="28778" y="238124"/>
                  </a:lnTo>
                  <a:lnTo>
                    <a:pt x="24546" y="237282"/>
                  </a:lnTo>
                  <a:lnTo>
                    <a:pt x="20481" y="235598"/>
                  </a:lnTo>
                  <a:lnTo>
                    <a:pt x="16415" y="233915"/>
                  </a:lnTo>
                  <a:lnTo>
                    <a:pt x="2525" y="217643"/>
                  </a:lnTo>
                  <a:lnTo>
                    <a:pt x="841" y="213578"/>
                  </a:lnTo>
                  <a:lnTo>
                    <a:pt x="0" y="209346"/>
                  </a:lnTo>
                  <a:lnTo>
                    <a:pt x="0" y="204946"/>
                  </a:lnTo>
                  <a:close/>
                </a:path>
              </a:pathLst>
            </a:custGeom>
            <a:ln w="9524">
              <a:solidFill>
                <a:srgbClr val="4A54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009183" y="3293046"/>
            <a:ext cx="173990" cy="1619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b="1" spc="-25" dirty="0">
                <a:solidFill>
                  <a:srgbClr val="9CA2AF"/>
                </a:solidFill>
                <a:latin typeface="微软雅黑"/>
                <a:cs typeface="微软雅黑"/>
              </a:rPr>
              <a:t>VS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18110">
              <a:lnSpc>
                <a:spcPct val="100000"/>
              </a:lnSpc>
              <a:spcBef>
                <a:spcPts val="190"/>
              </a:spcBef>
            </a:pPr>
            <a:fld id="{81D60167-4931-47E6-BA6A-407CBD079E47}" type="slidenum">
              <a:rPr sz="1050" spc="-50" dirty="0"/>
              <a:t>9</a:t>
            </a:fld>
            <a:endParaRPr sz="10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199" y="0"/>
            <a:ext cx="4876800" cy="6858000"/>
          </a:xfrm>
          <a:custGeom>
            <a:avLst/>
            <a:gdLst/>
            <a:ahLst/>
            <a:cxnLst/>
            <a:rect l="l" t="t" r="r" b="b"/>
            <a:pathLst>
              <a:path w="4876800" h="6858000">
                <a:moveTo>
                  <a:pt x="4876799" y="6857999"/>
                </a:moveTo>
                <a:lnTo>
                  <a:pt x="0" y="6857999"/>
                </a:lnTo>
                <a:lnTo>
                  <a:pt x="731519" y="0"/>
                </a:lnTo>
                <a:lnTo>
                  <a:pt x="4876799" y="0"/>
                </a:lnTo>
                <a:lnTo>
                  <a:pt x="4876799" y="6857999"/>
                </a:lnTo>
                <a:close/>
              </a:path>
            </a:pathLst>
          </a:custGeom>
          <a:solidFill>
            <a:srgbClr val="4A54A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76199" y="0"/>
                </a:lnTo>
                <a:lnTo>
                  <a:pt x="76199" y="68579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3550" y="233045"/>
            <a:ext cx="270700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-10" dirty="0"/>
              <a:t>主流框架能力对比</a:t>
            </a:r>
            <a:endParaRPr sz="2600"/>
          </a:p>
        </p:txBody>
      </p:sp>
      <p:sp>
        <p:nvSpPr>
          <p:cNvPr id="5" name="object 5"/>
          <p:cNvSpPr/>
          <p:nvPr/>
        </p:nvSpPr>
        <p:spPr>
          <a:xfrm>
            <a:off x="476249" y="733424"/>
            <a:ext cx="1609725" cy="38100"/>
          </a:xfrm>
          <a:custGeom>
            <a:avLst/>
            <a:gdLst/>
            <a:ahLst/>
            <a:cxnLst/>
            <a:rect l="l" t="t" r="r" b="b"/>
            <a:pathLst>
              <a:path w="1609725" h="38100">
                <a:moveTo>
                  <a:pt x="1609724" y="38099"/>
                </a:moveTo>
                <a:lnTo>
                  <a:pt x="0" y="38099"/>
                </a:lnTo>
                <a:lnTo>
                  <a:pt x="0" y="0"/>
                </a:lnTo>
                <a:lnTo>
                  <a:pt x="1609724" y="0"/>
                </a:lnTo>
                <a:lnTo>
                  <a:pt x="1609724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476249" y="1047749"/>
            <a:ext cx="3648075" cy="2638425"/>
            <a:chOff x="476249" y="1047749"/>
            <a:chExt cx="3648075" cy="2638425"/>
          </a:xfrm>
        </p:grpSpPr>
        <p:sp>
          <p:nvSpPr>
            <p:cNvPr id="7" name="object 7"/>
            <p:cNvSpPr/>
            <p:nvPr/>
          </p:nvSpPr>
          <p:spPr>
            <a:xfrm>
              <a:off x="476249" y="1047749"/>
              <a:ext cx="3648075" cy="2638425"/>
            </a:xfrm>
            <a:custGeom>
              <a:avLst/>
              <a:gdLst/>
              <a:ahLst/>
              <a:cxnLst/>
              <a:rect l="l" t="t" r="r" b="b"/>
              <a:pathLst>
                <a:path w="3648075" h="2638425">
                  <a:moveTo>
                    <a:pt x="3571874" y="2638424"/>
                  </a:moveTo>
                  <a:lnTo>
                    <a:pt x="76199" y="2638424"/>
                  </a:lnTo>
                  <a:lnTo>
                    <a:pt x="68693" y="2638062"/>
                  </a:lnTo>
                  <a:lnTo>
                    <a:pt x="27882" y="2621157"/>
                  </a:lnTo>
                  <a:lnTo>
                    <a:pt x="3262" y="2584311"/>
                  </a:lnTo>
                  <a:lnTo>
                    <a:pt x="0" y="256222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3571874" y="0"/>
                  </a:lnTo>
                  <a:lnTo>
                    <a:pt x="3614216" y="12829"/>
                  </a:lnTo>
                  <a:lnTo>
                    <a:pt x="3642273" y="47039"/>
                  </a:lnTo>
                  <a:lnTo>
                    <a:pt x="3648074" y="76199"/>
                  </a:lnTo>
                  <a:lnTo>
                    <a:pt x="3648074" y="2562224"/>
                  </a:lnTo>
                  <a:lnTo>
                    <a:pt x="3635243" y="2604566"/>
                  </a:lnTo>
                  <a:lnTo>
                    <a:pt x="3601034" y="2632623"/>
                  </a:lnTo>
                  <a:lnTo>
                    <a:pt x="3571874" y="263842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76249" y="1047749"/>
              <a:ext cx="3648075" cy="2638425"/>
            </a:xfrm>
            <a:custGeom>
              <a:avLst/>
              <a:gdLst/>
              <a:ahLst/>
              <a:cxnLst/>
              <a:rect l="l" t="t" r="r" b="b"/>
              <a:pathLst>
                <a:path w="3648075" h="2638425">
                  <a:moveTo>
                    <a:pt x="3571874" y="2638424"/>
                  </a:moveTo>
                  <a:lnTo>
                    <a:pt x="76199" y="2638424"/>
                  </a:lnTo>
                  <a:lnTo>
                    <a:pt x="68693" y="2638062"/>
                  </a:lnTo>
                  <a:lnTo>
                    <a:pt x="27882" y="2621157"/>
                  </a:lnTo>
                  <a:lnTo>
                    <a:pt x="3262" y="2584311"/>
                  </a:lnTo>
                  <a:lnTo>
                    <a:pt x="0" y="256222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3571874" y="0"/>
                  </a:lnTo>
                  <a:lnTo>
                    <a:pt x="3608694" y="9524"/>
                  </a:lnTo>
                  <a:lnTo>
                    <a:pt x="71822" y="9524"/>
                  </a:lnTo>
                  <a:lnTo>
                    <a:pt x="67486" y="9952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2"/>
                  </a:lnTo>
                  <a:lnTo>
                    <a:pt x="9524" y="2566602"/>
                  </a:lnTo>
                  <a:lnTo>
                    <a:pt x="23194" y="2602907"/>
                  </a:lnTo>
                  <a:lnTo>
                    <a:pt x="54729" y="2625499"/>
                  </a:lnTo>
                  <a:lnTo>
                    <a:pt x="71822" y="2628899"/>
                  </a:lnTo>
                  <a:lnTo>
                    <a:pt x="3608694" y="2628899"/>
                  </a:lnTo>
                  <a:lnTo>
                    <a:pt x="3607830" y="2629416"/>
                  </a:lnTo>
                  <a:lnTo>
                    <a:pt x="3601034" y="2632623"/>
                  </a:lnTo>
                  <a:lnTo>
                    <a:pt x="3593960" y="2635161"/>
                  </a:lnTo>
                  <a:lnTo>
                    <a:pt x="3586743" y="2636974"/>
                  </a:lnTo>
                  <a:lnTo>
                    <a:pt x="3579381" y="2638062"/>
                  </a:lnTo>
                  <a:lnTo>
                    <a:pt x="3571874" y="2638424"/>
                  </a:lnTo>
                  <a:close/>
                </a:path>
                <a:path w="3648075" h="2638425">
                  <a:moveTo>
                    <a:pt x="3608694" y="2628899"/>
                  </a:moveTo>
                  <a:lnTo>
                    <a:pt x="3576252" y="2628899"/>
                  </a:lnTo>
                  <a:lnTo>
                    <a:pt x="3580588" y="2628472"/>
                  </a:lnTo>
                  <a:lnTo>
                    <a:pt x="3589175" y="2626764"/>
                  </a:lnTo>
                  <a:lnTo>
                    <a:pt x="3622116" y="2606275"/>
                  </a:lnTo>
                  <a:lnTo>
                    <a:pt x="3638122" y="2570938"/>
                  </a:lnTo>
                  <a:lnTo>
                    <a:pt x="3638549" y="2566602"/>
                  </a:lnTo>
                  <a:lnTo>
                    <a:pt x="3638549" y="71822"/>
                  </a:lnTo>
                  <a:lnTo>
                    <a:pt x="3624880" y="35517"/>
                  </a:lnTo>
                  <a:lnTo>
                    <a:pt x="3593344" y="12924"/>
                  </a:lnTo>
                  <a:lnTo>
                    <a:pt x="3576252" y="9524"/>
                  </a:lnTo>
                  <a:lnTo>
                    <a:pt x="3608694" y="9524"/>
                  </a:lnTo>
                  <a:lnTo>
                    <a:pt x="3639066" y="40243"/>
                  </a:lnTo>
                  <a:lnTo>
                    <a:pt x="3648074" y="2562224"/>
                  </a:lnTo>
                  <a:lnTo>
                    <a:pt x="3647712" y="2569731"/>
                  </a:lnTo>
                  <a:lnTo>
                    <a:pt x="3630807" y="2610541"/>
                  </a:lnTo>
                  <a:lnTo>
                    <a:pt x="3614216" y="2625594"/>
                  </a:lnTo>
                  <a:lnTo>
                    <a:pt x="3608694" y="2628899"/>
                  </a:lnTo>
                  <a:close/>
                </a:path>
              </a:pathLst>
            </a:custGeom>
            <a:solidFill>
              <a:srgbClr val="1C4ED8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8174" y="12096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71752" y="304799"/>
                  </a:moveTo>
                  <a:lnTo>
                    <a:pt x="33047" y="304799"/>
                  </a:lnTo>
                  <a:lnTo>
                    <a:pt x="28187" y="303833"/>
                  </a:lnTo>
                  <a:lnTo>
                    <a:pt x="966" y="276612"/>
                  </a:lnTo>
                  <a:lnTo>
                    <a:pt x="0" y="271752"/>
                  </a:lnTo>
                  <a:lnTo>
                    <a:pt x="0" y="2666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2" y="0"/>
                  </a:lnTo>
                  <a:lnTo>
                    <a:pt x="303833" y="28187"/>
                  </a:lnTo>
                  <a:lnTo>
                    <a:pt x="304799" y="33047"/>
                  </a:lnTo>
                  <a:lnTo>
                    <a:pt x="304799" y="271752"/>
                  </a:lnTo>
                  <a:lnTo>
                    <a:pt x="276612" y="303833"/>
                  </a:lnTo>
                  <a:lnTo>
                    <a:pt x="271752" y="304799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04849" y="1295399"/>
              <a:ext cx="171449" cy="13334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638162" y="1695461"/>
              <a:ext cx="47625" cy="504825"/>
            </a:xfrm>
            <a:custGeom>
              <a:avLst/>
              <a:gdLst/>
              <a:ahLst/>
              <a:cxnLst/>
              <a:rect l="l" t="t" r="r" b="b"/>
              <a:pathLst>
                <a:path w="47625" h="504825">
                  <a:moveTo>
                    <a:pt x="47625" y="477850"/>
                  </a:moveTo>
                  <a:lnTo>
                    <a:pt x="26974" y="457200"/>
                  </a:lnTo>
                  <a:lnTo>
                    <a:pt x="20662" y="457200"/>
                  </a:lnTo>
                  <a:lnTo>
                    <a:pt x="0" y="477850"/>
                  </a:lnTo>
                  <a:lnTo>
                    <a:pt x="0" y="484162"/>
                  </a:lnTo>
                  <a:lnTo>
                    <a:pt x="20662" y="504825"/>
                  </a:lnTo>
                  <a:lnTo>
                    <a:pt x="26974" y="504825"/>
                  </a:lnTo>
                  <a:lnTo>
                    <a:pt x="47625" y="484162"/>
                  </a:lnTo>
                  <a:lnTo>
                    <a:pt x="47625" y="481012"/>
                  </a:lnTo>
                  <a:lnTo>
                    <a:pt x="47625" y="477850"/>
                  </a:lnTo>
                  <a:close/>
                </a:path>
                <a:path w="47625" h="504825">
                  <a:moveTo>
                    <a:pt x="47625" y="249250"/>
                  </a:moveTo>
                  <a:lnTo>
                    <a:pt x="26974" y="228600"/>
                  </a:lnTo>
                  <a:lnTo>
                    <a:pt x="20662" y="228600"/>
                  </a:lnTo>
                  <a:lnTo>
                    <a:pt x="0" y="249250"/>
                  </a:lnTo>
                  <a:lnTo>
                    <a:pt x="0" y="255562"/>
                  </a:lnTo>
                  <a:lnTo>
                    <a:pt x="20662" y="276225"/>
                  </a:lnTo>
                  <a:lnTo>
                    <a:pt x="26974" y="276225"/>
                  </a:lnTo>
                  <a:lnTo>
                    <a:pt x="47625" y="255562"/>
                  </a:lnTo>
                  <a:lnTo>
                    <a:pt x="47625" y="252412"/>
                  </a:lnTo>
                  <a:lnTo>
                    <a:pt x="47625" y="249250"/>
                  </a:lnTo>
                  <a:close/>
                </a:path>
                <a:path w="47625" h="5048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815975" y="1244600"/>
            <a:ext cx="2959100" cy="10236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93C4FD"/>
                </a:solidFill>
                <a:latin typeface="微软雅黑"/>
                <a:cs typeface="微软雅黑"/>
              </a:rPr>
              <a:t>状态管理 </a:t>
            </a:r>
            <a:r>
              <a:rPr sz="1350" b="1" spc="-10" dirty="0">
                <a:solidFill>
                  <a:srgbClr val="93C4FD"/>
                </a:solidFill>
                <a:latin typeface="微软雅黑"/>
                <a:cs typeface="微软雅黑"/>
              </a:rPr>
              <a:t>(LangGraph)</a:t>
            </a:r>
            <a:endParaRPr sz="1350">
              <a:latin typeface="微软雅黑"/>
              <a:cs typeface="微软雅黑"/>
            </a:endParaRPr>
          </a:p>
          <a:p>
            <a:pPr marL="12700" marR="5080">
              <a:lnSpc>
                <a:spcPct val="142900"/>
              </a:lnSpc>
              <a:spcBef>
                <a:spcPts val="840"/>
              </a:spcBef>
            </a:pPr>
            <a:r>
              <a:rPr sz="1050" b="1" dirty="0">
                <a:solidFill>
                  <a:srgbClr val="FFFFFF"/>
                </a:solidFill>
                <a:latin typeface="微软雅黑"/>
                <a:cs typeface="微软雅黑"/>
              </a:rPr>
              <a:t>精确控制：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基于状态机模型，适合复杂任务编排。</a:t>
            </a:r>
            <a:r>
              <a:rPr sz="1050" b="1" dirty="0">
                <a:solidFill>
                  <a:srgbClr val="FFFFFF"/>
                </a:solidFill>
                <a:latin typeface="微软雅黑"/>
                <a:cs typeface="微软雅黑"/>
              </a:rPr>
              <a:t>持久化：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支持长短期记忆与多轮对话状态保持。</a:t>
            </a:r>
            <a:r>
              <a:rPr sz="1050" spc="-50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050" b="1" dirty="0">
                <a:solidFill>
                  <a:srgbClr val="FFFFFF"/>
                </a:solidFill>
                <a:latin typeface="微软雅黑"/>
                <a:cs typeface="微软雅黑"/>
              </a:rPr>
              <a:t>场景：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业务流程自动化、多步骤决策。</a:t>
            </a:r>
            <a:endParaRPr sz="1050">
              <a:latin typeface="微软雅黑"/>
              <a:cs typeface="微软雅黑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4" y="3009899"/>
            <a:ext cx="3324225" cy="514349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4276724" y="1047749"/>
            <a:ext cx="3638550" cy="2638425"/>
            <a:chOff x="4276724" y="1047749"/>
            <a:chExt cx="3638550" cy="2638425"/>
          </a:xfrm>
        </p:grpSpPr>
        <p:sp>
          <p:nvSpPr>
            <p:cNvPr id="15" name="object 15"/>
            <p:cNvSpPr/>
            <p:nvPr/>
          </p:nvSpPr>
          <p:spPr>
            <a:xfrm>
              <a:off x="4276724" y="1047749"/>
              <a:ext cx="3638550" cy="2638425"/>
            </a:xfrm>
            <a:custGeom>
              <a:avLst/>
              <a:gdLst/>
              <a:ahLst/>
              <a:cxnLst/>
              <a:rect l="l" t="t" r="r" b="b"/>
              <a:pathLst>
                <a:path w="3638550" h="2638425">
                  <a:moveTo>
                    <a:pt x="3562349" y="2638424"/>
                  </a:moveTo>
                  <a:lnTo>
                    <a:pt x="76199" y="2638424"/>
                  </a:lnTo>
                  <a:lnTo>
                    <a:pt x="68693" y="2638062"/>
                  </a:lnTo>
                  <a:lnTo>
                    <a:pt x="27882" y="2621157"/>
                  </a:lnTo>
                  <a:lnTo>
                    <a:pt x="3262" y="2584311"/>
                  </a:lnTo>
                  <a:lnTo>
                    <a:pt x="0" y="25622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3562349" y="0"/>
                  </a:lnTo>
                  <a:lnTo>
                    <a:pt x="3604690" y="12829"/>
                  </a:lnTo>
                  <a:lnTo>
                    <a:pt x="3632749" y="47039"/>
                  </a:lnTo>
                  <a:lnTo>
                    <a:pt x="3638549" y="76199"/>
                  </a:lnTo>
                  <a:lnTo>
                    <a:pt x="3638549" y="2562224"/>
                  </a:lnTo>
                  <a:lnTo>
                    <a:pt x="3625718" y="2604566"/>
                  </a:lnTo>
                  <a:lnTo>
                    <a:pt x="3591509" y="2632623"/>
                  </a:lnTo>
                  <a:lnTo>
                    <a:pt x="3562349" y="263842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276724" y="1047749"/>
              <a:ext cx="3638550" cy="2638425"/>
            </a:xfrm>
            <a:custGeom>
              <a:avLst/>
              <a:gdLst/>
              <a:ahLst/>
              <a:cxnLst/>
              <a:rect l="l" t="t" r="r" b="b"/>
              <a:pathLst>
                <a:path w="3638550" h="2638425">
                  <a:moveTo>
                    <a:pt x="3562349" y="2638424"/>
                  </a:moveTo>
                  <a:lnTo>
                    <a:pt x="76199" y="2638424"/>
                  </a:lnTo>
                  <a:lnTo>
                    <a:pt x="68693" y="2638062"/>
                  </a:lnTo>
                  <a:lnTo>
                    <a:pt x="27882" y="2621157"/>
                  </a:lnTo>
                  <a:lnTo>
                    <a:pt x="3262" y="2584311"/>
                  </a:lnTo>
                  <a:lnTo>
                    <a:pt x="0" y="25622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3562349" y="0"/>
                  </a:lnTo>
                  <a:lnTo>
                    <a:pt x="3599169" y="9524"/>
                  </a:lnTo>
                  <a:lnTo>
                    <a:pt x="71821" y="9524"/>
                  </a:lnTo>
                  <a:lnTo>
                    <a:pt x="67485" y="9952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2"/>
                  </a:lnTo>
                  <a:lnTo>
                    <a:pt x="9524" y="2566602"/>
                  </a:lnTo>
                  <a:lnTo>
                    <a:pt x="23193" y="2602907"/>
                  </a:lnTo>
                  <a:lnTo>
                    <a:pt x="54728" y="2625499"/>
                  </a:lnTo>
                  <a:lnTo>
                    <a:pt x="71821" y="2628899"/>
                  </a:lnTo>
                  <a:lnTo>
                    <a:pt x="3599169" y="2628899"/>
                  </a:lnTo>
                  <a:lnTo>
                    <a:pt x="3598305" y="2629416"/>
                  </a:lnTo>
                  <a:lnTo>
                    <a:pt x="3591509" y="2632623"/>
                  </a:lnTo>
                  <a:lnTo>
                    <a:pt x="3584435" y="2635161"/>
                  </a:lnTo>
                  <a:lnTo>
                    <a:pt x="3577218" y="2636974"/>
                  </a:lnTo>
                  <a:lnTo>
                    <a:pt x="3569856" y="2638062"/>
                  </a:lnTo>
                  <a:lnTo>
                    <a:pt x="3562349" y="2638424"/>
                  </a:lnTo>
                  <a:close/>
                </a:path>
                <a:path w="3638550" h="2638425">
                  <a:moveTo>
                    <a:pt x="3599169" y="2628899"/>
                  </a:moveTo>
                  <a:lnTo>
                    <a:pt x="3566727" y="2628899"/>
                  </a:lnTo>
                  <a:lnTo>
                    <a:pt x="3571063" y="2628472"/>
                  </a:lnTo>
                  <a:lnTo>
                    <a:pt x="3579650" y="2626764"/>
                  </a:lnTo>
                  <a:lnTo>
                    <a:pt x="3612590" y="2606275"/>
                  </a:lnTo>
                  <a:lnTo>
                    <a:pt x="3628596" y="2570938"/>
                  </a:lnTo>
                  <a:lnTo>
                    <a:pt x="3629023" y="2566602"/>
                  </a:lnTo>
                  <a:lnTo>
                    <a:pt x="3629023" y="71822"/>
                  </a:lnTo>
                  <a:lnTo>
                    <a:pt x="3615354" y="35517"/>
                  </a:lnTo>
                  <a:lnTo>
                    <a:pt x="3583819" y="12924"/>
                  </a:lnTo>
                  <a:lnTo>
                    <a:pt x="3566727" y="9524"/>
                  </a:lnTo>
                  <a:lnTo>
                    <a:pt x="3599169" y="9524"/>
                  </a:lnTo>
                  <a:lnTo>
                    <a:pt x="3629541" y="40243"/>
                  </a:lnTo>
                  <a:lnTo>
                    <a:pt x="3638549" y="2562224"/>
                  </a:lnTo>
                  <a:lnTo>
                    <a:pt x="3638187" y="2569731"/>
                  </a:lnTo>
                  <a:lnTo>
                    <a:pt x="3621282" y="2610541"/>
                  </a:lnTo>
                  <a:lnTo>
                    <a:pt x="3604690" y="2625594"/>
                  </a:lnTo>
                  <a:lnTo>
                    <a:pt x="3599169" y="2628899"/>
                  </a:lnTo>
                  <a:close/>
                </a:path>
              </a:pathLst>
            </a:custGeom>
            <a:solidFill>
              <a:srgbClr val="1C4ED8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438649" y="12096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71752" y="304799"/>
                  </a:moveTo>
                  <a:lnTo>
                    <a:pt x="33047" y="304799"/>
                  </a:lnTo>
                  <a:lnTo>
                    <a:pt x="28187" y="303833"/>
                  </a:lnTo>
                  <a:lnTo>
                    <a:pt x="966" y="276612"/>
                  </a:lnTo>
                  <a:lnTo>
                    <a:pt x="0" y="271752"/>
                  </a:lnTo>
                  <a:lnTo>
                    <a:pt x="0" y="2666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2" y="0"/>
                  </a:lnTo>
                  <a:lnTo>
                    <a:pt x="303832" y="28187"/>
                  </a:lnTo>
                  <a:lnTo>
                    <a:pt x="304799" y="33047"/>
                  </a:lnTo>
                  <a:lnTo>
                    <a:pt x="304799" y="271752"/>
                  </a:lnTo>
                  <a:lnTo>
                    <a:pt x="276612" y="303833"/>
                  </a:lnTo>
                  <a:lnTo>
                    <a:pt x="271752" y="304799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33899" y="1285874"/>
              <a:ext cx="114299" cy="152399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438637" y="1695461"/>
              <a:ext cx="47625" cy="695325"/>
            </a:xfrm>
            <a:custGeom>
              <a:avLst/>
              <a:gdLst/>
              <a:ahLst/>
              <a:cxnLst/>
              <a:rect l="l" t="t" r="r" b="b"/>
              <a:pathLst>
                <a:path w="47625" h="695325">
                  <a:moveTo>
                    <a:pt x="47625" y="668350"/>
                  </a:moveTo>
                  <a:lnTo>
                    <a:pt x="26974" y="647700"/>
                  </a:lnTo>
                  <a:lnTo>
                    <a:pt x="20662" y="647700"/>
                  </a:lnTo>
                  <a:lnTo>
                    <a:pt x="0" y="668350"/>
                  </a:lnTo>
                  <a:lnTo>
                    <a:pt x="0" y="674662"/>
                  </a:lnTo>
                  <a:lnTo>
                    <a:pt x="20662" y="695325"/>
                  </a:lnTo>
                  <a:lnTo>
                    <a:pt x="26974" y="695325"/>
                  </a:lnTo>
                  <a:lnTo>
                    <a:pt x="47625" y="674662"/>
                  </a:lnTo>
                  <a:lnTo>
                    <a:pt x="47625" y="671512"/>
                  </a:lnTo>
                  <a:lnTo>
                    <a:pt x="47625" y="668350"/>
                  </a:lnTo>
                  <a:close/>
                </a:path>
                <a:path w="47625" h="695325">
                  <a:moveTo>
                    <a:pt x="47625" y="439750"/>
                  </a:moveTo>
                  <a:lnTo>
                    <a:pt x="26974" y="419100"/>
                  </a:lnTo>
                  <a:lnTo>
                    <a:pt x="20662" y="419100"/>
                  </a:lnTo>
                  <a:lnTo>
                    <a:pt x="0" y="439750"/>
                  </a:lnTo>
                  <a:lnTo>
                    <a:pt x="0" y="446062"/>
                  </a:lnTo>
                  <a:lnTo>
                    <a:pt x="20662" y="466725"/>
                  </a:lnTo>
                  <a:lnTo>
                    <a:pt x="26974" y="466725"/>
                  </a:lnTo>
                  <a:lnTo>
                    <a:pt x="47625" y="446062"/>
                  </a:lnTo>
                  <a:lnTo>
                    <a:pt x="47625" y="442912"/>
                  </a:lnTo>
                  <a:lnTo>
                    <a:pt x="47625" y="439750"/>
                  </a:lnTo>
                  <a:close/>
                </a:path>
                <a:path w="47625" h="6953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4422824" y="1244600"/>
            <a:ext cx="3165475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93C4FD"/>
                </a:solidFill>
                <a:latin typeface="微软雅黑"/>
                <a:cs typeface="微软雅黑"/>
              </a:rPr>
              <a:t>工具集成 (OpenAI </a:t>
            </a:r>
            <a:r>
              <a:rPr sz="1350" b="1" spc="-20" dirty="0">
                <a:solidFill>
                  <a:srgbClr val="93C4FD"/>
                </a:solidFill>
                <a:latin typeface="微软雅黑"/>
                <a:cs typeface="微软雅黑"/>
              </a:rPr>
              <a:t>SDK)</a:t>
            </a:r>
            <a:endParaRPr sz="1350">
              <a:latin typeface="微软雅黑"/>
              <a:cs typeface="微软雅黑"/>
            </a:endParaRPr>
          </a:p>
          <a:p>
            <a:pPr marL="12700" marR="247650" indent="190500">
              <a:lnSpc>
                <a:spcPct val="119000"/>
              </a:lnSpc>
              <a:spcBef>
                <a:spcPts val="1140"/>
              </a:spcBef>
            </a:pPr>
            <a:r>
              <a:rPr sz="1050" b="1" dirty="0">
                <a:solidFill>
                  <a:srgbClr val="FFFFFF"/>
                </a:solidFill>
                <a:latin typeface="微软雅黑"/>
                <a:cs typeface="微软雅黑"/>
              </a:rPr>
              <a:t>标准化协议：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原生支持 </a:t>
            </a:r>
            <a:r>
              <a:rPr sz="1050" dirty="0">
                <a:solidFill>
                  <a:srgbClr val="D0D5DA"/>
                </a:solidFill>
                <a:latin typeface="微软雅黑"/>
                <a:cs typeface="微软雅黑"/>
              </a:rPr>
              <a:t>MCP (Model 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Context Protocol)</a:t>
            </a:r>
            <a:r>
              <a:rPr sz="1050" spc="-50" dirty="0">
                <a:solidFill>
                  <a:srgbClr val="D0D5DA"/>
                </a:solidFill>
                <a:latin typeface="微软雅黑"/>
                <a:cs typeface="微软雅黑"/>
              </a:rPr>
              <a:t>。</a:t>
            </a:r>
            <a:endParaRPr sz="1050">
              <a:latin typeface="微软雅黑"/>
              <a:cs typeface="微软雅黑"/>
            </a:endParaRPr>
          </a:p>
          <a:p>
            <a:pPr marL="202565">
              <a:lnSpc>
                <a:spcPct val="100000"/>
              </a:lnSpc>
              <a:spcBef>
                <a:spcPts val="540"/>
              </a:spcBef>
            </a:pPr>
            <a:r>
              <a:rPr sz="1050" b="1" dirty="0">
                <a:solidFill>
                  <a:srgbClr val="FFFFFF"/>
                </a:solidFill>
                <a:latin typeface="微软雅黑"/>
                <a:cs typeface="微软雅黑"/>
              </a:rPr>
              <a:t>接口隐喻：</a:t>
            </a:r>
            <a:r>
              <a:rPr sz="1050" spc="35" dirty="0">
                <a:solidFill>
                  <a:srgbClr val="D0D5DA"/>
                </a:solidFill>
                <a:latin typeface="微软雅黑"/>
                <a:cs typeface="微软雅黑"/>
              </a:rPr>
              <a:t>类似 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"USB</a:t>
            </a:r>
            <a:r>
              <a:rPr sz="1050" spc="-25" dirty="0">
                <a:solidFill>
                  <a:srgbClr val="D0D5DA"/>
                </a:solidFill>
                <a:latin typeface="微软雅黑"/>
                <a:cs typeface="微软雅黑"/>
              </a:rPr>
              <a:t>接口"，实现工具即插即用。</a:t>
            </a:r>
            <a:endParaRPr sz="1050">
              <a:latin typeface="微软雅黑"/>
              <a:cs typeface="微软雅黑"/>
            </a:endParaRPr>
          </a:p>
          <a:p>
            <a:pPr marL="202565">
              <a:lnSpc>
                <a:spcPct val="100000"/>
              </a:lnSpc>
              <a:spcBef>
                <a:spcPts val="540"/>
              </a:spcBef>
            </a:pPr>
            <a:r>
              <a:rPr sz="1050" b="1" dirty="0">
                <a:solidFill>
                  <a:srgbClr val="FFFFFF"/>
                </a:solidFill>
                <a:latin typeface="微软雅黑"/>
                <a:cs typeface="微软雅黑"/>
              </a:rPr>
              <a:t>价值：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跨模块解耦，无缝协作。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4438649" y="2914649"/>
            <a:ext cx="3314700" cy="609600"/>
            <a:chOff x="4438649" y="2914649"/>
            <a:chExt cx="3314700" cy="609600"/>
          </a:xfrm>
        </p:grpSpPr>
        <p:sp>
          <p:nvSpPr>
            <p:cNvPr id="22" name="object 22"/>
            <p:cNvSpPr/>
            <p:nvPr/>
          </p:nvSpPr>
          <p:spPr>
            <a:xfrm>
              <a:off x="4438649" y="2914649"/>
              <a:ext cx="3314700" cy="609600"/>
            </a:xfrm>
            <a:custGeom>
              <a:avLst/>
              <a:gdLst/>
              <a:ahLst/>
              <a:cxnLst/>
              <a:rect l="l" t="t" r="r" b="b"/>
              <a:pathLst>
                <a:path w="3314700" h="609600">
                  <a:moveTo>
                    <a:pt x="3276599" y="609599"/>
                  </a:moveTo>
                  <a:lnTo>
                    <a:pt x="38099" y="609599"/>
                  </a:lnTo>
                  <a:lnTo>
                    <a:pt x="30497" y="608902"/>
                  </a:lnTo>
                  <a:lnTo>
                    <a:pt x="697" y="579101"/>
                  </a:lnTo>
                  <a:lnTo>
                    <a:pt x="0" y="5714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276599" y="0"/>
                  </a:lnTo>
                  <a:lnTo>
                    <a:pt x="3311909" y="23473"/>
                  </a:lnTo>
                  <a:lnTo>
                    <a:pt x="3314699" y="38099"/>
                  </a:lnTo>
                  <a:lnTo>
                    <a:pt x="3314699" y="571499"/>
                  </a:lnTo>
                  <a:lnTo>
                    <a:pt x="3291226" y="606810"/>
                  </a:lnTo>
                  <a:lnTo>
                    <a:pt x="3276599" y="609599"/>
                  </a:lnTo>
                  <a:close/>
                </a:path>
              </a:pathLst>
            </a:custGeom>
            <a:solidFill>
              <a:srgbClr val="1D40AF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38649" y="2914649"/>
              <a:ext cx="3314700" cy="609600"/>
            </a:xfrm>
            <a:custGeom>
              <a:avLst/>
              <a:gdLst/>
              <a:ahLst/>
              <a:cxnLst/>
              <a:rect l="l" t="t" r="r" b="b"/>
              <a:pathLst>
                <a:path w="3314700" h="609600">
                  <a:moveTo>
                    <a:pt x="3276599" y="609599"/>
                  </a:moveTo>
                  <a:lnTo>
                    <a:pt x="38099" y="609599"/>
                  </a:lnTo>
                  <a:lnTo>
                    <a:pt x="30497" y="608902"/>
                  </a:lnTo>
                  <a:lnTo>
                    <a:pt x="697" y="579101"/>
                  </a:lnTo>
                  <a:lnTo>
                    <a:pt x="0" y="5714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276599" y="0"/>
                  </a:lnTo>
                  <a:lnTo>
                    <a:pt x="3284201" y="697"/>
                  </a:lnTo>
                  <a:lnTo>
                    <a:pt x="3291226" y="2789"/>
                  </a:lnTo>
                  <a:lnTo>
                    <a:pt x="3297672" y="6277"/>
                  </a:lnTo>
                  <a:lnTo>
                    <a:pt x="3301576" y="9524"/>
                  </a:lnTo>
                  <a:lnTo>
                    <a:pt x="34310" y="9524"/>
                  </a:lnTo>
                  <a:lnTo>
                    <a:pt x="30665" y="10249"/>
                  </a:lnTo>
                  <a:lnTo>
                    <a:pt x="9524" y="34310"/>
                  </a:lnTo>
                  <a:lnTo>
                    <a:pt x="9524" y="575288"/>
                  </a:lnTo>
                  <a:lnTo>
                    <a:pt x="34310" y="600074"/>
                  </a:lnTo>
                  <a:lnTo>
                    <a:pt x="3301576" y="600074"/>
                  </a:lnTo>
                  <a:lnTo>
                    <a:pt x="3297672" y="603322"/>
                  </a:lnTo>
                  <a:lnTo>
                    <a:pt x="3291226" y="606810"/>
                  </a:lnTo>
                  <a:lnTo>
                    <a:pt x="3284201" y="608902"/>
                  </a:lnTo>
                  <a:lnTo>
                    <a:pt x="3276599" y="609599"/>
                  </a:lnTo>
                  <a:close/>
                </a:path>
                <a:path w="3314700" h="609600">
                  <a:moveTo>
                    <a:pt x="3301576" y="600074"/>
                  </a:moveTo>
                  <a:lnTo>
                    <a:pt x="3280388" y="600074"/>
                  </a:lnTo>
                  <a:lnTo>
                    <a:pt x="3284033" y="599349"/>
                  </a:lnTo>
                  <a:lnTo>
                    <a:pt x="3291034" y="596449"/>
                  </a:lnTo>
                  <a:lnTo>
                    <a:pt x="3305173" y="575288"/>
                  </a:lnTo>
                  <a:lnTo>
                    <a:pt x="3305173" y="34310"/>
                  </a:lnTo>
                  <a:lnTo>
                    <a:pt x="3280388" y="9524"/>
                  </a:lnTo>
                  <a:lnTo>
                    <a:pt x="3301576" y="9524"/>
                  </a:lnTo>
                  <a:lnTo>
                    <a:pt x="3314699" y="571499"/>
                  </a:lnTo>
                  <a:lnTo>
                    <a:pt x="3314002" y="579101"/>
                  </a:lnTo>
                  <a:lnTo>
                    <a:pt x="3311909" y="586125"/>
                  </a:lnTo>
                  <a:lnTo>
                    <a:pt x="3308422" y="592571"/>
                  </a:lnTo>
                  <a:lnTo>
                    <a:pt x="3303540" y="598440"/>
                  </a:lnTo>
                  <a:lnTo>
                    <a:pt x="3301576" y="600074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81699" y="3010212"/>
              <a:ext cx="228600" cy="228019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5446017" y="3273425"/>
            <a:ext cx="130048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BEDAFE"/>
                </a:solidFill>
                <a:latin typeface="微软雅黑"/>
                <a:cs typeface="微软雅黑"/>
              </a:rPr>
              <a:t>MCP</a:t>
            </a:r>
            <a:r>
              <a:rPr sz="900" spc="-35" dirty="0">
                <a:solidFill>
                  <a:srgbClr val="BEDAFE"/>
                </a:solidFill>
                <a:latin typeface="微软雅黑"/>
                <a:cs typeface="微软雅黑"/>
              </a:rPr>
              <a:t> </a:t>
            </a:r>
            <a:r>
              <a:rPr sz="900" dirty="0">
                <a:solidFill>
                  <a:srgbClr val="BEDAFE"/>
                </a:solidFill>
                <a:latin typeface="微软雅黑"/>
                <a:cs typeface="微软雅黑"/>
              </a:rPr>
              <a:t>Standard</a:t>
            </a:r>
            <a:r>
              <a:rPr sz="900" spc="-30" dirty="0">
                <a:solidFill>
                  <a:srgbClr val="BEDAFE"/>
                </a:solidFill>
                <a:latin typeface="微软雅黑"/>
                <a:cs typeface="微软雅黑"/>
              </a:rPr>
              <a:t> </a:t>
            </a:r>
            <a:r>
              <a:rPr sz="900" spc="-10" dirty="0">
                <a:solidFill>
                  <a:srgbClr val="BEDAFE"/>
                </a:solidFill>
                <a:latin typeface="微软雅黑"/>
                <a:cs typeface="微软雅黑"/>
              </a:rPr>
              <a:t>Protocol</a:t>
            </a:r>
            <a:endParaRPr sz="900">
              <a:latin typeface="微软雅黑"/>
              <a:cs typeface="微软雅黑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8067674" y="1047749"/>
            <a:ext cx="3648075" cy="2638425"/>
            <a:chOff x="8067674" y="1047749"/>
            <a:chExt cx="3648075" cy="2638425"/>
          </a:xfrm>
        </p:grpSpPr>
        <p:sp>
          <p:nvSpPr>
            <p:cNvPr id="27" name="object 27"/>
            <p:cNvSpPr/>
            <p:nvPr/>
          </p:nvSpPr>
          <p:spPr>
            <a:xfrm>
              <a:off x="8067674" y="1047749"/>
              <a:ext cx="3648075" cy="2638425"/>
            </a:xfrm>
            <a:custGeom>
              <a:avLst/>
              <a:gdLst/>
              <a:ahLst/>
              <a:cxnLst/>
              <a:rect l="l" t="t" r="r" b="b"/>
              <a:pathLst>
                <a:path w="3648075" h="2638425">
                  <a:moveTo>
                    <a:pt x="3571874" y="2638424"/>
                  </a:moveTo>
                  <a:lnTo>
                    <a:pt x="76199" y="2638424"/>
                  </a:lnTo>
                  <a:lnTo>
                    <a:pt x="68693" y="2638062"/>
                  </a:lnTo>
                  <a:lnTo>
                    <a:pt x="27881" y="2621157"/>
                  </a:lnTo>
                  <a:lnTo>
                    <a:pt x="3261" y="2584311"/>
                  </a:lnTo>
                  <a:lnTo>
                    <a:pt x="0" y="25622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3571874" y="0"/>
                  </a:lnTo>
                  <a:lnTo>
                    <a:pt x="3614215" y="12829"/>
                  </a:lnTo>
                  <a:lnTo>
                    <a:pt x="3642271" y="47039"/>
                  </a:lnTo>
                  <a:lnTo>
                    <a:pt x="3648074" y="76199"/>
                  </a:lnTo>
                  <a:lnTo>
                    <a:pt x="3648074" y="2562224"/>
                  </a:lnTo>
                  <a:lnTo>
                    <a:pt x="3635242" y="2604566"/>
                  </a:lnTo>
                  <a:lnTo>
                    <a:pt x="3601034" y="2632623"/>
                  </a:lnTo>
                  <a:lnTo>
                    <a:pt x="3571874" y="263842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067674" y="1047749"/>
              <a:ext cx="3648075" cy="2638425"/>
            </a:xfrm>
            <a:custGeom>
              <a:avLst/>
              <a:gdLst/>
              <a:ahLst/>
              <a:cxnLst/>
              <a:rect l="l" t="t" r="r" b="b"/>
              <a:pathLst>
                <a:path w="3648075" h="2638425">
                  <a:moveTo>
                    <a:pt x="3571874" y="2638424"/>
                  </a:moveTo>
                  <a:lnTo>
                    <a:pt x="76199" y="2638424"/>
                  </a:lnTo>
                  <a:lnTo>
                    <a:pt x="68693" y="2638062"/>
                  </a:lnTo>
                  <a:lnTo>
                    <a:pt x="27881" y="2621157"/>
                  </a:lnTo>
                  <a:lnTo>
                    <a:pt x="3261" y="2584311"/>
                  </a:lnTo>
                  <a:lnTo>
                    <a:pt x="0" y="25622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3571874" y="0"/>
                  </a:lnTo>
                  <a:lnTo>
                    <a:pt x="3608694" y="9524"/>
                  </a:lnTo>
                  <a:lnTo>
                    <a:pt x="71821" y="9524"/>
                  </a:lnTo>
                  <a:lnTo>
                    <a:pt x="67485" y="9952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2"/>
                  </a:lnTo>
                  <a:lnTo>
                    <a:pt x="9524" y="2566602"/>
                  </a:lnTo>
                  <a:lnTo>
                    <a:pt x="23192" y="2602907"/>
                  </a:lnTo>
                  <a:lnTo>
                    <a:pt x="54727" y="2625499"/>
                  </a:lnTo>
                  <a:lnTo>
                    <a:pt x="71821" y="2628899"/>
                  </a:lnTo>
                  <a:lnTo>
                    <a:pt x="3608693" y="2628899"/>
                  </a:lnTo>
                  <a:lnTo>
                    <a:pt x="3607830" y="2629416"/>
                  </a:lnTo>
                  <a:lnTo>
                    <a:pt x="3601034" y="2632623"/>
                  </a:lnTo>
                  <a:lnTo>
                    <a:pt x="3593960" y="2635161"/>
                  </a:lnTo>
                  <a:lnTo>
                    <a:pt x="3586742" y="2636974"/>
                  </a:lnTo>
                  <a:lnTo>
                    <a:pt x="3579380" y="2638062"/>
                  </a:lnTo>
                  <a:lnTo>
                    <a:pt x="3571874" y="2638424"/>
                  </a:lnTo>
                  <a:close/>
                </a:path>
                <a:path w="3648075" h="2638425">
                  <a:moveTo>
                    <a:pt x="3608693" y="2628899"/>
                  </a:moveTo>
                  <a:lnTo>
                    <a:pt x="3576251" y="2628899"/>
                  </a:lnTo>
                  <a:lnTo>
                    <a:pt x="3580587" y="2628472"/>
                  </a:lnTo>
                  <a:lnTo>
                    <a:pt x="3589175" y="2626764"/>
                  </a:lnTo>
                  <a:lnTo>
                    <a:pt x="3622115" y="2606275"/>
                  </a:lnTo>
                  <a:lnTo>
                    <a:pt x="3638121" y="2570938"/>
                  </a:lnTo>
                  <a:lnTo>
                    <a:pt x="3638548" y="2566602"/>
                  </a:lnTo>
                  <a:lnTo>
                    <a:pt x="3638548" y="71822"/>
                  </a:lnTo>
                  <a:lnTo>
                    <a:pt x="3624879" y="35517"/>
                  </a:lnTo>
                  <a:lnTo>
                    <a:pt x="3593343" y="12924"/>
                  </a:lnTo>
                  <a:lnTo>
                    <a:pt x="3576251" y="9524"/>
                  </a:lnTo>
                  <a:lnTo>
                    <a:pt x="3608694" y="9524"/>
                  </a:lnTo>
                  <a:lnTo>
                    <a:pt x="3639064" y="40243"/>
                  </a:lnTo>
                  <a:lnTo>
                    <a:pt x="3648074" y="2562224"/>
                  </a:lnTo>
                  <a:lnTo>
                    <a:pt x="3647711" y="2569731"/>
                  </a:lnTo>
                  <a:lnTo>
                    <a:pt x="3630806" y="2610541"/>
                  </a:lnTo>
                  <a:lnTo>
                    <a:pt x="3614215" y="2625594"/>
                  </a:lnTo>
                  <a:lnTo>
                    <a:pt x="3608693" y="2628899"/>
                  </a:lnTo>
                  <a:close/>
                </a:path>
              </a:pathLst>
            </a:custGeom>
            <a:solidFill>
              <a:srgbClr val="1C4ED8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29598" y="12096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71751" y="304799"/>
                  </a:moveTo>
                  <a:lnTo>
                    <a:pt x="33047" y="304799"/>
                  </a:lnTo>
                  <a:lnTo>
                    <a:pt x="28187" y="303833"/>
                  </a:lnTo>
                  <a:lnTo>
                    <a:pt x="966" y="276612"/>
                  </a:lnTo>
                  <a:lnTo>
                    <a:pt x="0" y="271752"/>
                  </a:lnTo>
                  <a:lnTo>
                    <a:pt x="0" y="2666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1" y="0"/>
                  </a:lnTo>
                  <a:lnTo>
                    <a:pt x="303833" y="28187"/>
                  </a:lnTo>
                  <a:lnTo>
                    <a:pt x="304799" y="33047"/>
                  </a:lnTo>
                  <a:lnTo>
                    <a:pt x="304799" y="271752"/>
                  </a:lnTo>
                  <a:lnTo>
                    <a:pt x="276612" y="303833"/>
                  </a:lnTo>
                  <a:lnTo>
                    <a:pt x="271751" y="304799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286749" y="1295399"/>
              <a:ext cx="190499" cy="133349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8229587" y="1695461"/>
              <a:ext cx="47625" cy="276225"/>
            </a:xfrm>
            <a:custGeom>
              <a:avLst/>
              <a:gdLst/>
              <a:ahLst/>
              <a:cxnLst/>
              <a:rect l="l" t="t" r="r" b="b"/>
              <a:pathLst>
                <a:path w="47625" h="276225">
                  <a:moveTo>
                    <a:pt x="47625" y="249250"/>
                  </a:moveTo>
                  <a:lnTo>
                    <a:pt x="26974" y="228600"/>
                  </a:lnTo>
                  <a:lnTo>
                    <a:pt x="20662" y="228600"/>
                  </a:lnTo>
                  <a:lnTo>
                    <a:pt x="0" y="249250"/>
                  </a:lnTo>
                  <a:lnTo>
                    <a:pt x="0" y="255562"/>
                  </a:lnTo>
                  <a:lnTo>
                    <a:pt x="20662" y="276225"/>
                  </a:lnTo>
                  <a:lnTo>
                    <a:pt x="26974" y="276225"/>
                  </a:lnTo>
                  <a:lnTo>
                    <a:pt x="47625" y="255562"/>
                  </a:lnTo>
                  <a:lnTo>
                    <a:pt x="47625" y="252412"/>
                  </a:lnTo>
                  <a:lnTo>
                    <a:pt x="47625" y="249250"/>
                  </a:lnTo>
                  <a:close/>
                </a:path>
                <a:path w="47625" h="2762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8410674" y="1244600"/>
            <a:ext cx="2594610" cy="7950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93C4FD"/>
                </a:solidFill>
                <a:latin typeface="微软雅黑"/>
                <a:cs typeface="微软雅黑"/>
              </a:rPr>
              <a:t>开发门槛 </a:t>
            </a:r>
            <a:r>
              <a:rPr sz="1350" b="1" spc="-10" dirty="0">
                <a:solidFill>
                  <a:srgbClr val="93C4FD"/>
                </a:solidFill>
                <a:latin typeface="微软雅黑"/>
                <a:cs typeface="微软雅黑"/>
              </a:rPr>
              <a:t>(Dify/Coze)</a:t>
            </a:r>
            <a:endParaRPr sz="13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380"/>
              </a:spcBef>
            </a:pPr>
            <a:r>
              <a:rPr sz="1050" b="1" dirty="0">
                <a:solidFill>
                  <a:srgbClr val="FFFFFF"/>
                </a:solidFill>
                <a:latin typeface="微软雅黑"/>
                <a:cs typeface="微软雅黑"/>
              </a:rPr>
              <a:t>低代码编排：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可视化拖拽式开发环境。</a:t>
            </a:r>
            <a:endParaRPr sz="10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050" b="1" dirty="0">
                <a:solidFill>
                  <a:srgbClr val="FFFFFF"/>
                </a:solidFill>
                <a:latin typeface="微软雅黑"/>
                <a:cs typeface="微软雅黑"/>
              </a:rPr>
              <a:t>快速验证：</a:t>
            </a:r>
            <a:r>
              <a:rPr sz="1050" dirty="0">
                <a:solidFill>
                  <a:srgbClr val="D0D5DA"/>
                </a:solidFill>
                <a:latin typeface="微软雅黑"/>
                <a:cs typeface="微软雅黑"/>
              </a:rPr>
              <a:t>适合非技术人员构建MVP</a:t>
            </a:r>
            <a:r>
              <a:rPr sz="1050" spc="-20" dirty="0">
                <a:solidFill>
                  <a:srgbClr val="D0D5DA"/>
                </a:solidFill>
                <a:latin typeface="微软雅黑"/>
                <a:cs typeface="微软雅黑"/>
              </a:rPr>
              <a:t>原型。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8229598" y="2438399"/>
            <a:ext cx="3324225" cy="1085850"/>
            <a:chOff x="8229598" y="2438399"/>
            <a:chExt cx="3324225" cy="1085850"/>
          </a:xfrm>
        </p:grpSpPr>
        <p:sp>
          <p:nvSpPr>
            <p:cNvPr id="34" name="object 34"/>
            <p:cNvSpPr/>
            <p:nvPr/>
          </p:nvSpPr>
          <p:spPr>
            <a:xfrm>
              <a:off x="8234360" y="2443162"/>
              <a:ext cx="3314700" cy="1076325"/>
            </a:xfrm>
            <a:custGeom>
              <a:avLst/>
              <a:gdLst/>
              <a:ahLst/>
              <a:cxnLst/>
              <a:rect l="l" t="t" r="r" b="b"/>
              <a:pathLst>
                <a:path w="3314700" h="1076325">
                  <a:moveTo>
                    <a:pt x="0" y="10429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4"/>
                  </a:lnTo>
                  <a:lnTo>
                    <a:pt x="2537" y="20579"/>
                  </a:lnTo>
                  <a:lnTo>
                    <a:pt x="4228" y="16495"/>
                  </a:lnTo>
                  <a:lnTo>
                    <a:pt x="6637" y="12890"/>
                  </a:lnTo>
                  <a:lnTo>
                    <a:pt x="9764" y="9764"/>
                  </a:lnTo>
                  <a:lnTo>
                    <a:pt x="12890" y="6638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3" y="845"/>
                  </a:lnTo>
                  <a:lnTo>
                    <a:pt x="28916" y="0"/>
                  </a:lnTo>
                  <a:lnTo>
                    <a:pt x="33338" y="0"/>
                  </a:lnTo>
                  <a:lnTo>
                    <a:pt x="3281362" y="0"/>
                  </a:lnTo>
                  <a:lnTo>
                    <a:pt x="3285782" y="0"/>
                  </a:lnTo>
                  <a:lnTo>
                    <a:pt x="3290034" y="845"/>
                  </a:lnTo>
                  <a:lnTo>
                    <a:pt x="3312160" y="20579"/>
                  </a:lnTo>
                  <a:lnTo>
                    <a:pt x="3313852" y="24664"/>
                  </a:lnTo>
                  <a:lnTo>
                    <a:pt x="3314699" y="28916"/>
                  </a:lnTo>
                  <a:lnTo>
                    <a:pt x="3314700" y="33337"/>
                  </a:lnTo>
                  <a:lnTo>
                    <a:pt x="3314700" y="1042987"/>
                  </a:lnTo>
                  <a:lnTo>
                    <a:pt x="3290034" y="1075478"/>
                  </a:lnTo>
                  <a:lnTo>
                    <a:pt x="3281362" y="1076324"/>
                  </a:lnTo>
                  <a:lnTo>
                    <a:pt x="33338" y="1076324"/>
                  </a:lnTo>
                  <a:lnTo>
                    <a:pt x="28916" y="1076324"/>
                  </a:lnTo>
                  <a:lnTo>
                    <a:pt x="24663" y="1075478"/>
                  </a:lnTo>
                  <a:lnTo>
                    <a:pt x="20579" y="1073786"/>
                  </a:lnTo>
                  <a:lnTo>
                    <a:pt x="16495" y="1072094"/>
                  </a:lnTo>
                  <a:lnTo>
                    <a:pt x="12890" y="1069686"/>
                  </a:lnTo>
                  <a:lnTo>
                    <a:pt x="9764" y="1066560"/>
                  </a:lnTo>
                  <a:lnTo>
                    <a:pt x="6637" y="1063434"/>
                  </a:lnTo>
                  <a:lnTo>
                    <a:pt x="4228" y="1059829"/>
                  </a:lnTo>
                  <a:lnTo>
                    <a:pt x="2537" y="1055744"/>
                  </a:lnTo>
                  <a:lnTo>
                    <a:pt x="845" y="1051660"/>
                  </a:lnTo>
                  <a:lnTo>
                    <a:pt x="0" y="1047408"/>
                  </a:lnTo>
                  <a:lnTo>
                    <a:pt x="0" y="1042987"/>
                  </a:lnTo>
                  <a:close/>
                </a:path>
              </a:pathLst>
            </a:custGeom>
            <a:ln w="9524">
              <a:solidFill>
                <a:srgbClr val="4A54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058274" y="2447924"/>
              <a:ext cx="1676400" cy="1066799"/>
            </a:xfrm>
            <a:prstGeom prst="rect">
              <a:avLst/>
            </a:prstGeom>
          </p:spPr>
        </p:pic>
      </p:grpSp>
      <p:grpSp>
        <p:nvGrpSpPr>
          <p:cNvPr id="36" name="object 36"/>
          <p:cNvGrpSpPr/>
          <p:nvPr/>
        </p:nvGrpSpPr>
        <p:grpSpPr>
          <a:xfrm>
            <a:off x="476249" y="3838574"/>
            <a:ext cx="5543550" cy="2638425"/>
            <a:chOff x="476249" y="3838574"/>
            <a:chExt cx="5543550" cy="2638425"/>
          </a:xfrm>
        </p:grpSpPr>
        <p:sp>
          <p:nvSpPr>
            <p:cNvPr id="37" name="object 37"/>
            <p:cNvSpPr/>
            <p:nvPr/>
          </p:nvSpPr>
          <p:spPr>
            <a:xfrm>
              <a:off x="476249" y="3838574"/>
              <a:ext cx="5543550" cy="2638425"/>
            </a:xfrm>
            <a:custGeom>
              <a:avLst/>
              <a:gdLst/>
              <a:ahLst/>
              <a:cxnLst/>
              <a:rect l="l" t="t" r="r" b="b"/>
              <a:pathLst>
                <a:path w="5543550" h="2638425">
                  <a:moveTo>
                    <a:pt x="5467349" y="2638424"/>
                  </a:moveTo>
                  <a:lnTo>
                    <a:pt x="76199" y="2638424"/>
                  </a:lnTo>
                  <a:lnTo>
                    <a:pt x="68693" y="2638062"/>
                  </a:lnTo>
                  <a:lnTo>
                    <a:pt x="27882" y="2621157"/>
                  </a:lnTo>
                  <a:lnTo>
                    <a:pt x="3262" y="2584311"/>
                  </a:lnTo>
                  <a:lnTo>
                    <a:pt x="0" y="256222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5467349" y="0"/>
                  </a:lnTo>
                  <a:lnTo>
                    <a:pt x="5509691" y="12829"/>
                  </a:lnTo>
                  <a:lnTo>
                    <a:pt x="5537748" y="47039"/>
                  </a:lnTo>
                  <a:lnTo>
                    <a:pt x="5543549" y="76199"/>
                  </a:lnTo>
                  <a:lnTo>
                    <a:pt x="5543549" y="2562224"/>
                  </a:lnTo>
                  <a:lnTo>
                    <a:pt x="5530718" y="2604566"/>
                  </a:lnTo>
                  <a:lnTo>
                    <a:pt x="5496509" y="2632624"/>
                  </a:lnTo>
                  <a:lnTo>
                    <a:pt x="5467349" y="263842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76249" y="3838574"/>
              <a:ext cx="5543550" cy="2638425"/>
            </a:xfrm>
            <a:custGeom>
              <a:avLst/>
              <a:gdLst/>
              <a:ahLst/>
              <a:cxnLst/>
              <a:rect l="l" t="t" r="r" b="b"/>
              <a:pathLst>
                <a:path w="5543550" h="2638425">
                  <a:moveTo>
                    <a:pt x="5467349" y="2638424"/>
                  </a:moveTo>
                  <a:lnTo>
                    <a:pt x="76199" y="2638424"/>
                  </a:lnTo>
                  <a:lnTo>
                    <a:pt x="68693" y="2638062"/>
                  </a:lnTo>
                  <a:lnTo>
                    <a:pt x="27882" y="2621157"/>
                  </a:lnTo>
                  <a:lnTo>
                    <a:pt x="3262" y="2584311"/>
                  </a:lnTo>
                  <a:lnTo>
                    <a:pt x="0" y="256222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799"/>
                  </a:lnTo>
                  <a:lnTo>
                    <a:pt x="76199" y="0"/>
                  </a:lnTo>
                  <a:lnTo>
                    <a:pt x="5467349" y="0"/>
                  </a:lnTo>
                  <a:lnTo>
                    <a:pt x="5504170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7"/>
                  </a:lnTo>
                  <a:lnTo>
                    <a:pt x="9524" y="71821"/>
                  </a:lnTo>
                  <a:lnTo>
                    <a:pt x="9524" y="2566602"/>
                  </a:lnTo>
                  <a:lnTo>
                    <a:pt x="23194" y="2602907"/>
                  </a:lnTo>
                  <a:lnTo>
                    <a:pt x="54729" y="2625499"/>
                  </a:lnTo>
                  <a:lnTo>
                    <a:pt x="71822" y="2628899"/>
                  </a:lnTo>
                  <a:lnTo>
                    <a:pt x="5504169" y="2628899"/>
                  </a:lnTo>
                  <a:lnTo>
                    <a:pt x="5503305" y="2629416"/>
                  </a:lnTo>
                  <a:lnTo>
                    <a:pt x="5496509" y="2632624"/>
                  </a:lnTo>
                  <a:lnTo>
                    <a:pt x="5489435" y="2635162"/>
                  </a:lnTo>
                  <a:lnTo>
                    <a:pt x="5482217" y="2636974"/>
                  </a:lnTo>
                  <a:lnTo>
                    <a:pt x="5474855" y="2638062"/>
                  </a:lnTo>
                  <a:lnTo>
                    <a:pt x="5467349" y="2638424"/>
                  </a:lnTo>
                  <a:close/>
                </a:path>
                <a:path w="5543550" h="2638425">
                  <a:moveTo>
                    <a:pt x="5504169" y="2628899"/>
                  </a:moveTo>
                  <a:lnTo>
                    <a:pt x="5471727" y="2628899"/>
                  </a:lnTo>
                  <a:lnTo>
                    <a:pt x="5476063" y="2628472"/>
                  </a:lnTo>
                  <a:lnTo>
                    <a:pt x="5484650" y="2626764"/>
                  </a:lnTo>
                  <a:lnTo>
                    <a:pt x="5517591" y="2606274"/>
                  </a:lnTo>
                  <a:lnTo>
                    <a:pt x="5533596" y="2570937"/>
                  </a:lnTo>
                  <a:lnTo>
                    <a:pt x="5534023" y="2566602"/>
                  </a:lnTo>
                  <a:lnTo>
                    <a:pt x="5534023" y="71821"/>
                  </a:lnTo>
                  <a:lnTo>
                    <a:pt x="5520354" y="35516"/>
                  </a:lnTo>
                  <a:lnTo>
                    <a:pt x="5488819" y="12924"/>
                  </a:lnTo>
                  <a:lnTo>
                    <a:pt x="5471727" y="9524"/>
                  </a:lnTo>
                  <a:lnTo>
                    <a:pt x="5504170" y="9524"/>
                  </a:lnTo>
                  <a:lnTo>
                    <a:pt x="5534541" y="40242"/>
                  </a:lnTo>
                  <a:lnTo>
                    <a:pt x="5543549" y="2562224"/>
                  </a:lnTo>
                  <a:lnTo>
                    <a:pt x="5543187" y="2569731"/>
                  </a:lnTo>
                  <a:lnTo>
                    <a:pt x="5526282" y="2610541"/>
                  </a:lnTo>
                  <a:lnTo>
                    <a:pt x="5509691" y="2625594"/>
                  </a:lnTo>
                  <a:lnTo>
                    <a:pt x="5504169" y="2628899"/>
                  </a:lnTo>
                  <a:close/>
                </a:path>
              </a:pathLst>
            </a:custGeom>
            <a:solidFill>
              <a:srgbClr val="1C4ED8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38174" y="40004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71752" y="304799"/>
                  </a:moveTo>
                  <a:lnTo>
                    <a:pt x="33047" y="304799"/>
                  </a:lnTo>
                  <a:lnTo>
                    <a:pt x="28187" y="303832"/>
                  </a:lnTo>
                  <a:lnTo>
                    <a:pt x="966" y="276612"/>
                  </a:lnTo>
                  <a:lnTo>
                    <a:pt x="0" y="271752"/>
                  </a:lnTo>
                  <a:lnTo>
                    <a:pt x="0" y="2666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2" y="0"/>
                  </a:lnTo>
                  <a:lnTo>
                    <a:pt x="303833" y="28187"/>
                  </a:lnTo>
                  <a:lnTo>
                    <a:pt x="304799" y="33047"/>
                  </a:lnTo>
                  <a:lnTo>
                    <a:pt x="304799" y="271752"/>
                  </a:lnTo>
                  <a:lnTo>
                    <a:pt x="276612" y="303832"/>
                  </a:lnTo>
                  <a:lnTo>
                    <a:pt x="271752" y="304799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33424" y="4076699"/>
              <a:ext cx="114299" cy="152399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638162" y="4486287"/>
              <a:ext cx="47625" cy="962025"/>
            </a:xfrm>
            <a:custGeom>
              <a:avLst/>
              <a:gdLst/>
              <a:ahLst/>
              <a:cxnLst/>
              <a:rect l="l" t="t" r="r" b="b"/>
              <a:pathLst>
                <a:path w="47625" h="962025">
                  <a:moveTo>
                    <a:pt x="47625" y="935050"/>
                  </a:moveTo>
                  <a:lnTo>
                    <a:pt x="26974" y="914400"/>
                  </a:lnTo>
                  <a:lnTo>
                    <a:pt x="20662" y="914400"/>
                  </a:lnTo>
                  <a:lnTo>
                    <a:pt x="0" y="935050"/>
                  </a:lnTo>
                  <a:lnTo>
                    <a:pt x="0" y="941362"/>
                  </a:lnTo>
                  <a:lnTo>
                    <a:pt x="20662" y="962012"/>
                  </a:lnTo>
                  <a:lnTo>
                    <a:pt x="26974" y="962012"/>
                  </a:lnTo>
                  <a:lnTo>
                    <a:pt x="47625" y="941362"/>
                  </a:lnTo>
                  <a:lnTo>
                    <a:pt x="47625" y="938212"/>
                  </a:lnTo>
                  <a:lnTo>
                    <a:pt x="47625" y="935050"/>
                  </a:lnTo>
                  <a:close/>
                </a:path>
                <a:path w="47625" h="962025">
                  <a:moveTo>
                    <a:pt x="47625" y="477850"/>
                  </a:moveTo>
                  <a:lnTo>
                    <a:pt x="26974" y="457200"/>
                  </a:lnTo>
                  <a:lnTo>
                    <a:pt x="20662" y="457200"/>
                  </a:lnTo>
                  <a:lnTo>
                    <a:pt x="0" y="477850"/>
                  </a:lnTo>
                  <a:lnTo>
                    <a:pt x="0" y="484162"/>
                  </a:lnTo>
                  <a:lnTo>
                    <a:pt x="20662" y="504812"/>
                  </a:lnTo>
                  <a:lnTo>
                    <a:pt x="26974" y="504812"/>
                  </a:lnTo>
                  <a:lnTo>
                    <a:pt x="47625" y="484162"/>
                  </a:lnTo>
                  <a:lnTo>
                    <a:pt x="47625" y="481012"/>
                  </a:lnTo>
                  <a:lnTo>
                    <a:pt x="47625" y="477850"/>
                  </a:lnTo>
                  <a:close/>
                </a:path>
                <a:path w="47625" h="9620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12"/>
                  </a:lnTo>
                  <a:lnTo>
                    <a:pt x="26974" y="47612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25474" y="4035425"/>
            <a:ext cx="2511425" cy="14808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93C4FD"/>
                </a:solidFill>
                <a:latin typeface="微软雅黑"/>
                <a:cs typeface="微软雅黑"/>
              </a:rPr>
              <a:t>企业级支持 (Coze </a:t>
            </a:r>
            <a:r>
              <a:rPr sz="1350" b="1" spc="-10" dirty="0">
                <a:solidFill>
                  <a:srgbClr val="93C4FD"/>
                </a:solidFill>
                <a:latin typeface="微软雅黑"/>
                <a:cs typeface="微软雅黑"/>
              </a:rPr>
              <a:t>Studio)</a:t>
            </a:r>
            <a:endParaRPr sz="1350">
              <a:latin typeface="微软雅黑"/>
              <a:cs typeface="微软雅黑"/>
            </a:endParaRPr>
          </a:p>
          <a:p>
            <a:pPr marL="12700" marR="33020" indent="190500">
              <a:lnSpc>
                <a:spcPct val="119000"/>
              </a:lnSpc>
              <a:spcBef>
                <a:spcPts val="1140"/>
              </a:spcBef>
            </a:pPr>
            <a:r>
              <a:rPr sz="1050" b="1" dirty="0">
                <a:solidFill>
                  <a:srgbClr val="FFFFFF"/>
                </a:solidFill>
                <a:latin typeface="微软雅黑"/>
                <a:cs typeface="微软雅黑"/>
              </a:rPr>
              <a:t>完整方案：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字节跳动出品，企业级特性</a:t>
            </a:r>
            <a:r>
              <a:rPr sz="1050" spc="-20" dirty="0">
                <a:solidFill>
                  <a:srgbClr val="D0D5DA"/>
                </a:solidFill>
                <a:latin typeface="微软雅黑"/>
                <a:cs typeface="微软雅黑"/>
              </a:rPr>
              <a:t>齐备。</a:t>
            </a:r>
            <a:endParaRPr sz="1050">
              <a:latin typeface="微软雅黑"/>
              <a:cs typeface="微软雅黑"/>
            </a:endParaRPr>
          </a:p>
          <a:p>
            <a:pPr marL="12700" marR="243204" indent="190500">
              <a:lnSpc>
                <a:spcPct val="119000"/>
              </a:lnSpc>
              <a:spcBef>
                <a:spcPts val="600"/>
              </a:spcBef>
            </a:pPr>
            <a:r>
              <a:rPr sz="1050" b="1" dirty="0">
                <a:solidFill>
                  <a:srgbClr val="FFFFFF"/>
                </a:solidFill>
                <a:latin typeface="微软雅黑"/>
                <a:cs typeface="微软雅黑"/>
              </a:rPr>
              <a:t>微服务架构：</a:t>
            </a:r>
            <a:r>
              <a:rPr sz="1050" dirty="0">
                <a:solidFill>
                  <a:srgbClr val="D0D5DA"/>
                </a:solidFill>
                <a:latin typeface="微软雅黑"/>
                <a:cs typeface="微软雅黑"/>
              </a:rPr>
              <a:t>基于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Go/React，</a:t>
            </a:r>
            <a:r>
              <a:rPr sz="1050" spc="-25" dirty="0">
                <a:solidFill>
                  <a:srgbClr val="D0D5DA"/>
                </a:solidFill>
                <a:latin typeface="微软雅黑"/>
                <a:cs typeface="微软雅黑"/>
              </a:rPr>
              <a:t>支持</a:t>
            </a:r>
            <a:r>
              <a:rPr sz="1050" spc="-50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Kubernetes</a:t>
            </a:r>
            <a:r>
              <a:rPr sz="1050" spc="-35" dirty="0">
                <a:solidFill>
                  <a:srgbClr val="D0D5DA"/>
                </a:solidFill>
                <a:latin typeface="微软雅黑"/>
                <a:cs typeface="微软雅黑"/>
              </a:rPr>
              <a:t>部署。</a:t>
            </a:r>
            <a:endParaRPr sz="1050">
              <a:latin typeface="微软雅黑"/>
              <a:cs typeface="微软雅黑"/>
            </a:endParaRPr>
          </a:p>
          <a:p>
            <a:pPr marL="202565">
              <a:lnSpc>
                <a:spcPct val="100000"/>
              </a:lnSpc>
              <a:spcBef>
                <a:spcPts val="840"/>
              </a:spcBef>
            </a:pPr>
            <a:r>
              <a:rPr sz="1050" b="1" dirty="0">
                <a:solidFill>
                  <a:srgbClr val="FFFFFF"/>
                </a:solidFill>
                <a:latin typeface="微软雅黑"/>
                <a:cs typeface="微软雅黑"/>
              </a:rPr>
              <a:t>可扩展性：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适合生产环境大规模应用。</a:t>
            </a:r>
            <a:endParaRPr sz="1050">
              <a:latin typeface="微软雅黑"/>
              <a:cs typeface="微软雅黑"/>
            </a:endParaRPr>
          </a:p>
        </p:txBody>
      </p:sp>
      <p:pic>
        <p:nvPicPr>
          <p:cNvPr id="43" name="object 43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324225" y="4495800"/>
            <a:ext cx="2533649" cy="952499"/>
          </a:xfrm>
          <a:prstGeom prst="rect">
            <a:avLst/>
          </a:prstGeom>
        </p:spPr>
      </p:pic>
      <p:grpSp>
        <p:nvGrpSpPr>
          <p:cNvPr id="44" name="object 44"/>
          <p:cNvGrpSpPr/>
          <p:nvPr/>
        </p:nvGrpSpPr>
        <p:grpSpPr>
          <a:xfrm>
            <a:off x="6172199" y="3838574"/>
            <a:ext cx="5543550" cy="2638425"/>
            <a:chOff x="6172199" y="3838574"/>
            <a:chExt cx="5543550" cy="2638425"/>
          </a:xfrm>
        </p:grpSpPr>
        <p:sp>
          <p:nvSpPr>
            <p:cNvPr id="45" name="object 45"/>
            <p:cNvSpPr/>
            <p:nvPr/>
          </p:nvSpPr>
          <p:spPr>
            <a:xfrm>
              <a:off x="6172199" y="3838574"/>
              <a:ext cx="5543550" cy="2638425"/>
            </a:xfrm>
            <a:custGeom>
              <a:avLst/>
              <a:gdLst/>
              <a:ahLst/>
              <a:cxnLst/>
              <a:rect l="l" t="t" r="r" b="b"/>
              <a:pathLst>
                <a:path w="5543550" h="2638425">
                  <a:moveTo>
                    <a:pt x="5467349" y="2638424"/>
                  </a:moveTo>
                  <a:lnTo>
                    <a:pt x="76199" y="2638424"/>
                  </a:lnTo>
                  <a:lnTo>
                    <a:pt x="68693" y="2638062"/>
                  </a:lnTo>
                  <a:lnTo>
                    <a:pt x="27881" y="2621157"/>
                  </a:lnTo>
                  <a:lnTo>
                    <a:pt x="3261" y="2584311"/>
                  </a:lnTo>
                  <a:lnTo>
                    <a:pt x="0" y="25622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5467349" y="0"/>
                  </a:lnTo>
                  <a:lnTo>
                    <a:pt x="5509690" y="12829"/>
                  </a:lnTo>
                  <a:lnTo>
                    <a:pt x="5537746" y="47039"/>
                  </a:lnTo>
                  <a:lnTo>
                    <a:pt x="5543549" y="76199"/>
                  </a:lnTo>
                  <a:lnTo>
                    <a:pt x="5543549" y="2562224"/>
                  </a:lnTo>
                  <a:lnTo>
                    <a:pt x="5530717" y="2604566"/>
                  </a:lnTo>
                  <a:lnTo>
                    <a:pt x="5496508" y="2632624"/>
                  </a:lnTo>
                  <a:lnTo>
                    <a:pt x="5467349" y="263842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6172199" y="3838574"/>
              <a:ext cx="5543550" cy="2638425"/>
            </a:xfrm>
            <a:custGeom>
              <a:avLst/>
              <a:gdLst/>
              <a:ahLst/>
              <a:cxnLst/>
              <a:rect l="l" t="t" r="r" b="b"/>
              <a:pathLst>
                <a:path w="5543550" h="2638425">
                  <a:moveTo>
                    <a:pt x="5467349" y="2638424"/>
                  </a:moveTo>
                  <a:lnTo>
                    <a:pt x="76199" y="2638424"/>
                  </a:lnTo>
                  <a:lnTo>
                    <a:pt x="68693" y="2638062"/>
                  </a:lnTo>
                  <a:lnTo>
                    <a:pt x="27881" y="2621157"/>
                  </a:lnTo>
                  <a:lnTo>
                    <a:pt x="3261" y="2584311"/>
                  </a:lnTo>
                  <a:lnTo>
                    <a:pt x="0" y="25622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5467349" y="0"/>
                  </a:lnTo>
                  <a:lnTo>
                    <a:pt x="5504169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7" y="25957"/>
                  </a:lnTo>
                  <a:lnTo>
                    <a:pt x="11659" y="58897"/>
                  </a:lnTo>
                  <a:lnTo>
                    <a:pt x="9524" y="71821"/>
                  </a:lnTo>
                  <a:lnTo>
                    <a:pt x="9524" y="2566602"/>
                  </a:lnTo>
                  <a:lnTo>
                    <a:pt x="23193" y="2602907"/>
                  </a:lnTo>
                  <a:lnTo>
                    <a:pt x="54727" y="2625499"/>
                  </a:lnTo>
                  <a:lnTo>
                    <a:pt x="71821" y="2628899"/>
                  </a:lnTo>
                  <a:lnTo>
                    <a:pt x="5504168" y="2628899"/>
                  </a:lnTo>
                  <a:lnTo>
                    <a:pt x="5503305" y="2629416"/>
                  </a:lnTo>
                  <a:lnTo>
                    <a:pt x="5496509" y="2632624"/>
                  </a:lnTo>
                  <a:lnTo>
                    <a:pt x="5489435" y="2635162"/>
                  </a:lnTo>
                  <a:lnTo>
                    <a:pt x="5482217" y="2636974"/>
                  </a:lnTo>
                  <a:lnTo>
                    <a:pt x="5474855" y="2638062"/>
                  </a:lnTo>
                  <a:lnTo>
                    <a:pt x="5467349" y="2638424"/>
                  </a:lnTo>
                  <a:close/>
                </a:path>
                <a:path w="5543550" h="2638425">
                  <a:moveTo>
                    <a:pt x="5504168" y="2628899"/>
                  </a:moveTo>
                  <a:lnTo>
                    <a:pt x="5471726" y="2628899"/>
                  </a:lnTo>
                  <a:lnTo>
                    <a:pt x="5476062" y="2628472"/>
                  </a:lnTo>
                  <a:lnTo>
                    <a:pt x="5484650" y="2626764"/>
                  </a:lnTo>
                  <a:lnTo>
                    <a:pt x="5517590" y="2606274"/>
                  </a:lnTo>
                  <a:lnTo>
                    <a:pt x="5533596" y="2570937"/>
                  </a:lnTo>
                  <a:lnTo>
                    <a:pt x="5534023" y="2566602"/>
                  </a:lnTo>
                  <a:lnTo>
                    <a:pt x="5534023" y="71821"/>
                  </a:lnTo>
                  <a:lnTo>
                    <a:pt x="5520354" y="35516"/>
                  </a:lnTo>
                  <a:lnTo>
                    <a:pt x="5488818" y="12924"/>
                  </a:lnTo>
                  <a:lnTo>
                    <a:pt x="5471726" y="9524"/>
                  </a:lnTo>
                  <a:lnTo>
                    <a:pt x="5504169" y="9524"/>
                  </a:lnTo>
                  <a:lnTo>
                    <a:pt x="5534539" y="40242"/>
                  </a:lnTo>
                  <a:lnTo>
                    <a:pt x="5543549" y="2562224"/>
                  </a:lnTo>
                  <a:lnTo>
                    <a:pt x="5543186" y="2569731"/>
                  </a:lnTo>
                  <a:lnTo>
                    <a:pt x="5526281" y="2610541"/>
                  </a:lnTo>
                  <a:lnTo>
                    <a:pt x="5509690" y="2625594"/>
                  </a:lnTo>
                  <a:lnTo>
                    <a:pt x="5504168" y="2628899"/>
                  </a:lnTo>
                  <a:close/>
                </a:path>
              </a:pathLst>
            </a:custGeom>
            <a:solidFill>
              <a:srgbClr val="1C4ED8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334123" y="4000499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71751" y="304799"/>
                  </a:moveTo>
                  <a:lnTo>
                    <a:pt x="33047" y="304799"/>
                  </a:lnTo>
                  <a:lnTo>
                    <a:pt x="28187" y="303832"/>
                  </a:lnTo>
                  <a:lnTo>
                    <a:pt x="966" y="276612"/>
                  </a:lnTo>
                  <a:lnTo>
                    <a:pt x="0" y="271752"/>
                  </a:lnTo>
                  <a:lnTo>
                    <a:pt x="0" y="2666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1" y="0"/>
                  </a:lnTo>
                  <a:lnTo>
                    <a:pt x="303833" y="28187"/>
                  </a:lnTo>
                  <a:lnTo>
                    <a:pt x="304799" y="33047"/>
                  </a:lnTo>
                  <a:lnTo>
                    <a:pt x="304799" y="271752"/>
                  </a:lnTo>
                  <a:lnTo>
                    <a:pt x="276612" y="303832"/>
                  </a:lnTo>
                  <a:lnTo>
                    <a:pt x="271751" y="304799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91274" y="4076699"/>
              <a:ext cx="190499" cy="152399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334112" y="4486287"/>
              <a:ext cx="47625" cy="962025"/>
            </a:xfrm>
            <a:custGeom>
              <a:avLst/>
              <a:gdLst/>
              <a:ahLst/>
              <a:cxnLst/>
              <a:rect l="l" t="t" r="r" b="b"/>
              <a:pathLst>
                <a:path w="47625" h="962025">
                  <a:moveTo>
                    <a:pt x="47625" y="935050"/>
                  </a:moveTo>
                  <a:lnTo>
                    <a:pt x="26974" y="914400"/>
                  </a:lnTo>
                  <a:lnTo>
                    <a:pt x="20662" y="914400"/>
                  </a:lnTo>
                  <a:lnTo>
                    <a:pt x="0" y="935050"/>
                  </a:lnTo>
                  <a:lnTo>
                    <a:pt x="0" y="941362"/>
                  </a:lnTo>
                  <a:lnTo>
                    <a:pt x="20662" y="962012"/>
                  </a:lnTo>
                  <a:lnTo>
                    <a:pt x="26974" y="962012"/>
                  </a:lnTo>
                  <a:lnTo>
                    <a:pt x="47625" y="941362"/>
                  </a:lnTo>
                  <a:lnTo>
                    <a:pt x="47625" y="938212"/>
                  </a:lnTo>
                  <a:lnTo>
                    <a:pt x="47625" y="935050"/>
                  </a:lnTo>
                  <a:close/>
                </a:path>
                <a:path w="47625" h="962025">
                  <a:moveTo>
                    <a:pt x="47625" y="477850"/>
                  </a:moveTo>
                  <a:lnTo>
                    <a:pt x="26974" y="457200"/>
                  </a:lnTo>
                  <a:lnTo>
                    <a:pt x="20662" y="457200"/>
                  </a:lnTo>
                  <a:lnTo>
                    <a:pt x="0" y="477850"/>
                  </a:lnTo>
                  <a:lnTo>
                    <a:pt x="0" y="484162"/>
                  </a:lnTo>
                  <a:lnTo>
                    <a:pt x="20662" y="504812"/>
                  </a:lnTo>
                  <a:lnTo>
                    <a:pt x="26974" y="504812"/>
                  </a:lnTo>
                  <a:lnTo>
                    <a:pt x="47625" y="484162"/>
                  </a:lnTo>
                  <a:lnTo>
                    <a:pt x="47625" y="481012"/>
                  </a:lnTo>
                  <a:lnTo>
                    <a:pt x="47625" y="477850"/>
                  </a:lnTo>
                  <a:close/>
                </a:path>
                <a:path w="47625" h="9620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12"/>
                  </a:lnTo>
                  <a:lnTo>
                    <a:pt x="26974" y="47612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6321424" y="4035425"/>
            <a:ext cx="2582545" cy="1671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1165">
              <a:lnSpc>
                <a:spcPct val="100000"/>
              </a:lnSpc>
              <a:spcBef>
                <a:spcPts val="100"/>
              </a:spcBef>
            </a:pPr>
            <a:r>
              <a:rPr sz="1350" b="1" dirty="0">
                <a:solidFill>
                  <a:srgbClr val="93C4FD"/>
                </a:solidFill>
                <a:latin typeface="微软雅黑"/>
                <a:cs typeface="微软雅黑"/>
              </a:rPr>
              <a:t>多模态能力 </a:t>
            </a:r>
            <a:r>
              <a:rPr sz="1350" b="1" spc="-10" dirty="0">
                <a:solidFill>
                  <a:srgbClr val="93C4FD"/>
                </a:solidFill>
                <a:latin typeface="微软雅黑"/>
                <a:cs typeface="微软雅黑"/>
              </a:rPr>
              <a:t>(Qwen-Agent)</a:t>
            </a:r>
            <a:endParaRPr sz="1350">
              <a:latin typeface="微软雅黑"/>
              <a:cs typeface="微软雅黑"/>
            </a:endParaRPr>
          </a:p>
          <a:p>
            <a:pPr marL="12700" marR="104139" indent="190500">
              <a:lnSpc>
                <a:spcPct val="119000"/>
              </a:lnSpc>
              <a:spcBef>
                <a:spcPts val="1140"/>
              </a:spcBef>
            </a:pPr>
            <a:r>
              <a:rPr sz="1050" b="1" dirty="0">
                <a:solidFill>
                  <a:srgbClr val="FFFFFF"/>
                </a:solidFill>
                <a:latin typeface="微软雅黑"/>
                <a:cs typeface="微软雅黑"/>
              </a:rPr>
              <a:t>特定优势：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中文环境理解与电商场景优</a:t>
            </a:r>
            <a:r>
              <a:rPr sz="1050" spc="-25" dirty="0">
                <a:solidFill>
                  <a:srgbClr val="D0D5DA"/>
                </a:solidFill>
                <a:latin typeface="微软雅黑"/>
                <a:cs typeface="微软雅黑"/>
              </a:rPr>
              <a:t>化。</a:t>
            </a:r>
            <a:endParaRPr sz="1050">
              <a:latin typeface="微软雅黑"/>
              <a:cs typeface="微软雅黑"/>
            </a:endParaRPr>
          </a:p>
          <a:p>
            <a:pPr marL="12700" marR="104139" indent="190500">
              <a:lnSpc>
                <a:spcPct val="119000"/>
              </a:lnSpc>
              <a:spcBef>
                <a:spcPts val="600"/>
              </a:spcBef>
            </a:pPr>
            <a:r>
              <a:rPr sz="1050" b="1" dirty="0">
                <a:solidFill>
                  <a:srgbClr val="FFFFFF"/>
                </a:solidFill>
                <a:latin typeface="微软雅黑"/>
                <a:cs typeface="微软雅黑"/>
              </a:rPr>
              <a:t>全模态整合：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文本、图像、音频、视频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统一处理。</a:t>
            </a:r>
            <a:endParaRPr sz="1050">
              <a:latin typeface="微软雅黑"/>
              <a:cs typeface="微软雅黑"/>
            </a:endParaRPr>
          </a:p>
          <a:p>
            <a:pPr marL="12700" marR="104139" indent="190500">
              <a:lnSpc>
                <a:spcPct val="119000"/>
              </a:lnSpc>
              <a:spcBef>
                <a:spcPts val="600"/>
              </a:spcBef>
            </a:pPr>
            <a:r>
              <a:rPr sz="1050" b="1" dirty="0">
                <a:solidFill>
                  <a:srgbClr val="FFFFFF"/>
                </a:solidFill>
                <a:latin typeface="微软雅黑"/>
                <a:cs typeface="微软雅黑"/>
              </a:rPr>
              <a:t>模型集成：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原生集成通义千问大模型能</a:t>
            </a:r>
            <a:r>
              <a:rPr sz="1050" spc="-25" dirty="0">
                <a:solidFill>
                  <a:srgbClr val="D0D5DA"/>
                </a:solidFill>
                <a:latin typeface="微软雅黑"/>
                <a:cs typeface="微软雅黑"/>
              </a:rPr>
              <a:t>力。</a:t>
            </a:r>
            <a:endParaRPr sz="1050">
              <a:latin typeface="微软雅黑"/>
              <a:cs typeface="微软雅黑"/>
            </a:endParaRPr>
          </a:p>
        </p:txBody>
      </p:sp>
      <p:pic>
        <p:nvPicPr>
          <p:cNvPr id="51" name="object 5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20175" y="4752975"/>
            <a:ext cx="2533649" cy="628649"/>
          </a:xfrm>
          <a:prstGeom prst="rect">
            <a:avLst/>
          </a:prstGeom>
        </p:spPr>
      </p:pic>
      <p:sp>
        <p:nvSpPr>
          <p:cNvPr id="52" name="object 52"/>
          <p:cNvSpPr txBox="1"/>
          <p:nvPr/>
        </p:nvSpPr>
        <p:spPr>
          <a:xfrm>
            <a:off x="11464775" y="6582945"/>
            <a:ext cx="168910" cy="18669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z="950" spc="-25" dirty="0">
                <a:solidFill>
                  <a:srgbClr val="9CA2AF"/>
                </a:solidFill>
                <a:latin typeface="微软雅黑"/>
                <a:cs typeface="微软雅黑"/>
              </a:rPr>
              <a:t>10</a:t>
            </a:r>
            <a:endParaRPr sz="95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框架选型建议</a:t>
            </a:r>
          </a:p>
        </p:txBody>
      </p:sp>
      <p:sp>
        <p:nvSpPr>
          <p:cNvPr id="3" name="object 3"/>
          <p:cNvSpPr/>
          <p:nvPr/>
        </p:nvSpPr>
        <p:spPr>
          <a:xfrm>
            <a:off x="428624" y="800099"/>
            <a:ext cx="1371600" cy="38100"/>
          </a:xfrm>
          <a:custGeom>
            <a:avLst/>
            <a:gdLst/>
            <a:ahLst/>
            <a:cxnLst/>
            <a:rect l="l" t="t" r="r" b="b"/>
            <a:pathLst>
              <a:path w="1371600" h="38100">
                <a:moveTo>
                  <a:pt x="1371599" y="38099"/>
                </a:moveTo>
                <a:lnTo>
                  <a:pt x="0" y="38099"/>
                </a:lnTo>
                <a:lnTo>
                  <a:pt x="0" y="0"/>
                </a:lnTo>
                <a:lnTo>
                  <a:pt x="1371599" y="0"/>
                </a:lnTo>
                <a:lnTo>
                  <a:pt x="13715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28624" y="1238249"/>
            <a:ext cx="5581650" cy="2905125"/>
            <a:chOff x="428624" y="1238249"/>
            <a:chExt cx="5581650" cy="2905125"/>
          </a:xfrm>
        </p:grpSpPr>
        <p:sp>
          <p:nvSpPr>
            <p:cNvPr id="5" name="object 5"/>
            <p:cNvSpPr/>
            <p:nvPr/>
          </p:nvSpPr>
          <p:spPr>
            <a:xfrm>
              <a:off x="428624" y="1238249"/>
              <a:ext cx="5581650" cy="2905125"/>
            </a:xfrm>
            <a:custGeom>
              <a:avLst/>
              <a:gdLst/>
              <a:ahLst/>
              <a:cxnLst/>
              <a:rect l="l" t="t" r="r" b="b"/>
              <a:pathLst>
                <a:path w="5581650" h="2905125">
                  <a:moveTo>
                    <a:pt x="5581649" y="2905124"/>
                  </a:moveTo>
                  <a:lnTo>
                    <a:pt x="0" y="2905124"/>
                  </a:lnTo>
                  <a:lnTo>
                    <a:pt x="0" y="0"/>
                  </a:lnTo>
                  <a:lnTo>
                    <a:pt x="5581649" y="0"/>
                  </a:lnTo>
                  <a:lnTo>
                    <a:pt x="5581649" y="290512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8624" y="1238249"/>
              <a:ext cx="28575" cy="2905125"/>
            </a:xfrm>
            <a:custGeom>
              <a:avLst/>
              <a:gdLst/>
              <a:ahLst/>
              <a:cxnLst/>
              <a:rect l="l" t="t" r="r" b="b"/>
              <a:pathLst>
                <a:path w="28575" h="2905125">
                  <a:moveTo>
                    <a:pt x="28574" y="2905124"/>
                  </a:moveTo>
                  <a:lnTo>
                    <a:pt x="0" y="2905124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2905124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37802" y="1457345"/>
              <a:ext cx="159235" cy="159300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638174" y="2419349"/>
              <a:ext cx="5191125" cy="1543050"/>
            </a:xfrm>
            <a:custGeom>
              <a:avLst/>
              <a:gdLst/>
              <a:ahLst/>
              <a:cxnLst/>
              <a:rect l="l" t="t" r="r" b="b"/>
              <a:pathLst>
                <a:path w="5191125" h="1543050">
                  <a:moveTo>
                    <a:pt x="5159788" y="1543049"/>
                  </a:moveTo>
                  <a:lnTo>
                    <a:pt x="31335" y="1543049"/>
                  </a:lnTo>
                  <a:lnTo>
                    <a:pt x="26727" y="1542132"/>
                  </a:lnTo>
                  <a:lnTo>
                    <a:pt x="0" y="1511713"/>
                  </a:lnTo>
                  <a:lnTo>
                    <a:pt x="0" y="1506923"/>
                  </a:lnTo>
                  <a:lnTo>
                    <a:pt x="0" y="31335"/>
                  </a:lnTo>
                  <a:lnTo>
                    <a:pt x="26727" y="916"/>
                  </a:lnTo>
                  <a:lnTo>
                    <a:pt x="31335" y="0"/>
                  </a:lnTo>
                  <a:lnTo>
                    <a:pt x="5159788" y="0"/>
                  </a:lnTo>
                  <a:lnTo>
                    <a:pt x="5190207" y="26727"/>
                  </a:lnTo>
                  <a:lnTo>
                    <a:pt x="5191124" y="31335"/>
                  </a:lnTo>
                  <a:lnTo>
                    <a:pt x="5191124" y="1511713"/>
                  </a:lnTo>
                  <a:lnTo>
                    <a:pt x="5164396" y="1542132"/>
                  </a:lnTo>
                  <a:lnTo>
                    <a:pt x="5159788" y="1543049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009774" y="2419349"/>
              <a:ext cx="2447925" cy="1543049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6181724" y="1238249"/>
            <a:ext cx="5581650" cy="2905125"/>
            <a:chOff x="6181724" y="1238249"/>
            <a:chExt cx="5581650" cy="2905125"/>
          </a:xfrm>
        </p:grpSpPr>
        <p:sp>
          <p:nvSpPr>
            <p:cNvPr id="11" name="object 11"/>
            <p:cNvSpPr/>
            <p:nvPr/>
          </p:nvSpPr>
          <p:spPr>
            <a:xfrm>
              <a:off x="6181724" y="1238249"/>
              <a:ext cx="5581650" cy="2905125"/>
            </a:xfrm>
            <a:custGeom>
              <a:avLst/>
              <a:gdLst/>
              <a:ahLst/>
              <a:cxnLst/>
              <a:rect l="l" t="t" r="r" b="b"/>
              <a:pathLst>
                <a:path w="5581650" h="2905125">
                  <a:moveTo>
                    <a:pt x="5581649" y="2905124"/>
                  </a:moveTo>
                  <a:lnTo>
                    <a:pt x="0" y="2905124"/>
                  </a:lnTo>
                  <a:lnTo>
                    <a:pt x="0" y="0"/>
                  </a:lnTo>
                  <a:lnTo>
                    <a:pt x="5581649" y="0"/>
                  </a:lnTo>
                  <a:lnTo>
                    <a:pt x="5581649" y="290512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6181724" y="1238249"/>
              <a:ext cx="28575" cy="2905125"/>
            </a:xfrm>
            <a:custGeom>
              <a:avLst/>
              <a:gdLst/>
              <a:ahLst/>
              <a:cxnLst/>
              <a:rect l="l" t="t" r="r" b="b"/>
              <a:pathLst>
                <a:path w="28575" h="2905125">
                  <a:moveTo>
                    <a:pt x="28574" y="2905124"/>
                  </a:moveTo>
                  <a:lnTo>
                    <a:pt x="0" y="2905124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290512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391274" y="1467288"/>
              <a:ext cx="178742" cy="139021"/>
            </a:xfrm>
            <a:prstGeom prst="rect">
              <a:avLst/>
            </a:prstGeom>
          </p:spPr>
        </p:pic>
        <p:sp>
          <p:nvSpPr>
            <p:cNvPr id="14" name="object 14"/>
            <p:cNvSpPr/>
            <p:nvPr/>
          </p:nvSpPr>
          <p:spPr>
            <a:xfrm>
              <a:off x="6391274" y="2419349"/>
              <a:ext cx="5191125" cy="1543050"/>
            </a:xfrm>
            <a:custGeom>
              <a:avLst/>
              <a:gdLst/>
              <a:ahLst/>
              <a:cxnLst/>
              <a:rect l="l" t="t" r="r" b="b"/>
              <a:pathLst>
                <a:path w="5191125" h="1543050">
                  <a:moveTo>
                    <a:pt x="5159788" y="1543049"/>
                  </a:moveTo>
                  <a:lnTo>
                    <a:pt x="31336" y="1543049"/>
                  </a:lnTo>
                  <a:lnTo>
                    <a:pt x="26728" y="1542132"/>
                  </a:lnTo>
                  <a:lnTo>
                    <a:pt x="0" y="1511713"/>
                  </a:lnTo>
                  <a:lnTo>
                    <a:pt x="0" y="1506923"/>
                  </a:lnTo>
                  <a:lnTo>
                    <a:pt x="0" y="31335"/>
                  </a:lnTo>
                  <a:lnTo>
                    <a:pt x="26728" y="916"/>
                  </a:lnTo>
                  <a:lnTo>
                    <a:pt x="31336" y="0"/>
                  </a:lnTo>
                  <a:lnTo>
                    <a:pt x="5159788" y="0"/>
                  </a:lnTo>
                  <a:lnTo>
                    <a:pt x="5190206" y="26727"/>
                  </a:lnTo>
                  <a:lnTo>
                    <a:pt x="5191124" y="31335"/>
                  </a:lnTo>
                  <a:lnTo>
                    <a:pt x="5191124" y="1511713"/>
                  </a:lnTo>
                  <a:lnTo>
                    <a:pt x="5164396" y="1542132"/>
                  </a:lnTo>
                  <a:lnTo>
                    <a:pt x="5159788" y="1543049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705724" y="2466974"/>
              <a:ext cx="2571750" cy="1447799"/>
            </a:xfrm>
            <a:prstGeom prst="rect">
              <a:avLst/>
            </a:prstGeom>
          </p:spPr>
        </p:pic>
      </p:grpSp>
      <p:grpSp>
        <p:nvGrpSpPr>
          <p:cNvPr id="16" name="object 16"/>
          <p:cNvGrpSpPr/>
          <p:nvPr/>
        </p:nvGrpSpPr>
        <p:grpSpPr>
          <a:xfrm>
            <a:off x="428624" y="4324349"/>
            <a:ext cx="3657600" cy="2009775"/>
            <a:chOff x="428624" y="4324349"/>
            <a:chExt cx="3657600" cy="2009775"/>
          </a:xfrm>
        </p:grpSpPr>
        <p:sp>
          <p:nvSpPr>
            <p:cNvPr id="17" name="object 17"/>
            <p:cNvSpPr/>
            <p:nvPr/>
          </p:nvSpPr>
          <p:spPr>
            <a:xfrm>
              <a:off x="428624" y="4324349"/>
              <a:ext cx="3657600" cy="2009775"/>
            </a:xfrm>
            <a:custGeom>
              <a:avLst/>
              <a:gdLst/>
              <a:ahLst/>
              <a:cxnLst/>
              <a:rect l="l" t="t" r="r" b="b"/>
              <a:pathLst>
                <a:path w="3657600" h="2009775">
                  <a:moveTo>
                    <a:pt x="3657599" y="2009774"/>
                  </a:moveTo>
                  <a:lnTo>
                    <a:pt x="0" y="2009774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200977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8624" y="4324349"/>
              <a:ext cx="28575" cy="2009775"/>
            </a:xfrm>
            <a:custGeom>
              <a:avLst/>
              <a:gdLst/>
              <a:ahLst/>
              <a:cxnLst/>
              <a:rect l="l" t="t" r="r" b="b"/>
              <a:pathLst>
                <a:path w="28575" h="2009775">
                  <a:moveTo>
                    <a:pt x="28574" y="2009774"/>
                  </a:moveTo>
                  <a:lnTo>
                    <a:pt x="0" y="2009774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2009774"/>
                  </a:lnTo>
                  <a:close/>
                </a:path>
              </a:pathLst>
            </a:custGeom>
            <a:solidFill>
              <a:srgbClr val="8B5C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8174" y="4543424"/>
              <a:ext cx="198685" cy="15894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638174" y="5838824"/>
              <a:ext cx="3267075" cy="314325"/>
            </a:xfrm>
            <a:custGeom>
              <a:avLst/>
              <a:gdLst/>
              <a:ahLst/>
              <a:cxnLst/>
              <a:rect l="l" t="t" r="r" b="b"/>
              <a:pathLst>
                <a:path w="3267075" h="314325">
                  <a:moveTo>
                    <a:pt x="3230948" y="314324"/>
                  </a:moveTo>
                  <a:lnTo>
                    <a:pt x="36126" y="314324"/>
                  </a:lnTo>
                  <a:lnTo>
                    <a:pt x="28918" y="313663"/>
                  </a:lnTo>
                  <a:lnTo>
                    <a:pt x="661" y="285406"/>
                  </a:lnTo>
                  <a:lnTo>
                    <a:pt x="0" y="278198"/>
                  </a:lnTo>
                  <a:lnTo>
                    <a:pt x="0" y="36126"/>
                  </a:lnTo>
                  <a:lnTo>
                    <a:pt x="22258" y="2645"/>
                  </a:lnTo>
                  <a:lnTo>
                    <a:pt x="36126" y="0"/>
                  </a:lnTo>
                  <a:lnTo>
                    <a:pt x="3230948" y="0"/>
                  </a:lnTo>
                  <a:lnTo>
                    <a:pt x="3264429" y="22257"/>
                  </a:lnTo>
                  <a:lnTo>
                    <a:pt x="3267074" y="36126"/>
                  </a:lnTo>
                  <a:lnTo>
                    <a:pt x="3267074" y="278198"/>
                  </a:lnTo>
                  <a:lnTo>
                    <a:pt x="3244816" y="311679"/>
                  </a:lnTo>
                  <a:lnTo>
                    <a:pt x="3230948" y="314324"/>
                  </a:lnTo>
                  <a:close/>
                </a:path>
              </a:pathLst>
            </a:custGeom>
            <a:solidFill>
              <a:srgbClr val="4B1C94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38174" y="5838824"/>
              <a:ext cx="3267075" cy="314325"/>
            </a:xfrm>
            <a:custGeom>
              <a:avLst/>
              <a:gdLst/>
              <a:ahLst/>
              <a:cxnLst/>
              <a:rect l="l" t="t" r="r" b="b"/>
              <a:pathLst>
                <a:path w="3267075" h="314325">
                  <a:moveTo>
                    <a:pt x="3230948" y="314324"/>
                  </a:moveTo>
                  <a:lnTo>
                    <a:pt x="36126" y="314324"/>
                  </a:lnTo>
                  <a:lnTo>
                    <a:pt x="28918" y="313663"/>
                  </a:lnTo>
                  <a:lnTo>
                    <a:pt x="661" y="285406"/>
                  </a:lnTo>
                  <a:lnTo>
                    <a:pt x="0" y="278198"/>
                  </a:lnTo>
                  <a:lnTo>
                    <a:pt x="0" y="36126"/>
                  </a:lnTo>
                  <a:lnTo>
                    <a:pt x="22258" y="2645"/>
                  </a:lnTo>
                  <a:lnTo>
                    <a:pt x="36126" y="0"/>
                  </a:lnTo>
                  <a:lnTo>
                    <a:pt x="3230948" y="0"/>
                  </a:lnTo>
                  <a:lnTo>
                    <a:pt x="3238156" y="661"/>
                  </a:lnTo>
                  <a:lnTo>
                    <a:pt x="3244816" y="2645"/>
                  </a:lnTo>
                  <a:lnTo>
                    <a:pt x="3250928" y="5951"/>
                  </a:lnTo>
                  <a:lnTo>
                    <a:pt x="3255223" y="9524"/>
                  </a:lnTo>
                  <a:lnTo>
                    <a:pt x="32599" y="9524"/>
                  </a:lnTo>
                  <a:lnTo>
                    <a:pt x="29205" y="10199"/>
                  </a:lnTo>
                  <a:lnTo>
                    <a:pt x="9524" y="32598"/>
                  </a:lnTo>
                  <a:lnTo>
                    <a:pt x="9524" y="281724"/>
                  </a:lnTo>
                  <a:lnTo>
                    <a:pt x="32599" y="304799"/>
                  </a:lnTo>
                  <a:lnTo>
                    <a:pt x="3255224" y="304799"/>
                  </a:lnTo>
                  <a:lnTo>
                    <a:pt x="3250928" y="308372"/>
                  </a:lnTo>
                  <a:lnTo>
                    <a:pt x="3244816" y="311679"/>
                  </a:lnTo>
                  <a:lnTo>
                    <a:pt x="3238156" y="313663"/>
                  </a:lnTo>
                  <a:lnTo>
                    <a:pt x="3230948" y="314324"/>
                  </a:lnTo>
                  <a:close/>
                </a:path>
                <a:path w="3267075" h="314325">
                  <a:moveTo>
                    <a:pt x="3255224" y="304799"/>
                  </a:moveTo>
                  <a:lnTo>
                    <a:pt x="3234475" y="304799"/>
                  </a:lnTo>
                  <a:lnTo>
                    <a:pt x="3237868" y="304124"/>
                  </a:lnTo>
                  <a:lnTo>
                    <a:pt x="3244386" y="301423"/>
                  </a:lnTo>
                  <a:lnTo>
                    <a:pt x="3257549" y="281724"/>
                  </a:lnTo>
                  <a:lnTo>
                    <a:pt x="3257549" y="32598"/>
                  </a:lnTo>
                  <a:lnTo>
                    <a:pt x="3234475" y="9524"/>
                  </a:lnTo>
                  <a:lnTo>
                    <a:pt x="3255223" y="9524"/>
                  </a:lnTo>
                  <a:lnTo>
                    <a:pt x="3267074" y="36126"/>
                  </a:lnTo>
                  <a:lnTo>
                    <a:pt x="3267074" y="278198"/>
                  </a:lnTo>
                  <a:lnTo>
                    <a:pt x="3266413" y="285406"/>
                  </a:lnTo>
                  <a:lnTo>
                    <a:pt x="3264429" y="292066"/>
                  </a:lnTo>
                  <a:lnTo>
                    <a:pt x="3261122" y="298178"/>
                  </a:lnTo>
                  <a:lnTo>
                    <a:pt x="3256493" y="303743"/>
                  </a:lnTo>
                  <a:lnTo>
                    <a:pt x="3255224" y="304799"/>
                  </a:lnTo>
                  <a:close/>
                </a:path>
              </a:pathLst>
            </a:custGeom>
            <a:solidFill>
              <a:srgbClr val="6D28D9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23899" y="5943599"/>
              <a:ext cx="108346" cy="108346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4267199" y="4324349"/>
            <a:ext cx="3657600" cy="2009775"/>
            <a:chOff x="4267199" y="4324349"/>
            <a:chExt cx="3657600" cy="2009775"/>
          </a:xfrm>
        </p:grpSpPr>
        <p:sp>
          <p:nvSpPr>
            <p:cNvPr id="24" name="object 24"/>
            <p:cNvSpPr/>
            <p:nvPr/>
          </p:nvSpPr>
          <p:spPr>
            <a:xfrm>
              <a:off x="4267199" y="4324349"/>
              <a:ext cx="3657600" cy="2009775"/>
            </a:xfrm>
            <a:custGeom>
              <a:avLst/>
              <a:gdLst/>
              <a:ahLst/>
              <a:cxnLst/>
              <a:rect l="l" t="t" r="r" b="b"/>
              <a:pathLst>
                <a:path w="3657600" h="2009775">
                  <a:moveTo>
                    <a:pt x="3657599" y="2009774"/>
                  </a:moveTo>
                  <a:lnTo>
                    <a:pt x="0" y="2009774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200977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67199" y="4324349"/>
              <a:ext cx="28575" cy="2009775"/>
            </a:xfrm>
            <a:custGeom>
              <a:avLst/>
              <a:gdLst/>
              <a:ahLst/>
              <a:cxnLst/>
              <a:rect l="l" t="t" r="r" b="b"/>
              <a:pathLst>
                <a:path w="28575" h="2009775">
                  <a:moveTo>
                    <a:pt x="28574" y="2009774"/>
                  </a:moveTo>
                  <a:lnTo>
                    <a:pt x="0" y="2009774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2009774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476749" y="4543424"/>
              <a:ext cx="158948" cy="15894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476749" y="5838824"/>
              <a:ext cx="3267075" cy="314325"/>
            </a:xfrm>
            <a:custGeom>
              <a:avLst/>
              <a:gdLst/>
              <a:ahLst/>
              <a:cxnLst/>
              <a:rect l="l" t="t" r="r" b="b"/>
              <a:pathLst>
                <a:path w="3267075" h="314325">
                  <a:moveTo>
                    <a:pt x="3230948" y="314324"/>
                  </a:moveTo>
                  <a:lnTo>
                    <a:pt x="36126" y="314324"/>
                  </a:lnTo>
                  <a:lnTo>
                    <a:pt x="28918" y="313663"/>
                  </a:lnTo>
                  <a:lnTo>
                    <a:pt x="661" y="285406"/>
                  </a:lnTo>
                  <a:lnTo>
                    <a:pt x="0" y="278198"/>
                  </a:lnTo>
                  <a:lnTo>
                    <a:pt x="0" y="36126"/>
                  </a:lnTo>
                  <a:lnTo>
                    <a:pt x="22257" y="2645"/>
                  </a:lnTo>
                  <a:lnTo>
                    <a:pt x="36126" y="0"/>
                  </a:lnTo>
                  <a:lnTo>
                    <a:pt x="3230948" y="0"/>
                  </a:lnTo>
                  <a:lnTo>
                    <a:pt x="3264428" y="22257"/>
                  </a:lnTo>
                  <a:lnTo>
                    <a:pt x="3267074" y="36126"/>
                  </a:lnTo>
                  <a:lnTo>
                    <a:pt x="3267074" y="278198"/>
                  </a:lnTo>
                  <a:lnTo>
                    <a:pt x="3244816" y="311679"/>
                  </a:lnTo>
                  <a:lnTo>
                    <a:pt x="3230948" y="314324"/>
                  </a:lnTo>
                  <a:close/>
                </a:path>
              </a:pathLst>
            </a:custGeom>
            <a:solidFill>
              <a:srgbClr val="78340E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476749" y="5838824"/>
              <a:ext cx="3267075" cy="314325"/>
            </a:xfrm>
            <a:custGeom>
              <a:avLst/>
              <a:gdLst/>
              <a:ahLst/>
              <a:cxnLst/>
              <a:rect l="l" t="t" r="r" b="b"/>
              <a:pathLst>
                <a:path w="3267075" h="314325">
                  <a:moveTo>
                    <a:pt x="3230948" y="314324"/>
                  </a:moveTo>
                  <a:lnTo>
                    <a:pt x="36126" y="314324"/>
                  </a:lnTo>
                  <a:lnTo>
                    <a:pt x="28918" y="313663"/>
                  </a:lnTo>
                  <a:lnTo>
                    <a:pt x="661" y="285406"/>
                  </a:lnTo>
                  <a:lnTo>
                    <a:pt x="0" y="278198"/>
                  </a:lnTo>
                  <a:lnTo>
                    <a:pt x="0" y="36126"/>
                  </a:lnTo>
                  <a:lnTo>
                    <a:pt x="22257" y="2645"/>
                  </a:lnTo>
                  <a:lnTo>
                    <a:pt x="36126" y="0"/>
                  </a:lnTo>
                  <a:lnTo>
                    <a:pt x="3230948" y="0"/>
                  </a:lnTo>
                  <a:lnTo>
                    <a:pt x="3238156" y="661"/>
                  </a:lnTo>
                  <a:lnTo>
                    <a:pt x="3244816" y="2645"/>
                  </a:lnTo>
                  <a:lnTo>
                    <a:pt x="3250928" y="5951"/>
                  </a:lnTo>
                  <a:lnTo>
                    <a:pt x="3255223" y="9524"/>
                  </a:lnTo>
                  <a:lnTo>
                    <a:pt x="32598" y="9524"/>
                  </a:lnTo>
                  <a:lnTo>
                    <a:pt x="29204" y="10199"/>
                  </a:lnTo>
                  <a:lnTo>
                    <a:pt x="9524" y="32598"/>
                  </a:lnTo>
                  <a:lnTo>
                    <a:pt x="9524" y="281724"/>
                  </a:lnTo>
                  <a:lnTo>
                    <a:pt x="32598" y="304799"/>
                  </a:lnTo>
                  <a:lnTo>
                    <a:pt x="3255224" y="304799"/>
                  </a:lnTo>
                  <a:lnTo>
                    <a:pt x="3250928" y="308372"/>
                  </a:lnTo>
                  <a:lnTo>
                    <a:pt x="3244816" y="311679"/>
                  </a:lnTo>
                  <a:lnTo>
                    <a:pt x="3238156" y="313663"/>
                  </a:lnTo>
                  <a:lnTo>
                    <a:pt x="3230948" y="314324"/>
                  </a:lnTo>
                  <a:close/>
                </a:path>
                <a:path w="3267075" h="314325">
                  <a:moveTo>
                    <a:pt x="3255224" y="304799"/>
                  </a:moveTo>
                  <a:lnTo>
                    <a:pt x="3234474" y="304799"/>
                  </a:lnTo>
                  <a:lnTo>
                    <a:pt x="3237868" y="304124"/>
                  </a:lnTo>
                  <a:lnTo>
                    <a:pt x="3244385" y="301423"/>
                  </a:lnTo>
                  <a:lnTo>
                    <a:pt x="3257548" y="281724"/>
                  </a:lnTo>
                  <a:lnTo>
                    <a:pt x="3257548" y="32598"/>
                  </a:lnTo>
                  <a:lnTo>
                    <a:pt x="3234474" y="9524"/>
                  </a:lnTo>
                  <a:lnTo>
                    <a:pt x="3255223" y="9524"/>
                  </a:lnTo>
                  <a:lnTo>
                    <a:pt x="3267074" y="36126"/>
                  </a:lnTo>
                  <a:lnTo>
                    <a:pt x="3267074" y="278198"/>
                  </a:lnTo>
                  <a:lnTo>
                    <a:pt x="3266413" y="285406"/>
                  </a:lnTo>
                  <a:lnTo>
                    <a:pt x="3264428" y="292066"/>
                  </a:lnTo>
                  <a:lnTo>
                    <a:pt x="3261122" y="298178"/>
                  </a:lnTo>
                  <a:lnTo>
                    <a:pt x="3256493" y="303743"/>
                  </a:lnTo>
                  <a:lnTo>
                    <a:pt x="3255224" y="304799"/>
                  </a:lnTo>
                  <a:close/>
                </a:path>
              </a:pathLst>
            </a:custGeom>
            <a:solidFill>
              <a:srgbClr val="B45309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62474" y="5943599"/>
              <a:ext cx="94803" cy="108346"/>
            </a:xfrm>
            <a:prstGeom prst="rect">
              <a:avLst/>
            </a:prstGeom>
          </p:spPr>
        </p:pic>
      </p:grpSp>
      <p:grpSp>
        <p:nvGrpSpPr>
          <p:cNvPr id="30" name="object 30"/>
          <p:cNvGrpSpPr/>
          <p:nvPr/>
        </p:nvGrpSpPr>
        <p:grpSpPr>
          <a:xfrm>
            <a:off x="8105774" y="4324349"/>
            <a:ext cx="3657600" cy="2009775"/>
            <a:chOff x="8105774" y="4324349"/>
            <a:chExt cx="3657600" cy="2009775"/>
          </a:xfrm>
        </p:grpSpPr>
        <p:sp>
          <p:nvSpPr>
            <p:cNvPr id="31" name="object 31"/>
            <p:cNvSpPr/>
            <p:nvPr/>
          </p:nvSpPr>
          <p:spPr>
            <a:xfrm>
              <a:off x="8105774" y="4324349"/>
              <a:ext cx="3657600" cy="2009775"/>
            </a:xfrm>
            <a:custGeom>
              <a:avLst/>
              <a:gdLst/>
              <a:ahLst/>
              <a:cxnLst/>
              <a:rect l="l" t="t" r="r" b="b"/>
              <a:pathLst>
                <a:path w="3657600" h="2009775">
                  <a:moveTo>
                    <a:pt x="3657599" y="2009774"/>
                  </a:moveTo>
                  <a:lnTo>
                    <a:pt x="0" y="2009774"/>
                  </a:lnTo>
                  <a:lnTo>
                    <a:pt x="0" y="0"/>
                  </a:lnTo>
                  <a:lnTo>
                    <a:pt x="3657599" y="0"/>
                  </a:lnTo>
                  <a:lnTo>
                    <a:pt x="3657599" y="200977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105774" y="4324349"/>
              <a:ext cx="28575" cy="2009775"/>
            </a:xfrm>
            <a:custGeom>
              <a:avLst/>
              <a:gdLst/>
              <a:ahLst/>
              <a:cxnLst/>
              <a:rect l="l" t="t" r="r" b="b"/>
              <a:pathLst>
                <a:path w="28575" h="2009775">
                  <a:moveTo>
                    <a:pt x="28574" y="2009774"/>
                  </a:moveTo>
                  <a:lnTo>
                    <a:pt x="0" y="2009774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2009774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315324" y="4563293"/>
              <a:ext cx="198685" cy="119211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457199" y="1428622"/>
            <a:ext cx="5553075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100"/>
              </a:spcBef>
            </a:pPr>
            <a:r>
              <a:rPr sz="1250" b="1" spc="-15" dirty="0">
                <a:solidFill>
                  <a:srgbClr val="6EE7B6"/>
                </a:solidFill>
                <a:latin typeface="微软雅黑"/>
                <a:cs typeface="微软雅黑"/>
              </a:rPr>
              <a:t>快速验证：可视化低代码平台</a:t>
            </a:r>
            <a:endParaRPr sz="1250">
              <a:latin typeface="微软雅黑"/>
              <a:cs typeface="微软雅黑"/>
            </a:endParaRPr>
          </a:p>
          <a:p>
            <a:pPr marL="180340">
              <a:lnSpc>
                <a:spcPct val="100000"/>
              </a:lnSpc>
              <a:spcBef>
                <a:spcPts val="850"/>
              </a:spcBef>
            </a:pPr>
            <a:r>
              <a:rPr sz="1000" b="1" dirty="0">
                <a:solidFill>
                  <a:srgbClr val="FFFFFF"/>
                </a:solidFill>
                <a:latin typeface="微软雅黑"/>
                <a:cs typeface="微软雅黑"/>
              </a:rPr>
              <a:t>推荐方案：Dify</a:t>
            </a:r>
            <a:r>
              <a:rPr sz="1000" b="1" spc="30" dirty="0">
                <a:solidFill>
                  <a:srgbClr val="FFFFFF"/>
                </a:solidFill>
                <a:latin typeface="微软雅黑"/>
                <a:cs typeface="微软雅黑"/>
              </a:rPr>
              <a:t>, </a:t>
            </a:r>
            <a:r>
              <a:rPr sz="1000" b="1" spc="-10" dirty="0">
                <a:solidFill>
                  <a:srgbClr val="FFFFFF"/>
                </a:solidFill>
                <a:latin typeface="微软雅黑"/>
                <a:cs typeface="微软雅黑"/>
              </a:rPr>
              <a:t>Langflow</a:t>
            </a:r>
            <a:endParaRPr sz="1000">
              <a:latin typeface="微软雅黑"/>
              <a:cs typeface="微软雅黑"/>
            </a:endParaRPr>
          </a:p>
          <a:p>
            <a:pPr marL="323215" indent="-142875">
              <a:lnSpc>
                <a:spcPct val="100000"/>
              </a:lnSpc>
              <a:spcBef>
                <a:spcPts val="750"/>
              </a:spcBef>
              <a:buClr>
                <a:srgbClr val="9CA2AF"/>
              </a:buClr>
              <a:buFont typeface="΢"/>
              <a:buChar char="•"/>
              <a:tabLst>
                <a:tab pos="323215" algn="l"/>
              </a:tabLst>
            </a:pPr>
            <a:r>
              <a:rPr sz="850" b="1" spc="-10" dirty="0">
                <a:solidFill>
                  <a:srgbClr val="D0D5DA"/>
                </a:solidFill>
                <a:latin typeface="微软雅黑"/>
                <a:cs typeface="微软雅黑"/>
              </a:rPr>
              <a:t>适用场景：</a:t>
            </a:r>
            <a:r>
              <a:rPr sz="850" spc="-10" dirty="0">
                <a:solidFill>
                  <a:srgbClr val="D0D5DA"/>
                </a:solidFill>
                <a:latin typeface="微软雅黑"/>
                <a:cs typeface="微软雅黑"/>
              </a:rPr>
              <a:t>快速验证想法、MVP</a:t>
            </a:r>
            <a:r>
              <a:rPr sz="850" spc="-15" dirty="0">
                <a:solidFill>
                  <a:srgbClr val="D0D5DA"/>
                </a:solidFill>
                <a:latin typeface="微软雅黑"/>
                <a:cs typeface="微软雅黑"/>
              </a:rPr>
              <a:t>开发、非技术人员构建。</a:t>
            </a:r>
            <a:endParaRPr sz="850">
              <a:latin typeface="微软雅黑"/>
              <a:cs typeface="微软雅黑"/>
            </a:endParaRPr>
          </a:p>
          <a:p>
            <a:pPr marL="323215" indent="-142875">
              <a:lnSpc>
                <a:spcPct val="100000"/>
              </a:lnSpc>
              <a:spcBef>
                <a:spcPts val="405"/>
              </a:spcBef>
              <a:buClr>
                <a:srgbClr val="9CA2AF"/>
              </a:buClr>
              <a:buFont typeface="΢"/>
              <a:buChar char="•"/>
              <a:tabLst>
                <a:tab pos="323215" algn="l"/>
              </a:tabLst>
            </a:pPr>
            <a:r>
              <a:rPr sz="850" b="1" spc="-10" dirty="0">
                <a:solidFill>
                  <a:srgbClr val="D0D5DA"/>
                </a:solidFill>
                <a:latin typeface="微软雅黑"/>
                <a:cs typeface="微软雅黑"/>
              </a:rPr>
              <a:t>核心优势：</a:t>
            </a:r>
            <a:r>
              <a:rPr sz="850" spc="-10" dirty="0">
                <a:solidFill>
                  <a:srgbClr val="D0D5DA"/>
                </a:solidFill>
                <a:latin typeface="微软雅黑"/>
                <a:cs typeface="微软雅黑"/>
              </a:rPr>
              <a:t>提供拖拽式工作流、内置RAG管道、</a:t>
            </a:r>
            <a:r>
              <a:rPr sz="850" spc="-20" dirty="0">
                <a:solidFill>
                  <a:srgbClr val="D0D5DA"/>
                </a:solidFill>
                <a:latin typeface="微软雅黑"/>
                <a:cs typeface="微软雅黑"/>
              </a:rPr>
              <a:t>Web</a:t>
            </a:r>
            <a:r>
              <a:rPr sz="850" spc="-10" dirty="0">
                <a:solidFill>
                  <a:srgbClr val="D0D5DA"/>
                </a:solidFill>
                <a:latin typeface="微软雅黑"/>
                <a:cs typeface="微软雅黑"/>
              </a:rPr>
              <a:t>界面友好。Dify支持完整的Python/Next.js</a:t>
            </a:r>
            <a:r>
              <a:rPr sz="850" spc="-25" dirty="0">
                <a:solidFill>
                  <a:srgbClr val="D0D5DA"/>
                </a:solidFill>
                <a:latin typeface="微软雅黑"/>
                <a:cs typeface="微软雅黑"/>
              </a:rPr>
              <a:t>扩展。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10299" y="1428622"/>
            <a:ext cx="5553075" cy="8826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35609">
              <a:lnSpc>
                <a:spcPct val="100000"/>
              </a:lnSpc>
              <a:spcBef>
                <a:spcPts val="100"/>
              </a:spcBef>
            </a:pPr>
            <a:r>
              <a:rPr sz="1250" b="1" spc="-15" dirty="0">
                <a:solidFill>
                  <a:srgbClr val="93C4FD"/>
                </a:solidFill>
                <a:latin typeface="微软雅黑"/>
                <a:cs typeface="微软雅黑"/>
              </a:rPr>
              <a:t>复杂编排：状态机模型</a:t>
            </a:r>
            <a:endParaRPr sz="1250">
              <a:latin typeface="微软雅黑"/>
              <a:cs typeface="微软雅黑"/>
            </a:endParaRPr>
          </a:p>
          <a:p>
            <a:pPr marL="184785">
              <a:lnSpc>
                <a:spcPct val="100000"/>
              </a:lnSpc>
              <a:spcBef>
                <a:spcPts val="850"/>
              </a:spcBef>
            </a:pPr>
            <a:r>
              <a:rPr sz="1000" b="1" spc="-5" dirty="0">
                <a:solidFill>
                  <a:srgbClr val="FFFFFF"/>
                </a:solidFill>
                <a:latin typeface="微软雅黑"/>
                <a:cs typeface="微软雅黑"/>
              </a:rPr>
              <a:t>推荐方案：</a:t>
            </a:r>
            <a:r>
              <a:rPr sz="1000" b="1" spc="-10" dirty="0">
                <a:solidFill>
                  <a:srgbClr val="FFFFFF"/>
                </a:solidFill>
                <a:latin typeface="微软雅黑"/>
                <a:cs typeface="微软雅黑"/>
              </a:rPr>
              <a:t>LangGraph</a:t>
            </a:r>
            <a:endParaRPr sz="1000">
              <a:latin typeface="微软雅黑"/>
              <a:cs typeface="微软雅黑"/>
            </a:endParaRPr>
          </a:p>
          <a:p>
            <a:pPr marL="327660" indent="-142875">
              <a:lnSpc>
                <a:spcPct val="100000"/>
              </a:lnSpc>
              <a:spcBef>
                <a:spcPts val="750"/>
              </a:spcBef>
              <a:buClr>
                <a:srgbClr val="9CA2AF"/>
              </a:buClr>
              <a:buFont typeface="΢"/>
              <a:buChar char="•"/>
              <a:tabLst>
                <a:tab pos="327660" algn="l"/>
              </a:tabLst>
            </a:pPr>
            <a:r>
              <a:rPr sz="850" b="1" spc="-10" dirty="0">
                <a:solidFill>
                  <a:srgbClr val="D0D5DA"/>
                </a:solidFill>
                <a:latin typeface="微软雅黑"/>
                <a:cs typeface="微软雅黑"/>
              </a:rPr>
              <a:t>适用场景：</a:t>
            </a:r>
            <a:r>
              <a:rPr sz="850" spc="-15" dirty="0">
                <a:solidFill>
                  <a:srgbClr val="D0D5DA"/>
                </a:solidFill>
                <a:latin typeface="微软雅黑"/>
                <a:cs typeface="微软雅黑"/>
              </a:rPr>
              <a:t>业务流程自动化、多步骤决策、长周期任务。</a:t>
            </a:r>
            <a:endParaRPr sz="850">
              <a:latin typeface="微软雅黑"/>
              <a:cs typeface="微软雅黑"/>
            </a:endParaRPr>
          </a:p>
          <a:p>
            <a:pPr marL="327660" indent="-142875">
              <a:lnSpc>
                <a:spcPct val="100000"/>
              </a:lnSpc>
              <a:spcBef>
                <a:spcPts val="405"/>
              </a:spcBef>
              <a:buClr>
                <a:srgbClr val="9CA2AF"/>
              </a:buClr>
              <a:buFont typeface="΢"/>
              <a:buChar char="•"/>
              <a:tabLst>
                <a:tab pos="327660" algn="l"/>
              </a:tabLst>
            </a:pPr>
            <a:r>
              <a:rPr sz="850" b="1" spc="-10" dirty="0">
                <a:solidFill>
                  <a:srgbClr val="D0D5DA"/>
                </a:solidFill>
                <a:latin typeface="微软雅黑"/>
                <a:cs typeface="微软雅黑"/>
              </a:rPr>
              <a:t>核心优势：</a:t>
            </a:r>
            <a:r>
              <a:rPr sz="850" spc="-10" dirty="0">
                <a:solidFill>
                  <a:srgbClr val="D0D5DA"/>
                </a:solidFill>
                <a:latin typeface="微软雅黑"/>
                <a:cs typeface="微软雅黑"/>
              </a:rPr>
              <a:t>提供精确的状态机控制与持久化能力，支持循环与条件分支，比单纯的</a:t>
            </a:r>
            <a:r>
              <a:rPr sz="850" spc="-25" dirty="0">
                <a:solidFill>
                  <a:srgbClr val="D0D5DA"/>
                </a:solidFill>
                <a:latin typeface="微软雅黑"/>
                <a:cs typeface="微软雅黑"/>
              </a:rPr>
              <a:t>DAG</a:t>
            </a:r>
            <a:r>
              <a:rPr sz="850" spc="-20" dirty="0">
                <a:solidFill>
                  <a:srgbClr val="D0D5DA"/>
                </a:solidFill>
                <a:latin typeface="微软雅黑"/>
                <a:cs typeface="微软雅黑"/>
              </a:rPr>
              <a:t>更适合复杂逻辑。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57199" y="4514722"/>
            <a:ext cx="3629025" cy="155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100"/>
              </a:spcBef>
            </a:pPr>
            <a:r>
              <a:rPr sz="1250" b="1" spc="-20" dirty="0">
                <a:solidFill>
                  <a:srgbClr val="C3B4FD"/>
                </a:solidFill>
                <a:latin typeface="微软雅黑"/>
                <a:cs typeface="微软雅黑"/>
              </a:rPr>
              <a:t>多角色协作</a:t>
            </a:r>
            <a:endParaRPr sz="1250">
              <a:latin typeface="微软雅黑"/>
              <a:cs typeface="微软雅黑"/>
            </a:endParaRPr>
          </a:p>
          <a:p>
            <a:pPr marL="180340">
              <a:lnSpc>
                <a:spcPct val="100000"/>
              </a:lnSpc>
              <a:spcBef>
                <a:spcPts val="775"/>
              </a:spcBef>
            </a:pPr>
            <a:r>
              <a:rPr sz="1000" b="1" spc="-5" dirty="0">
                <a:solidFill>
                  <a:srgbClr val="FFFFFF"/>
                </a:solidFill>
                <a:latin typeface="微软雅黑"/>
                <a:cs typeface="微软雅黑"/>
              </a:rPr>
              <a:t>推荐方案：</a:t>
            </a:r>
            <a:r>
              <a:rPr sz="1000" b="1" spc="-10" dirty="0">
                <a:solidFill>
                  <a:srgbClr val="FFFFFF"/>
                </a:solidFill>
                <a:latin typeface="微软雅黑"/>
                <a:cs typeface="微软雅黑"/>
              </a:rPr>
              <a:t>AutoGen</a:t>
            </a:r>
            <a:endParaRPr sz="1000">
              <a:latin typeface="微软雅黑"/>
              <a:cs typeface="微软雅黑"/>
            </a:endParaRPr>
          </a:p>
          <a:p>
            <a:pPr marL="325120" indent="-144780">
              <a:lnSpc>
                <a:spcPct val="100000"/>
              </a:lnSpc>
              <a:spcBef>
                <a:spcPts val="825"/>
              </a:spcBef>
              <a:buClr>
                <a:srgbClr val="9CA2AF"/>
              </a:buClr>
              <a:buFont typeface="΢"/>
              <a:buChar char="•"/>
              <a:tabLst>
                <a:tab pos="325120" algn="l"/>
              </a:tabLst>
            </a:pPr>
            <a:r>
              <a:rPr sz="1000" b="1" spc="-15" dirty="0">
                <a:solidFill>
                  <a:srgbClr val="D0D5DA"/>
                </a:solidFill>
                <a:latin typeface="微软雅黑"/>
                <a:cs typeface="微软雅黑"/>
              </a:rPr>
              <a:t>适用场景：</a:t>
            </a:r>
            <a:r>
              <a:rPr sz="1000" spc="-20" dirty="0">
                <a:solidFill>
                  <a:srgbClr val="D0D5DA"/>
                </a:solidFill>
                <a:latin typeface="微软雅黑"/>
                <a:cs typeface="微软雅黑"/>
              </a:rPr>
              <a:t>软件开发、复杂综合决策。</a:t>
            </a:r>
            <a:endParaRPr sz="1000">
              <a:latin typeface="微软雅黑"/>
              <a:cs typeface="微软雅黑"/>
            </a:endParaRPr>
          </a:p>
          <a:p>
            <a:pPr marL="325120" indent="-144780">
              <a:lnSpc>
                <a:spcPct val="100000"/>
              </a:lnSpc>
              <a:spcBef>
                <a:spcPts val="525"/>
              </a:spcBef>
              <a:buClr>
                <a:srgbClr val="9CA2AF"/>
              </a:buClr>
              <a:buFont typeface="΢"/>
              <a:buChar char="•"/>
              <a:tabLst>
                <a:tab pos="325120" algn="l"/>
              </a:tabLst>
            </a:pPr>
            <a:r>
              <a:rPr sz="1000" b="1" spc="-15" dirty="0">
                <a:solidFill>
                  <a:srgbClr val="D0D5DA"/>
                </a:solidFill>
                <a:latin typeface="微软雅黑"/>
                <a:cs typeface="微软雅黑"/>
              </a:rPr>
              <a:t>优势：</a:t>
            </a:r>
            <a:r>
              <a:rPr sz="1000" spc="-20" dirty="0">
                <a:solidFill>
                  <a:srgbClr val="D0D5DA"/>
                </a:solidFill>
                <a:latin typeface="微软雅黑"/>
                <a:cs typeface="微软雅黑"/>
              </a:rPr>
              <a:t>多智能体对话模式，自动角色分工。</a:t>
            </a:r>
            <a:endParaRPr sz="1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00">
              <a:latin typeface="微软雅黑"/>
              <a:cs typeface="微软雅黑"/>
            </a:endParaRPr>
          </a:p>
          <a:p>
            <a:pPr marL="438150">
              <a:lnSpc>
                <a:spcPct val="100000"/>
              </a:lnSpc>
              <a:spcBef>
                <a:spcPts val="5"/>
              </a:spcBef>
            </a:pPr>
            <a:r>
              <a:rPr sz="850" spc="-10" dirty="0">
                <a:solidFill>
                  <a:srgbClr val="DDD5FE"/>
                </a:solidFill>
                <a:latin typeface="微软雅黑"/>
                <a:cs typeface="微软雅黑"/>
              </a:rPr>
              <a:t>像管理人类团队一样管理</a:t>
            </a:r>
            <a:r>
              <a:rPr sz="850" spc="-20" dirty="0">
                <a:solidFill>
                  <a:srgbClr val="DDD5FE"/>
                </a:solidFill>
                <a:latin typeface="微软雅黑"/>
                <a:cs typeface="微软雅黑"/>
              </a:rPr>
              <a:t>Agent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295774" y="4514722"/>
            <a:ext cx="3629025" cy="155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11480">
              <a:lnSpc>
                <a:spcPct val="100000"/>
              </a:lnSpc>
              <a:spcBef>
                <a:spcPts val="100"/>
              </a:spcBef>
            </a:pPr>
            <a:r>
              <a:rPr sz="1250" b="1" spc="-20" dirty="0">
                <a:solidFill>
                  <a:srgbClr val="FBD34D"/>
                </a:solidFill>
                <a:latin typeface="微软雅黑"/>
                <a:cs typeface="微软雅黑"/>
              </a:rPr>
              <a:t>企业知识管理</a:t>
            </a:r>
            <a:endParaRPr sz="1250">
              <a:latin typeface="微软雅黑"/>
              <a:cs typeface="微软雅黑"/>
            </a:endParaRPr>
          </a:p>
          <a:p>
            <a:pPr marL="180340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FFFFFF"/>
                </a:solidFill>
                <a:latin typeface="微软雅黑"/>
                <a:cs typeface="微软雅黑"/>
              </a:rPr>
              <a:t>推荐方案：LlamaIndex</a:t>
            </a:r>
            <a:r>
              <a:rPr sz="1000" b="1" spc="35" dirty="0">
                <a:solidFill>
                  <a:srgbClr val="FFFFFF"/>
                </a:solidFill>
                <a:latin typeface="微软雅黑"/>
                <a:cs typeface="微软雅黑"/>
              </a:rPr>
              <a:t> / </a:t>
            </a:r>
            <a:r>
              <a:rPr sz="1000" b="1" spc="-10" dirty="0">
                <a:solidFill>
                  <a:srgbClr val="FFFFFF"/>
                </a:solidFill>
                <a:latin typeface="微软雅黑"/>
                <a:cs typeface="微软雅黑"/>
              </a:rPr>
              <a:t>Haystack</a:t>
            </a:r>
            <a:endParaRPr sz="1000">
              <a:latin typeface="微软雅黑"/>
              <a:cs typeface="微软雅黑"/>
            </a:endParaRPr>
          </a:p>
          <a:p>
            <a:pPr marL="325120" indent="-144780">
              <a:lnSpc>
                <a:spcPct val="100000"/>
              </a:lnSpc>
              <a:spcBef>
                <a:spcPts val="825"/>
              </a:spcBef>
              <a:buClr>
                <a:srgbClr val="9CA2AF"/>
              </a:buClr>
              <a:buFont typeface="΢"/>
              <a:buChar char="•"/>
              <a:tabLst>
                <a:tab pos="325120" algn="l"/>
              </a:tabLst>
            </a:pPr>
            <a:r>
              <a:rPr sz="1000" b="1" spc="-15" dirty="0">
                <a:solidFill>
                  <a:srgbClr val="D0D5DA"/>
                </a:solidFill>
                <a:latin typeface="微软雅黑"/>
                <a:cs typeface="微软雅黑"/>
              </a:rPr>
              <a:t>适用场景：</a:t>
            </a:r>
            <a:r>
              <a:rPr sz="1000" spc="-20" dirty="0">
                <a:solidFill>
                  <a:srgbClr val="D0D5DA"/>
                </a:solidFill>
                <a:latin typeface="微软雅黑"/>
                <a:cs typeface="微软雅黑"/>
              </a:rPr>
              <a:t>企业级问答、大量文档检索。</a:t>
            </a:r>
            <a:endParaRPr sz="1000">
              <a:latin typeface="微软雅黑"/>
              <a:cs typeface="微软雅黑"/>
            </a:endParaRPr>
          </a:p>
          <a:p>
            <a:pPr marL="325120" indent="-144780">
              <a:lnSpc>
                <a:spcPct val="100000"/>
              </a:lnSpc>
              <a:spcBef>
                <a:spcPts val="525"/>
              </a:spcBef>
              <a:buClr>
                <a:srgbClr val="9CA2AF"/>
              </a:buClr>
              <a:buFont typeface="΢"/>
              <a:buChar char="•"/>
              <a:tabLst>
                <a:tab pos="325120" algn="l"/>
              </a:tabLst>
            </a:pPr>
            <a:r>
              <a:rPr sz="1000" b="1" spc="-15" dirty="0">
                <a:solidFill>
                  <a:srgbClr val="D0D5DA"/>
                </a:solidFill>
                <a:latin typeface="微软雅黑"/>
                <a:cs typeface="微软雅黑"/>
              </a:rPr>
              <a:t>优势：</a:t>
            </a:r>
            <a:r>
              <a:rPr sz="1000" spc="-15" dirty="0">
                <a:solidFill>
                  <a:srgbClr val="D0D5DA"/>
                </a:solidFill>
                <a:latin typeface="微软雅黑"/>
                <a:cs typeface="微软雅黑"/>
              </a:rPr>
              <a:t>成熟的</a:t>
            </a:r>
            <a:r>
              <a:rPr sz="1000" spc="-20" dirty="0">
                <a:solidFill>
                  <a:srgbClr val="D0D5DA"/>
                </a:solidFill>
                <a:latin typeface="微软雅黑"/>
                <a:cs typeface="微软雅黑"/>
              </a:rPr>
              <a:t>RAG管道，极强的数据连接器。</a:t>
            </a:r>
            <a:endParaRPr sz="1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</a:pPr>
            <a:endParaRPr sz="100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000">
              <a:latin typeface="微软雅黑"/>
              <a:cs typeface="微软雅黑"/>
            </a:endParaRPr>
          </a:p>
          <a:p>
            <a:pPr marL="424815">
              <a:lnSpc>
                <a:spcPct val="100000"/>
              </a:lnSpc>
              <a:spcBef>
                <a:spcPts val="5"/>
              </a:spcBef>
            </a:pPr>
            <a:r>
              <a:rPr sz="850" spc="-15" dirty="0">
                <a:solidFill>
                  <a:srgbClr val="FDE68A"/>
                </a:solidFill>
                <a:latin typeface="微软雅黑"/>
                <a:cs typeface="微软雅黑"/>
              </a:rPr>
              <a:t>专注数据索引与高效召回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134349" y="4514722"/>
            <a:ext cx="3629025" cy="9429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50850">
              <a:lnSpc>
                <a:spcPct val="100000"/>
              </a:lnSpc>
              <a:spcBef>
                <a:spcPts val="100"/>
              </a:spcBef>
            </a:pPr>
            <a:r>
              <a:rPr sz="1250" b="1" spc="-20" dirty="0">
                <a:solidFill>
                  <a:srgbClr val="FBA5A5"/>
                </a:solidFill>
                <a:latin typeface="微软雅黑"/>
                <a:cs typeface="微软雅黑"/>
              </a:rPr>
              <a:t>中文与多模态场景</a:t>
            </a:r>
            <a:endParaRPr sz="1250">
              <a:latin typeface="微软雅黑"/>
              <a:cs typeface="微软雅黑"/>
            </a:endParaRPr>
          </a:p>
          <a:p>
            <a:pPr marL="179705">
              <a:lnSpc>
                <a:spcPct val="100000"/>
              </a:lnSpc>
              <a:spcBef>
                <a:spcPts val="775"/>
              </a:spcBef>
            </a:pPr>
            <a:r>
              <a:rPr sz="1000" b="1" dirty="0">
                <a:solidFill>
                  <a:srgbClr val="FFFFFF"/>
                </a:solidFill>
                <a:latin typeface="微软雅黑"/>
                <a:cs typeface="微软雅黑"/>
              </a:rPr>
              <a:t>推荐方案：Qwen-</a:t>
            </a:r>
            <a:r>
              <a:rPr sz="1000" b="1" spc="-20" dirty="0">
                <a:solidFill>
                  <a:srgbClr val="FFFFFF"/>
                </a:solidFill>
                <a:latin typeface="微软雅黑"/>
                <a:cs typeface="微软雅黑"/>
              </a:rPr>
              <a:t>Agent</a:t>
            </a:r>
            <a:endParaRPr sz="1000">
              <a:latin typeface="微软雅黑"/>
              <a:cs typeface="微软雅黑"/>
            </a:endParaRPr>
          </a:p>
          <a:p>
            <a:pPr marL="324485" indent="-144780">
              <a:lnSpc>
                <a:spcPct val="100000"/>
              </a:lnSpc>
              <a:spcBef>
                <a:spcPts val="825"/>
              </a:spcBef>
              <a:buClr>
                <a:srgbClr val="9CA2AF"/>
              </a:buClr>
              <a:buFont typeface="΢"/>
              <a:buChar char="•"/>
              <a:tabLst>
                <a:tab pos="324485" algn="l"/>
              </a:tabLst>
            </a:pPr>
            <a:r>
              <a:rPr sz="1000" b="1" spc="-15" dirty="0">
                <a:solidFill>
                  <a:srgbClr val="D0D5DA"/>
                </a:solidFill>
                <a:latin typeface="微软雅黑"/>
                <a:cs typeface="微软雅黑"/>
              </a:rPr>
              <a:t>适用场景：</a:t>
            </a:r>
            <a:r>
              <a:rPr sz="1000" spc="-20" dirty="0">
                <a:solidFill>
                  <a:srgbClr val="D0D5DA"/>
                </a:solidFill>
                <a:latin typeface="微软雅黑"/>
                <a:cs typeface="微软雅黑"/>
              </a:rPr>
              <a:t>国内电商、中文创作。</a:t>
            </a:r>
            <a:endParaRPr sz="1000">
              <a:latin typeface="微软雅黑"/>
              <a:cs typeface="微软雅黑"/>
            </a:endParaRPr>
          </a:p>
          <a:p>
            <a:pPr marL="324485" indent="-144780">
              <a:lnSpc>
                <a:spcPct val="100000"/>
              </a:lnSpc>
              <a:spcBef>
                <a:spcPts val="525"/>
              </a:spcBef>
              <a:buClr>
                <a:srgbClr val="9CA2AF"/>
              </a:buClr>
              <a:buFont typeface="΢"/>
              <a:buChar char="•"/>
              <a:tabLst>
                <a:tab pos="324485" algn="l"/>
              </a:tabLst>
            </a:pPr>
            <a:r>
              <a:rPr sz="1000" b="1" spc="-15" dirty="0">
                <a:solidFill>
                  <a:srgbClr val="D0D5DA"/>
                </a:solidFill>
                <a:latin typeface="微软雅黑"/>
                <a:cs typeface="微软雅黑"/>
              </a:rPr>
              <a:t>优势：</a:t>
            </a:r>
            <a:r>
              <a:rPr sz="1000" spc="-20" dirty="0">
                <a:solidFill>
                  <a:srgbClr val="D0D5DA"/>
                </a:solidFill>
                <a:latin typeface="微软雅黑"/>
                <a:cs typeface="微软雅黑"/>
              </a:rPr>
              <a:t>原生中文优化，千万级长文本理解。</a:t>
            </a:r>
            <a:endParaRPr sz="1000">
              <a:latin typeface="微软雅黑"/>
              <a:cs typeface="微软雅黑"/>
            </a:endParaRPr>
          </a:p>
        </p:txBody>
      </p:sp>
      <p:pic>
        <p:nvPicPr>
          <p:cNvPr id="39" name="object 39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077325" y="5714999"/>
            <a:ext cx="1743074" cy="438149"/>
          </a:xfrm>
          <a:prstGeom prst="rect">
            <a:avLst/>
          </a:prstGeom>
        </p:spPr>
      </p:pic>
      <p:sp>
        <p:nvSpPr>
          <p:cNvPr id="40" name="object 4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1999" cy="6857999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0" y="0"/>
              <a:ext cx="76200" cy="6858000"/>
            </a:xfrm>
            <a:custGeom>
              <a:avLst/>
              <a:gdLst/>
              <a:ahLst/>
              <a:cxnLst/>
              <a:rect l="l" t="t" r="r" b="b"/>
              <a:pathLst>
                <a:path w="76200" h="6858000">
                  <a:moveTo>
                    <a:pt x="76199" y="6857999"/>
                  </a:moveTo>
                  <a:lnTo>
                    <a:pt x="0" y="6857999"/>
                  </a:lnTo>
                  <a:lnTo>
                    <a:pt x="0" y="0"/>
                  </a:lnTo>
                  <a:lnTo>
                    <a:pt x="76199" y="0"/>
                  </a:lnTo>
                  <a:lnTo>
                    <a:pt x="76199" y="68579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5925" y="147320"/>
            <a:ext cx="237172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-10" dirty="0"/>
              <a:t>企业级组合方案</a:t>
            </a:r>
            <a:endParaRPr sz="2600"/>
          </a:p>
        </p:txBody>
      </p:sp>
      <p:grpSp>
        <p:nvGrpSpPr>
          <p:cNvPr id="6" name="object 6"/>
          <p:cNvGrpSpPr/>
          <p:nvPr/>
        </p:nvGrpSpPr>
        <p:grpSpPr>
          <a:xfrm>
            <a:off x="428624" y="666749"/>
            <a:ext cx="5562600" cy="2914650"/>
            <a:chOff x="428624" y="666749"/>
            <a:chExt cx="5562600" cy="2914650"/>
          </a:xfrm>
        </p:grpSpPr>
        <p:sp>
          <p:nvSpPr>
            <p:cNvPr id="7" name="object 7"/>
            <p:cNvSpPr/>
            <p:nvPr/>
          </p:nvSpPr>
          <p:spPr>
            <a:xfrm>
              <a:off x="428624" y="666749"/>
              <a:ext cx="1409700" cy="38100"/>
            </a:xfrm>
            <a:custGeom>
              <a:avLst/>
              <a:gdLst/>
              <a:ahLst/>
              <a:cxnLst/>
              <a:rect l="l" t="t" r="r" b="b"/>
              <a:pathLst>
                <a:path w="1409700" h="38100">
                  <a:moveTo>
                    <a:pt x="14096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409699" y="0"/>
                  </a:lnTo>
                  <a:lnTo>
                    <a:pt x="1409699" y="380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8624" y="952499"/>
              <a:ext cx="5562600" cy="2628900"/>
            </a:xfrm>
            <a:custGeom>
              <a:avLst/>
              <a:gdLst/>
              <a:ahLst/>
              <a:cxnLst/>
              <a:rect l="l" t="t" r="r" b="b"/>
              <a:pathLst>
                <a:path w="5562600" h="2628900">
                  <a:moveTo>
                    <a:pt x="5455076" y="2628899"/>
                  </a:moveTo>
                  <a:lnTo>
                    <a:pt x="107523" y="2628899"/>
                  </a:lnTo>
                  <a:lnTo>
                    <a:pt x="96931" y="2628388"/>
                  </a:lnTo>
                  <a:lnTo>
                    <a:pt x="56785" y="2616188"/>
                  </a:lnTo>
                  <a:lnTo>
                    <a:pt x="24364" y="2589554"/>
                  </a:lnTo>
                  <a:lnTo>
                    <a:pt x="4603" y="2552541"/>
                  </a:lnTo>
                  <a:lnTo>
                    <a:pt x="0" y="2521376"/>
                  </a:lnTo>
                  <a:lnTo>
                    <a:pt x="0" y="107523"/>
                  </a:lnTo>
                  <a:lnTo>
                    <a:pt x="8184" y="66375"/>
                  </a:lnTo>
                  <a:lnTo>
                    <a:pt x="31492" y="31492"/>
                  </a:lnTo>
                  <a:lnTo>
                    <a:pt x="66375" y="8184"/>
                  </a:lnTo>
                  <a:lnTo>
                    <a:pt x="107523" y="0"/>
                  </a:lnTo>
                  <a:lnTo>
                    <a:pt x="5455076" y="0"/>
                  </a:lnTo>
                  <a:lnTo>
                    <a:pt x="5496222" y="8184"/>
                  </a:lnTo>
                  <a:lnTo>
                    <a:pt x="5531106" y="31492"/>
                  </a:lnTo>
                  <a:lnTo>
                    <a:pt x="5554414" y="66375"/>
                  </a:lnTo>
                  <a:lnTo>
                    <a:pt x="5562599" y="107523"/>
                  </a:lnTo>
                  <a:lnTo>
                    <a:pt x="5562599" y="2521376"/>
                  </a:lnTo>
                  <a:lnTo>
                    <a:pt x="5554413" y="2562523"/>
                  </a:lnTo>
                  <a:lnTo>
                    <a:pt x="5531106" y="2597406"/>
                  </a:lnTo>
                  <a:lnTo>
                    <a:pt x="5496222" y="2620714"/>
                  </a:lnTo>
                  <a:lnTo>
                    <a:pt x="5455076" y="262889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8624" y="952500"/>
              <a:ext cx="5562600" cy="2628900"/>
            </a:xfrm>
            <a:custGeom>
              <a:avLst/>
              <a:gdLst/>
              <a:ahLst/>
              <a:cxnLst/>
              <a:rect l="l" t="t" r="r" b="b"/>
              <a:pathLst>
                <a:path w="5562600" h="2628900">
                  <a:moveTo>
                    <a:pt x="5455076" y="2628899"/>
                  </a:moveTo>
                  <a:lnTo>
                    <a:pt x="107523" y="2628899"/>
                  </a:lnTo>
                  <a:lnTo>
                    <a:pt x="96931" y="2628388"/>
                  </a:lnTo>
                  <a:lnTo>
                    <a:pt x="56785" y="2616188"/>
                  </a:lnTo>
                  <a:lnTo>
                    <a:pt x="24364" y="2589555"/>
                  </a:lnTo>
                  <a:lnTo>
                    <a:pt x="4603" y="2552541"/>
                  </a:lnTo>
                  <a:lnTo>
                    <a:pt x="0" y="2521376"/>
                  </a:lnTo>
                  <a:lnTo>
                    <a:pt x="0" y="107523"/>
                  </a:lnTo>
                  <a:lnTo>
                    <a:pt x="8184" y="66375"/>
                  </a:lnTo>
                  <a:lnTo>
                    <a:pt x="31492" y="31492"/>
                  </a:lnTo>
                  <a:lnTo>
                    <a:pt x="66375" y="8184"/>
                  </a:lnTo>
                  <a:lnTo>
                    <a:pt x="107523" y="0"/>
                  </a:lnTo>
                  <a:lnTo>
                    <a:pt x="5455076" y="0"/>
                  </a:lnTo>
                  <a:lnTo>
                    <a:pt x="5496222" y="8184"/>
                  </a:lnTo>
                  <a:lnTo>
                    <a:pt x="5499062" y="9525"/>
                  </a:lnTo>
                  <a:lnTo>
                    <a:pt x="101088" y="9525"/>
                  </a:lnTo>
                  <a:lnTo>
                    <a:pt x="94715" y="10152"/>
                  </a:lnTo>
                  <a:lnTo>
                    <a:pt x="58428" y="22465"/>
                  </a:lnTo>
                  <a:lnTo>
                    <a:pt x="29584" y="47775"/>
                  </a:lnTo>
                  <a:lnTo>
                    <a:pt x="12663" y="82093"/>
                  </a:lnTo>
                  <a:lnTo>
                    <a:pt x="9524" y="101088"/>
                  </a:lnTo>
                  <a:lnTo>
                    <a:pt x="9524" y="2527810"/>
                  </a:lnTo>
                  <a:lnTo>
                    <a:pt x="19447" y="2564822"/>
                  </a:lnTo>
                  <a:lnTo>
                    <a:pt x="42777" y="2595221"/>
                  </a:lnTo>
                  <a:lnTo>
                    <a:pt x="75965" y="2614377"/>
                  </a:lnTo>
                  <a:lnTo>
                    <a:pt x="101088" y="2619374"/>
                  </a:lnTo>
                  <a:lnTo>
                    <a:pt x="5499062" y="2619374"/>
                  </a:lnTo>
                  <a:lnTo>
                    <a:pt x="5496222" y="2620714"/>
                  </a:lnTo>
                  <a:lnTo>
                    <a:pt x="5486241" y="2624295"/>
                  </a:lnTo>
                  <a:lnTo>
                    <a:pt x="5476056" y="2626853"/>
                  </a:lnTo>
                  <a:lnTo>
                    <a:pt x="5465668" y="2628388"/>
                  </a:lnTo>
                  <a:lnTo>
                    <a:pt x="5455076" y="2628899"/>
                  </a:lnTo>
                  <a:close/>
                </a:path>
                <a:path w="5562600" h="2628900">
                  <a:moveTo>
                    <a:pt x="5499062" y="2619374"/>
                  </a:moveTo>
                  <a:lnTo>
                    <a:pt x="5461510" y="2619374"/>
                  </a:lnTo>
                  <a:lnTo>
                    <a:pt x="5467883" y="2618746"/>
                  </a:lnTo>
                  <a:lnTo>
                    <a:pt x="5480505" y="2616235"/>
                  </a:lnTo>
                  <a:lnTo>
                    <a:pt x="5514870" y="2599283"/>
                  </a:lnTo>
                  <a:lnTo>
                    <a:pt x="5540132" y="2570470"/>
                  </a:lnTo>
                  <a:lnTo>
                    <a:pt x="5552446" y="2534183"/>
                  </a:lnTo>
                  <a:lnTo>
                    <a:pt x="5553073" y="2527810"/>
                  </a:lnTo>
                  <a:lnTo>
                    <a:pt x="5553073" y="101088"/>
                  </a:lnTo>
                  <a:lnTo>
                    <a:pt x="5543151" y="64076"/>
                  </a:lnTo>
                  <a:lnTo>
                    <a:pt x="5519820" y="33677"/>
                  </a:lnTo>
                  <a:lnTo>
                    <a:pt x="5486632" y="14522"/>
                  </a:lnTo>
                  <a:lnTo>
                    <a:pt x="5461510" y="9525"/>
                  </a:lnTo>
                  <a:lnTo>
                    <a:pt x="5499062" y="9525"/>
                  </a:lnTo>
                  <a:lnTo>
                    <a:pt x="5531106" y="31492"/>
                  </a:lnTo>
                  <a:lnTo>
                    <a:pt x="5554414" y="66375"/>
                  </a:lnTo>
                  <a:lnTo>
                    <a:pt x="5562599" y="107523"/>
                  </a:lnTo>
                  <a:lnTo>
                    <a:pt x="5562599" y="2521376"/>
                  </a:lnTo>
                  <a:lnTo>
                    <a:pt x="5562087" y="2531968"/>
                  </a:lnTo>
                  <a:lnTo>
                    <a:pt x="5549887" y="2572113"/>
                  </a:lnTo>
                  <a:lnTo>
                    <a:pt x="5523254" y="2604534"/>
                  </a:lnTo>
                  <a:lnTo>
                    <a:pt x="5505712" y="2616235"/>
                  </a:lnTo>
                  <a:lnTo>
                    <a:pt x="5499062" y="261937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8149" y="962024"/>
              <a:ext cx="5543550" cy="657225"/>
            </a:xfrm>
            <a:custGeom>
              <a:avLst/>
              <a:gdLst/>
              <a:ahLst/>
              <a:cxnLst/>
              <a:rect l="l" t="t" r="r" b="b"/>
              <a:pathLst>
                <a:path w="5543550" h="657225">
                  <a:moveTo>
                    <a:pt x="5543549" y="657224"/>
                  </a:moveTo>
                  <a:lnTo>
                    <a:pt x="0" y="657224"/>
                  </a:lnTo>
                  <a:lnTo>
                    <a:pt x="0" y="0"/>
                  </a:lnTo>
                  <a:lnTo>
                    <a:pt x="5543549" y="0"/>
                  </a:lnTo>
                  <a:lnTo>
                    <a:pt x="5543549" y="65722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38149" y="1609724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55435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543549" y="0"/>
                  </a:lnTo>
                  <a:lnTo>
                    <a:pt x="5543549" y="95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9124" y="1190667"/>
              <a:ext cx="156716" cy="17910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438149" y="1160684"/>
            <a:ext cx="554355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07034">
              <a:lnSpc>
                <a:spcPct val="100000"/>
              </a:lnSpc>
              <a:spcBef>
                <a:spcPts val="110"/>
              </a:spcBef>
            </a:pPr>
            <a:r>
              <a:rPr sz="1400" b="1" spc="-20" dirty="0">
                <a:solidFill>
                  <a:srgbClr val="93C4FD"/>
                </a:solidFill>
                <a:latin typeface="微软雅黑"/>
                <a:cs typeface="微软雅黑"/>
              </a:rPr>
              <a:t>企业智能助手</a:t>
            </a:r>
            <a:endParaRPr sz="1400">
              <a:latin typeface="微软雅黑"/>
              <a:cs typeface="微软雅黑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9124" y="1142999"/>
            <a:ext cx="5181600" cy="2193925"/>
            <a:chOff x="619124" y="1142999"/>
            <a:chExt cx="5181600" cy="2193925"/>
          </a:xfrm>
        </p:grpSpPr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5849" y="1142999"/>
              <a:ext cx="285749" cy="28574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286374" y="1142999"/>
              <a:ext cx="514349" cy="285750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619124" y="1800224"/>
              <a:ext cx="5181600" cy="390525"/>
            </a:xfrm>
            <a:custGeom>
              <a:avLst/>
              <a:gdLst/>
              <a:ahLst/>
              <a:cxnLst/>
              <a:rect l="l" t="t" r="r" b="b"/>
              <a:pathLst>
                <a:path w="5181600" h="390525">
                  <a:moveTo>
                    <a:pt x="5150511" y="390524"/>
                  </a:moveTo>
                  <a:lnTo>
                    <a:pt x="31088" y="390524"/>
                  </a:lnTo>
                  <a:lnTo>
                    <a:pt x="26516" y="389615"/>
                  </a:lnTo>
                  <a:lnTo>
                    <a:pt x="0" y="359436"/>
                  </a:lnTo>
                  <a:lnTo>
                    <a:pt x="0" y="354683"/>
                  </a:lnTo>
                  <a:lnTo>
                    <a:pt x="0" y="31088"/>
                  </a:lnTo>
                  <a:lnTo>
                    <a:pt x="26516" y="909"/>
                  </a:lnTo>
                  <a:lnTo>
                    <a:pt x="31088" y="0"/>
                  </a:lnTo>
                  <a:lnTo>
                    <a:pt x="5150511" y="0"/>
                  </a:lnTo>
                  <a:lnTo>
                    <a:pt x="5180689" y="26515"/>
                  </a:lnTo>
                  <a:lnTo>
                    <a:pt x="5181599" y="31088"/>
                  </a:lnTo>
                  <a:lnTo>
                    <a:pt x="5181599" y="359436"/>
                  </a:lnTo>
                  <a:lnTo>
                    <a:pt x="5155082" y="389615"/>
                  </a:lnTo>
                  <a:lnTo>
                    <a:pt x="5150511" y="39052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124" y="2371724"/>
              <a:ext cx="107453" cy="107453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9124" y="2695574"/>
              <a:ext cx="107453" cy="107453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19145" y="3229004"/>
              <a:ext cx="134221" cy="10739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712092" y="1900301"/>
            <a:ext cx="5096510" cy="146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DAE9FE"/>
                </a:solidFill>
                <a:latin typeface="微软雅黑"/>
                <a:cs typeface="微软雅黑"/>
              </a:rPr>
              <a:t>核心组合：LlamaIndex</a:t>
            </a:r>
            <a:r>
              <a:rPr sz="950" spc="35" dirty="0">
                <a:solidFill>
                  <a:srgbClr val="DAE9FE"/>
                </a:solidFill>
                <a:latin typeface="微软雅黑"/>
                <a:cs typeface="微软雅黑"/>
              </a:rPr>
              <a:t> (知识检索) + </a:t>
            </a:r>
            <a:r>
              <a:rPr sz="950" dirty="0">
                <a:solidFill>
                  <a:srgbClr val="DAE9FE"/>
                </a:solidFill>
                <a:latin typeface="微软雅黑"/>
                <a:cs typeface="微软雅黑"/>
              </a:rPr>
              <a:t>LangGraph</a:t>
            </a:r>
            <a:r>
              <a:rPr sz="950" spc="10" dirty="0">
                <a:solidFill>
                  <a:srgbClr val="DAE9FE"/>
                </a:solidFill>
                <a:latin typeface="微软雅黑"/>
                <a:cs typeface="微软雅黑"/>
              </a:rPr>
              <a:t> (任务编排)</a:t>
            </a:r>
            <a:endParaRPr sz="950">
              <a:latin typeface="微软雅黑"/>
              <a:cs typeface="微软雅黑"/>
            </a:endParaRPr>
          </a:p>
          <a:p>
            <a:pPr marL="83820" marR="5080">
              <a:lnSpc>
                <a:spcPct val="193200"/>
              </a:lnSpc>
              <a:spcBef>
                <a:spcPts val="1080"/>
              </a:spcBef>
            </a:pPr>
            <a:r>
              <a:rPr sz="1100" b="1" dirty="0">
                <a:solidFill>
                  <a:srgbClr val="D0D5DA"/>
                </a:solidFill>
                <a:latin typeface="微软雅黑"/>
                <a:cs typeface="微软雅黑"/>
              </a:rPr>
              <a:t>LlamaIndex：</a:t>
            </a:r>
            <a:r>
              <a:rPr sz="1100" dirty="0">
                <a:solidFill>
                  <a:srgbClr val="D0D5DA"/>
                </a:solidFill>
                <a:latin typeface="微软雅黑"/>
                <a:cs typeface="微软雅黑"/>
              </a:rPr>
              <a:t>提供完整的RAG</a:t>
            </a:r>
            <a:r>
              <a:rPr sz="1100" spc="-5" dirty="0">
                <a:solidFill>
                  <a:srgbClr val="D0D5DA"/>
                </a:solidFill>
                <a:latin typeface="微软雅黑"/>
                <a:cs typeface="微软雅黑"/>
              </a:rPr>
              <a:t>管道，处理海量企业文档，适合生产环境部署。</a:t>
            </a:r>
            <a:r>
              <a:rPr sz="1100" spc="-50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100" b="1" dirty="0">
                <a:solidFill>
                  <a:srgbClr val="D0D5DA"/>
                </a:solidFill>
                <a:latin typeface="微软雅黑"/>
                <a:cs typeface="微软雅黑"/>
              </a:rPr>
              <a:t>LangGraph：</a:t>
            </a:r>
            <a:r>
              <a:rPr sz="1100" spc="-5" dirty="0">
                <a:solidFill>
                  <a:srgbClr val="D0D5DA"/>
                </a:solidFill>
                <a:latin typeface="微软雅黑"/>
                <a:cs typeface="微软雅黑"/>
              </a:rPr>
              <a:t>通过状态机模型提供精确控制，解决多步骤决策与业务逻辑编</a:t>
            </a:r>
            <a:endParaRPr sz="1100">
              <a:latin typeface="微软雅黑"/>
              <a:cs typeface="微软雅黑"/>
            </a:endParaRPr>
          </a:p>
          <a:p>
            <a:pPr marL="83820">
              <a:lnSpc>
                <a:spcPct val="100000"/>
              </a:lnSpc>
              <a:spcBef>
                <a:spcPts val="330"/>
              </a:spcBef>
            </a:pPr>
            <a:r>
              <a:rPr sz="1100" spc="-25" dirty="0">
                <a:solidFill>
                  <a:srgbClr val="D0D5DA"/>
                </a:solidFill>
                <a:latin typeface="微软雅黑"/>
                <a:cs typeface="微软雅黑"/>
              </a:rPr>
              <a:t>排。</a:t>
            </a:r>
            <a:endParaRPr sz="1100">
              <a:latin typeface="微软雅黑"/>
              <a:cs typeface="微软雅黑"/>
            </a:endParaRPr>
          </a:p>
          <a:p>
            <a:pPr marL="110489">
              <a:lnSpc>
                <a:spcPct val="100000"/>
              </a:lnSpc>
              <a:spcBef>
                <a:spcPts val="1155"/>
              </a:spcBef>
            </a:pPr>
            <a:r>
              <a:rPr sz="950" spc="-5" dirty="0">
                <a:solidFill>
                  <a:srgbClr val="9CA2AF"/>
                </a:solidFill>
                <a:latin typeface="微软雅黑"/>
                <a:cs typeface="微软雅黑"/>
              </a:rPr>
              <a:t>适用场景：企业智能问答、复杂业务流程自动化、多角色协作。</a:t>
            </a:r>
            <a:endParaRPr sz="950">
              <a:latin typeface="微软雅黑"/>
              <a:cs typeface="微软雅黑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200774" y="952500"/>
            <a:ext cx="5562600" cy="2628900"/>
            <a:chOff x="6200774" y="952500"/>
            <a:chExt cx="5562600" cy="2628900"/>
          </a:xfrm>
        </p:grpSpPr>
        <p:sp>
          <p:nvSpPr>
            <p:cNvPr id="23" name="object 23"/>
            <p:cNvSpPr/>
            <p:nvPr/>
          </p:nvSpPr>
          <p:spPr>
            <a:xfrm>
              <a:off x="6200774" y="952500"/>
              <a:ext cx="5562600" cy="2628900"/>
            </a:xfrm>
            <a:custGeom>
              <a:avLst/>
              <a:gdLst/>
              <a:ahLst/>
              <a:cxnLst/>
              <a:rect l="l" t="t" r="r" b="b"/>
              <a:pathLst>
                <a:path w="5562600" h="2628900">
                  <a:moveTo>
                    <a:pt x="5455076" y="2628899"/>
                  </a:moveTo>
                  <a:lnTo>
                    <a:pt x="107523" y="2628899"/>
                  </a:lnTo>
                  <a:lnTo>
                    <a:pt x="96930" y="2628388"/>
                  </a:lnTo>
                  <a:lnTo>
                    <a:pt x="56784" y="2616188"/>
                  </a:lnTo>
                  <a:lnTo>
                    <a:pt x="24364" y="2589554"/>
                  </a:lnTo>
                  <a:lnTo>
                    <a:pt x="4603" y="2552541"/>
                  </a:lnTo>
                  <a:lnTo>
                    <a:pt x="0" y="2521376"/>
                  </a:lnTo>
                  <a:lnTo>
                    <a:pt x="0" y="107523"/>
                  </a:lnTo>
                  <a:lnTo>
                    <a:pt x="8184" y="66375"/>
                  </a:lnTo>
                  <a:lnTo>
                    <a:pt x="31492" y="31492"/>
                  </a:lnTo>
                  <a:lnTo>
                    <a:pt x="66374" y="8184"/>
                  </a:lnTo>
                  <a:lnTo>
                    <a:pt x="107523" y="0"/>
                  </a:lnTo>
                  <a:lnTo>
                    <a:pt x="5455076" y="0"/>
                  </a:lnTo>
                  <a:lnTo>
                    <a:pt x="5496222" y="8184"/>
                  </a:lnTo>
                  <a:lnTo>
                    <a:pt x="5531106" y="31492"/>
                  </a:lnTo>
                  <a:lnTo>
                    <a:pt x="5554413" y="66375"/>
                  </a:lnTo>
                  <a:lnTo>
                    <a:pt x="5562599" y="107523"/>
                  </a:lnTo>
                  <a:lnTo>
                    <a:pt x="5562599" y="2521376"/>
                  </a:lnTo>
                  <a:lnTo>
                    <a:pt x="5554414" y="2562523"/>
                  </a:lnTo>
                  <a:lnTo>
                    <a:pt x="5531106" y="2597406"/>
                  </a:lnTo>
                  <a:lnTo>
                    <a:pt x="5496223" y="2620714"/>
                  </a:lnTo>
                  <a:lnTo>
                    <a:pt x="5455076" y="262889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00774" y="952500"/>
              <a:ext cx="5562600" cy="2628900"/>
            </a:xfrm>
            <a:custGeom>
              <a:avLst/>
              <a:gdLst/>
              <a:ahLst/>
              <a:cxnLst/>
              <a:rect l="l" t="t" r="r" b="b"/>
              <a:pathLst>
                <a:path w="5562600" h="2628900">
                  <a:moveTo>
                    <a:pt x="5455076" y="2628899"/>
                  </a:moveTo>
                  <a:lnTo>
                    <a:pt x="107523" y="2628899"/>
                  </a:lnTo>
                  <a:lnTo>
                    <a:pt x="96930" y="2628388"/>
                  </a:lnTo>
                  <a:lnTo>
                    <a:pt x="56784" y="2616188"/>
                  </a:lnTo>
                  <a:lnTo>
                    <a:pt x="24364" y="2589555"/>
                  </a:lnTo>
                  <a:lnTo>
                    <a:pt x="4603" y="2552541"/>
                  </a:lnTo>
                  <a:lnTo>
                    <a:pt x="0" y="2521376"/>
                  </a:lnTo>
                  <a:lnTo>
                    <a:pt x="0" y="107523"/>
                  </a:lnTo>
                  <a:lnTo>
                    <a:pt x="8184" y="66375"/>
                  </a:lnTo>
                  <a:lnTo>
                    <a:pt x="31492" y="31492"/>
                  </a:lnTo>
                  <a:lnTo>
                    <a:pt x="66374" y="8184"/>
                  </a:lnTo>
                  <a:lnTo>
                    <a:pt x="107523" y="0"/>
                  </a:lnTo>
                  <a:lnTo>
                    <a:pt x="5455076" y="0"/>
                  </a:lnTo>
                  <a:lnTo>
                    <a:pt x="5496222" y="8184"/>
                  </a:lnTo>
                  <a:lnTo>
                    <a:pt x="5499062" y="9525"/>
                  </a:lnTo>
                  <a:lnTo>
                    <a:pt x="101087" y="9525"/>
                  </a:lnTo>
                  <a:lnTo>
                    <a:pt x="94714" y="10152"/>
                  </a:lnTo>
                  <a:lnTo>
                    <a:pt x="58427" y="22465"/>
                  </a:lnTo>
                  <a:lnTo>
                    <a:pt x="29583" y="47775"/>
                  </a:lnTo>
                  <a:lnTo>
                    <a:pt x="12662" y="82093"/>
                  </a:lnTo>
                  <a:lnTo>
                    <a:pt x="9524" y="101088"/>
                  </a:lnTo>
                  <a:lnTo>
                    <a:pt x="9524" y="2527810"/>
                  </a:lnTo>
                  <a:lnTo>
                    <a:pt x="19445" y="2564822"/>
                  </a:lnTo>
                  <a:lnTo>
                    <a:pt x="42776" y="2595221"/>
                  </a:lnTo>
                  <a:lnTo>
                    <a:pt x="75964" y="2614377"/>
                  </a:lnTo>
                  <a:lnTo>
                    <a:pt x="101087" y="2619374"/>
                  </a:lnTo>
                  <a:lnTo>
                    <a:pt x="5499062" y="2619374"/>
                  </a:lnTo>
                  <a:lnTo>
                    <a:pt x="5496223" y="2620714"/>
                  </a:lnTo>
                  <a:lnTo>
                    <a:pt x="5486241" y="2624295"/>
                  </a:lnTo>
                  <a:lnTo>
                    <a:pt x="5476056" y="2626853"/>
                  </a:lnTo>
                  <a:lnTo>
                    <a:pt x="5465668" y="2628388"/>
                  </a:lnTo>
                  <a:lnTo>
                    <a:pt x="5455076" y="2628899"/>
                  </a:lnTo>
                  <a:close/>
                </a:path>
                <a:path w="5562600" h="2628900">
                  <a:moveTo>
                    <a:pt x="5499062" y="2619374"/>
                  </a:moveTo>
                  <a:lnTo>
                    <a:pt x="5461508" y="2619374"/>
                  </a:lnTo>
                  <a:lnTo>
                    <a:pt x="5467881" y="2618746"/>
                  </a:lnTo>
                  <a:lnTo>
                    <a:pt x="5480501" y="2616235"/>
                  </a:lnTo>
                  <a:lnTo>
                    <a:pt x="5514868" y="2599283"/>
                  </a:lnTo>
                  <a:lnTo>
                    <a:pt x="5540131" y="2570470"/>
                  </a:lnTo>
                  <a:lnTo>
                    <a:pt x="5552446" y="2534183"/>
                  </a:lnTo>
                  <a:lnTo>
                    <a:pt x="5553074" y="2527810"/>
                  </a:lnTo>
                  <a:lnTo>
                    <a:pt x="5553074" y="101088"/>
                  </a:lnTo>
                  <a:lnTo>
                    <a:pt x="5543150" y="64076"/>
                  </a:lnTo>
                  <a:lnTo>
                    <a:pt x="5519819" y="33677"/>
                  </a:lnTo>
                  <a:lnTo>
                    <a:pt x="5486630" y="14522"/>
                  </a:lnTo>
                  <a:lnTo>
                    <a:pt x="5461508" y="9525"/>
                  </a:lnTo>
                  <a:lnTo>
                    <a:pt x="5499062" y="9525"/>
                  </a:lnTo>
                  <a:lnTo>
                    <a:pt x="5531106" y="31492"/>
                  </a:lnTo>
                  <a:lnTo>
                    <a:pt x="5554413" y="66375"/>
                  </a:lnTo>
                  <a:lnTo>
                    <a:pt x="5562599" y="107523"/>
                  </a:lnTo>
                  <a:lnTo>
                    <a:pt x="5562599" y="2521376"/>
                  </a:lnTo>
                  <a:lnTo>
                    <a:pt x="5562087" y="2531968"/>
                  </a:lnTo>
                  <a:lnTo>
                    <a:pt x="5549888" y="2572113"/>
                  </a:lnTo>
                  <a:lnTo>
                    <a:pt x="5523254" y="2604534"/>
                  </a:lnTo>
                  <a:lnTo>
                    <a:pt x="5505712" y="2616235"/>
                  </a:lnTo>
                  <a:lnTo>
                    <a:pt x="5499062" y="261937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210299" y="962024"/>
              <a:ext cx="5543550" cy="657225"/>
            </a:xfrm>
            <a:custGeom>
              <a:avLst/>
              <a:gdLst/>
              <a:ahLst/>
              <a:cxnLst/>
              <a:rect l="l" t="t" r="r" b="b"/>
              <a:pathLst>
                <a:path w="5543550" h="657225">
                  <a:moveTo>
                    <a:pt x="5543549" y="657224"/>
                  </a:moveTo>
                  <a:lnTo>
                    <a:pt x="0" y="657224"/>
                  </a:lnTo>
                  <a:lnTo>
                    <a:pt x="0" y="0"/>
                  </a:lnTo>
                  <a:lnTo>
                    <a:pt x="5543549" y="0"/>
                  </a:lnTo>
                  <a:lnTo>
                    <a:pt x="5543549" y="65722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210299" y="1609724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55435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543549" y="0"/>
                  </a:lnTo>
                  <a:lnTo>
                    <a:pt x="5543549" y="95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391274" y="1190625"/>
              <a:ext cx="179189" cy="179189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210299" y="1160684"/>
            <a:ext cx="554355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32434">
              <a:lnSpc>
                <a:spcPct val="100000"/>
              </a:lnSpc>
              <a:spcBef>
                <a:spcPts val="110"/>
              </a:spcBef>
            </a:pPr>
            <a:r>
              <a:rPr sz="1400" b="1" spc="-20" dirty="0">
                <a:solidFill>
                  <a:srgbClr val="C3B4FD"/>
                </a:solidFill>
                <a:latin typeface="微软雅黑"/>
                <a:cs typeface="微软雅黑"/>
              </a:rPr>
              <a:t>研究分析平台</a:t>
            </a:r>
            <a:endParaRPr sz="1400">
              <a:latin typeface="微软雅黑"/>
              <a:cs typeface="微软雅黑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391273" y="1142999"/>
            <a:ext cx="5181600" cy="2193925"/>
            <a:chOff x="6391273" y="1142999"/>
            <a:chExt cx="5181600" cy="2193925"/>
          </a:xfrm>
        </p:grpSpPr>
        <p:pic>
          <p:nvPicPr>
            <p:cNvPr id="30" name="object 3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87024" y="1142999"/>
              <a:ext cx="1085849" cy="28575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6391273" y="1800224"/>
              <a:ext cx="5181600" cy="390525"/>
            </a:xfrm>
            <a:custGeom>
              <a:avLst/>
              <a:gdLst/>
              <a:ahLst/>
              <a:cxnLst/>
              <a:rect l="l" t="t" r="r" b="b"/>
              <a:pathLst>
                <a:path w="5181600" h="390525">
                  <a:moveTo>
                    <a:pt x="5150511" y="390524"/>
                  </a:moveTo>
                  <a:lnTo>
                    <a:pt x="31088" y="390524"/>
                  </a:lnTo>
                  <a:lnTo>
                    <a:pt x="26516" y="389615"/>
                  </a:lnTo>
                  <a:lnTo>
                    <a:pt x="0" y="359436"/>
                  </a:lnTo>
                  <a:lnTo>
                    <a:pt x="0" y="354683"/>
                  </a:lnTo>
                  <a:lnTo>
                    <a:pt x="0" y="31088"/>
                  </a:lnTo>
                  <a:lnTo>
                    <a:pt x="26516" y="909"/>
                  </a:lnTo>
                  <a:lnTo>
                    <a:pt x="31088" y="0"/>
                  </a:lnTo>
                  <a:lnTo>
                    <a:pt x="5150511" y="0"/>
                  </a:lnTo>
                  <a:lnTo>
                    <a:pt x="5180689" y="26515"/>
                  </a:lnTo>
                  <a:lnTo>
                    <a:pt x="5181599" y="31088"/>
                  </a:lnTo>
                  <a:lnTo>
                    <a:pt x="5181599" y="359436"/>
                  </a:lnTo>
                  <a:lnTo>
                    <a:pt x="5155081" y="389615"/>
                  </a:lnTo>
                  <a:lnTo>
                    <a:pt x="5150511" y="390524"/>
                  </a:lnTo>
                  <a:close/>
                </a:path>
              </a:pathLst>
            </a:custGeom>
            <a:solidFill>
              <a:srgbClr val="4B1C94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91274" y="2371724"/>
              <a:ext cx="107453" cy="107453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391274" y="2905124"/>
              <a:ext cx="107453" cy="107453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6391274" y="3229024"/>
              <a:ext cx="80516" cy="107354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6486921" y="1900301"/>
            <a:ext cx="5051425" cy="14617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ECE8FE"/>
                </a:solidFill>
                <a:latin typeface="微软雅黑"/>
                <a:cs typeface="微软雅黑"/>
              </a:rPr>
              <a:t>核心组合：GPT-Researcher</a:t>
            </a:r>
            <a:r>
              <a:rPr sz="950" spc="40" dirty="0">
                <a:solidFill>
                  <a:srgbClr val="ECE8FE"/>
                </a:solidFill>
                <a:latin typeface="微软雅黑"/>
                <a:cs typeface="微软雅黑"/>
              </a:rPr>
              <a:t> (搜集) + </a:t>
            </a:r>
            <a:r>
              <a:rPr sz="950" dirty="0">
                <a:solidFill>
                  <a:srgbClr val="ECE8FE"/>
                </a:solidFill>
                <a:latin typeface="微软雅黑"/>
                <a:cs typeface="微软雅黑"/>
              </a:rPr>
              <a:t>Haystack</a:t>
            </a:r>
            <a:r>
              <a:rPr sz="950" spc="10" dirty="0">
                <a:solidFill>
                  <a:srgbClr val="ECE8FE"/>
                </a:solidFill>
                <a:latin typeface="微软雅黑"/>
                <a:cs typeface="微软雅黑"/>
              </a:rPr>
              <a:t> (管理)</a:t>
            </a:r>
            <a:endParaRPr sz="95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275"/>
              </a:spcBef>
            </a:pPr>
            <a:endParaRPr sz="950">
              <a:latin typeface="微软雅黑"/>
              <a:cs typeface="微软雅黑"/>
            </a:endParaRPr>
          </a:p>
          <a:p>
            <a:pPr marL="83820" marR="5080">
              <a:lnSpc>
                <a:spcPct val="130700"/>
              </a:lnSpc>
            </a:pPr>
            <a:r>
              <a:rPr sz="1100" b="1" dirty="0">
                <a:solidFill>
                  <a:srgbClr val="D0D5DA"/>
                </a:solidFill>
                <a:latin typeface="微软雅黑"/>
                <a:cs typeface="微软雅黑"/>
              </a:rPr>
              <a:t>信息搜集：</a:t>
            </a:r>
            <a:r>
              <a:rPr sz="1100" dirty="0">
                <a:solidFill>
                  <a:srgbClr val="D0D5DA"/>
                </a:solidFill>
                <a:latin typeface="微软雅黑"/>
                <a:cs typeface="微软雅黑"/>
              </a:rPr>
              <a:t>利用GPT-Researcher</a:t>
            </a:r>
            <a:r>
              <a:rPr sz="1100" spc="-5" dirty="0">
                <a:solidFill>
                  <a:srgbClr val="D0D5DA"/>
                </a:solidFill>
                <a:latin typeface="微软雅黑"/>
                <a:cs typeface="微软雅黑"/>
              </a:rPr>
              <a:t>进行多源信息搜集与交叉验证，保证报告全面</a:t>
            </a:r>
            <a:r>
              <a:rPr sz="1100" spc="-25" dirty="0">
                <a:solidFill>
                  <a:srgbClr val="D0D5DA"/>
                </a:solidFill>
                <a:latin typeface="微软雅黑"/>
                <a:cs typeface="微软雅黑"/>
              </a:rPr>
              <a:t>性。</a:t>
            </a:r>
            <a:endParaRPr sz="1100">
              <a:latin typeface="微软雅黑"/>
              <a:cs typeface="微软雅黑"/>
            </a:endParaRPr>
          </a:p>
          <a:p>
            <a:pPr marL="83820">
              <a:lnSpc>
                <a:spcPct val="100000"/>
              </a:lnSpc>
              <a:spcBef>
                <a:spcPts val="1155"/>
              </a:spcBef>
            </a:pPr>
            <a:r>
              <a:rPr sz="1100" b="1" dirty="0">
                <a:solidFill>
                  <a:srgbClr val="D0D5DA"/>
                </a:solidFill>
                <a:latin typeface="微软雅黑"/>
                <a:cs typeface="微软雅黑"/>
              </a:rPr>
              <a:t>技术演进：</a:t>
            </a:r>
            <a:r>
              <a:rPr sz="1100" spc="10" dirty="0">
                <a:solidFill>
                  <a:srgbClr val="D0D5DA"/>
                </a:solidFill>
                <a:latin typeface="微软雅黑"/>
                <a:cs typeface="微软雅黑"/>
              </a:rPr>
              <a:t>支持端到端模型训练，相比模块化拼接可降低 </a:t>
            </a:r>
            <a:r>
              <a:rPr sz="1100" dirty="0">
                <a:solidFill>
                  <a:srgbClr val="D0D5DA"/>
                </a:solidFill>
                <a:latin typeface="微软雅黑"/>
                <a:cs typeface="微软雅黑"/>
              </a:rPr>
              <a:t>76</a:t>
            </a:r>
            <a:r>
              <a:rPr sz="1100" spc="20" dirty="0">
                <a:solidFill>
                  <a:srgbClr val="D0D5DA"/>
                </a:solidFill>
                <a:latin typeface="微软雅黑"/>
                <a:cs typeface="微软雅黑"/>
              </a:rPr>
              <a:t>% 的错误率。</a:t>
            </a:r>
            <a:endParaRPr sz="1100">
              <a:latin typeface="微软雅黑"/>
              <a:cs typeface="微软雅黑"/>
            </a:endParaRPr>
          </a:p>
          <a:p>
            <a:pPr marL="57150">
              <a:lnSpc>
                <a:spcPct val="100000"/>
              </a:lnSpc>
              <a:spcBef>
                <a:spcPts val="1155"/>
              </a:spcBef>
            </a:pPr>
            <a:r>
              <a:rPr sz="950" spc="-5" dirty="0">
                <a:solidFill>
                  <a:srgbClr val="9CA2AF"/>
                </a:solidFill>
                <a:latin typeface="微软雅黑"/>
                <a:cs typeface="微软雅黑"/>
              </a:rPr>
              <a:t>适用场景：自动生成行业综述、学术文献分析、多源情报整合。</a:t>
            </a:r>
            <a:endParaRPr sz="950">
              <a:latin typeface="微软雅黑"/>
              <a:cs typeface="微软雅黑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28624" y="3790949"/>
            <a:ext cx="5562600" cy="2590800"/>
            <a:chOff x="428624" y="3790949"/>
            <a:chExt cx="5562600" cy="2590800"/>
          </a:xfrm>
        </p:grpSpPr>
        <p:sp>
          <p:nvSpPr>
            <p:cNvPr id="37" name="object 37"/>
            <p:cNvSpPr/>
            <p:nvPr/>
          </p:nvSpPr>
          <p:spPr>
            <a:xfrm>
              <a:off x="428624" y="3790949"/>
              <a:ext cx="5562600" cy="2590800"/>
            </a:xfrm>
            <a:custGeom>
              <a:avLst/>
              <a:gdLst/>
              <a:ahLst/>
              <a:cxnLst/>
              <a:rect l="l" t="t" r="r" b="b"/>
              <a:pathLst>
                <a:path w="5562600" h="2590800">
                  <a:moveTo>
                    <a:pt x="5455076" y="2590799"/>
                  </a:moveTo>
                  <a:lnTo>
                    <a:pt x="107523" y="2590799"/>
                  </a:lnTo>
                  <a:lnTo>
                    <a:pt x="96931" y="2590287"/>
                  </a:lnTo>
                  <a:lnTo>
                    <a:pt x="56785" y="2578088"/>
                  </a:lnTo>
                  <a:lnTo>
                    <a:pt x="24364" y="2551455"/>
                  </a:lnTo>
                  <a:lnTo>
                    <a:pt x="4603" y="2514441"/>
                  </a:lnTo>
                  <a:lnTo>
                    <a:pt x="0" y="2483276"/>
                  </a:lnTo>
                  <a:lnTo>
                    <a:pt x="0" y="107523"/>
                  </a:lnTo>
                  <a:lnTo>
                    <a:pt x="8184" y="66375"/>
                  </a:lnTo>
                  <a:lnTo>
                    <a:pt x="31492" y="31492"/>
                  </a:lnTo>
                  <a:lnTo>
                    <a:pt x="66375" y="8184"/>
                  </a:lnTo>
                  <a:lnTo>
                    <a:pt x="107523" y="0"/>
                  </a:lnTo>
                  <a:lnTo>
                    <a:pt x="5455076" y="0"/>
                  </a:lnTo>
                  <a:lnTo>
                    <a:pt x="5496222" y="8184"/>
                  </a:lnTo>
                  <a:lnTo>
                    <a:pt x="5531106" y="31492"/>
                  </a:lnTo>
                  <a:lnTo>
                    <a:pt x="5554414" y="66375"/>
                  </a:lnTo>
                  <a:lnTo>
                    <a:pt x="5562599" y="107523"/>
                  </a:lnTo>
                  <a:lnTo>
                    <a:pt x="5562599" y="2483276"/>
                  </a:lnTo>
                  <a:lnTo>
                    <a:pt x="5554413" y="2524422"/>
                  </a:lnTo>
                  <a:lnTo>
                    <a:pt x="5531106" y="2559306"/>
                  </a:lnTo>
                  <a:lnTo>
                    <a:pt x="5496222" y="2582614"/>
                  </a:lnTo>
                  <a:lnTo>
                    <a:pt x="5455076" y="259079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8624" y="3790949"/>
              <a:ext cx="5562600" cy="2590800"/>
            </a:xfrm>
            <a:custGeom>
              <a:avLst/>
              <a:gdLst/>
              <a:ahLst/>
              <a:cxnLst/>
              <a:rect l="l" t="t" r="r" b="b"/>
              <a:pathLst>
                <a:path w="5562600" h="2590800">
                  <a:moveTo>
                    <a:pt x="5455076" y="2590799"/>
                  </a:moveTo>
                  <a:lnTo>
                    <a:pt x="107523" y="2590799"/>
                  </a:lnTo>
                  <a:lnTo>
                    <a:pt x="96931" y="2590288"/>
                  </a:lnTo>
                  <a:lnTo>
                    <a:pt x="56785" y="2578088"/>
                  </a:lnTo>
                  <a:lnTo>
                    <a:pt x="24364" y="2551454"/>
                  </a:lnTo>
                  <a:lnTo>
                    <a:pt x="4603" y="2514441"/>
                  </a:lnTo>
                  <a:lnTo>
                    <a:pt x="0" y="2483276"/>
                  </a:lnTo>
                  <a:lnTo>
                    <a:pt x="0" y="107523"/>
                  </a:lnTo>
                  <a:lnTo>
                    <a:pt x="8184" y="66375"/>
                  </a:lnTo>
                  <a:lnTo>
                    <a:pt x="31492" y="31492"/>
                  </a:lnTo>
                  <a:lnTo>
                    <a:pt x="66375" y="8184"/>
                  </a:lnTo>
                  <a:lnTo>
                    <a:pt x="107523" y="0"/>
                  </a:lnTo>
                  <a:lnTo>
                    <a:pt x="5455076" y="0"/>
                  </a:lnTo>
                  <a:lnTo>
                    <a:pt x="5496222" y="8184"/>
                  </a:lnTo>
                  <a:lnTo>
                    <a:pt x="5499064" y="9525"/>
                  </a:lnTo>
                  <a:lnTo>
                    <a:pt x="101088" y="9525"/>
                  </a:lnTo>
                  <a:lnTo>
                    <a:pt x="94715" y="10152"/>
                  </a:lnTo>
                  <a:lnTo>
                    <a:pt x="58428" y="22465"/>
                  </a:lnTo>
                  <a:lnTo>
                    <a:pt x="29583" y="47774"/>
                  </a:lnTo>
                  <a:lnTo>
                    <a:pt x="12663" y="82093"/>
                  </a:lnTo>
                  <a:lnTo>
                    <a:pt x="9524" y="101088"/>
                  </a:lnTo>
                  <a:lnTo>
                    <a:pt x="9524" y="2489710"/>
                  </a:lnTo>
                  <a:lnTo>
                    <a:pt x="19447" y="2526723"/>
                  </a:lnTo>
                  <a:lnTo>
                    <a:pt x="42777" y="2557121"/>
                  </a:lnTo>
                  <a:lnTo>
                    <a:pt x="75965" y="2576276"/>
                  </a:lnTo>
                  <a:lnTo>
                    <a:pt x="101088" y="2581273"/>
                  </a:lnTo>
                  <a:lnTo>
                    <a:pt x="5499063" y="2581273"/>
                  </a:lnTo>
                  <a:lnTo>
                    <a:pt x="5496222" y="2582614"/>
                  </a:lnTo>
                  <a:lnTo>
                    <a:pt x="5486241" y="2586195"/>
                  </a:lnTo>
                  <a:lnTo>
                    <a:pt x="5476056" y="2588753"/>
                  </a:lnTo>
                  <a:lnTo>
                    <a:pt x="5465668" y="2590288"/>
                  </a:lnTo>
                  <a:lnTo>
                    <a:pt x="5455076" y="2590799"/>
                  </a:lnTo>
                  <a:close/>
                </a:path>
                <a:path w="5562600" h="2590800">
                  <a:moveTo>
                    <a:pt x="5499063" y="2581273"/>
                  </a:moveTo>
                  <a:lnTo>
                    <a:pt x="5461510" y="2581273"/>
                  </a:lnTo>
                  <a:lnTo>
                    <a:pt x="5467883" y="2580646"/>
                  </a:lnTo>
                  <a:lnTo>
                    <a:pt x="5480505" y="2578135"/>
                  </a:lnTo>
                  <a:lnTo>
                    <a:pt x="5514870" y="2561183"/>
                  </a:lnTo>
                  <a:lnTo>
                    <a:pt x="5540132" y="2532369"/>
                  </a:lnTo>
                  <a:lnTo>
                    <a:pt x="5552446" y="2496083"/>
                  </a:lnTo>
                  <a:lnTo>
                    <a:pt x="5553073" y="2489710"/>
                  </a:lnTo>
                  <a:lnTo>
                    <a:pt x="5553073" y="101088"/>
                  </a:lnTo>
                  <a:lnTo>
                    <a:pt x="5543151" y="64075"/>
                  </a:lnTo>
                  <a:lnTo>
                    <a:pt x="5519820" y="33677"/>
                  </a:lnTo>
                  <a:lnTo>
                    <a:pt x="5486632" y="14521"/>
                  </a:lnTo>
                  <a:lnTo>
                    <a:pt x="5461510" y="9525"/>
                  </a:lnTo>
                  <a:lnTo>
                    <a:pt x="5499064" y="9525"/>
                  </a:lnTo>
                  <a:lnTo>
                    <a:pt x="5531106" y="31492"/>
                  </a:lnTo>
                  <a:lnTo>
                    <a:pt x="5554414" y="66375"/>
                  </a:lnTo>
                  <a:lnTo>
                    <a:pt x="5562599" y="107523"/>
                  </a:lnTo>
                  <a:lnTo>
                    <a:pt x="5562599" y="2483276"/>
                  </a:lnTo>
                  <a:lnTo>
                    <a:pt x="5562087" y="2493868"/>
                  </a:lnTo>
                  <a:lnTo>
                    <a:pt x="5549887" y="2534013"/>
                  </a:lnTo>
                  <a:lnTo>
                    <a:pt x="5523253" y="2566435"/>
                  </a:lnTo>
                  <a:lnTo>
                    <a:pt x="5505712" y="2578135"/>
                  </a:lnTo>
                  <a:lnTo>
                    <a:pt x="5499063" y="2581273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38149" y="3800474"/>
              <a:ext cx="5543550" cy="619125"/>
            </a:xfrm>
            <a:custGeom>
              <a:avLst/>
              <a:gdLst/>
              <a:ahLst/>
              <a:cxnLst/>
              <a:rect l="l" t="t" r="r" b="b"/>
              <a:pathLst>
                <a:path w="5543550" h="619125">
                  <a:moveTo>
                    <a:pt x="5543549" y="619124"/>
                  </a:moveTo>
                  <a:lnTo>
                    <a:pt x="0" y="619124"/>
                  </a:lnTo>
                  <a:lnTo>
                    <a:pt x="0" y="0"/>
                  </a:lnTo>
                  <a:lnTo>
                    <a:pt x="5543549" y="0"/>
                  </a:lnTo>
                  <a:lnTo>
                    <a:pt x="5543549" y="61912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38149" y="4410074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55435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543549" y="0"/>
                  </a:lnTo>
                  <a:lnTo>
                    <a:pt x="5543549" y="95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19124" y="4030777"/>
              <a:ext cx="201513" cy="156732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586286" y="3995737"/>
              <a:ext cx="1209675" cy="219075"/>
            </a:xfrm>
            <a:custGeom>
              <a:avLst/>
              <a:gdLst/>
              <a:ahLst/>
              <a:cxnLst/>
              <a:rect l="l" t="t" r="r" b="b"/>
              <a:pathLst>
                <a:path w="1209675" h="219075">
                  <a:moveTo>
                    <a:pt x="1182718" y="219074"/>
                  </a:moveTo>
                  <a:lnTo>
                    <a:pt x="26957" y="219074"/>
                  </a:lnTo>
                  <a:lnTo>
                    <a:pt x="22992" y="218286"/>
                  </a:lnTo>
                  <a:lnTo>
                    <a:pt x="0" y="192117"/>
                  </a:lnTo>
                  <a:lnTo>
                    <a:pt x="0" y="187996"/>
                  </a:lnTo>
                  <a:lnTo>
                    <a:pt x="0" y="26957"/>
                  </a:lnTo>
                  <a:lnTo>
                    <a:pt x="26957" y="0"/>
                  </a:lnTo>
                  <a:lnTo>
                    <a:pt x="1182718" y="0"/>
                  </a:lnTo>
                  <a:lnTo>
                    <a:pt x="1209674" y="26957"/>
                  </a:lnTo>
                  <a:lnTo>
                    <a:pt x="1209674" y="192117"/>
                  </a:lnTo>
                  <a:lnTo>
                    <a:pt x="1186682" y="218286"/>
                  </a:lnTo>
                  <a:lnTo>
                    <a:pt x="1182718" y="219074"/>
                  </a:lnTo>
                  <a:close/>
                </a:path>
              </a:pathLst>
            </a:custGeom>
            <a:solidFill>
              <a:srgbClr val="055E45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586286" y="3995737"/>
              <a:ext cx="1209675" cy="219075"/>
            </a:xfrm>
            <a:custGeom>
              <a:avLst/>
              <a:gdLst/>
              <a:ahLst/>
              <a:cxnLst/>
              <a:rect l="l" t="t" r="r" b="b"/>
              <a:pathLst>
                <a:path w="1209675" h="219075">
                  <a:moveTo>
                    <a:pt x="0" y="187996"/>
                  </a:moveTo>
                  <a:lnTo>
                    <a:pt x="0" y="31078"/>
                  </a:lnTo>
                  <a:lnTo>
                    <a:pt x="0" y="26957"/>
                  </a:lnTo>
                  <a:lnTo>
                    <a:pt x="788" y="22992"/>
                  </a:lnTo>
                  <a:lnTo>
                    <a:pt x="2365" y="19184"/>
                  </a:lnTo>
                  <a:lnTo>
                    <a:pt x="3942" y="15377"/>
                  </a:lnTo>
                  <a:lnTo>
                    <a:pt x="6188" y="12016"/>
                  </a:lnTo>
                  <a:lnTo>
                    <a:pt x="9102" y="9102"/>
                  </a:lnTo>
                  <a:lnTo>
                    <a:pt x="12016" y="6188"/>
                  </a:lnTo>
                  <a:lnTo>
                    <a:pt x="15377" y="3942"/>
                  </a:lnTo>
                  <a:lnTo>
                    <a:pt x="19184" y="2365"/>
                  </a:lnTo>
                  <a:lnTo>
                    <a:pt x="22992" y="788"/>
                  </a:lnTo>
                  <a:lnTo>
                    <a:pt x="26957" y="0"/>
                  </a:lnTo>
                  <a:lnTo>
                    <a:pt x="31078" y="0"/>
                  </a:lnTo>
                  <a:lnTo>
                    <a:pt x="1178596" y="0"/>
                  </a:lnTo>
                  <a:lnTo>
                    <a:pt x="1182718" y="0"/>
                  </a:lnTo>
                  <a:lnTo>
                    <a:pt x="1186682" y="788"/>
                  </a:lnTo>
                  <a:lnTo>
                    <a:pt x="1207309" y="19185"/>
                  </a:lnTo>
                  <a:lnTo>
                    <a:pt x="1208886" y="22992"/>
                  </a:lnTo>
                  <a:lnTo>
                    <a:pt x="1209674" y="26957"/>
                  </a:lnTo>
                  <a:lnTo>
                    <a:pt x="1209675" y="31078"/>
                  </a:lnTo>
                  <a:lnTo>
                    <a:pt x="1209675" y="187996"/>
                  </a:lnTo>
                  <a:lnTo>
                    <a:pt x="1209674" y="192117"/>
                  </a:lnTo>
                  <a:lnTo>
                    <a:pt x="1208886" y="196081"/>
                  </a:lnTo>
                  <a:lnTo>
                    <a:pt x="1207309" y="199888"/>
                  </a:lnTo>
                  <a:lnTo>
                    <a:pt x="1205731" y="203696"/>
                  </a:lnTo>
                  <a:lnTo>
                    <a:pt x="1178596" y="219074"/>
                  </a:lnTo>
                  <a:lnTo>
                    <a:pt x="31078" y="219074"/>
                  </a:lnTo>
                  <a:lnTo>
                    <a:pt x="26957" y="219074"/>
                  </a:lnTo>
                  <a:lnTo>
                    <a:pt x="22992" y="218286"/>
                  </a:lnTo>
                  <a:lnTo>
                    <a:pt x="19184" y="216708"/>
                  </a:lnTo>
                  <a:lnTo>
                    <a:pt x="15377" y="215131"/>
                  </a:lnTo>
                  <a:lnTo>
                    <a:pt x="0" y="192117"/>
                  </a:lnTo>
                  <a:lnTo>
                    <a:pt x="0" y="187996"/>
                  </a:lnTo>
                  <a:close/>
                </a:path>
              </a:pathLst>
            </a:custGeom>
            <a:ln w="9524">
              <a:solidFill>
                <a:srgbClr val="04956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12749" y="3961034"/>
            <a:ext cx="559435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77520">
              <a:lnSpc>
                <a:spcPct val="100000"/>
              </a:lnSpc>
              <a:spcBef>
                <a:spcPts val="110"/>
              </a:spcBef>
              <a:tabLst>
                <a:tab pos="4248150" algn="l"/>
              </a:tabLst>
            </a:pPr>
            <a:r>
              <a:rPr sz="2100" b="1" spc="-15" baseline="-5952" dirty="0">
                <a:solidFill>
                  <a:srgbClr val="6EE7B6"/>
                </a:solidFill>
                <a:latin typeface="微软雅黑"/>
                <a:cs typeface="微软雅黑"/>
              </a:rPr>
              <a:t>业务流程自动</a:t>
            </a:r>
            <a:r>
              <a:rPr sz="2100" b="1" spc="-75" baseline="-5952" dirty="0">
                <a:solidFill>
                  <a:srgbClr val="6EE7B6"/>
                </a:solidFill>
                <a:latin typeface="微软雅黑"/>
                <a:cs typeface="微软雅黑"/>
              </a:rPr>
              <a:t>化</a:t>
            </a:r>
            <a:r>
              <a:rPr sz="2100" b="1" baseline="-5952" dirty="0">
                <a:solidFill>
                  <a:srgbClr val="6EE7B6"/>
                </a:solidFill>
                <a:latin typeface="微软雅黑"/>
                <a:cs typeface="微软雅黑"/>
              </a:rPr>
              <a:t>	</a:t>
            </a:r>
            <a:r>
              <a:rPr sz="850" dirty="0">
                <a:solidFill>
                  <a:srgbClr val="A6F2D0"/>
                </a:solidFill>
                <a:latin typeface="微软雅黑"/>
                <a:cs typeface="微软雅黑"/>
              </a:rPr>
              <a:t>n8n</a:t>
            </a:r>
            <a:r>
              <a:rPr sz="850" spc="-10" dirty="0">
                <a:solidFill>
                  <a:srgbClr val="A6F2D0"/>
                </a:solidFill>
                <a:latin typeface="微软雅黑"/>
                <a:cs typeface="微软雅黑"/>
              </a:rPr>
              <a:t> </a:t>
            </a:r>
            <a:r>
              <a:rPr sz="850" dirty="0">
                <a:solidFill>
                  <a:srgbClr val="A6F2D0"/>
                </a:solidFill>
                <a:latin typeface="微软雅黑"/>
                <a:cs typeface="微软雅黑"/>
              </a:rPr>
              <a:t>+</a:t>
            </a:r>
            <a:r>
              <a:rPr sz="850" spc="-5" dirty="0">
                <a:solidFill>
                  <a:srgbClr val="A6F2D0"/>
                </a:solidFill>
                <a:latin typeface="微软雅黑"/>
                <a:cs typeface="微软雅黑"/>
              </a:rPr>
              <a:t> </a:t>
            </a:r>
            <a:r>
              <a:rPr sz="850" spc="-10" dirty="0">
                <a:solidFill>
                  <a:srgbClr val="A6F2D0"/>
                </a:solidFill>
                <a:latin typeface="微软雅黑"/>
                <a:cs typeface="微软雅黑"/>
              </a:rPr>
              <a:t>Enterprise</a:t>
            </a:r>
            <a:r>
              <a:rPr sz="850" spc="-5" dirty="0">
                <a:solidFill>
                  <a:srgbClr val="A6F2D0"/>
                </a:solidFill>
                <a:latin typeface="微软雅黑"/>
                <a:cs typeface="微软雅黑"/>
              </a:rPr>
              <a:t> </a:t>
            </a:r>
            <a:r>
              <a:rPr sz="850" spc="-25" dirty="0">
                <a:solidFill>
                  <a:srgbClr val="A6F2D0"/>
                </a:solidFill>
                <a:latin typeface="微软雅黑"/>
                <a:cs typeface="微软雅黑"/>
              </a:rPr>
              <a:t>API</a:t>
            </a:r>
            <a:endParaRPr sz="850">
              <a:latin typeface="微软雅黑"/>
              <a:cs typeface="微软雅黑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19124" y="4600574"/>
            <a:ext cx="5181600" cy="1536065"/>
            <a:chOff x="619124" y="4600574"/>
            <a:chExt cx="5181600" cy="1536065"/>
          </a:xfrm>
        </p:grpSpPr>
        <p:sp>
          <p:nvSpPr>
            <p:cNvPr id="46" name="object 46"/>
            <p:cNvSpPr/>
            <p:nvPr/>
          </p:nvSpPr>
          <p:spPr>
            <a:xfrm>
              <a:off x="619124" y="4600574"/>
              <a:ext cx="5181600" cy="390525"/>
            </a:xfrm>
            <a:custGeom>
              <a:avLst/>
              <a:gdLst/>
              <a:ahLst/>
              <a:cxnLst/>
              <a:rect l="l" t="t" r="r" b="b"/>
              <a:pathLst>
                <a:path w="5181600" h="390525">
                  <a:moveTo>
                    <a:pt x="5150511" y="390524"/>
                  </a:moveTo>
                  <a:lnTo>
                    <a:pt x="31088" y="390524"/>
                  </a:lnTo>
                  <a:lnTo>
                    <a:pt x="26516" y="389614"/>
                  </a:lnTo>
                  <a:lnTo>
                    <a:pt x="0" y="359436"/>
                  </a:lnTo>
                  <a:lnTo>
                    <a:pt x="0" y="354684"/>
                  </a:lnTo>
                  <a:lnTo>
                    <a:pt x="0" y="31087"/>
                  </a:lnTo>
                  <a:lnTo>
                    <a:pt x="26516" y="909"/>
                  </a:lnTo>
                  <a:lnTo>
                    <a:pt x="31088" y="0"/>
                  </a:lnTo>
                  <a:lnTo>
                    <a:pt x="5150511" y="0"/>
                  </a:lnTo>
                  <a:lnTo>
                    <a:pt x="5180689" y="26515"/>
                  </a:lnTo>
                  <a:lnTo>
                    <a:pt x="5181599" y="31087"/>
                  </a:lnTo>
                  <a:lnTo>
                    <a:pt x="5181599" y="359436"/>
                  </a:lnTo>
                  <a:lnTo>
                    <a:pt x="5155082" y="389615"/>
                  </a:lnTo>
                  <a:lnTo>
                    <a:pt x="5150511" y="390524"/>
                  </a:lnTo>
                  <a:close/>
                </a:path>
              </a:pathLst>
            </a:custGeom>
            <a:solidFill>
              <a:srgbClr val="054E3B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7" name="object 47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9124" y="5172074"/>
              <a:ext cx="107453" cy="107453"/>
            </a:xfrm>
            <a:prstGeom prst="rect">
              <a:avLst/>
            </a:prstGeom>
          </p:spPr>
        </p:pic>
        <p:pic>
          <p:nvPicPr>
            <p:cNvPr id="48" name="object 48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19124" y="5495924"/>
              <a:ext cx="107453" cy="107453"/>
            </a:xfrm>
            <a:prstGeom prst="rect">
              <a:avLst/>
            </a:prstGeom>
          </p:spPr>
        </p:pic>
        <p:pic>
          <p:nvPicPr>
            <p:cNvPr id="49" name="object 49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619460" y="6031032"/>
              <a:ext cx="132149" cy="105380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712092" y="4700650"/>
            <a:ext cx="4883785" cy="1471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D0FAE4"/>
                </a:solidFill>
                <a:latin typeface="微软雅黑"/>
                <a:cs typeface="微软雅黑"/>
              </a:rPr>
              <a:t>核心组合：n8n</a:t>
            </a:r>
            <a:r>
              <a:rPr sz="950" spc="5" dirty="0">
                <a:solidFill>
                  <a:srgbClr val="D0FAE4"/>
                </a:solidFill>
                <a:latin typeface="微软雅黑"/>
                <a:cs typeface="微软雅黑"/>
              </a:rPr>
              <a:t> (工作流) + 企业内部系统 + </a:t>
            </a:r>
            <a:r>
              <a:rPr sz="950" spc="-10" dirty="0">
                <a:solidFill>
                  <a:srgbClr val="D0FAE4"/>
                </a:solidFill>
                <a:latin typeface="微软雅黑"/>
                <a:cs typeface="微软雅黑"/>
              </a:rPr>
              <a:t>Haystack</a:t>
            </a:r>
            <a:endParaRPr sz="95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950">
              <a:latin typeface="微软雅黑"/>
              <a:cs typeface="微软雅黑"/>
            </a:endParaRPr>
          </a:p>
          <a:p>
            <a:pPr marL="83820">
              <a:lnSpc>
                <a:spcPct val="100000"/>
              </a:lnSpc>
            </a:pPr>
            <a:r>
              <a:rPr sz="1100" b="1" dirty="0">
                <a:solidFill>
                  <a:srgbClr val="D0D5DA"/>
                </a:solidFill>
                <a:latin typeface="微软雅黑"/>
                <a:cs typeface="微软雅黑"/>
              </a:rPr>
              <a:t>工作流编排：</a:t>
            </a:r>
            <a:r>
              <a:rPr sz="1100" dirty="0">
                <a:solidFill>
                  <a:srgbClr val="D0D5DA"/>
                </a:solidFill>
                <a:latin typeface="微软雅黑"/>
                <a:cs typeface="微软雅黑"/>
              </a:rPr>
              <a:t>使用n8n链接各类API</a:t>
            </a:r>
            <a:r>
              <a:rPr sz="1100" spc="-5" dirty="0">
                <a:solidFill>
                  <a:srgbClr val="D0D5DA"/>
                </a:solidFill>
                <a:latin typeface="微软雅黑"/>
                <a:cs typeface="微软雅黑"/>
              </a:rPr>
              <a:t>节点，实现自动化执行流。</a:t>
            </a:r>
            <a:endParaRPr sz="1100">
              <a:latin typeface="微软雅黑"/>
              <a:cs typeface="微软雅黑"/>
            </a:endParaRPr>
          </a:p>
          <a:p>
            <a:pPr marL="83820" marR="5080">
              <a:lnSpc>
                <a:spcPct val="130700"/>
              </a:lnSpc>
              <a:spcBef>
                <a:spcPts val="825"/>
              </a:spcBef>
            </a:pPr>
            <a:r>
              <a:rPr sz="1100" b="1" dirty="0">
                <a:solidFill>
                  <a:srgbClr val="D0D5DA"/>
                </a:solidFill>
                <a:latin typeface="微软雅黑"/>
                <a:cs typeface="微软雅黑"/>
              </a:rPr>
              <a:t>深度解析：</a:t>
            </a:r>
            <a:r>
              <a:rPr sz="1100" dirty="0">
                <a:solidFill>
                  <a:srgbClr val="D0D5DA"/>
                </a:solidFill>
                <a:latin typeface="微软雅黑"/>
                <a:cs typeface="微软雅黑"/>
              </a:rPr>
              <a:t>引入RAGFlow处理合同、报表等复杂格式文档，弥补传统RAG</a:t>
            </a:r>
            <a:r>
              <a:rPr sz="1100" spc="-50" dirty="0">
                <a:solidFill>
                  <a:srgbClr val="D0D5DA"/>
                </a:solidFill>
                <a:latin typeface="微软雅黑"/>
                <a:cs typeface="微软雅黑"/>
              </a:rPr>
              <a:t>不</a:t>
            </a:r>
            <a:r>
              <a:rPr sz="1100" spc="-25" dirty="0">
                <a:solidFill>
                  <a:srgbClr val="D0D5DA"/>
                </a:solidFill>
                <a:latin typeface="微软雅黑"/>
                <a:cs typeface="微软雅黑"/>
              </a:rPr>
              <a:t>足。</a:t>
            </a:r>
            <a:endParaRPr sz="1100">
              <a:latin typeface="微软雅黑"/>
              <a:cs typeface="微软雅黑"/>
            </a:endParaRPr>
          </a:p>
          <a:p>
            <a:pPr marL="110489">
              <a:lnSpc>
                <a:spcPct val="100000"/>
              </a:lnSpc>
              <a:spcBef>
                <a:spcPts val="1155"/>
              </a:spcBef>
            </a:pPr>
            <a:r>
              <a:rPr sz="950" spc="-5" dirty="0">
                <a:solidFill>
                  <a:srgbClr val="9CA2AF"/>
                </a:solidFill>
                <a:latin typeface="微软雅黑"/>
                <a:cs typeface="微软雅黑"/>
              </a:rPr>
              <a:t>适用场景：跨系统数据同步、合同审批自动化、财务报表分析。</a:t>
            </a:r>
            <a:endParaRPr sz="950">
              <a:latin typeface="微软雅黑"/>
              <a:cs typeface="微软雅黑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6200774" y="3790949"/>
            <a:ext cx="5562600" cy="2590800"/>
            <a:chOff x="6200774" y="3790949"/>
            <a:chExt cx="5562600" cy="2590800"/>
          </a:xfrm>
        </p:grpSpPr>
        <p:sp>
          <p:nvSpPr>
            <p:cNvPr id="52" name="object 52"/>
            <p:cNvSpPr/>
            <p:nvPr/>
          </p:nvSpPr>
          <p:spPr>
            <a:xfrm>
              <a:off x="6200774" y="3790949"/>
              <a:ext cx="5562600" cy="2590800"/>
            </a:xfrm>
            <a:custGeom>
              <a:avLst/>
              <a:gdLst/>
              <a:ahLst/>
              <a:cxnLst/>
              <a:rect l="l" t="t" r="r" b="b"/>
              <a:pathLst>
                <a:path w="5562600" h="2590800">
                  <a:moveTo>
                    <a:pt x="5455076" y="2590799"/>
                  </a:moveTo>
                  <a:lnTo>
                    <a:pt x="107523" y="2590799"/>
                  </a:lnTo>
                  <a:lnTo>
                    <a:pt x="96930" y="2590287"/>
                  </a:lnTo>
                  <a:lnTo>
                    <a:pt x="56784" y="2578088"/>
                  </a:lnTo>
                  <a:lnTo>
                    <a:pt x="24364" y="2551455"/>
                  </a:lnTo>
                  <a:lnTo>
                    <a:pt x="4603" y="2514441"/>
                  </a:lnTo>
                  <a:lnTo>
                    <a:pt x="0" y="2483276"/>
                  </a:lnTo>
                  <a:lnTo>
                    <a:pt x="0" y="107523"/>
                  </a:lnTo>
                  <a:lnTo>
                    <a:pt x="8184" y="66375"/>
                  </a:lnTo>
                  <a:lnTo>
                    <a:pt x="31492" y="31492"/>
                  </a:lnTo>
                  <a:lnTo>
                    <a:pt x="66374" y="8184"/>
                  </a:lnTo>
                  <a:lnTo>
                    <a:pt x="107523" y="0"/>
                  </a:lnTo>
                  <a:lnTo>
                    <a:pt x="5455076" y="0"/>
                  </a:lnTo>
                  <a:lnTo>
                    <a:pt x="5496222" y="8184"/>
                  </a:lnTo>
                  <a:lnTo>
                    <a:pt x="5531106" y="31492"/>
                  </a:lnTo>
                  <a:lnTo>
                    <a:pt x="5554413" y="66375"/>
                  </a:lnTo>
                  <a:lnTo>
                    <a:pt x="5562599" y="107523"/>
                  </a:lnTo>
                  <a:lnTo>
                    <a:pt x="5562599" y="2483276"/>
                  </a:lnTo>
                  <a:lnTo>
                    <a:pt x="5554414" y="2524422"/>
                  </a:lnTo>
                  <a:lnTo>
                    <a:pt x="5531106" y="2559306"/>
                  </a:lnTo>
                  <a:lnTo>
                    <a:pt x="5496223" y="2582614"/>
                  </a:lnTo>
                  <a:lnTo>
                    <a:pt x="5455076" y="2590799"/>
                  </a:lnTo>
                  <a:close/>
                </a:path>
              </a:pathLst>
            </a:custGeom>
            <a:solidFill>
              <a:srgbClr val="FFFFFF">
                <a:alpha val="313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6200774" y="3790949"/>
              <a:ext cx="5562600" cy="2590800"/>
            </a:xfrm>
            <a:custGeom>
              <a:avLst/>
              <a:gdLst/>
              <a:ahLst/>
              <a:cxnLst/>
              <a:rect l="l" t="t" r="r" b="b"/>
              <a:pathLst>
                <a:path w="5562600" h="2590800">
                  <a:moveTo>
                    <a:pt x="5455076" y="2590799"/>
                  </a:moveTo>
                  <a:lnTo>
                    <a:pt x="107523" y="2590799"/>
                  </a:lnTo>
                  <a:lnTo>
                    <a:pt x="96930" y="2590288"/>
                  </a:lnTo>
                  <a:lnTo>
                    <a:pt x="56783" y="2578088"/>
                  </a:lnTo>
                  <a:lnTo>
                    <a:pt x="24363" y="2551454"/>
                  </a:lnTo>
                  <a:lnTo>
                    <a:pt x="4603" y="2514441"/>
                  </a:lnTo>
                  <a:lnTo>
                    <a:pt x="0" y="2483276"/>
                  </a:lnTo>
                  <a:lnTo>
                    <a:pt x="0" y="107523"/>
                  </a:lnTo>
                  <a:lnTo>
                    <a:pt x="8184" y="66375"/>
                  </a:lnTo>
                  <a:lnTo>
                    <a:pt x="31492" y="31492"/>
                  </a:lnTo>
                  <a:lnTo>
                    <a:pt x="66374" y="8184"/>
                  </a:lnTo>
                  <a:lnTo>
                    <a:pt x="107523" y="0"/>
                  </a:lnTo>
                  <a:lnTo>
                    <a:pt x="5455076" y="0"/>
                  </a:lnTo>
                  <a:lnTo>
                    <a:pt x="5496222" y="8184"/>
                  </a:lnTo>
                  <a:lnTo>
                    <a:pt x="5499063" y="9525"/>
                  </a:lnTo>
                  <a:lnTo>
                    <a:pt x="101087" y="9525"/>
                  </a:lnTo>
                  <a:lnTo>
                    <a:pt x="94714" y="10152"/>
                  </a:lnTo>
                  <a:lnTo>
                    <a:pt x="58427" y="22465"/>
                  </a:lnTo>
                  <a:lnTo>
                    <a:pt x="29583" y="47774"/>
                  </a:lnTo>
                  <a:lnTo>
                    <a:pt x="12662" y="82093"/>
                  </a:lnTo>
                  <a:lnTo>
                    <a:pt x="9524" y="101088"/>
                  </a:lnTo>
                  <a:lnTo>
                    <a:pt x="9524" y="2489710"/>
                  </a:lnTo>
                  <a:lnTo>
                    <a:pt x="19445" y="2526723"/>
                  </a:lnTo>
                  <a:lnTo>
                    <a:pt x="42776" y="2557121"/>
                  </a:lnTo>
                  <a:lnTo>
                    <a:pt x="75964" y="2576276"/>
                  </a:lnTo>
                  <a:lnTo>
                    <a:pt x="101087" y="2581273"/>
                  </a:lnTo>
                  <a:lnTo>
                    <a:pt x="5499063" y="2581273"/>
                  </a:lnTo>
                  <a:lnTo>
                    <a:pt x="5496223" y="2582614"/>
                  </a:lnTo>
                  <a:lnTo>
                    <a:pt x="5486241" y="2586195"/>
                  </a:lnTo>
                  <a:lnTo>
                    <a:pt x="5476056" y="2588753"/>
                  </a:lnTo>
                  <a:lnTo>
                    <a:pt x="5465668" y="2590288"/>
                  </a:lnTo>
                  <a:lnTo>
                    <a:pt x="5455076" y="2590799"/>
                  </a:lnTo>
                  <a:close/>
                </a:path>
                <a:path w="5562600" h="2590800">
                  <a:moveTo>
                    <a:pt x="5499063" y="2581273"/>
                  </a:moveTo>
                  <a:lnTo>
                    <a:pt x="5461508" y="2581273"/>
                  </a:lnTo>
                  <a:lnTo>
                    <a:pt x="5467881" y="2580646"/>
                  </a:lnTo>
                  <a:lnTo>
                    <a:pt x="5480501" y="2578135"/>
                  </a:lnTo>
                  <a:lnTo>
                    <a:pt x="5514868" y="2561183"/>
                  </a:lnTo>
                  <a:lnTo>
                    <a:pt x="5540131" y="2532369"/>
                  </a:lnTo>
                  <a:lnTo>
                    <a:pt x="5552446" y="2496083"/>
                  </a:lnTo>
                  <a:lnTo>
                    <a:pt x="5553074" y="2489710"/>
                  </a:lnTo>
                  <a:lnTo>
                    <a:pt x="5553074" y="101088"/>
                  </a:lnTo>
                  <a:lnTo>
                    <a:pt x="5543150" y="64075"/>
                  </a:lnTo>
                  <a:lnTo>
                    <a:pt x="5519819" y="33677"/>
                  </a:lnTo>
                  <a:lnTo>
                    <a:pt x="5486630" y="14521"/>
                  </a:lnTo>
                  <a:lnTo>
                    <a:pt x="5461508" y="9525"/>
                  </a:lnTo>
                  <a:lnTo>
                    <a:pt x="5499063" y="9525"/>
                  </a:lnTo>
                  <a:lnTo>
                    <a:pt x="5531106" y="31492"/>
                  </a:lnTo>
                  <a:lnTo>
                    <a:pt x="5554413" y="66375"/>
                  </a:lnTo>
                  <a:lnTo>
                    <a:pt x="5562599" y="107523"/>
                  </a:lnTo>
                  <a:lnTo>
                    <a:pt x="5562599" y="2483276"/>
                  </a:lnTo>
                  <a:lnTo>
                    <a:pt x="5562087" y="2493868"/>
                  </a:lnTo>
                  <a:lnTo>
                    <a:pt x="5549887" y="2534013"/>
                  </a:lnTo>
                  <a:lnTo>
                    <a:pt x="5523253" y="2566435"/>
                  </a:lnTo>
                  <a:lnTo>
                    <a:pt x="5505712" y="2578135"/>
                  </a:lnTo>
                  <a:lnTo>
                    <a:pt x="5499063" y="2581273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6210299" y="3800474"/>
              <a:ext cx="5543550" cy="619125"/>
            </a:xfrm>
            <a:custGeom>
              <a:avLst/>
              <a:gdLst/>
              <a:ahLst/>
              <a:cxnLst/>
              <a:rect l="l" t="t" r="r" b="b"/>
              <a:pathLst>
                <a:path w="5543550" h="619125">
                  <a:moveTo>
                    <a:pt x="5543549" y="619124"/>
                  </a:moveTo>
                  <a:lnTo>
                    <a:pt x="0" y="619124"/>
                  </a:lnTo>
                  <a:lnTo>
                    <a:pt x="0" y="0"/>
                  </a:lnTo>
                  <a:lnTo>
                    <a:pt x="5543549" y="0"/>
                  </a:lnTo>
                  <a:lnTo>
                    <a:pt x="5543549" y="619124"/>
                  </a:lnTo>
                  <a:close/>
                </a:path>
              </a:pathLst>
            </a:custGeom>
            <a:solidFill>
              <a:srgbClr val="000000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6210299" y="4410074"/>
              <a:ext cx="5543550" cy="9525"/>
            </a:xfrm>
            <a:custGeom>
              <a:avLst/>
              <a:gdLst/>
              <a:ahLst/>
              <a:cxnLst/>
              <a:rect l="l" t="t" r="r" b="b"/>
              <a:pathLst>
                <a:path w="5543550" h="9525">
                  <a:moveTo>
                    <a:pt x="5543549" y="9524"/>
                  </a:moveTo>
                  <a:lnTo>
                    <a:pt x="0" y="9524"/>
                  </a:lnTo>
                  <a:lnTo>
                    <a:pt x="0" y="0"/>
                  </a:lnTo>
                  <a:lnTo>
                    <a:pt x="5543549" y="0"/>
                  </a:lnTo>
                  <a:lnTo>
                    <a:pt x="5543549" y="95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6390854" y="4019572"/>
              <a:ext cx="179581" cy="179586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6210299" y="3980084"/>
            <a:ext cx="5543550" cy="24066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432434">
              <a:lnSpc>
                <a:spcPct val="100000"/>
              </a:lnSpc>
              <a:spcBef>
                <a:spcPts val="110"/>
              </a:spcBef>
            </a:pPr>
            <a:r>
              <a:rPr sz="1400" b="1" spc="-10" dirty="0">
                <a:solidFill>
                  <a:srgbClr val="FBD34D"/>
                </a:solidFill>
                <a:latin typeface="微软雅黑"/>
                <a:cs typeface="微软雅黑"/>
              </a:rPr>
              <a:t>快速概念验证 (</a:t>
            </a:r>
            <a:r>
              <a:rPr sz="1400" b="1" spc="-20" dirty="0">
                <a:solidFill>
                  <a:srgbClr val="FBD34D"/>
                </a:solidFill>
                <a:latin typeface="微软雅黑"/>
                <a:cs typeface="微软雅黑"/>
              </a:rPr>
              <a:t>MVP)</a:t>
            </a:r>
            <a:endParaRPr sz="1400">
              <a:latin typeface="微软雅黑"/>
              <a:cs typeface="微软雅黑"/>
            </a:endParaRPr>
          </a:p>
        </p:txBody>
      </p:sp>
      <p:grpSp>
        <p:nvGrpSpPr>
          <p:cNvPr id="58" name="object 58"/>
          <p:cNvGrpSpPr/>
          <p:nvPr/>
        </p:nvGrpSpPr>
        <p:grpSpPr>
          <a:xfrm>
            <a:off x="6391273" y="3981450"/>
            <a:ext cx="5181600" cy="1946275"/>
            <a:chOff x="6391273" y="3981450"/>
            <a:chExt cx="5181600" cy="1946275"/>
          </a:xfrm>
        </p:grpSpPr>
        <p:pic>
          <p:nvPicPr>
            <p:cNvPr id="59" name="object 5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944224" y="3981450"/>
              <a:ext cx="628649" cy="247649"/>
            </a:xfrm>
            <a:prstGeom prst="rect">
              <a:avLst/>
            </a:prstGeom>
          </p:spPr>
        </p:pic>
        <p:sp>
          <p:nvSpPr>
            <p:cNvPr id="60" name="object 60"/>
            <p:cNvSpPr/>
            <p:nvPr/>
          </p:nvSpPr>
          <p:spPr>
            <a:xfrm>
              <a:off x="6391273" y="4600574"/>
              <a:ext cx="5181600" cy="390525"/>
            </a:xfrm>
            <a:custGeom>
              <a:avLst/>
              <a:gdLst/>
              <a:ahLst/>
              <a:cxnLst/>
              <a:rect l="l" t="t" r="r" b="b"/>
              <a:pathLst>
                <a:path w="5181600" h="390525">
                  <a:moveTo>
                    <a:pt x="5150511" y="390524"/>
                  </a:moveTo>
                  <a:lnTo>
                    <a:pt x="31088" y="390524"/>
                  </a:lnTo>
                  <a:lnTo>
                    <a:pt x="26516" y="389614"/>
                  </a:lnTo>
                  <a:lnTo>
                    <a:pt x="0" y="359436"/>
                  </a:lnTo>
                  <a:lnTo>
                    <a:pt x="0" y="354684"/>
                  </a:lnTo>
                  <a:lnTo>
                    <a:pt x="0" y="31087"/>
                  </a:lnTo>
                  <a:lnTo>
                    <a:pt x="26516" y="909"/>
                  </a:lnTo>
                  <a:lnTo>
                    <a:pt x="31088" y="0"/>
                  </a:lnTo>
                  <a:lnTo>
                    <a:pt x="5150511" y="0"/>
                  </a:lnTo>
                  <a:lnTo>
                    <a:pt x="5180689" y="26515"/>
                  </a:lnTo>
                  <a:lnTo>
                    <a:pt x="5181599" y="31087"/>
                  </a:lnTo>
                  <a:lnTo>
                    <a:pt x="5181599" y="359436"/>
                  </a:lnTo>
                  <a:lnTo>
                    <a:pt x="5155081" y="389615"/>
                  </a:lnTo>
                  <a:lnTo>
                    <a:pt x="5150511" y="390524"/>
                  </a:lnTo>
                  <a:close/>
                </a:path>
              </a:pathLst>
            </a:custGeom>
            <a:solidFill>
              <a:srgbClr val="78340E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61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91274" y="5172074"/>
              <a:ext cx="107453" cy="107453"/>
            </a:xfrm>
            <a:prstGeom prst="rect">
              <a:avLst/>
            </a:prstGeom>
          </p:spPr>
        </p:pic>
        <p:pic>
          <p:nvPicPr>
            <p:cNvPr id="62" name="object 62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6391274" y="5495924"/>
              <a:ext cx="107453" cy="107453"/>
            </a:xfrm>
            <a:prstGeom prst="rect">
              <a:avLst/>
            </a:prstGeom>
          </p:spPr>
        </p:pic>
        <p:pic>
          <p:nvPicPr>
            <p:cNvPr id="63" name="object 63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394629" y="5819824"/>
              <a:ext cx="73806" cy="107354"/>
            </a:xfrm>
            <a:prstGeom prst="rect">
              <a:avLst/>
            </a:prstGeom>
          </p:spPr>
        </p:pic>
      </p:grpSp>
      <p:sp>
        <p:nvSpPr>
          <p:cNvPr id="64" name="object 64"/>
          <p:cNvSpPr txBox="1"/>
          <p:nvPr/>
        </p:nvSpPr>
        <p:spPr>
          <a:xfrm>
            <a:off x="6486921" y="4700650"/>
            <a:ext cx="4751705" cy="12522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950" dirty="0">
                <a:solidFill>
                  <a:srgbClr val="FEF2C7"/>
                </a:solidFill>
                <a:latin typeface="微软雅黑"/>
                <a:cs typeface="微软雅黑"/>
              </a:rPr>
              <a:t>核心组合：Dify</a:t>
            </a:r>
            <a:r>
              <a:rPr sz="950" spc="75" dirty="0">
                <a:solidFill>
                  <a:srgbClr val="FEF2C7"/>
                </a:solidFill>
                <a:latin typeface="微软雅黑"/>
                <a:cs typeface="微软雅黑"/>
              </a:rPr>
              <a:t> / </a:t>
            </a:r>
            <a:r>
              <a:rPr sz="950" dirty="0">
                <a:solidFill>
                  <a:srgbClr val="FEF2C7"/>
                </a:solidFill>
                <a:latin typeface="微软雅黑"/>
                <a:cs typeface="微软雅黑"/>
              </a:rPr>
              <a:t>Langflow</a:t>
            </a:r>
            <a:r>
              <a:rPr sz="950" spc="25" dirty="0">
                <a:solidFill>
                  <a:srgbClr val="FEF2C7"/>
                </a:solidFill>
                <a:latin typeface="微软雅黑"/>
                <a:cs typeface="微软雅黑"/>
              </a:rPr>
              <a:t> (可视化) + 标准</a:t>
            </a:r>
            <a:r>
              <a:rPr sz="950" dirty="0">
                <a:solidFill>
                  <a:srgbClr val="FEF2C7"/>
                </a:solidFill>
                <a:latin typeface="微软雅黑"/>
                <a:cs typeface="微软雅黑"/>
              </a:rPr>
              <a:t>RAG</a:t>
            </a:r>
            <a:r>
              <a:rPr sz="950" spc="-25" dirty="0">
                <a:solidFill>
                  <a:srgbClr val="FEF2C7"/>
                </a:solidFill>
                <a:latin typeface="微软雅黑"/>
                <a:cs typeface="微软雅黑"/>
              </a:rPr>
              <a:t>组件</a:t>
            </a:r>
            <a:endParaRPr sz="950">
              <a:latin typeface="微软雅黑"/>
              <a:cs typeface="微软雅黑"/>
            </a:endParaRPr>
          </a:p>
          <a:p>
            <a:pPr>
              <a:lnSpc>
                <a:spcPct val="100000"/>
              </a:lnSpc>
              <a:spcBef>
                <a:spcPts val="680"/>
              </a:spcBef>
            </a:pPr>
            <a:endParaRPr sz="950">
              <a:latin typeface="微软雅黑"/>
              <a:cs typeface="微软雅黑"/>
            </a:endParaRPr>
          </a:p>
          <a:p>
            <a:pPr marL="83820">
              <a:lnSpc>
                <a:spcPct val="100000"/>
              </a:lnSpc>
            </a:pPr>
            <a:r>
              <a:rPr sz="1100" b="1" dirty="0">
                <a:solidFill>
                  <a:srgbClr val="D0D5DA"/>
                </a:solidFill>
                <a:latin typeface="微软雅黑"/>
                <a:cs typeface="微软雅黑"/>
              </a:rPr>
              <a:t>低代码开发：</a:t>
            </a:r>
            <a:r>
              <a:rPr sz="1100" spc="-5" dirty="0">
                <a:solidFill>
                  <a:srgbClr val="D0D5DA"/>
                </a:solidFill>
                <a:latin typeface="微软雅黑"/>
                <a:cs typeface="微软雅黑"/>
              </a:rPr>
              <a:t>提供可视化编排界面，大幅降低非技术团队的上手门槛。</a:t>
            </a:r>
            <a:endParaRPr sz="1100">
              <a:latin typeface="微软雅黑"/>
              <a:cs typeface="微软雅黑"/>
            </a:endParaRPr>
          </a:p>
          <a:p>
            <a:pPr marL="83820">
              <a:lnSpc>
                <a:spcPct val="100000"/>
              </a:lnSpc>
              <a:spcBef>
                <a:spcPts val="1230"/>
              </a:spcBef>
            </a:pPr>
            <a:r>
              <a:rPr sz="1100" b="1" dirty="0">
                <a:solidFill>
                  <a:srgbClr val="D0D5DA"/>
                </a:solidFill>
                <a:latin typeface="微软雅黑"/>
                <a:cs typeface="微软雅黑"/>
              </a:rPr>
              <a:t>快速迭代：</a:t>
            </a:r>
            <a:r>
              <a:rPr sz="1100" dirty="0">
                <a:solidFill>
                  <a:srgbClr val="D0D5DA"/>
                </a:solidFill>
                <a:latin typeface="微软雅黑"/>
                <a:cs typeface="微软雅黑"/>
              </a:rPr>
              <a:t>非常适合从想法到原型的快速验证，支持一键发布Web</a:t>
            </a:r>
            <a:r>
              <a:rPr sz="1100" spc="90" dirty="0">
                <a:solidFill>
                  <a:srgbClr val="D0D5DA"/>
                </a:solidFill>
                <a:latin typeface="微软雅黑"/>
                <a:cs typeface="微软雅黑"/>
              </a:rPr>
              <a:t>  </a:t>
            </a:r>
            <a:r>
              <a:rPr sz="1100" dirty="0">
                <a:solidFill>
                  <a:srgbClr val="D0D5DA"/>
                </a:solidFill>
                <a:latin typeface="微软雅黑"/>
                <a:cs typeface="微软雅黑"/>
              </a:rPr>
              <a:t>App</a:t>
            </a:r>
            <a:r>
              <a:rPr sz="1100" spc="-50" dirty="0">
                <a:solidFill>
                  <a:srgbClr val="D0D5DA"/>
                </a:solidFill>
                <a:latin typeface="微软雅黑"/>
                <a:cs typeface="微软雅黑"/>
              </a:rPr>
              <a:t>。</a:t>
            </a:r>
            <a:endParaRPr sz="1100">
              <a:latin typeface="微软雅黑"/>
              <a:cs typeface="微软雅黑"/>
            </a:endParaRPr>
          </a:p>
          <a:p>
            <a:pPr marL="57150">
              <a:lnSpc>
                <a:spcPct val="100000"/>
              </a:lnSpc>
              <a:spcBef>
                <a:spcPts val="1155"/>
              </a:spcBef>
            </a:pPr>
            <a:r>
              <a:rPr sz="950" spc="-5" dirty="0">
                <a:solidFill>
                  <a:srgbClr val="9CA2AF"/>
                </a:solidFill>
                <a:latin typeface="微软雅黑"/>
                <a:cs typeface="微软雅黑"/>
              </a:rPr>
              <a:t>适用场景：创新业务探索、内部工具快速上线、非技术人员构建。</a:t>
            </a:r>
            <a:endParaRPr sz="950">
              <a:latin typeface="微软雅黑"/>
              <a:cs typeface="微软雅黑"/>
            </a:endParaRPr>
          </a:p>
        </p:txBody>
      </p:sp>
      <p:sp>
        <p:nvSpPr>
          <p:cNvPr id="65" name="object 6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框架发展趋势</a:t>
            </a:r>
          </a:p>
        </p:txBody>
      </p:sp>
      <p:sp>
        <p:nvSpPr>
          <p:cNvPr id="3" name="object 3"/>
          <p:cNvSpPr/>
          <p:nvPr/>
        </p:nvSpPr>
        <p:spPr>
          <a:xfrm>
            <a:off x="428624" y="819149"/>
            <a:ext cx="1371600" cy="38100"/>
          </a:xfrm>
          <a:custGeom>
            <a:avLst/>
            <a:gdLst/>
            <a:ahLst/>
            <a:cxnLst/>
            <a:rect l="l" t="t" r="r" b="b"/>
            <a:pathLst>
              <a:path w="1371600" h="38100">
                <a:moveTo>
                  <a:pt x="1371599" y="38099"/>
                </a:moveTo>
                <a:lnTo>
                  <a:pt x="0" y="38099"/>
                </a:lnTo>
                <a:lnTo>
                  <a:pt x="0" y="0"/>
                </a:lnTo>
                <a:lnTo>
                  <a:pt x="1371599" y="0"/>
                </a:lnTo>
                <a:lnTo>
                  <a:pt x="13715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28624" y="1028699"/>
            <a:ext cx="28575" cy="1676400"/>
          </a:xfrm>
          <a:custGeom>
            <a:avLst/>
            <a:gdLst/>
            <a:ahLst/>
            <a:cxnLst/>
            <a:rect l="l" t="t" r="r" b="b"/>
            <a:pathLst>
              <a:path w="28575" h="1676400">
                <a:moveTo>
                  <a:pt x="28574" y="1676399"/>
                </a:moveTo>
                <a:lnTo>
                  <a:pt x="0" y="1676399"/>
                </a:lnTo>
                <a:lnTo>
                  <a:pt x="0" y="0"/>
                </a:lnTo>
                <a:lnTo>
                  <a:pt x="28574" y="0"/>
                </a:lnTo>
                <a:lnTo>
                  <a:pt x="28574" y="16763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0074" y="1276364"/>
            <a:ext cx="229344" cy="1834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591244" y="1232503"/>
            <a:ext cx="3489960" cy="6921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1790">
              <a:lnSpc>
                <a:spcPct val="100000"/>
              </a:lnSpc>
              <a:spcBef>
                <a:spcPts val="95"/>
              </a:spcBef>
            </a:pPr>
            <a:r>
              <a:rPr sz="1450" b="1" spc="-30" dirty="0">
                <a:solidFill>
                  <a:srgbClr val="93C4FD"/>
                </a:solidFill>
                <a:latin typeface="微软雅黑"/>
                <a:cs typeface="微软雅黑"/>
              </a:rPr>
              <a:t>多模态能力标配化</a:t>
            </a:r>
            <a:endParaRPr sz="1450">
              <a:latin typeface="微软雅黑"/>
              <a:cs typeface="微软雅黑"/>
            </a:endParaRPr>
          </a:p>
          <a:p>
            <a:pPr marL="12700" marR="5080">
              <a:lnSpc>
                <a:spcPct val="118800"/>
              </a:lnSpc>
              <a:spcBef>
                <a:spcPts val="660"/>
              </a:spcBef>
            </a:pP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从单一文本向全媒体理解转变，支持文本、图像、音频、视频</a:t>
            </a:r>
            <a:r>
              <a:rPr sz="1000" spc="-10" dirty="0">
                <a:solidFill>
                  <a:srgbClr val="D0D5DA"/>
                </a:solidFill>
                <a:latin typeface="微软雅黑"/>
                <a:cs typeface="微软雅黑"/>
              </a:rPr>
              <a:t>统一处理。</a:t>
            </a:r>
            <a:endParaRPr sz="1000">
              <a:latin typeface="微软雅黑"/>
              <a:cs typeface="微软雅黑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00074" y="2047874"/>
            <a:ext cx="3533775" cy="438150"/>
            <a:chOff x="600074" y="2047874"/>
            <a:chExt cx="3533775" cy="438150"/>
          </a:xfrm>
        </p:grpSpPr>
        <p:sp>
          <p:nvSpPr>
            <p:cNvPr id="8" name="object 8"/>
            <p:cNvSpPr/>
            <p:nvPr/>
          </p:nvSpPr>
          <p:spPr>
            <a:xfrm>
              <a:off x="600074" y="2047874"/>
              <a:ext cx="3533775" cy="438150"/>
            </a:xfrm>
            <a:custGeom>
              <a:avLst/>
              <a:gdLst/>
              <a:ahLst/>
              <a:cxnLst/>
              <a:rect l="l" t="t" r="r" b="b"/>
              <a:pathLst>
                <a:path w="3533775" h="438150">
                  <a:moveTo>
                    <a:pt x="3501931" y="438149"/>
                  </a:moveTo>
                  <a:lnTo>
                    <a:pt x="31843" y="438149"/>
                  </a:lnTo>
                  <a:lnTo>
                    <a:pt x="27160" y="437218"/>
                  </a:lnTo>
                  <a:lnTo>
                    <a:pt x="0" y="406306"/>
                  </a:lnTo>
                  <a:lnTo>
                    <a:pt x="0" y="401438"/>
                  </a:lnTo>
                  <a:lnTo>
                    <a:pt x="0" y="31843"/>
                  </a:lnTo>
                  <a:lnTo>
                    <a:pt x="27160" y="931"/>
                  </a:lnTo>
                  <a:lnTo>
                    <a:pt x="31843" y="0"/>
                  </a:lnTo>
                  <a:lnTo>
                    <a:pt x="3501931" y="0"/>
                  </a:lnTo>
                  <a:lnTo>
                    <a:pt x="3532842" y="27160"/>
                  </a:lnTo>
                  <a:lnTo>
                    <a:pt x="3533774" y="31843"/>
                  </a:lnTo>
                  <a:lnTo>
                    <a:pt x="3533774" y="406306"/>
                  </a:lnTo>
                  <a:lnTo>
                    <a:pt x="3506613" y="437218"/>
                  </a:lnTo>
                  <a:lnTo>
                    <a:pt x="3501931" y="438149"/>
                  </a:lnTo>
                  <a:close/>
                </a:path>
              </a:pathLst>
            </a:custGeom>
            <a:solidFill>
              <a:srgbClr val="1D3A8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76274" y="2124074"/>
              <a:ext cx="1181099" cy="295274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1995586" y="2163952"/>
            <a:ext cx="60325" cy="17970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000" spc="-50" dirty="0">
                <a:solidFill>
                  <a:srgbClr val="9CA2AF"/>
                </a:solidFill>
                <a:latin typeface="微软雅黑"/>
                <a:cs typeface="微软雅黑"/>
              </a:rPr>
              <a:t>|</a:t>
            </a:r>
            <a:endParaRPr sz="1000">
              <a:latin typeface="微软雅黑"/>
              <a:cs typeface="微软雅黑"/>
            </a:endParaRPr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90750" y="2124075"/>
            <a:ext cx="590549" cy="295274"/>
          </a:xfrm>
          <a:prstGeom prst="rect">
            <a:avLst/>
          </a:prstGeom>
        </p:spPr>
      </p:pic>
      <p:sp>
        <p:nvSpPr>
          <p:cNvPr id="12" name="object 12"/>
          <p:cNvSpPr/>
          <p:nvPr/>
        </p:nvSpPr>
        <p:spPr>
          <a:xfrm>
            <a:off x="428624" y="2847974"/>
            <a:ext cx="28575" cy="1676400"/>
          </a:xfrm>
          <a:custGeom>
            <a:avLst/>
            <a:gdLst/>
            <a:ahLst/>
            <a:cxnLst/>
            <a:rect l="l" t="t" r="r" b="b"/>
            <a:pathLst>
              <a:path w="28575" h="1676400">
                <a:moveTo>
                  <a:pt x="28574" y="1676399"/>
                </a:moveTo>
                <a:lnTo>
                  <a:pt x="0" y="1676399"/>
                </a:lnTo>
                <a:lnTo>
                  <a:pt x="0" y="0"/>
                </a:lnTo>
                <a:lnTo>
                  <a:pt x="28574" y="0"/>
                </a:lnTo>
                <a:lnTo>
                  <a:pt x="28574" y="1676399"/>
                </a:lnTo>
                <a:close/>
              </a:path>
            </a:pathLst>
          </a:custGeom>
          <a:solidFill>
            <a:srgbClr val="0FB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9644" y="2990873"/>
            <a:ext cx="183906" cy="18391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884882" y="2947003"/>
            <a:ext cx="1310005" cy="2457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450" b="1" spc="-30" dirty="0">
                <a:solidFill>
                  <a:srgbClr val="6EE7B6"/>
                </a:solidFill>
                <a:latin typeface="微软雅黑"/>
                <a:cs typeface="微软雅黑"/>
              </a:rPr>
              <a:t>端到端性能跃迁</a:t>
            </a:r>
            <a:endParaRPr sz="1450">
              <a:latin typeface="微软雅黑"/>
              <a:cs typeface="微软雅黑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91244" y="3381171"/>
            <a:ext cx="178562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7600"/>
              </a:lnSpc>
              <a:spcBef>
                <a:spcPts val="95"/>
              </a:spcBef>
            </a:pPr>
            <a:r>
              <a:rPr sz="850" spc="-5" dirty="0">
                <a:solidFill>
                  <a:srgbClr val="D0D5DA"/>
                </a:solidFill>
                <a:latin typeface="微软雅黑"/>
                <a:cs typeface="微软雅黑"/>
              </a:rPr>
              <a:t>相比传统模块化拼接，端到端训练避</a:t>
            </a:r>
            <a:r>
              <a:rPr sz="850" spc="-10" dirty="0">
                <a:solidFill>
                  <a:srgbClr val="D0D5DA"/>
                </a:solidFill>
                <a:latin typeface="微软雅黑"/>
                <a:cs typeface="微软雅黑"/>
              </a:rPr>
              <a:t>免累积误差。</a:t>
            </a:r>
            <a:endParaRPr sz="850">
              <a:latin typeface="微软雅黑"/>
              <a:cs typeface="微软雅黑"/>
            </a:endParaRPr>
          </a:p>
        </p:txBody>
      </p:sp>
      <p:pic>
        <p:nvPicPr>
          <p:cNvPr id="16" name="object 1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37447" y="3941873"/>
            <a:ext cx="97896" cy="113117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591244" y="3760152"/>
            <a:ext cx="621665" cy="4946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b="1" spc="-25" dirty="0">
                <a:solidFill>
                  <a:srgbClr val="33D399"/>
                </a:solidFill>
                <a:latin typeface="微软雅黑"/>
                <a:cs typeface="微软雅黑"/>
              </a:rPr>
              <a:t>76%</a:t>
            </a:r>
            <a:endParaRPr sz="21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850" spc="-10" dirty="0">
                <a:solidFill>
                  <a:srgbClr val="9CA2AF"/>
                </a:solidFill>
                <a:latin typeface="微软雅黑"/>
                <a:cs typeface="微软雅黑"/>
              </a:rPr>
              <a:t>错误率降低</a:t>
            </a:r>
            <a:endParaRPr sz="850">
              <a:latin typeface="微软雅黑"/>
              <a:cs typeface="微软雅黑"/>
            </a:endParaRPr>
          </a:p>
        </p:txBody>
      </p:sp>
      <p:pic>
        <p:nvPicPr>
          <p:cNvPr id="18" name="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71725" y="3248025"/>
            <a:ext cx="1762124" cy="1171574"/>
          </a:xfrm>
          <a:prstGeom prst="rect">
            <a:avLst/>
          </a:prstGeom>
        </p:spPr>
      </p:pic>
      <p:sp>
        <p:nvSpPr>
          <p:cNvPr id="19" name="object 19"/>
          <p:cNvSpPr/>
          <p:nvPr/>
        </p:nvSpPr>
        <p:spPr>
          <a:xfrm>
            <a:off x="428624" y="4676774"/>
            <a:ext cx="28575" cy="1676400"/>
          </a:xfrm>
          <a:custGeom>
            <a:avLst/>
            <a:gdLst/>
            <a:ahLst/>
            <a:cxnLst/>
            <a:rect l="l" t="t" r="r" b="b"/>
            <a:pathLst>
              <a:path w="28575" h="1676400">
                <a:moveTo>
                  <a:pt x="28574" y="1676399"/>
                </a:moveTo>
                <a:lnTo>
                  <a:pt x="0" y="1676399"/>
                </a:lnTo>
                <a:lnTo>
                  <a:pt x="0" y="0"/>
                </a:lnTo>
                <a:lnTo>
                  <a:pt x="28574" y="0"/>
                </a:lnTo>
                <a:lnTo>
                  <a:pt x="28574" y="1676399"/>
                </a:lnTo>
                <a:close/>
              </a:path>
            </a:pathLst>
          </a:custGeom>
          <a:solidFill>
            <a:srgbClr val="F59D0A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object 2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600074" y="5162549"/>
            <a:ext cx="183505" cy="183505"/>
          </a:xfrm>
          <a:prstGeom prst="rect">
            <a:avLst/>
          </a:prstGeom>
        </p:spPr>
      </p:pic>
      <p:pic>
        <p:nvPicPr>
          <p:cNvPr id="21" name="object 2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9272" y="5519235"/>
            <a:ext cx="113945" cy="81841"/>
          </a:xfrm>
          <a:prstGeom prst="rect">
            <a:avLst/>
          </a:prstGeom>
        </p:spPr>
      </p:pic>
      <p:pic>
        <p:nvPicPr>
          <p:cNvPr id="22" name="object 2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599272" y="5776410"/>
            <a:ext cx="113945" cy="81841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776981" y="5118703"/>
            <a:ext cx="2045970" cy="768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95"/>
              </a:spcBef>
            </a:pPr>
            <a:r>
              <a:rPr sz="1450" b="1" spc="-30" dirty="0">
                <a:solidFill>
                  <a:srgbClr val="FBD34D"/>
                </a:solidFill>
                <a:latin typeface="微软雅黑"/>
                <a:cs typeface="微软雅黑"/>
              </a:rPr>
              <a:t>低成本普惠化</a:t>
            </a:r>
            <a:endParaRPr sz="1450">
              <a:latin typeface="微软雅黑"/>
              <a:cs typeface="微软雅黑"/>
            </a:endParaRPr>
          </a:p>
          <a:p>
            <a:pPr marL="12700" marR="5080">
              <a:lnSpc>
                <a:spcPct val="168800"/>
              </a:lnSpc>
              <a:spcBef>
                <a:spcPts val="60"/>
              </a:spcBef>
            </a:pP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国产模型(</a:t>
            </a:r>
            <a:r>
              <a:rPr sz="1000" spc="-10" dirty="0">
                <a:solidFill>
                  <a:srgbClr val="D0D5DA"/>
                </a:solidFill>
                <a:latin typeface="微软雅黑"/>
                <a:cs typeface="微软雅黑"/>
              </a:rPr>
              <a:t>GLM-4.5</a:t>
            </a:r>
            <a:r>
              <a:rPr sz="1000" spc="-15" dirty="0">
                <a:solidFill>
                  <a:srgbClr val="D0D5DA"/>
                </a:solidFill>
                <a:latin typeface="微软雅黑"/>
                <a:cs typeface="微软雅黑"/>
              </a:rPr>
              <a:t>)成本降低数量级</a:t>
            </a:r>
            <a:r>
              <a:rPr sz="1000" spc="-50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000" spc="-10" dirty="0">
                <a:solidFill>
                  <a:srgbClr val="D0D5DA"/>
                </a:solidFill>
                <a:latin typeface="微软雅黑"/>
                <a:cs typeface="微软雅黑"/>
              </a:rPr>
              <a:t>DeepResearch</a:t>
            </a: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训练成本降低</a:t>
            </a:r>
            <a:r>
              <a:rPr sz="1000" spc="-25" dirty="0">
                <a:solidFill>
                  <a:srgbClr val="D0D5DA"/>
                </a:solidFill>
                <a:latin typeface="微软雅黑"/>
                <a:cs typeface="微软雅黑"/>
              </a:rPr>
              <a:t>90%</a:t>
            </a:r>
            <a:endParaRPr sz="1000">
              <a:latin typeface="微软雅黑"/>
              <a:cs typeface="微软雅黑"/>
            </a:endParaRPr>
          </a:p>
        </p:txBody>
      </p:sp>
      <p:pic>
        <p:nvPicPr>
          <p:cNvPr id="24" name="object 24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352925" y="1078276"/>
            <a:ext cx="206424" cy="160552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4340969" y="918571"/>
            <a:ext cx="3834129" cy="57721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328930">
              <a:lnSpc>
                <a:spcPct val="100000"/>
              </a:lnSpc>
              <a:spcBef>
                <a:spcPts val="915"/>
              </a:spcBef>
            </a:pPr>
            <a:r>
              <a:rPr sz="1450" b="1" dirty="0">
                <a:solidFill>
                  <a:srgbClr val="C3B4FD"/>
                </a:solidFill>
                <a:latin typeface="微软雅黑"/>
                <a:cs typeface="微软雅黑"/>
              </a:rPr>
              <a:t>Agentic</a:t>
            </a:r>
            <a:r>
              <a:rPr sz="1450" b="1" spc="-80" dirty="0">
                <a:solidFill>
                  <a:srgbClr val="C3B4FD"/>
                </a:solidFill>
                <a:latin typeface="微软雅黑"/>
                <a:cs typeface="微软雅黑"/>
              </a:rPr>
              <a:t> </a:t>
            </a:r>
            <a:r>
              <a:rPr sz="1450" b="1" dirty="0">
                <a:solidFill>
                  <a:srgbClr val="C3B4FD"/>
                </a:solidFill>
                <a:latin typeface="微软雅黑"/>
                <a:cs typeface="微软雅黑"/>
              </a:rPr>
              <a:t>RAG</a:t>
            </a:r>
            <a:r>
              <a:rPr sz="1450" b="1" spc="-50" dirty="0">
                <a:solidFill>
                  <a:srgbClr val="C3B4FD"/>
                </a:solidFill>
                <a:latin typeface="微软雅黑"/>
                <a:cs typeface="微软雅黑"/>
              </a:rPr>
              <a:t> 崛起</a:t>
            </a:r>
            <a:endParaRPr sz="14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引入图数据库(</a:t>
            </a:r>
            <a:r>
              <a:rPr sz="1000" spc="-10" dirty="0">
                <a:solidFill>
                  <a:srgbClr val="D0D5DA"/>
                </a:solidFill>
                <a:latin typeface="微软雅黑"/>
                <a:cs typeface="微软雅黑"/>
              </a:rPr>
              <a:t>GraphRAG)与动态决策，实现多轮反思与验证闭环。</a:t>
            </a:r>
            <a:endParaRPr sz="1000">
              <a:latin typeface="微软雅黑"/>
              <a:cs typeface="微软雅黑"/>
            </a:endParaRPr>
          </a:p>
        </p:txBody>
      </p:sp>
      <p:pic>
        <p:nvPicPr>
          <p:cNvPr id="26" name="object 26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358654" y="4057724"/>
            <a:ext cx="126057" cy="183356"/>
          </a:xfrm>
          <a:prstGeom prst="rect">
            <a:avLst/>
          </a:prstGeom>
        </p:spPr>
      </p:pic>
      <p:grpSp>
        <p:nvGrpSpPr>
          <p:cNvPr id="27" name="object 27"/>
          <p:cNvGrpSpPr/>
          <p:nvPr/>
        </p:nvGrpSpPr>
        <p:grpSpPr>
          <a:xfrm>
            <a:off x="4352924" y="1581149"/>
            <a:ext cx="7410450" cy="2219325"/>
            <a:chOff x="4352924" y="1581149"/>
            <a:chExt cx="7410450" cy="2219325"/>
          </a:xfrm>
        </p:grpSpPr>
        <p:sp>
          <p:nvSpPr>
            <p:cNvPr id="28" name="object 28"/>
            <p:cNvSpPr/>
            <p:nvPr/>
          </p:nvSpPr>
          <p:spPr>
            <a:xfrm>
              <a:off x="4352924" y="1581149"/>
              <a:ext cx="7410450" cy="2219325"/>
            </a:xfrm>
            <a:custGeom>
              <a:avLst/>
              <a:gdLst/>
              <a:ahLst/>
              <a:cxnLst/>
              <a:rect l="l" t="t" r="r" b="b"/>
              <a:pathLst>
                <a:path w="7410450" h="2219325">
                  <a:moveTo>
                    <a:pt x="7337025" y="2219324"/>
                  </a:moveTo>
                  <a:lnTo>
                    <a:pt x="73423" y="2219324"/>
                  </a:lnTo>
                  <a:lnTo>
                    <a:pt x="66190" y="2218975"/>
                  </a:lnTo>
                  <a:lnTo>
                    <a:pt x="26866" y="2202686"/>
                  </a:lnTo>
                  <a:lnTo>
                    <a:pt x="3143" y="2167182"/>
                  </a:lnTo>
                  <a:lnTo>
                    <a:pt x="0" y="2145901"/>
                  </a:lnTo>
                  <a:lnTo>
                    <a:pt x="0" y="73423"/>
                  </a:lnTo>
                  <a:lnTo>
                    <a:pt x="12361" y="32623"/>
                  </a:lnTo>
                  <a:lnTo>
                    <a:pt x="45324" y="5588"/>
                  </a:lnTo>
                  <a:lnTo>
                    <a:pt x="73423" y="0"/>
                  </a:lnTo>
                  <a:lnTo>
                    <a:pt x="7337025" y="0"/>
                  </a:lnTo>
                  <a:lnTo>
                    <a:pt x="7377824" y="12362"/>
                  </a:lnTo>
                  <a:lnTo>
                    <a:pt x="7404858" y="45325"/>
                  </a:lnTo>
                  <a:lnTo>
                    <a:pt x="7410449" y="73423"/>
                  </a:lnTo>
                  <a:lnTo>
                    <a:pt x="7410449" y="2145901"/>
                  </a:lnTo>
                  <a:lnTo>
                    <a:pt x="7398085" y="2186700"/>
                  </a:lnTo>
                  <a:lnTo>
                    <a:pt x="7365123" y="2213735"/>
                  </a:lnTo>
                  <a:lnTo>
                    <a:pt x="7337025" y="2219324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352924" y="1581149"/>
              <a:ext cx="7410450" cy="2219325"/>
            </a:xfrm>
            <a:custGeom>
              <a:avLst/>
              <a:gdLst/>
              <a:ahLst/>
              <a:cxnLst/>
              <a:rect l="l" t="t" r="r" b="b"/>
              <a:pathLst>
                <a:path w="7410450" h="2219325">
                  <a:moveTo>
                    <a:pt x="7337026" y="2219324"/>
                  </a:moveTo>
                  <a:lnTo>
                    <a:pt x="73423" y="2219324"/>
                  </a:lnTo>
                  <a:lnTo>
                    <a:pt x="66190" y="2218975"/>
                  </a:lnTo>
                  <a:lnTo>
                    <a:pt x="26865" y="2202686"/>
                  </a:lnTo>
                  <a:lnTo>
                    <a:pt x="3143" y="2167183"/>
                  </a:lnTo>
                  <a:lnTo>
                    <a:pt x="0" y="2145901"/>
                  </a:lnTo>
                  <a:lnTo>
                    <a:pt x="0" y="73423"/>
                  </a:lnTo>
                  <a:lnTo>
                    <a:pt x="12361" y="32623"/>
                  </a:lnTo>
                  <a:lnTo>
                    <a:pt x="45324" y="5588"/>
                  </a:lnTo>
                  <a:lnTo>
                    <a:pt x="73423" y="0"/>
                  </a:lnTo>
                  <a:lnTo>
                    <a:pt x="7337026" y="0"/>
                  </a:lnTo>
                  <a:lnTo>
                    <a:pt x="7373084" y="9524"/>
                  </a:lnTo>
                  <a:lnTo>
                    <a:pt x="69227" y="9524"/>
                  </a:lnTo>
                  <a:lnTo>
                    <a:pt x="65071" y="9934"/>
                  </a:lnTo>
                  <a:lnTo>
                    <a:pt x="25272" y="31206"/>
                  </a:lnTo>
                  <a:lnTo>
                    <a:pt x="9524" y="69227"/>
                  </a:lnTo>
                  <a:lnTo>
                    <a:pt x="9524" y="2150096"/>
                  </a:lnTo>
                  <a:lnTo>
                    <a:pt x="25272" y="2188117"/>
                  </a:lnTo>
                  <a:lnTo>
                    <a:pt x="65071" y="2209390"/>
                  </a:lnTo>
                  <a:lnTo>
                    <a:pt x="69227" y="2209799"/>
                  </a:lnTo>
                  <a:lnTo>
                    <a:pt x="7373084" y="2209799"/>
                  </a:lnTo>
                  <a:lnTo>
                    <a:pt x="7371672" y="2210644"/>
                  </a:lnTo>
                  <a:lnTo>
                    <a:pt x="7365124" y="2213735"/>
                  </a:lnTo>
                  <a:lnTo>
                    <a:pt x="7358307" y="2216181"/>
                  </a:lnTo>
                  <a:lnTo>
                    <a:pt x="7351352" y="2217927"/>
                  </a:lnTo>
                  <a:lnTo>
                    <a:pt x="7344258" y="2218975"/>
                  </a:lnTo>
                  <a:lnTo>
                    <a:pt x="7337026" y="2219324"/>
                  </a:lnTo>
                  <a:close/>
                </a:path>
                <a:path w="7410450" h="2219325">
                  <a:moveTo>
                    <a:pt x="7373084" y="2209799"/>
                  </a:moveTo>
                  <a:lnTo>
                    <a:pt x="7341220" y="2209799"/>
                  </a:lnTo>
                  <a:lnTo>
                    <a:pt x="7345376" y="2209390"/>
                  </a:lnTo>
                  <a:lnTo>
                    <a:pt x="7353606" y="2207753"/>
                  </a:lnTo>
                  <a:lnTo>
                    <a:pt x="7387823" y="2184889"/>
                  </a:lnTo>
                  <a:lnTo>
                    <a:pt x="7400924" y="2150096"/>
                  </a:lnTo>
                  <a:lnTo>
                    <a:pt x="7400924" y="69227"/>
                  </a:lnTo>
                  <a:lnTo>
                    <a:pt x="7385173" y="31206"/>
                  </a:lnTo>
                  <a:lnTo>
                    <a:pt x="7345376" y="9934"/>
                  </a:lnTo>
                  <a:lnTo>
                    <a:pt x="7341220" y="9524"/>
                  </a:lnTo>
                  <a:lnTo>
                    <a:pt x="7373084" y="9524"/>
                  </a:lnTo>
                  <a:lnTo>
                    <a:pt x="7401768" y="38776"/>
                  </a:lnTo>
                  <a:lnTo>
                    <a:pt x="7410449" y="2145901"/>
                  </a:lnTo>
                  <a:lnTo>
                    <a:pt x="7410100" y="2153134"/>
                  </a:lnTo>
                  <a:lnTo>
                    <a:pt x="7393810" y="2192457"/>
                  </a:lnTo>
                  <a:lnTo>
                    <a:pt x="7377824" y="2206961"/>
                  </a:lnTo>
                  <a:lnTo>
                    <a:pt x="7373084" y="22097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81699" y="1657349"/>
              <a:ext cx="4152899" cy="2057399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340969" y="3909421"/>
            <a:ext cx="4036695" cy="577215"/>
          </a:xfrm>
          <a:prstGeom prst="rect">
            <a:avLst/>
          </a:prstGeom>
        </p:spPr>
        <p:txBody>
          <a:bodyPr vert="horz" wrap="square" lIns="0" tIns="116205" rIns="0" bIns="0" rtlCol="0">
            <a:spAutoFit/>
          </a:bodyPr>
          <a:lstStyle/>
          <a:p>
            <a:pPr marL="259715">
              <a:lnSpc>
                <a:spcPct val="100000"/>
              </a:lnSpc>
              <a:spcBef>
                <a:spcPts val="915"/>
              </a:spcBef>
            </a:pPr>
            <a:r>
              <a:rPr sz="1450" b="1" spc="-30" dirty="0">
                <a:solidFill>
                  <a:srgbClr val="A5B4FB"/>
                </a:solidFill>
                <a:latin typeface="微软雅黑"/>
                <a:cs typeface="微软雅黑"/>
              </a:rPr>
              <a:t>移动端与边缘部署</a:t>
            </a:r>
            <a:endParaRPr sz="14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AutoGLM</a:t>
            </a:r>
            <a:r>
              <a:rPr sz="1000" spc="140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000" spc="-10" dirty="0">
                <a:solidFill>
                  <a:srgbClr val="D0D5DA"/>
                </a:solidFill>
                <a:latin typeface="微软雅黑"/>
                <a:cs typeface="微软雅黑"/>
              </a:rPr>
              <a:t>2.0</a:t>
            </a: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支持云手机模式，基于端到端异步强化学习提升鲁棒性。</a:t>
            </a:r>
            <a:endParaRPr sz="1000">
              <a:latin typeface="微软雅黑"/>
              <a:cs typeface="微软雅黑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352924" y="4571999"/>
            <a:ext cx="7410450" cy="1781175"/>
            <a:chOff x="4352924" y="4571999"/>
            <a:chExt cx="7410450" cy="1781175"/>
          </a:xfrm>
        </p:grpSpPr>
        <p:pic>
          <p:nvPicPr>
            <p:cNvPr id="33" name="object 33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352924" y="4571999"/>
              <a:ext cx="7410449" cy="178117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352924" y="4571999"/>
              <a:ext cx="7410450" cy="1781175"/>
            </a:xfrm>
            <a:custGeom>
              <a:avLst/>
              <a:gdLst/>
              <a:ahLst/>
              <a:cxnLst/>
              <a:rect l="l" t="t" r="r" b="b"/>
              <a:pathLst>
                <a:path w="7410450" h="1781175">
                  <a:moveTo>
                    <a:pt x="7337026" y="1781174"/>
                  </a:moveTo>
                  <a:lnTo>
                    <a:pt x="73423" y="1781174"/>
                  </a:lnTo>
                  <a:lnTo>
                    <a:pt x="66190" y="1780825"/>
                  </a:lnTo>
                  <a:lnTo>
                    <a:pt x="26866" y="1764536"/>
                  </a:lnTo>
                  <a:lnTo>
                    <a:pt x="3143" y="1729032"/>
                  </a:lnTo>
                  <a:lnTo>
                    <a:pt x="0" y="1707751"/>
                  </a:lnTo>
                  <a:lnTo>
                    <a:pt x="0" y="73423"/>
                  </a:lnTo>
                  <a:lnTo>
                    <a:pt x="12362" y="32623"/>
                  </a:lnTo>
                  <a:lnTo>
                    <a:pt x="45324" y="5588"/>
                  </a:lnTo>
                  <a:lnTo>
                    <a:pt x="73423" y="0"/>
                  </a:lnTo>
                  <a:lnTo>
                    <a:pt x="7337026" y="0"/>
                  </a:lnTo>
                  <a:lnTo>
                    <a:pt x="7373084" y="9524"/>
                  </a:lnTo>
                  <a:lnTo>
                    <a:pt x="69227" y="9524"/>
                  </a:lnTo>
                  <a:lnTo>
                    <a:pt x="65071" y="9934"/>
                  </a:lnTo>
                  <a:lnTo>
                    <a:pt x="25272" y="31206"/>
                  </a:lnTo>
                  <a:lnTo>
                    <a:pt x="9524" y="69227"/>
                  </a:lnTo>
                  <a:lnTo>
                    <a:pt x="9524" y="1711946"/>
                  </a:lnTo>
                  <a:lnTo>
                    <a:pt x="25272" y="1749967"/>
                  </a:lnTo>
                  <a:lnTo>
                    <a:pt x="65071" y="1771239"/>
                  </a:lnTo>
                  <a:lnTo>
                    <a:pt x="69227" y="1771649"/>
                  </a:lnTo>
                  <a:lnTo>
                    <a:pt x="7373084" y="1771649"/>
                  </a:lnTo>
                  <a:lnTo>
                    <a:pt x="7371672" y="1772494"/>
                  </a:lnTo>
                  <a:lnTo>
                    <a:pt x="7365124" y="1775584"/>
                  </a:lnTo>
                  <a:lnTo>
                    <a:pt x="7358307" y="1778030"/>
                  </a:lnTo>
                  <a:lnTo>
                    <a:pt x="7351352" y="1779776"/>
                  </a:lnTo>
                  <a:lnTo>
                    <a:pt x="7344258" y="1780825"/>
                  </a:lnTo>
                  <a:lnTo>
                    <a:pt x="7337026" y="1781174"/>
                  </a:lnTo>
                  <a:close/>
                </a:path>
                <a:path w="7410450" h="1781175">
                  <a:moveTo>
                    <a:pt x="7373084" y="1771649"/>
                  </a:moveTo>
                  <a:lnTo>
                    <a:pt x="7341220" y="1771649"/>
                  </a:lnTo>
                  <a:lnTo>
                    <a:pt x="7345376" y="1771239"/>
                  </a:lnTo>
                  <a:lnTo>
                    <a:pt x="7353606" y="1769601"/>
                  </a:lnTo>
                  <a:lnTo>
                    <a:pt x="7387823" y="1746739"/>
                  </a:lnTo>
                  <a:lnTo>
                    <a:pt x="7400924" y="1711946"/>
                  </a:lnTo>
                  <a:lnTo>
                    <a:pt x="7400924" y="69227"/>
                  </a:lnTo>
                  <a:lnTo>
                    <a:pt x="7385173" y="31206"/>
                  </a:lnTo>
                  <a:lnTo>
                    <a:pt x="7345376" y="9934"/>
                  </a:lnTo>
                  <a:lnTo>
                    <a:pt x="7341220" y="9524"/>
                  </a:lnTo>
                  <a:lnTo>
                    <a:pt x="7373084" y="9524"/>
                  </a:lnTo>
                  <a:lnTo>
                    <a:pt x="7401768" y="38776"/>
                  </a:lnTo>
                  <a:lnTo>
                    <a:pt x="7410449" y="1707751"/>
                  </a:lnTo>
                  <a:lnTo>
                    <a:pt x="7410100" y="1714984"/>
                  </a:lnTo>
                  <a:lnTo>
                    <a:pt x="7393811" y="1754307"/>
                  </a:lnTo>
                  <a:lnTo>
                    <a:pt x="7377824" y="1768811"/>
                  </a:lnTo>
                  <a:lnTo>
                    <a:pt x="7373084" y="177164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981699" y="4581524"/>
              <a:ext cx="4152899" cy="1762124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10506072" y="4648199"/>
              <a:ext cx="1171575" cy="219075"/>
            </a:xfrm>
            <a:custGeom>
              <a:avLst/>
              <a:gdLst/>
              <a:ahLst/>
              <a:cxnLst/>
              <a:rect l="l" t="t" r="r" b="b"/>
              <a:pathLst>
                <a:path w="1171575" h="219075">
                  <a:moveTo>
                    <a:pt x="1139731" y="219074"/>
                  </a:moveTo>
                  <a:lnTo>
                    <a:pt x="31844" y="219074"/>
                  </a:lnTo>
                  <a:lnTo>
                    <a:pt x="27161" y="218142"/>
                  </a:lnTo>
                  <a:lnTo>
                    <a:pt x="0" y="187230"/>
                  </a:lnTo>
                  <a:lnTo>
                    <a:pt x="1" y="182363"/>
                  </a:lnTo>
                  <a:lnTo>
                    <a:pt x="0" y="31843"/>
                  </a:lnTo>
                  <a:lnTo>
                    <a:pt x="27161" y="931"/>
                  </a:lnTo>
                  <a:lnTo>
                    <a:pt x="31844" y="0"/>
                  </a:lnTo>
                  <a:lnTo>
                    <a:pt x="1139731" y="0"/>
                  </a:lnTo>
                  <a:lnTo>
                    <a:pt x="1170643" y="27159"/>
                  </a:lnTo>
                  <a:lnTo>
                    <a:pt x="1171574" y="31843"/>
                  </a:lnTo>
                  <a:lnTo>
                    <a:pt x="1171574" y="187230"/>
                  </a:lnTo>
                  <a:lnTo>
                    <a:pt x="1144413" y="218142"/>
                  </a:lnTo>
                  <a:lnTo>
                    <a:pt x="1139731" y="219074"/>
                  </a:lnTo>
                  <a:close/>
                </a:path>
              </a:pathLst>
            </a:custGeom>
            <a:solidFill>
              <a:srgbClr val="4E45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0563025" y="4677790"/>
            <a:ext cx="1057275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dirty="0">
                <a:solidFill>
                  <a:srgbClr val="FFFFFF"/>
                </a:solidFill>
                <a:latin typeface="微软雅黑"/>
                <a:cs typeface="微软雅黑"/>
              </a:rPr>
              <a:t>Cloud</a:t>
            </a:r>
            <a:r>
              <a:rPr sz="850" spc="1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850" dirty="0">
                <a:solidFill>
                  <a:srgbClr val="FFFFFF"/>
                </a:solidFill>
                <a:latin typeface="微软雅黑"/>
                <a:cs typeface="微软雅黑"/>
              </a:rPr>
              <a:t>Phone</a:t>
            </a:r>
            <a:r>
              <a:rPr sz="850" spc="2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850" spc="-20" dirty="0">
                <a:solidFill>
                  <a:srgbClr val="FFFFFF"/>
                </a:solidFill>
                <a:latin typeface="微软雅黑"/>
                <a:cs typeface="微软雅黑"/>
              </a:rPr>
              <a:t>Ready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925" y="215900"/>
            <a:ext cx="1549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5" dirty="0">
                <a:solidFill>
                  <a:srgbClr val="E4E7EB"/>
                </a:solidFill>
                <a:latin typeface="微软雅黑"/>
                <a:cs typeface="微软雅黑"/>
              </a:rPr>
              <a:t>第三部分</a:t>
            </a:r>
            <a:endParaRPr sz="3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8624" y="8000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619499" y="3000374"/>
            <a:ext cx="76200" cy="1524000"/>
          </a:xfrm>
          <a:custGeom>
            <a:avLst/>
            <a:gdLst/>
            <a:ahLst/>
            <a:cxnLst/>
            <a:rect l="l" t="t" r="r" b="b"/>
            <a:pathLst>
              <a:path w="76200" h="1524000">
                <a:moveTo>
                  <a:pt x="76199" y="1523999"/>
                </a:moveTo>
                <a:lnTo>
                  <a:pt x="0" y="1523999"/>
                </a:lnTo>
                <a:lnTo>
                  <a:pt x="0" y="0"/>
                </a:lnTo>
                <a:lnTo>
                  <a:pt x="76199" y="0"/>
                </a:lnTo>
                <a:lnTo>
                  <a:pt x="76199" y="1523999"/>
                </a:lnTo>
                <a:close/>
              </a:path>
            </a:pathLst>
          </a:custGeom>
          <a:solidFill>
            <a:srgbClr val="4A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138414" y="2863468"/>
            <a:ext cx="7285355" cy="1502410"/>
          </a:xfrm>
          <a:prstGeom prst="rect">
            <a:avLst/>
          </a:prstGeom>
        </p:spPr>
        <p:txBody>
          <a:bodyPr vert="horz" wrap="square" lIns="0" tIns="231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5400" b="1" spc="110" dirty="0">
                <a:solidFill>
                  <a:srgbClr val="FFFFFF"/>
                </a:solidFill>
                <a:latin typeface="微软雅黑"/>
                <a:cs typeface="微软雅黑"/>
              </a:rPr>
              <a:t>核心挑战与瓶颈剖析</a:t>
            </a:r>
            <a:endParaRPr sz="5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  <a:tabLst>
                <a:tab pos="986155" algn="l"/>
                <a:tab pos="3148965" algn="l"/>
                <a:tab pos="3505835" algn="l"/>
                <a:tab pos="5815965" algn="l"/>
              </a:tabLst>
            </a:pPr>
            <a:r>
              <a:rPr sz="2250" b="0" spc="125" dirty="0">
                <a:solidFill>
                  <a:srgbClr val="BEDAFE"/>
                </a:solidFill>
                <a:latin typeface="微软雅黑 Light"/>
                <a:cs typeface="微软雅黑 Light"/>
              </a:rPr>
              <a:t>CORE</a:t>
            </a:r>
            <a:r>
              <a:rPr sz="2250" b="0" dirty="0">
                <a:solidFill>
                  <a:srgbClr val="BEDAFE"/>
                </a:solidFill>
                <a:latin typeface="微软雅黑 Light"/>
                <a:cs typeface="微软雅黑 Light"/>
              </a:rPr>
              <a:t>	</a:t>
            </a:r>
            <a:r>
              <a:rPr sz="2250" b="0" spc="180" dirty="0">
                <a:solidFill>
                  <a:srgbClr val="BEDAFE"/>
                </a:solidFill>
                <a:latin typeface="微软雅黑 Light"/>
                <a:cs typeface="微软雅黑 Light"/>
              </a:rPr>
              <a:t>CHALLENGES</a:t>
            </a:r>
            <a:r>
              <a:rPr sz="2250" b="0" dirty="0">
                <a:solidFill>
                  <a:srgbClr val="BEDAFE"/>
                </a:solidFill>
                <a:latin typeface="微软雅黑 Light"/>
                <a:cs typeface="微软雅黑 Light"/>
              </a:rPr>
              <a:t>	</a:t>
            </a:r>
            <a:r>
              <a:rPr sz="2250" b="0" spc="-50" dirty="0">
                <a:solidFill>
                  <a:srgbClr val="BEDAFE"/>
                </a:solidFill>
                <a:latin typeface="微软雅黑 Light"/>
                <a:cs typeface="微软雅黑 Light"/>
              </a:rPr>
              <a:t>&amp;</a:t>
            </a:r>
            <a:r>
              <a:rPr sz="2250" b="0" dirty="0">
                <a:solidFill>
                  <a:srgbClr val="BEDAFE"/>
                </a:solidFill>
                <a:latin typeface="微软雅黑 Light"/>
                <a:cs typeface="微软雅黑 Light"/>
              </a:rPr>
              <a:t>	</a:t>
            </a:r>
            <a:r>
              <a:rPr sz="2250" b="0" spc="90" dirty="0">
                <a:solidFill>
                  <a:srgbClr val="BEDAFE"/>
                </a:solidFill>
                <a:latin typeface="微软雅黑 Light"/>
                <a:cs typeface="微软雅黑 Light"/>
              </a:rPr>
              <a:t>BOT</a:t>
            </a:r>
            <a:r>
              <a:rPr sz="2250" b="0" spc="-375" dirty="0">
                <a:solidFill>
                  <a:srgbClr val="BEDAFE"/>
                </a:solidFill>
                <a:latin typeface="微软雅黑 Light"/>
                <a:cs typeface="微软雅黑 Light"/>
              </a:rPr>
              <a:t> </a:t>
            </a:r>
            <a:r>
              <a:rPr sz="2250" b="0" spc="180" dirty="0">
                <a:solidFill>
                  <a:srgbClr val="BEDAFE"/>
                </a:solidFill>
                <a:latin typeface="微软雅黑 Light"/>
                <a:cs typeface="微软雅黑 Light"/>
              </a:rPr>
              <a:t>TLENECKS</a:t>
            </a:r>
            <a:r>
              <a:rPr sz="2250" b="0" dirty="0">
                <a:solidFill>
                  <a:srgbClr val="BEDAFE"/>
                </a:solidFill>
                <a:latin typeface="微软雅黑 Light"/>
                <a:cs typeface="微软雅黑 Light"/>
              </a:rPr>
              <a:t>	</a:t>
            </a:r>
            <a:r>
              <a:rPr sz="2250" b="0" spc="140" dirty="0">
                <a:solidFill>
                  <a:srgbClr val="BEDAFE"/>
                </a:solidFill>
                <a:latin typeface="微软雅黑 Light"/>
                <a:cs typeface="微软雅黑 Light"/>
              </a:rPr>
              <a:t>ANALYSIS</a:t>
            </a:r>
            <a:endParaRPr sz="2250">
              <a:latin typeface="微软雅黑 Light"/>
              <a:cs typeface="微软雅黑 Ligh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14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739774" y="2644774"/>
            <a:ext cx="228155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400" b="1" spc="-25" dirty="0">
                <a:solidFill>
                  <a:srgbClr val="3B81F5"/>
                </a:solidFill>
                <a:latin typeface="微软雅黑"/>
                <a:cs typeface="微软雅黑"/>
              </a:rPr>
              <a:t>03</a:t>
            </a:r>
            <a:endParaRPr sz="14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925" y="120650"/>
            <a:ext cx="2311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技术层面挑战</a:t>
            </a:r>
          </a:p>
        </p:txBody>
      </p:sp>
      <p:sp>
        <p:nvSpPr>
          <p:cNvPr id="3" name="object 3"/>
          <p:cNvSpPr/>
          <p:nvPr/>
        </p:nvSpPr>
        <p:spPr>
          <a:xfrm>
            <a:off x="428624" y="657224"/>
            <a:ext cx="1371600" cy="38100"/>
          </a:xfrm>
          <a:custGeom>
            <a:avLst/>
            <a:gdLst/>
            <a:ahLst/>
            <a:cxnLst/>
            <a:rect l="l" t="t" r="r" b="b"/>
            <a:pathLst>
              <a:path w="1371600" h="38100">
                <a:moveTo>
                  <a:pt x="1371599" y="38099"/>
                </a:moveTo>
                <a:lnTo>
                  <a:pt x="0" y="38099"/>
                </a:lnTo>
                <a:lnTo>
                  <a:pt x="0" y="0"/>
                </a:lnTo>
                <a:lnTo>
                  <a:pt x="1371599" y="0"/>
                </a:lnTo>
                <a:lnTo>
                  <a:pt x="13715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28625" y="1771650"/>
            <a:ext cx="457200" cy="457200"/>
            <a:chOff x="428625" y="1771650"/>
            <a:chExt cx="457200" cy="457200"/>
          </a:xfrm>
        </p:grpSpPr>
        <p:sp>
          <p:nvSpPr>
            <p:cNvPr id="5" name="object 5"/>
            <p:cNvSpPr/>
            <p:nvPr/>
          </p:nvSpPr>
          <p:spPr>
            <a:xfrm>
              <a:off x="433387" y="177641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380928" y="447674"/>
                  </a:moveTo>
                  <a:lnTo>
                    <a:pt x="66746" y="447674"/>
                  </a:lnTo>
                  <a:lnTo>
                    <a:pt x="62101" y="447217"/>
                  </a:lnTo>
                  <a:lnTo>
                    <a:pt x="24240" y="430068"/>
                  </a:lnTo>
                  <a:lnTo>
                    <a:pt x="2287" y="394774"/>
                  </a:lnTo>
                  <a:lnTo>
                    <a:pt x="0" y="380928"/>
                  </a:lnTo>
                  <a:lnTo>
                    <a:pt x="0" y="3762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80928" y="0"/>
                  </a:lnTo>
                  <a:lnTo>
                    <a:pt x="419826" y="14645"/>
                  </a:lnTo>
                  <a:lnTo>
                    <a:pt x="444032" y="48433"/>
                  </a:lnTo>
                  <a:lnTo>
                    <a:pt x="447674" y="66746"/>
                  </a:lnTo>
                  <a:lnTo>
                    <a:pt x="447674" y="380928"/>
                  </a:lnTo>
                  <a:lnTo>
                    <a:pt x="433029" y="419825"/>
                  </a:lnTo>
                  <a:lnTo>
                    <a:pt x="399241" y="444032"/>
                  </a:lnTo>
                  <a:lnTo>
                    <a:pt x="385573" y="447217"/>
                  </a:lnTo>
                  <a:lnTo>
                    <a:pt x="380928" y="447674"/>
                  </a:lnTo>
                  <a:close/>
                </a:path>
              </a:pathLst>
            </a:custGeom>
            <a:solidFill>
              <a:srgbClr val="1D3A8A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33387" y="177641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3762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76237" y="0"/>
                  </a:lnTo>
                  <a:lnTo>
                    <a:pt x="380928" y="0"/>
                  </a:lnTo>
                  <a:lnTo>
                    <a:pt x="385573" y="457"/>
                  </a:lnTo>
                  <a:lnTo>
                    <a:pt x="423434" y="17606"/>
                  </a:lnTo>
                  <a:lnTo>
                    <a:pt x="426751" y="20923"/>
                  </a:lnTo>
                  <a:lnTo>
                    <a:pt x="430068" y="24240"/>
                  </a:lnTo>
                  <a:lnTo>
                    <a:pt x="447217" y="62101"/>
                  </a:lnTo>
                  <a:lnTo>
                    <a:pt x="447674" y="71437"/>
                  </a:lnTo>
                  <a:lnTo>
                    <a:pt x="447674" y="376237"/>
                  </a:lnTo>
                  <a:lnTo>
                    <a:pt x="435635" y="415925"/>
                  </a:lnTo>
                  <a:lnTo>
                    <a:pt x="415925" y="435635"/>
                  </a:lnTo>
                  <a:lnTo>
                    <a:pt x="412025" y="438241"/>
                  </a:lnTo>
                  <a:lnTo>
                    <a:pt x="390174" y="446302"/>
                  </a:lnTo>
                  <a:lnTo>
                    <a:pt x="385573" y="447217"/>
                  </a:lnTo>
                  <a:lnTo>
                    <a:pt x="380928" y="447674"/>
                  </a:lnTo>
                  <a:lnTo>
                    <a:pt x="376237" y="447674"/>
                  </a:lnTo>
                  <a:lnTo>
                    <a:pt x="71437" y="447674"/>
                  </a:lnTo>
                  <a:lnTo>
                    <a:pt x="66746" y="447674"/>
                  </a:lnTo>
                  <a:lnTo>
                    <a:pt x="62101" y="447217"/>
                  </a:lnTo>
                  <a:lnTo>
                    <a:pt x="57500" y="446302"/>
                  </a:lnTo>
                  <a:lnTo>
                    <a:pt x="52900" y="445387"/>
                  </a:lnTo>
                  <a:lnTo>
                    <a:pt x="48433" y="444032"/>
                  </a:lnTo>
                  <a:lnTo>
                    <a:pt x="44099" y="442236"/>
                  </a:lnTo>
                  <a:lnTo>
                    <a:pt x="39765" y="440441"/>
                  </a:lnTo>
                  <a:lnTo>
                    <a:pt x="35649" y="438241"/>
                  </a:lnTo>
                  <a:lnTo>
                    <a:pt x="31748" y="435635"/>
                  </a:lnTo>
                  <a:lnTo>
                    <a:pt x="27848" y="433029"/>
                  </a:lnTo>
                  <a:lnTo>
                    <a:pt x="3642" y="399241"/>
                  </a:lnTo>
                  <a:lnTo>
                    <a:pt x="0" y="380928"/>
                  </a:lnTo>
                  <a:lnTo>
                    <a:pt x="0" y="376237"/>
                  </a:lnTo>
                  <a:close/>
                </a:path>
              </a:pathLst>
            </a:custGeom>
            <a:ln w="9524">
              <a:solidFill>
                <a:srgbClr val="1C4E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1305" y="1916906"/>
              <a:ext cx="191839" cy="166687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428625" y="2971799"/>
            <a:ext cx="457200" cy="457200"/>
            <a:chOff x="428625" y="2971799"/>
            <a:chExt cx="457200" cy="457200"/>
          </a:xfrm>
        </p:grpSpPr>
        <p:sp>
          <p:nvSpPr>
            <p:cNvPr id="9" name="object 9"/>
            <p:cNvSpPr/>
            <p:nvPr/>
          </p:nvSpPr>
          <p:spPr>
            <a:xfrm>
              <a:off x="433387" y="29765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380928" y="447674"/>
                  </a:moveTo>
                  <a:lnTo>
                    <a:pt x="66746" y="447674"/>
                  </a:lnTo>
                  <a:lnTo>
                    <a:pt x="62101" y="447217"/>
                  </a:lnTo>
                  <a:lnTo>
                    <a:pt x="24240" y="430067"/>
                  </a:lnTo>
                  <a:lnTo>
                    <a:pt x="2287" y="394774"/>
                  </a:lnTo>
                  <a:lnTo>
                    <a:pt x="0" y="380928"/>
                  </a:lnTo>
                  <a:lnTo>
                    <a:pt x="0" y="3762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80928" y="0"/>
                  </a:lnTo>
                  <a:lnTo>
                    <a:pt x="419826" y="14645"/>
                  </a:lnTo>
                  <a:lnTo>
                    <a:pt x="444032" y="48432"/>
                  </a:lnTo>
                  <a:lnTo>
                    <a:pt x="447674" y="66746"/>
                  </a:lnTo>
                  <a:lnTo>
                    <a:pt x="447674" y="380928"/>
                  </a:lnTo>
                  <a:lnTo>
                    <a:pt x="433029" y="419825"/>
                  </a:lnTo>
                  <a:lnTo>
                    <a:pt x="399241" y="444031"/>
                  </a:lnTo>
                  <a:lnTo>
                    <a:pt x="385573" y="447217"/>
                  </a:lnTo>
                  <a:lnTo>
                    <a:pt x="380928" y="447674"/>
                  </a:lnTo>
                  <a:close/>
                </a:path>
              </a:pathLst>
            </a:custGeom>
            <a:solidFill>
              <a:srgbClr val="4B1C94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33387" y="29765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3762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76237" y="0"/>
                  </a:lnTo>
                  <a:lnTo>
                    <a:pt x="380928" y="0"/>
                  </a:lnTo>
                  <a:lnTo>
                    <a:pt x="385573" y="457"/>
                  </a:lnTo>
                  <a:lnTo>
                    <a:pt x="415925" y="12039"/>
                  </a:lnTo>
                  <a:lnTo>
                    <a:pt x="419826" y="14645"/>
                  </a:lnTo>
                  <a:lnTo>
                    <a:pt x="423434" y="17606"/>
                  </a:lnTo>
                  <a:lnTo>
                    <a:pt x="426751" y="20923"/>
                  </a:lnTo>
                  <a:lnTo>
                    <a:pt x="430068" y="24240"/>
                  </a:lnTo>
                  <a:lnTo>
                    <a:pt x="447217" y="62101"/>
                  </a:lnTo>
                  <a:lnTo>
                    <a:pt x="447674" y="71437"/>
                  </a:lnTo>
                  <a:lnTo>
                    <a:pt x="447674" y="376237"/>
                  </a:lnTo>
                  <a:lnTo>
                    <a:pt x="435635" y="415925"/>
                  </a:lnTo>
                  <a:lnTo>
                    <a:pt x="433029" y="419825"/>
                  </a:lnTo>
                  <a:lnTo>
                    <a:pt x="399241" y="444031"/>
                  </a:lnTo>
                  <a:lnTo>
                    <a:pt x="390174" y="446302"/>
                  </a:lnTo>
                  <a:lnTo>
                    <a:pt x="385573" y="447217"/>
                  </a:lnTo>
                  <a:lnTo>
                    <a:pt x="380928" y="447674"/>
                  </a:lnTo>
                  <a:lnTo>
                    <a:pt x="376237" y="447674"/>
                  </a:lnTo>
                  <a:lnTo>
                    <a:pt x="71437" y="447674"/>
                  </a:lnTo>
                  <a:lnTo>
                    <a:pt x="66746" y="447674"/>
                  </a:lnTo>
                  <a:lnTo>
                    <a:pt x="62101" y="447217"/>
                  </a:lnTo>
                  <a:lnTo>
                    <a:pt x="31748" y="435635"/>
                  </a:lnTo>
                  <a:lnTo>
                    <a:pt x="27848" y="433029"/>
                  </a:lnTo>
                  <a:lnTo>
                    <a:pt x="3642" y="399241"/>
                  </a:lnTo>
                  <a:lnTo>
                    <a:pt x="1372" y="390173"/>
                  </a:lnTo>
                  <a:lnTo>
                    <a:pt x="457" y="385573"/>
                  </a:lnTo>
                  <a:lnTo>
                    <a:pt x="0" y="380928"/>
                  </a:lnTo>
                  <a:lnTo>
                    <a:pt x="0" y="376237"/>
                  </a:lnTo>
                  <a:close/>
                </a:path>
              </a:pathLst>
            </a:custGeom>
            <a:ln w="9524">
              <a:solidFill>
                <a:srgbClr val="6D28D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00" y="3105149"/>
              <a:ext cx="166687" cy="190499"/>
            </a:xfrm>
            <a:prstGeom prst="rect">
              <a:avLst/>
            </a:prstGeom>
          </p:spPr>
        </p:pic>
      </p:grpSp>
      <p:grpSp>
        <p:nvGrpSpPr>
          <p:cNvPr id="12" name="object 12"/>
          <p:cNvGrpSpPr/>
          <p:nvPr/>
        </p:nvGrpSpPr>
        <p:grpSpPr>
          <a:xfrm>
            <a:off x="428625" y="3924299"/>
            <a:ext cx="457200" cy="457200"/>
            <a:chOff x="428625" y="3924299"/>
            <a:chExt cx="457200" cy="457200"/>
          </a:xfrm>
        </p:grpSpPr>
        <p:sp>
          <p:nvSpPr>
            <p:cNvPr id="13" name="object 13"/>
            <p:cNvSpPr/>
            <p:nvPr/>
          </p:nvSpPr>
          <p:spPr>
            <a:xfrm>
              <a:off x="433387" y="39290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380928" y="447674"/>
                  </a:moveTo>
                  <a:lnTo>
                    <a:pt x="66746" y="447674"/>
                  </a:lnTo>
                  <a:lnTo>
                    <a:pt x="62101" y="447217"/>
                  </a:lnTo>
                  <a:lnTo>
                    <a:pt x="24240" y="430067"/>
                  </a:lnTo>
                  <a:lnTo>
                    <a:pt x="2287" y="394774"/>
                  </a:lnTo>
                  <a:lnTo>
                    <a:pt x="0" y="380928"/>
                  </a:lnTo>
                  <a:lnTo>
                    <a:pt x="0" y="3762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80928" y="0"/>
                  </a:lnTo>
                  <a:lnTo>
                    <a:pt x="419826" y="14645"/>
                  </a:lnTo>
                  <a:lnTo>
                    <a:pt x="444032" y="48433"/>
                  </a:lnTo>
                  <a:lnTo>
                    <a:pt x="447674" y="66746"/>
                  </a:lnTo>
                  <a:lnTo>
                    <a:pt x="447674" y="380928"/>
                  </a:lnTo>
                  <a:lnTo>
                    <a:pt x="433029" y="419825"/>
                  </a:lnTo>
                  <a:lnTo>
                    <a:pt x="399241" y="444031"/>
                  </a:lnTo>
                  <a:lnTo>
                    <a:pt x="385573" y="447217"/>
                  </a:lnTo>
                  <a:lnTo>
                    <a:pt x="380928" y="447674"/>
                  </a:lnTo>
                  <a:close/>
                </a:path>
              </a:pathLst>
            </a:custGeom>
            <a:solidFill>
              <a:srgbClr val="312E81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33387" y="39290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3762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76237" y="0"/>
                  </a:lnTo>
                  <a:lnTo>
                    <a:pt x="380928" y="0"/>
                  </a:lnTo>
                  <a:lnTo>
                    <a:pt x="385573" y="457"/>
                  </a:lnTo>
                  <a:lnTo>
                    <a:pt x="390174" y="1372"/>
                  </a:lnTo>
                  <a:lnTo>
                    <a:pt x="394774" y="2287"/>
                  </a:lnTo>
                  <a:lnTo>
                    <a:pt x="415925" y="12039"/>
                  </a:lnTo>
                  <a:lnTo>
                    <a:pt x="419826" y="14645"/>
                  </a:lnTo>
                  <a:lnTo>
                    <a:pt x="423434" y="17606"/>
                  </a:lnTo>
                  <a:lnTo>
                    <a:pt x="426751" y="20923"/>
                  </a:lnTo>
                  <a:lnTo>
                    <a:pt x="430068" y="24240"/>
                  </a:lnTo>
                  <a:lnTo>
                    <a:pt x="433029" y="27848"/>
                  </a:lnTo>
                  <a:lnTo>
                    <a:pt x="435635" y="31748"/>
                  </a:lnTo>
                  <a:lnTo>
                    <a:pt x="438241" y="35649"/>
                  </a:lnTo>
                  <a:lnTo>
                    <a:pt x="447674" y="71437"/>
                  </a:lnTo>
                  <a:lnTo>
                    <a:pt x="447674" y="376237"/>
                  </a:lnTo>
                  <a:lnTo>
                    <a:pt x="435635" y="415925"/>
                  </a:lnTo>
                  <a:lnTo>
                    <a:pt x="415925" y="435634"/>
                  </a:lnTo>
                  <a:lnTo>
                    <a:pt x="412025" y="438241"/>
                  </a:lnTo>
                  <a:lnTo>
                    <a:pt x="390174" y="446301"/>
                  </a:lnTo>
                  <a:lnTo>
                    <a:pt x="385573" y="447217"/>
                  </a:lnTo>
                  <a:lnTo>
                    <a:pt x="380928" y="447674"/>
                  </a:lnTo>
                  <a:lnTo>
                    <a:pt x="376237" y="447674"/>
                  </a:lnTo>
                  <a:lnTo>
                    <a:pt x="71437" y="447674"/>
                  </a:lnTo>
                  <a:lnTo>
                    <a:pt x="31748" y="435635"/>
                  </a:lnTo>
                  <a:lnTo>
                    <a:pt x="27848" y="433029"/>
                  </a:lnTo>
                  <a:lnTo>
                    <a:pt x="3642" y="399241"/>
                  </a:lnTo>
                  <a:lnTo>
                    <a:pt x="1372" y="390173"/>
                  </a:lnTo>
                  <a:lnTo>
                    <a:pt x="457" y="385573"/>
                  </a:lnTo>
                  <a:lnTo>
                    <a:pt x="0" y="380928"/>
                  </a:lnTo>
                  <a:lnTo>
                    <a:pt x="0" y="376237"/>
                  </a:lnTo>
                  <a:close/>
                </a:path>
              </a:pathLst>
            </a:custGeom>
            <a:ln w="9524">
              <a:solidFill>
                <a:srgbClr val="4237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2450" y="4057649"/>
              <a:ext cx="214312" cy="18938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025525" y="1656556"/>
            <a:ext cx="4557395" cy="298767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500" b="1" dirty="0">
                <a:solidFill>
                  <a:srgbClr val="BEDAFE"/>
                </a:solidFill>
                <a:latin typeface="微软雅黑"/>
                <a:cs typeface="微软雅黑"/>
              </a:rPr>
              <a:t>LLM</a:t>
            </a:r>
            <a:r>
              <a:rPr sz="1500" b="1" spc="-25" dirty="0">
                <a:solidFill>
                  <a:srgbClr val="BEDAFE"/>
                </a:solidFill>
                <a:latin typeface="微软雅黑"/>
                <a:cs typeface="微软雅黑"/>
              </a:rPr>
              <a:t> 固有缺陷</a:t>
            </a:r>
            <a:endParaRPr sz="1500">
              <a:latin typeface="微软雅黑"/>
              <a:cs typeface="微软雅黑"/>
            </a:endParaRPr>
          </a:p>
          <a:p>
            <a:pPr marL="125095" indent="-112395">
              <a:lnSpc>
                <a:spcPct val="100000"/>
              </a:lnSpc>
              <a:spcBef>
                <a:spcPts val="525"/>
              </a:spcBef>
              <a:buChar char="·"/>
              <a:tabLst>
                <a:tab pos="125095" algn="l"/>
              </a:tabLst>
            </a:pPr>
            <a:r>
              <a:rPr sz="1200" b="1" dirty="0">
                <a:solidFill>
                  <a:srgbClr val="60A5FA"/>
                </a:solidFill>
                <a:latin typeface="微软雅黑"/>
                <a:cs typeface="微软雅黑"/>
              </a:rPr>
              <a:t>幻觉问题：</a:t>
            </a: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生成貌似合理但错误的信息，缺乏可验证性。</a:t>
            </a:r>
            <a:endParaRPr sz="1200">
              <a:latin typeface="微软雅黑"/>
              <a:cs typeface="微软雅黑"/>
            </a:endParaRPr>
          </a:p>
          <a:p>
            <a:pPr marL="125095" indent="-112395">
              <a:lnSpc>
                <a:spcPct val="100000"/>
              </a:lnSpc>
              <a:spcBef>
                <a:spcPts val="509"/>
              </a:spcBef>
              <a:buChar char="·"/>
              <a:tabLst>
                <a:tab pos="125095" algn="l"/>
              </a:tabLst>
            </a:pPr>
            <a:r>
              <a:rPr sz="1200" b="1" dirty="0">
                <a:solidFill>
                  <a:srgbClr val="60A5FA"/>
                </a:solidFill>
                <a:latin typeface="微软雅黑"/>
                <a:cs typeface="微软雅黑"/>
              </a:rPr>
              <a:t>弱因果性：</a:t>
            </a: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仅识别统计相关性，缺乏真正的逻辑因果理解。</a:t>
            </a:r>
            <a:endParaRPr sz="1200">
              <a:latin typeface="微软雅黑"/>
              <a:cs typeface="微软雅黑"/>
            </a:endParaRPr>
          </a:p>
          <a:p>
            <a:pPr marL="125095" indent="-112395">
              <a:lnSpc>
                <a:spcPct val="100000"/>
              </a:lnSpc>
              <a:spcBef>
                <a:spcPts val="509"/>
              </a:spcBef>
              <a:buChar char="·"/>
              <a:tabLst>
                <a:tab pos="125095" algn="l"/>
              </a:tabLst>
            </a:pPr>
            <a:r>
              <a:rPr sz="1200" b="1" dirty="0">
                <a:solidFill>
                  <a:srgbClr val="60A5FA"/>
                </a:solidFill>
                <a:latin typeface="微软雅黑"/>
                <a:cs typeface="微软雅黑"/>
              </a:rPr>
              <a:t>提示敏感：</a:t>
            </a:r>
            <a:r>
              <a:rPr sz="1200" dirty="0">
                <a:solidFill>
                  <a:srgbClr val="D0D5DA"/>
                </a:solidFill>
                <a:latin typeface="微软雅黑"/>
                <a:cs typeface="微软雅黑"/>
              </a:rPr>
              <a:t>微小的输入差异可能导致Agent</a:t>
            </a:r>
            <a:r>
              <a:rPr sz="1200" spc="-10" dirty="0">
                <a:solidFill>
                  <a:srgbClr val="D0D5DA"/>
                </a:solidFill>
                <a:latin typeface="微软雅黑"/>
                <a:cs typeface="微软雅黑"/>
              </a:rPr>
              <a:t>行为产生剧烈波动。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1500" b="1" spc="-10" dirty="0">
                <a:solidFill>
                  <a:srgbClr val="DDD5FE"/>
                </a:solidFill>
                <a:latin typeface="微软雅黑"/>
                <a:cs typeface="微软雅黑"/>
              </a:rPr>
              <a:t>智能体属性不完整</a:t>
            </a:r>
            <a:endParaRPr sz="1500">
              <a:latin typeface="微软雅黑"/>
              <a:cs typeface="微软雅黑"/>
            </a:endParaRPr>
          </a:p>
          <a:p>
            <a:pPr marL="125095" indent="-112395">
              <a:lnSpc>
                <a:spcPct val="100000"/>
              </a:lnSpc>
              <a:spcBef>
                <a:spcPts val="525"/>
              </a:spcBef>
              <a:buChar char="·"/>
              <a:tabLst>
                <a:tab pos="125095" algn="l"/>
              </a:tabLst>
            </a:pPr>
            <a:r>
              <a:rPr sz="1200" b="1" dirty="0">
                <a:solidFill>
                  <a:srgbClr val="A68BFA"/>
                </a:solidFill>
                <a:latin typeface="微软雅黑"/>
                <a:cs typeface="微软雅黑"/>
              </a:rPr>
              <a:t>被动自主性：</a:t>
            </a:r>
            <a:r>
              <a:rPr sz="1200" spc="-20" dirty="0">
                <a:solidFill>
                  <a:srgbClr val="D0D5DA"/>
                </a:solidFill>
                <a:latin typeface="微软雅黑"/>
                <a:cs typeface="微软雅黑"/>
              </a:rPr>
              <a:t>高度依赖人工定义的</a:t>
            </a:r>
            <a:r>
              <a:rPr sz="1200" spc="-10" dirty="0">
                <a:solidFill>
                  <a:srgbClr val="D0D5DA"/>
                </a:solidFill>
                <a:latin typeface="微软雅黑"/>
                <a:cs typeface="微软雅黑"/>
              </a:rPr>
              <a:t>Prompt，缺乏内在驱动力。</a:t>
            </a:r>
            <a:endParaRPr sz="1200">
              <a:latin typeface="微软雅黑"/>
              <a:cs typeface="微软雅黑"/>
            </a:endParaRPr>
          </a:p>
          <a:p>
            <a:pPr marL="125095" indent="-112395">
              <a:lnSpc>
                <a:spcPct val="100000"/>
              </a:lnSpc>
              <a:spcBef>
                <a:spcPts val="509"/>
              </a:spcBef>
              <a:buChar char="·"/>
              <a:tabLst>
                <a:tab pos="125095" algn="l"/>
              </a:tabLst>
            </a:pPr>
            <a:r>
              <a:rPr sz="1200" b="1" dirty="0">
                <a:solidFill>
                  <a:srgbClr val="A68BFA"/>
                </a:solidFill>
                <a:latin typeface="微软雅黑"/>
                <a:cs typeface="微软雅黑"/>
              </a:rPr>
              <a:t>动态目标缺失：</a:t>
            </a: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难以根据环境变化自主制定新的动态目标。</a:t>
            </a:r>
            <a:endParaRPr sz="12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785"/>
              </a:spcBef>
            </a:pPr>
            <a:r>
              <a:rPr sz="1500" b="1" spc="-10" dirty="0">
                <a:solidFill>
                  <a:srgbClr val="C7D1FE"/>
                </a:solidFill>
                <a:latin typeface="微软雅黑"/>
                <a:cs typeface="微软雅黑"/>
              </a:rPr>
              <a:t>长期规划能力有限</a:t>
            </a:r>
            <a:endParaRPr sz="1500">
              <a:latin typeface="微软雅黑"/>
              <a:cs typeface="微软雅黑"/>
            </a:endParaRPr>
          </a:p>
          <a:p>
            <a:pPr marL="125095" indent="-112395">
              <a:lnSpc>
                <a:spcPct val="100000"/>
              </a:lnSpc>
              <a:spcBef>
                <a:spcPts val="525"/>
              </a:spcBef>
              <a:buChar char="·"/>
              <a:tabLst>
                <a:tab pos="125095" algn="l"/>
              </a:tabLst>
            </a:pPr>
            <a:r>
              <a:rPr sz="1200" b="1" dirty="0">
                <a:solidFill>
                  <a:srgbClr val="818BF7"/>
                </a:solidFill>
                <a:latin typeface="微软雅黑"/>
                <a:cs typeface="微软雅黑"/>
              </a:rPr>
              <a:t>跨时间一致性：</a:t>
            </a: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在长周期任务中难以维持上下文和目标的一致性。</a:t>
            </a:r>
            <a:endParaRPr sz="1200">
              <a:latin typeface="微软雅黑"/>
              <a:cs typeface="微软雅黑"/>
            </a:endParaRPr>
          </a:p>
          <a:p>
            <a:pPr marL="125095" indent="-112395">
              <a:lnSpc>
                <a:spcPct val="100000"/>
              </a:lnSpc>
              <a:spcBef>
                <a:spcPts val="509"/>
              </a:spcBef>
              <a:buChar char="·"/>
              <a:tabLst>
                <a:tab pos="125095" algn="l"/>
              </a:tabLst>
            </a:pPr>
            <a:r>
              <a:rPr sz="1200" b="1" dirty="0">
                <a:solidFill>
                  <a:srgbClr val="818BF7"/>
                </a:solidFill>
                <a:latin typeface="微软雅黑"/>
                <a:cs typeface="微软雅黑"/>
              </a:rPr>
              <a:t>复杂任务迷失：</a:t>
            </a: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多阶段任务容易陷入局部最优或丢失全局视角。</a:t>
            </a:r>
            <a:endParaRPr sz="1200">
              <a:latin typeface="微软雅黑"/>
              <a:cs typeface="微软雅黑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28625" y="4876799"/>
            <a:ext cx="457200" cy="457200"/>
            <a:chOff x="428625" y="4876799"/>
            <a:chExt cx="457200" cy="457200"/>
          </a:xfrm>
        </p:grpSpPr>
        <p:sp>
          <p:nvSpPr>
            <p:cNvPr id="18" name="object 18"/>
            <p:cNvSpPr/>
            <p:nvPr/>
          </p:nvSpPr>
          <p:spPr>
            <a:xfrm>
              <a:off x="433387" y="48815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380928" y="447674"/>
                  </a:moveTo>
                  <a:lnTo>
                    <a:pt x="66746" y="447674"/>
                  </a:lnTo>
                  <a:lnTo>
                    <a:pt x="62101" y="447216"/>
                  </a:lnTo>
                  <a:lnTo>
                    <a:pt x="24240" y="430067"/>
                  </a:lnTo>
                  <a:lnTo>
                    <a:pt x="2287" y="394773"/>
                  </a:lnTo>
                  <a:lnTo>
                    <a:pt x="0" y="380927"/>
                  </a:lnTo>
                  <a:lnTo>
                    <a:pt x="0" y="3762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1"/>
                  </a:lnTo>
                  <a:lnTo>
                    <a:pt x="66746" y="0"/>
                  </a:lnTo>
                  <a:lnTo>
                    <a:pt x="380928" y="0"/>
                  </a:lnTo>
                  <a:lnTo>
                    <a:pt x="419826" y="14644"/>
                  </a:lnTo>
                  <a:lnTo>
                    <a:pt x="444032" y="48432"/>
                  </a:lnTo>
                  <a:lnTo>
                    <a:pt x="447674" y="66746"/>
                  </a:lnTo>
                  <a:lnTo>
                    <a:pt x="447674" y="380927"/>
                  </a:lnTo>
                  <a:lnTo>
                    <a:pt x="433029" y="419825"/>
                  </a:lnTo>
                  <a:lnTo>
                    <a:pt x="399241" y="444031"/>
                  </a:lnTo>
                  <a:lnTo>
                    <a:pt x="385573" y="447216"/>
                  </a:lnTo>
                  <a:lnTo>
                    <a:pt x="380928" y="447674"/>
                  </a:lnTo>
                  <a:close/>
                </a:path>
              </a:pathLst>
            </a:custGeom>
            <a:solidFill>
              <a:srgbClr val="821742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33387" y="48815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3762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71437" y="0"/>
                  </a:lnTo>
                  <a:lnTo>
                    <a:pt x="376237" y="0"/>
                  </a:lnTo>
                  <a:lnTo>
                    <a:pt x="415925" y="12038"/>
                  </a:lnTo>
                  <a:lnTo>
                    <a:pt x="426751" y="20923"/>
                  </a:lnTo>
                  <a:lnTo>
                    <a:pt x="430068" y="24239"/>
                  </a:lnTo>
                  <a:lnTo>
                    <a:pt x="433029" y="27848"/>
                  </a:lnTo>
                  <a:lnTo>
                    <a:pt x="435635" y="31748"/>
                  </a:lnTo>
                  <a:lnTo>
                    <a:pt x="438241" y="35648"/>
                  </a:lnTo>
                  <a:lnTo>
                    <a:pt x="447674" y="71437"/>
                  </a:lnTo>
                  <a:lnTo>
                    <a:pt x="447674" y="376237"/>
                  </a:lnTo>
                  <a:lnTo>
                    <a:pt x="447674" y="380927"/>
                  </a:lnTo>
                  <a:lnTo>
                    <a:pt x="447217" y="385573"/>
                  </a:lnTo>
                  <a:lnTo>
                    <a:pt x="446302" y="390173"/>
                  </a:lnTo>
                  <a:lnTo>
                    <a:pt x="445387" y="394773"/>
                  </a:lnTo>
                  <a:lnTo>
                    <a:pt x="435635" y="415924"/>
                  </a:lnTo>
                  <a:lnTo>
                    <a:pt x="433029" y="419825"/>
                  </a:lnTo>
                  <a:lnTo>
                    <a:pt x="415925" y="435634"/>
                  </a:lnTo>
                  <a:lnTo>
                    <a:pt x="412025" y="438240"/>
                  </a:lnTo>
                  <a:lnTo>
                    <a:pt x="390174" y="446301"/>
                  </a:lnTo>
                  <a:lnTo>
                    <a:pt x="385573" y="447217"/>
                  </a:lnTo>
                  <a:lnTo>
                    <a:pt x="380928" y="447674"/>
                  </a:lnTo>
                  <a:lnTo>
                    <a:pt x="376237" y="447674"/>
                  </a:lnTo>
                  <a:lnTo>
                    <a:pt x="71437" y="447674"/>
                  </a:lnTo>
                  <a:lnTo>
                    <a:pt x="66746" y="447674"/>
                  </a:lnTo>
                  <a:lnTo>
                    <a:pt x="62101" y="447216"/>
                  </a:lnTo>
                  <a:lnTo>
                    <a:pt x="57500" y="446301"/>
                  </a:lnTo>
                  <a:lnTo>
                    <a:pt x="52900" y="445386"/>
                  </a:lnTo>
                  <a:lnTo>
                    <a:pt x="31748" y="435634"/>
                  </a:lnTo>
                  <a:lnTo>
                    <a:pt x="27848" y="433028"/>
                  </a:lnTo>
                  <a:lnTo>
                    <a:pt x="12039" y="415924"/>
                  </a:lnTo>
                  <a:lnTo>
                    <a:pt x="9433" y="412024"/>
                  </a:lnTo>
                  <a:lnTo>
                    <a:pt x="1372" y="390173"/>
                  </a:lnTo>
                  <a:lnTo>
                    <a:pt x="457" y="385573"/>
                  </a:lnTo>
                  <a:lnTo>
                    <a:pt x="0" y="380927"/>
                  </a:lnTo>
                  <a:lnTo>
                    <a:pt x="0" y="376237"/>
                  </a:lnTo>
                  <a:close/>
                </a:path>
              </a:pathLst>
            </a:custGeom>
            <a:ln w="9524">
              <a:solidFill>
                <a:srgbClr val="BE175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1082" y="5009256"/>
              <a:ext cx="192546" cy="192546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025525" y="4761705"/>
            <a:ext cx="4822825" cy="835025"/>
          </a:xfrm>
          <a:prstGeom prst="rect">
            <a:avLst/>
          </a:prstGeom>
        </p:spPr>
        <p:txBody>
          <a:bodyPr vert="horz" wrap="square" lIns="0" tIns="958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55"/>
              </a:spcBef>
            </a:pPr>
            <a:r>
              <a:rPr sz="1500" b="1" spc="-10" dirty="0">
                <a:solidFill>
                  <a:srgbClr val="FACFE7"/>
                </a:solidFill>
                <a:latin typeface="微软雅黑"/>
                <a:cs typeface="微软雅黑"/>
              </a:rPr>
              <a:t>错误恢复机制不足</a:t>
            </a:r>
            <a:endParaRPr sz="1500">
              <a:latin typeface="微软雅黑"/>
              <a:cs typeface="微软雅黑"/>
            </a:endParaRPr>
          </a:p>
          <a:p>
            <a:pPr marL="125095" indent="-112395">
              <a:lnSpc>
                <a:spcPct val="100000"/>
              </a:lnSpc>
              <a:spcBef>
                <a:spcPts val="525"/>
              </a:spcBef>
              <a:buChar char="·"/>
              <a:tabLst>
                <a:tab pos="125095" algn="l"/>
              </a:tabLst>
            </a:pPr>
            <a:r>
              <a:rPr sz="1200" b="1" dirty="0">
                <a:solidFill>
                  <a:srgbClr val="F472B5"/>
                </a:solidFill>
                <a:latin typeface="微软雅黑"/>
                <a:cs typeface="微软雅黑"/>
              </a:rPr>
              <a:t>缺乏系统闭环：</a:t>
            </a: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缺少系统级的错误检测、反思与自我修复模块。</a:t>
            </a:r>
            <a:endParaRPr sz="1200">
              <a:latin typeface="微软雅黑"/>
              <a:cs typeface="微软雅黑"/>
            </a:endParaRPr>
          </a:p>
          <a:p>
            <a:pPr marL="125095" indent="-112395">
              <a:lnSpc>
                <a:spcPct val="100000"/>
              </a:lnSpc>
              <a:spcBef>
                <a:spcPts val="509"/>
              </a:spcBef>
              <a:buChar char="·"/>
              <a:tabLst>
                <a:tab pos="125095" algn="l"/>
              </a:tabLst>
            </a:pPr>
            <a:r>
              <a:rPr sz="1200" b="1" dirty="0">
                <a:solidFill>
                  <a:srgbClr val="F472B5"/>
                </a:solidFill>
                <a:latin typeface="微软雅黑"/>
                <a:cs typeface="微软雅黑"/>
              </a:rPr>
              <a:t>错误级联效应：</a:t>
            </a:r>
            <a:r>
              <a:rPr sz="1200" dirty="0">
                <a:solidFill>
                  <a:srgbClr val="D0D5DA"/>
                </a:solidFill>
                <a:latin typeface="微软雅黑"/>
                <a:cs typeface="微软雅黑"/>
              </a:rPr>
              <a:t>多模块协作（如搜索+分析）</a:t>
            </a: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中，单点错误会被放大。</a:t>
            </a:r>
            <a:endParaRPr sz="1200">
              <a:latin typeface="微软雅黑"/>
              <a:cs typeface="微软雅黑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7038974" y="1057275"/>
            <a:ext cx="4724400" cy="4362450"/>
            <a:chOff x="7038974" y="1057275"/>
            <a:chExt cx="4724400" cy="4362450"/>
          </a:xfrm>
        </p:grpSpPr>
        <p:sp>
          <p:nvSpPr>
            <p:cNvPr id="23" name="object 23"/>
            <p:cNvSpPr/>
            <p:nvPr/>
          </p:nvSpPr>
          <p:spPr>
            <a:xfrm>
              <a:off x="7043736" y="1062037"/>
              <a:ext cx="4714875" cy="4352925"/>
            </a:xfrm>
            <a:custGeom>
              <a:avLst/>
              <a:gdLst/>
              <a:ahLst/>
              <a:cxnLst/>
              <a:rect l="l" t="t" r="r" b="b"/>
              <a:pathLst>
                <a:path w="4714875" h="4352925">
                  <a:moveTo>
                    <a:pt x="4612529" y="4352924"/>
                  </a:moveTo>
                  <a:lnTo>
                    <a:pt x="102346" y="4352924"/>
                  </a:lnTo>
                  <a:lnTo>
                    <a:pt x="95222" y="4352222"/>
                  </a:lnTo>
                  <a:lnTo>
                    <a:pt x="54661" y="4338459"/>
                  </a:lnTo>
                  <a:lnTo>
                    <a:pt x="22456" y="4310222"/>
                  </a:lnTo>
                  <a:lnTo>
                    <a:pt x="3507" y="4271810"/>
                  </a:lnTo>
                  <a:lnTo>
                    <a:pt x="0" y="4250579"/>
                  </a:lnTo>
                  <a:lnTo>
                    <a:pt x="0" y="4243387"/>
                  </a:lnTo>
                  <a:lnTo>
                    <a:pt x="0" y="102345"/>
                  </a:lnTo>
                  <a:lnTo>
                    <a:pt x="11090" y="60974"/>
                  </a:lnTo>
                  <a:lnTo>
                    <a:pt x="37168" y="26997"/>
                  </a:lnTo>
                  <a:lnTo>
                    <a:pt x="74264" y="5585"/>
                  </a:lnTo>
                  <a:lnTo>
                    <a:pt x="102346" y="0"/>
                  </a:lnTo>
                  <a:lnTo>
                    <a:pt x="4612529" y="0"/>
                  </a:lnTo>
                  <a:lnTo>
                    <a:pt x="4653899" y="11090"/>
                  </a:lnTo>
                  <a:lnTo>
                    <a:pt x="4687878" y="37168"/>
                  </a:lnTo>
                  <a:lnTo>
                    <a:pt x="4709288" y="74264"/>
                  </a:lnTo>
                  <a:lnTo>
                    <a:pt x="4714875" y="102345"/>
                  </a:lnTo>
                  <a:lnTo>
                    <a:pt x="4714875" y="4250579"/>
                  </a:lnTo>
                  <a:lnTo>
                    <a:pt x="4703784" y="4291949"/>
                  </a:lnTo>
                  <a:lnTo>
                    <a:pt x="4677705" y="4325927"/>
                  </a:lnTo>
                  <a:lnTo>
                    <a:pt x="4640610" y="4347338"/>
                  </a:lnTo>
                  <a:lnTo>
                    <a:pt x="4619651" y="4352222"/>
                  </a:lnTo>
                  <a:lnTo>
                    <a:pt x="4612529" y="4352924"/>
                  </a:lnTo>
                  <a:close/>
                </a:path>
              </a:pathLst>
            </a:custGeom>
            <a:solidFill>
              <a:srgbClr val="111726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7043736" y="1062037"/>
              <a:ext cx="4714875" cy="4352925"/>
            </a:xfrm>
            <a:custGeom>
              <a:avLst/>
              <a:gdLst/>
              <a:ahLst/>
              <a:cxnLst/>
              <a:rect l="l" t="t" r="r" b="b"/>
              <a:pathLst>
                <a:path w="4714875" h="4352925">
                  <a:moveTo>
                    <a:pt x="0" y="4243387"/>
                  </a:moveTo>
                  <a:lnTo>
                    <a:pt x="0" y="109537"/>
                  </a:lnTo>
                  <a:lnTo>
                    <a:pt x="0" y="102345"/>
                  </a:lnTo>
                  <a:lnTo>
                    <a:pt x="701" y="95221"/>
                  </a:lnTo>
                  <a:lnTo>
                    <a:pt x="2104" y="88167"/>
                  </a:lnTo>
                  <a:lnTo>
                    <a:pt x="3507" y="81113"/>
                  </a:lnTo>
                  <a:lnTo>
                    <a:pt x="5585" y="74264"/>
                  </a:lnTo>
                  <a:lnTo>
                    <a:pt x="8337" y="67619"/>
                  </a:lnTo>
                  <a:lnTo>
                    <a:pt x="11090" y="60974"/>
                  </a:lnTo>
                  <a:lnTo>
                    <a:pt x="14464" y="54661"/>
                  </a:lnTo>
                  <a:lnTo>
                    <a:pt x="18459" y="48681"/>
                  </a:lnTo>
                  <a:lnTo>
                    <a:pt x="22456" y="42701"/>
                  </a:lnTo>
                  <a:lnTo>
                    <a:pt x="26997" y="37168"/>
                  </a:lnTo>
                  <a:lnTo>
                    <a:pt x="32082" y="32082"/>
                  </a:lnTo>
                  <a:lnTo>
                    <a:pt x="37168" y="26997"/>
                  </a:lnTo>
                  <a:lnTo>
                    <a:pt x="74264" y="5585"/>
                  </a:lnTo>
                  <a:lnTo>
                    <a:pt x="102346" y="0"/>
                  </a:lnTo>
                  <a:lnTo>
                    <a:pt x="109538" y="0"/>
                  </a:lnTo>
                  <a:lnTo>
                    <a:pt x="4605337" y="0"/>
                  </a:lnTo>
                  <a:lnTo>
                    <a:pt x="4612529" y="0"/>
                  </a:lnTo>
                  <a:lnTo>
                    <a:pt x="4619651" y="701"/>
                  </a:lnTo>
                  <a:lnTo>
                    <a:pt x="4660212" y="14464"/>
                  </a:lnTo>
                  <a:lnTo>
                    <a:pt x="4692418" y="42701"/>
                  </a:lnTo>
                  <a:lnTo>
                    <a:pt x="4696413" y="48681"/>
                  </a:lnTo>
                  <a:lnTo>
                    <a:pt x="4700409" y="54661"/>
                  </a:lnTo>
                  <a:lnTo>
                    <a:pt x="4712769" y="88167"/>
                  </a:lnTo>
                  <a:lnTo>
                    <a:pt x="4714172" y="95221"/>
                  </a:lnTo>
                  <a:lnTo>
                    <a:pt x="4714875" y="102345"/>
                  </a:lnTo>
                  <a:lnTo>
                    <a:pt x="4714875" y="109537"/>
                  </a:lnTo>
                  <a:lnTo>
                    <a:pt x="4714875" y="4243387"/>
                  </a:lnTo>
                  <a:lnTo>
                    <a:pt x="4714875" y="4250579"/>
                  </a:lnTo>
                  <a:lnTo>
                    <a:pt x="4714172" y="4257702"/>
                  </a:lnTo>
                  <a:lnTo>
                    <a:pt x="4712769" y="4264756"/>
                  </a:lnTo>
                  <a:lnTo>
                    <a:pt x="4711366" y="4271810"/>
                  </a:lnTo>
                  <a:lnTo>
                    <a:pt x="4709288" y="4278660"/>
                  </a:lnTo>
                  <a:lnTo>
                    <a:pt x="4706536" y="4285304"/>
                  </a:lnTo>
                  <a:lnTo>
                    <a:pt x="4703784" y="4291949"/>
                  </a:lnTo>
                  <a:lnTo>
                    <a:pt x="4700409" y="4298262"/>
                  </a:lnTo>
                  <a:lnTo>
                    <a:pt x="4696413" y="4304242"/>
                  </a:lnTo>
                  <a:lnTo>
                    <a:pt x="4692418" y="4310222"/>
                  </a:lnTo>
                  <a:lnTo>
                    <a:pt x="4666192" y="4334463"/>
                  </a:lnTo>
                  <a:lnTo>
                    <a:pt x="4660212" y="4338459"/>
                  </a:lnTo>
                  <a:lnTo>
                    <a:pt x="4653899" y="4341833"/>
                  </a:lnTo>
                  <a:lnTo>
                    <a:pt x="4647254" y="4344586"/>
                  </a:lnTo>
                  <a:lnTo>
                    <a:pt x="4640610" y="4347338"/>
                  </a:lnTo>
                  <a:lnTo>
                    <a:pt x="4605337" y="4352924"/>
                  </a:lnTo>
                  <a:lnTo>
                    <a:pt x="109538" y="4352924"/>
                  </a:lnTo>
                  <a:lnTo>
                    <a:pt x="102346" y="4352924"/>
                  </a:lnTo>
                  <a:lnTo>
                    <a:pt x="95222" y="4352222"/>
                  </a:lnTo>
                  <a:lnTo>
                    <a:pt x="88168" y="4350819"/>
                  </a:lnTo>
                  <a:lnTo>
                    <a:pt x="81113" y="4349416"/>
                  </a:lnTo>
                  <a:lnTo>
                    <a:pt x="74264" y="4347338"/>
                  </a:lnTo>
                  <a:lnTo>
                    <a:pt x="67619" y="4344585"/>
                  </a:lnTo>
                  <a:lnTo>
                    <a:pt x="60974" y="4341833"/>
                  </a:lnTo>
                  <a:lnTo>
                    <a:pt x="32082" y="4320841"/>
                  </a:lnTo>
                  <a:lnTo>
                    <a:pt x="26997" y="4315756"/>
                  </a:lnTo>
                  <a:lnTo>
                    <a:pt x="5585" y="4278660"/>
                  </a:lnTo>
                  <a:lnTo>
                    <a:pt x="2105" y="4264756"/>
                  </a:lnTo>
                  <a:lnTo>
                    <a:pt x="701" y="4257702"/>
                  </a:lnTo>
                  <a:lnTo>
                    <a:pt x="0" y="4250579"/>
                  </a:lnTo>
                  <a:lnTo>
                    <a:pt x="0" y="4243387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200900" y="1256109"/>
              <a:ext cx="133350" cy="116681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7399387" y="1216025"/>
            <a:ext cx="172212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40" dirty="0">
                <a:solidFill>
                  <a:srgbClr val="9CA2AF"/>
                </a:solidFill>
                <a:latin typeface="微软雅黑"/>
                <a:cs typeface="微软雅黑"/>
              </a:rPr>
              <a:t>重点瓶颈：</a:t>
            </a:r>
            <a:r>
              <a:rPr sz="1050" b="1" dirty="0">
                <a:solidFill>
                  <a:srgbClr val="9CA2AF"/>
                </a:solidFill>
                <a:latin typeface="微软雅黑"/>
                <a:cs typeface="微软雅黑"/>
              </a:rPr>
              <a:t>LLM</a:t>
            </a:r>
            <a:r>
              <a:rPr sz="1050" b="1" spc="30" dirty="0">
                <a:solidFill>
                  <a:srgbClr val="9CA2AF"/>
                </a:solidFill>
                <a:latin typeface="微软雅黑"/>
                <a:cs typeface="微软雅黑"/>
              </a:rPr>
              <a:t>幻觉率分析</a:t>
            </a:r>
            <a:endParaRPr sz="1050">
              <a:latin typeface="微软雅黑"/>
              <a:cs typeface="微软雅黑"/>
            </a:endParaRPr>
          </a:p>
        </p:txBody>
      </p:sp>
      <p:pic>
        <p:nvPicPr>
          <p:cNvPr id="27" name="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200900" y="4733925"/>
            <a:ext cx="114299" cy="114299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7189837" y="4667884"/>
            <a:ext cx="4363085" cy="57785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 indent="186055" algn="just">
              <a:lnSpc>
                <a:spcPct val="135400"/>
              </a:lnSpc>
              <a:spcBef>
                <a:spcPts val="60"/>
              </a:spcBef>
            </a:pPr>
            <a:r>
              <a:rPr sz="900" b="1" dirty="0">
                <a:solidFill>
                  <a:srgbClr val="9CA2AF"/>
                </a:solidFill>
                <a:latin typeface="微软雅黑"/>
                <a:cs typeface="微软雅黑"/>
              </a:rPr>
              <a:t>数据洞察：</a:t>
            </a:r>
            <a:r>
              <a:rPr sz="900" dirty="0">
                <a:solidFill>
                  <a:srgbClr val="9CA2AF"/>
                </a:solidFill>
                <a:latin typeface="微软雅黑"/>
                <a:cs typeface="微软雅黑"/>
              </a:rPr>
              <a:t>即便在大模型能力不断提升的背景下，实体错误（Entity</a:t>
            </a:r>
            <a:r>
              <a:rPr sz="900" spc="-70" dirty="0">
                <a:solidFill>
                  <a:srgbClr val="9CA2AF"/>
                </a:solidFill>
                <a:latin typeface="微软雅黑"/>
                <a:cs typeface="微软雅黑"/>
              </a:rPr>
              <a:t> </a:t>
            </a:r>
            <a:r>
              <a:rPr sz="900" spc="-10" dirty="0">
                <a:solidFill>
                  <a:srgbClr val="9CA2AF"/>
                </a:solidFill>
                <a:latin typeface="微软雅黑"/>
                <a:cs typeface="微软雅黑"/>
              </a:rPr>
              <a:t>Error）</a:t>
            </a:r>
            <a:r>
              <a:rPr sz="900" spc="-20" dirty="0">
                <a:solidFill>
                  <a:srgbClr val="9CA2AF"/>
                </a:solidFill>
                <a:latin typeface="微软雅黑"/>
                <a:cs typeface="微软雅黑"/>
              </a:rPr>
              <a:t>和事实</a:t>
            </a:r>
            <a:r>
              <a:rPr sz="900" spc="-10" dirty="0">
                <a:solidFill>
                  <a:srgbClr val="9CA2AF"/>
                </a:solidFill>
                <a:latin typeface="微软雅黑"/>
                <a:cs typeface="微软雅黑"/>
              </a:rPr>
              <a:t>捏造等幻觉问题在合成与非合成数据中依然普遍存在，这是限制Agent</a:t>
            </a:r>
            <a:r>
              <a:rPr sz="900" spc="-20" dirty="0">
                <a:solidFill>
                  <a:srgbClr val="9CA2AF"/>
                </a:solidFill>
                <a:latin typeface="微软雅黑"/>
                <a:cs typeface="微软雅黑"/>
              </a:rPr>
              <a:t>在医疗、金融等</a:t>
            </a:r>
            <a:r>
              <a:rPr sz="900" spc="-15" dirty="0">
                <a:solidFill>
                  <a:srgbClr val="9CA2AF"/>
                </a:solidFill>
                <a:latin typeface="微软雅黑"/>
                <a:cs typeface="微软雅黑"/>
              </a:rPr>
              <a:t>严肃场景落地的主要障碍。</a:t>
            </a:r>
            <a:endParaRPr sz="900">
              <a:latin typeface="微软雅黑"/>
              <a:cs typeface="微软雅黑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7038974" y="5572124"/>
            <a:ext cx="4724400" cy="704850"/>
            <a:chOff x="7038974" y="5572124"/>
            <a:chExt cx="4724400" cy="704850"/>
          </a:xfrm>
        </p:grpSpPr>
        <p:sp>
          <p:nvSpPr>
            <p:cNvPr id="30" name="object 30"/>
            <p:cNvSpPr/>
            <p:nvPr/>
          </p:nvSpPr>
          <p:spPr>
            <a:xfrm>
              <a:off x="7038974" y="5572124"/>
              <a:ext cx="4724400" cy="704850"/>
            </a:xfrm>
            <a:custGeom>
              <a:avLst/>
              <a:gdLst/>
              <a:ahLst/>
              <a:cxnLst/>
              <a:rect l="l" t="t" r="r" b="b"/>
              <a:pathLst>
                <a:path w="4724400" h="704850">
                  <a:moveTo>
                    <a:pt x="4648199" y="704849"/>
                  </a:moveTo>
                  <a:lnTo>
                    <a:pt x="76199" y="704849"/>
                  </a:lnTo>
                  <a:lnTo>
                    <a:pt x="68693" y="704487"/>
                  </a:lnTo>
                  <a:lnTo>
                    <a:pt x="27881" y="687582"/>
                  </a:lnTo>
                  <a:lnTo>
                    <a:pt x="3261" y="650736"/>
                  </a:lnTo>
                  <a:lnTo>
                    <a:pt x="0" y="6286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4648199" y="0"/>
                  </a:lnTo>
                  <a:lnTo>
                    <a:pt x="4690540" y="12829"/>
                  </a:lnTo>
                  <a:lnTo>
                    <a:pt x="4718597" y="47038"/>
                  </a:lnTo>
                  <a:lnTo>
                    <a:pt x="4724399" y="76199"/>
                  </a:lnTo>
                  <a:lnTo>
                    <a:pt x="4724399" y="628649"/>
                  </a:lnTo>
                  <a:lnTo>
                    <a:pt x="4711568" y="670991"/>
                  </a:lnTo>
                  <a:lnTo>
                    <a:pt x="4677358" y="699048"/>
                  </a:lnTo>
                  <a:lnTo>
                    <a:pt x="4648199" y="704849"/>
                  </a:lnTo>
                  <a:close/>
                </a:path>
              </a:pathLst>
            </a:custGeom>
            <a:solidFill>
              <a:srgbClr val="7E1C1C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7038974" y="5572124"/>
              <a:ext cx="4724400" cy="704850"/>
            </a:xfrm>
            <a:custGeom>
              <a:avLst/>
              <a:gdLst/>
              <a:ahLst/>
              <a:cxnLst/>
              <a:rect l="l" t="t" r="r" b="b"/>
              <a:pathLst>
                <a:path w="4724400" h="704850">
                  <a:moveTo>
                    <a:pt x="4648199" y="704849"/>
                  </a:moveTo>
                  <a:lnTo>
                    <a:pt x="76199" y="704849"/>
                  </a:lnTo>
                  <a:lnTo>
                    <a:pt x="68693" y="704487"/>
                  </a:lnTo>
                  <a:lnTo>
                    <a:pt x="27881" y="687582"/>
                  </a:lnTo>
                  <a:lnTo>
                    <a:pt x="3261" y="650736"/>
                  </a:lnTo>
                  <a:lnTo>
                    <a:pt x="0" y="6286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4648199" y="0"/>
                  </a:lnTo>
                  <a:lnTo>
                    <a:pt x="4685019" y="9524"/>
                  </a:lnTo>
                  <a:lnTo>
                    <a:pt x="71821" y="9524"/>
                  </a:lnTo>
                  <a:lnTo>
                    <a:pt x="67484" y="9951"/>
                  </a:lnTo>
                  <a:lnTo>
                    <a:pt x="32148" y="25957"/>
                  </a:lnTo>
                  <a:lnTo>
                    <a:pt x="11659" y="58897"/>
                  </a:lnTo>
                  <a:lnTo>
                    <a:pt x="9524" y="71821"/>
                  </a:lnTo>
                  <a:lnTo>
                    <a:pt x="9524" y="633027"/>
                  </a:lnTo>
                  <a:lnTo>
                    <a:pt x="23193" y="669331"/>
                  </a:lnTo>
                  <a:lnTo>
                    <a:pt x="54728" y="691923"/>
                  </a:lnTo>
                  <a:lnTo>
                    <a:pt x="71821" y="695324"/>
                  </a:lnTo>
                  <a:lnTo>
                    <a:pt x="4685018" y="695324"/>
                  </a:lnTo>
                  <a:lnTo>
                    <a:pt x="4684155" y="695841"/>
                  </a:lnTo>
                  <a:lnTo>
                    <a:pt x="4677359" y="699048"/>
                  </a:lnTo>
                  <a:lnTo>
                    <a:pt x="4670285" y="701586"/>
                  </a:lnTo>
                  <a:lnTo>
                    <a:pt x="4663067" y="703399"/>
                  </a:lnTo>
                  <a:lnTo>
                    <a:pt x="4655705" y="704487"/>
                  </a:lnTo>
                  <a:lnTo>
                    <a:pt x="4648199" y="704849"/>
                  </a:lnTo>
                  <a:close/>
                </a:path>
                <a:path w="4724400" h="704850">
                  <a:moveTo>
                    <a:pt x="4685018" y="695324"/>
                  </a:moveTo>
                  <a:lnTo>
                    <a:pt x="4652576" y="695324"/>
                  </a:lnTo>
                  <a:lnTo>
                    <a:pt x="4656912" y="694896"/>
                  </a:lnTo>
                  <a:lnTo>
                    <a:pt x="4665499" y="693188"/>
                  </a:lnTo>
                  <a:lnTo>
                    <a:pt x="4698440" y="672699"/>
                  </a:lnTo>
                  <a:lnTo>
                    <a:pt x="4714446" y="637363"/>
                  </a:lnTo>
                  <a:lnTo>
                    <a:pt x="4714873" y="633027"/>
                  </a:lnTo>
                  <a:lnTo>
                    <a:pt x="4714873" y="71821"/>
                  </a:lnTo>
                  <a:lnTo>
                    <a:pt x="4701203" y="35516"/>
                  </a:lnTo>
                  <a:lnTo>
                    <a:pt x="4669667" y="12924"/>
                  </a:lnTo>
                  <a:lnTo>
                    <a:pt x="4652576" y="9524"/>
                  </a:lnTo>
                  <a:lnTo>
                    <a:pt x="4685019" y="9524"/>
                  </a:lnTo>
                  <a:lnTo>
                    <a:pt x="4715390" y="40242"/>
                  </a:lnTo>
                  <a:lnTo>
                    <a:pt x="4724399" y="628649"/>
                  </a:lnTo>
                  <a:lnTo>
                    <a:pt x="4724036" y="636156"/>
                  </a:lnTo>
                  <a:lnTo>
                    <a:pt x="4707132" y="676966"/>
                  </a:lnTo>
                  <a:lnTo>
                    <a:pt x="4690540" y="692018"/>
                  </a:lnTo>
                  <a:lnTo>
                    <a:pt x="4685018" y="695324"/>
                  </a:lnTo>
                  <a:close/>
                </a:path>
              </a:pathLst>
            </a:custGeom>
            <a:solidFill>
              <a:srgbClr val="991B1B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7151737" y="5768975"/>
            <a:ext cx="6946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20" dirty="0">
                <a:solidFill>
                  <a:srgbClr val="F77070"/>
                </a:solidFill>
                <a:latin typeface="微软雅黑"/>
                <a:cs typeface="微软雅黑"/>
              </a:rPr>
              <a:t>&gt;30%</a:t>
            </a:r>
            <a:endParaRPr sz="1800">
              <a:latin typeface="微软雅黑"/>
              <a:cs typeface="微软雅黑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34870" y="5677534"/>
            <a:ext cx="3612515" cy="48260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20"/>
              </a:spcBef>
            </a:pPr>
            <a:r>
              <a:rPr sz="900" b="1" spc="-10" dirty="0">
                <a:solidFill>
                  <a:srgbClr val="FBA5A5"/>
                </a:solidFill>
                <a:latin typeface="微软雅黑"/>
                <a:cs typeface="微软雅黑"/>
              </a:rPr>
              <a:t>链路错误率叠加风险</a:t>
            </a:r>
            <a:endParaRPr sz="900">
              <a:latin typeface="微软雅黑"/>
              <a:cs typeface="微软雅黑"/>
            </a:endParaRPr>
          </a:p>
          <a:p>
            <a:pPr marL="12700" marR="5080">
              <a:lnSpc>
                <a:spcPct val="111100"/>
              </a:lnSpc>
            </a:pPr>
            <a:r>
              <a:rPr sz="900" dirty="0">
                <a:solidFill>
                  <a:srgbClr val="D0D5DA"/>
                </a:solidFill>
                <a:latin typeface="微软雅黑"/>
                <a:cs typeface="微软雅黑"/>
              </a:rPr>
              <a:t>传统模块化Agent（搜索+分析+写作）</a:t>
            </a:r>
            <a:r>
              <a:rPr sz="900" spc="-5" dirty="0">
                <a:solidFill>
                  <a:srgbClr val="D0D5DA"/>
                </a:solidFill>
                <a:latin typeface="微软雅黑"/>
                <a:cs typeface="微软雅黑"/>
              </a:rPr>
              <a:t>缺乏端到端控制时，累积错误率</a:t>
            </a:r>
            <a:r>
              <a:rPr sz="900" dirty="0">
                <a:solidFill>
                  <a:srgbClr val="D0D5DA"/>
                </a:solidFill>
                <a:latin typeface="微软雅黑"/>
                <a:cs typeface="微软雅黑"/>
              </a:rPr>
              <a:t>往往超过30%</a:t>
            </a:r>
            <a:r>
              <a:rPr sz="900" spc="-50" dirty="0">
                <a:solidFill>
                  <a:srgbClr val="D0D5DA"/>
                </a:solidFill>
                <a:latin typeface="微软雅黑"/>
                <a:cs typeface="微软雅黑"/>
              </a:rPr>
              <a:t>。</a:t>
            </a:r>
            <a:endParaRPr sz="900">
              <a:latin typeface="微软雅黑"/>
              <a:cs typeface="微软雅黑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7200899" y="1523999"/>
            <a:ext cx="4400550" cy="3067050"/>
            <a:chOff x="7200899" y="1523999"/>
            <a:chExt cx="4400550" cy="3067050"/>
          </a:xfrm>
        </p:grpSpPr>
        <p:sp>
          <p:nvSpPr>
            <p:cNvPr id="35" name="object 35"/>
            <p:cNvSpPr/>
            <p:nvPr/>
          </p:nvSpPr>
          <p:spPr>
            <a:xfrm>
              <a:off x="7205661" y="1528762"/>
              <a:ext cx="4391025" cy="3057525"/>
            </a:xfrm>
            <a:custGeom>
              <a:avLst/>
              <a:gdLst/>
              <a:ahLst/>
              <a:cxnLst/>
              <a:rect l="l" t="t" r="r" b="b"/>
              <a:pathLst>
                <a:path w="4391025" h="3057525">
                  <a:moveTo>
                    <a:pt x="0" y="298608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8" y="9433"/>
                  </a:lnTo>
                  <a:lnTo>
                    <a:pt x="39764" y="7232"/>
                  </a:lnTo>
                  <a:lnTo>
                    <a:pt x="44099" y="5437"/>
                  </a:lnTo>
                  <a:lnTo>
                    <a:pt x="48432" y="3642"/>
                  </a:lnTo>
                  <a:lnTo>
                    <a:pt x="52899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4319587" y="0"/>
                  </a:lnTo>
                  <a:lnTo>
                    <a:pt x="4324279" y="0"/>
                  </a:lnTo>
                  <a:lnTo>
                    <a:pt x="4328924" y="457"/>
                  </a:lnTo>
                  <a:lnTo>
                    <a:pt x="4333524" y="1372"/>
                  </a:lnTo>
                  <a:lnTo>
                    <a:pt x="4338124" y="2287"/>
                  </a:lnTo>
                  <a:lnTo>
                    <a:pt x="4373417" y="24240"/>
                  </a:lnTo>
                  <a:lnTo>
                    <a:pt x="4389650" y="57500"/>
                  </a:lnTo>
                  <a:lnTo>
                    <a:pt x="4390567" y="62101"/>
                  </a:lnTo>
                  <a:lnTo>
                    <a:pt x="4391025" y="66746"/>
                  </a:lnTo>
                  <a:lnTo>
                    <a:pt x="4391025" y="71437"/>
                  </a:lnTo>
                  <a:lnTo>
                    <a:pt x="4391025" y="2986087"/>
                  </a:lnTo>
                  <a:lnTo>
                    <a:pt x="4391025" y="2990777"/>
                  </a:lnTo>
                  <a:lnTo>
                    <a:pt x="4390567" y="2995423"/>
                  </a:lnTo>
                  <a:lnTo>
                    <a:pt x="4389650" y="3000023"/>
                  </a:lnTo>
                  <a:lnTo>
                    <a:pt x="4388735" y="3004624"/>
                  </a:lnTo>
                  <a:lnTo>
                    <a:pt x="4366783" y="3039917"/>
                  </a:lnTo>
                  <a:lnTo>
                    <a:pt x="4359274" y="3045484"/>
                  </a:lnTo>
                  <a:lnTo>
                    <a:pt x="4355373" y="3048091"/>
                  </a:lnTo>
                  <a:lnTo>
                    <a:pt x="4333524" y="3056151"/>
                  </a:lnTo>
                  <a:lnTo>
                    <a:pt x="4328924" y="3057066"/>
                  </a:lnTo>
                  <a:lnTo>
                    <a:pt x="4324279" y="3057524"/>
                  </a:lnTo>
                  <a:lnTo>
                    <a:pt x="4319587" y="3057524"/>
                  </a:lnTo>
                  <a:lnTo>
                    <a:pt x="71438" y="3057524"/>
                  </a:lnTo>
                  <a:lnTo>
                    <a:pt x="66747" y="3057524"/>
                  </a:lnTo>
                  <a:lnTo>
                    <a:pt x="62101" y="3057066"/>
                  </a:lnTo>
                  <a:lnTo>
                    <a:pt x="57501" y="3056151"/>
                  </a:lnTo>
                  <a:lnTo>
                    <a:pt x="52899" y="3055236"/>
                  </a:lnTo>
                  <a:lnTo>
                    <a:pt x="48432" y="3053881"/>
                  </a:lnTo>
                  <a:lnTo>
                    <a:pt x="44099" y="3052086"/>
                  </a:lnTo>
                  <a:lnTo>
                    <a:pt x="39764" y="3050291"/>
                  </a:lnTo>
                  <a:lnTo>
                    <a:pt x="20923" y="3036601"/>
                  </a:lnTo>
                  <a:lnTo>
                    <a:pt x="17606" y="3033284"/>
                  </a:lnTo>
                  <a:lnTo>
                    <a:pt x="14645" y="3029675"/>
                  </a:lnTo>
                  <a:lnTo>
                    <a:pt x="12039" y="3025775"/>
                  </a:lnTo>
                  <a:lnTo>
                    <a:pt x="9433" y="3021875"/>
                  </a:lnTo>
                  <a:lnTo>
                    <a:pt x="7232" y="3017758"/>
                  </a:lnTo>
                  <a:lnTo>
                    <a:pt x="5437" y="3013424"/>
                  </a:lnTo>
                  <a:lnTo>
                    <a:pt x="3642" y="3009091"/>
                  </a:lnTo>
                  <a:lnTo>
                    <a:pt x="2287" y="3004624"/>
                  </a:lnTo>
                  <a:lnTo>
                    <a:pt x="1372" y="3000023"/>
                  </a:lnTo>
                  <a:lnTo>
                    <a:pt x="457" y="2995423"/>
                  </a:lnTo>
                  <a:lnTo>
                    <a:pt x="0" y="2990777"/>
                  </a:lnTo>
                  <a:lnTo>
                    <a:pt x="0" y="2986087"/>
                  </a:lnTo>
                  <a:close/>
                </a:path>
              </a:pathLst>
            </a:custGeom>
            <a:ln w="9524">
              <a:solidFill>
                <a:srgbClr val="4A54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905750" y="1533524"/>
              <a:ext cx="2990849" cy="3047999"/>
            </a:xfrm>
            <a:prstGeom prst="rect">
              <a:avLst/>
            </a:prstGeom>
          </p:spPr>
        </p:pic>
      </p:grpSp>
      <p:sp>
        <p:nvSpPr>
          <p:cNvPr id="37" name="object 3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object 2">
            <a:extLst>
              <a:ext uri="{FF2B5EF4-FFF2-40B4-BE49-F238E27FC236}">
                <a16:creationId xmlns:a16="http://schemas.microsoft.com/office/drawing/2014/main" id="{22196B73-B32D-4457-A24C-948A50635216}"/>
              </a:ext>
            </a:extLst>
          </p:cNvPr>
          <p:cNvSpPr/>
          <p:nvPr/>
        </p:nvSpPr>
        <p:spPr>
          <a:xfrm>
            <a:off x="7315199" y="0"/>
            <a:ext cx="4876800" cy="6858000"/>
          </a:xfrm>
          <a:custGeom>
            <a:avLst/>
            <a:gdLst/>
            <a:ahLst/>
            <a:cxnLst/>
            <a:rect l="l" t="t" r="r" b="b"/>
            <a:pathLst>
              <a:path w="4876800" h="6858000">
                <a:moveTo>
                  <a:pt x="4876799" y="6857999"/>
                </a:moveTo>
                <a:lnTo>
                  <a:pt x="0" y="6857999"/>
                </a:lnTo>
                <a:lnTo>
                  <a:pt x="731519" y="0"/>
                </a:lnTo>
                <a:lnTo>
                  <a:pt x="4876799" y="0"/>
                </a:lnTo>
                <a:lnTo>
                  <a:pt x="4876799" y="6857999"/>
                </a:lnTo>
                <a:close/>
              </a:path>
            </a:pathLst>
          </a:custGeom>
          <a:solidFill>
            <a:srgbClr val="4A54A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5925" y="252095"/>
            <a:ext cx="2037080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-10" dirty="0"/>
              <a:t>系统层面风险</a:t>
            </a:r>
            <a:endParaRPr sz="2600"/>
          </a:p>
        </p:txBody>
      </p:sp>
      <p:grpSp>
        <p:nvGrpSpPr>
          <p:cNvPr id="6" name="object 6"/>
          <p:cNvGrpSpPr/>
          <p:nvPr/>
        </p:nvGrpSpPr>
        <p:grpSpPr>
          <a:xfrm>
            <a:off x="428624" y="704849"/>
            <a:ext cx="5514975" cy="2124075"/>
            <a:chOff x="428624" y="704849"/>
            <a:chExt cx="5514975" cy="2124075"/>
          </a:xfrm>
        </p:grpSpPr>
        <p:sp>
          <p:nvSpPr>
            <p:cNvPr id="7" name="object 7"/>
            <p:cNvSpPr/>
            <p:nvPr/>
          </p:nvSpPr>
          <p:spPr>
            <a:xfrm>
              <a:off x="428624" y="704849"/>
              <a:ext cx="1209675" cy="38100"/>
            </a:xfrm>
            <a:custGeom>
              <a:avLst/>
              <a:gdLst/>
              <a:ahLst/>
              <a:cxnLst/>
              <a:rect l="l" t="t" r="r" b="b"/>
              <a:pathLst>
                <a:path w="1209675" h="38100">
                  <a:moveTo>
                    <a:pt x="1209674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1209674" y="0"/>
                  </a:lnTo>
                  <a:lnTo>
                    <a:pt x="1209674" y="3809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28624" y="1076324"/>
              <a:ext cx="5514975" cy="1752600"/>
            </a:xfrm>
            <a:custGeom>
              <a:avLst/>
              <a:gdLst/>
              <a:ahLst/>
              <a:cxnLst/>
              <a:rect l="l" t="t" r="r" b="b"/>
              <a:pathLst>
                <a:path w="5514975" h="1752600">
                  <a:moveTo>
                    <a:pt x="5438774" y="1752599"/>
                  </a:moveTo>
                  <a:lnTo>
                    <a:pt x="76199" y="1752599"/>
                  </a:lnTo>
                  <a:lnTo>
                    <a:pt x="68693" y="1752237"/>
                  </a:lnTo>
                  <a:lnTo>
                    <a:pt x="27882" y="1735332"/>
                  </a:lnTo>
                  <a:lnTo>
                    <a:pt x="3262" y="1698486"/>
                  </a:lnTo>
                  <a:lnTo>
                    <a:pt x="0" y="167639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438774" y="0"/>
                  </a:lnTo>
                  <a:lnTo>
                    <a:pt x="5481116" y="12830"/>
                  </a:lnTo>
                  <a:lnTo>
                    <a:pt x="5509173" y="47039"/>
                  </a:lnTo>
                  <a:lnTo>
                    <a:pt x="5514974" y="76199"/>
                  </a:lnTo>
                  <a:lnTo>
                    <a:pt x="5514974" y="1676399"/>
                  </a:lnTo>
                  <a:lnTo>
                    <a:pt x="5502143" y="1718742"/>
                  </a:lnTo>
                  <a:lnTo>
                    <a:pt x="5467934" y="1746799"/>
                  </a:lnTo>
                  <a:lnTo>
                    <a:pt x="5438774" y="17525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28624" y="1076324"/>
              <a:ext cx="5514975" cy="1752600"/>
            </a:xfrm>
            <a:custGeom>
              <a:avLst/>
              <a:gdLst/>
              <a:ahLst/>
              <a:cxnLst/>
              <a:rect l="l" t="t" r="r" b="b"/>
              <a:pathLst>
                <a:path w="5514975" h="1752600">
                  <a:moveTo>
                    <a:pt x="5438774" y="1752599"/>
                  </a:moveTo>
                  <a:lnTo>
                    <a:pt x="76199" y="1752599"/>
                  </a:lnTo>
                  <a:lnTo>
                    <a:pt x="68693" y="1752237"/>
                  </a:lnTo>
                  <a:lnTo>
                    <a:pt x="27882" y="1735332"/>
                  </a:lnTo>
                  <a:lnTo>
                    <a:pt x="3262" y="1698486"/>
                  </a:lnTo>
                  <a:lnTo>
                    <a:pt x="0" y="167639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438774" y="0"/>
                  </a:lnTo>
                  <a:lnTo>
                    <a:pt x="5481116" y="12830"/>
                  </a:lnTo>
                  <a:lnTo>
                    <a:pt x="5509173" y="47039"/>
                  </a:lnTo>
                  <a:lnTo>
                    <a:pt x="5514974" y="76199"/>
                  </a:lnTo>
                  <a:lnTo>
                    <a:pt x="5514974" y="1676399"/>
                  </a:lnTo>
                  <a:lnTo>
                    <a:pt x="5502143" y="1718742"/>
                  </a:lnTo>
                  <a:lnTo>
                    <a:pt x="5467934" y="1746799"/>
                  </a:lnTo>
                  <a:lnTo>
                    <a:pt x="5438774" y="17525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33412" y="14430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380928" y="447674"/>
                  </a:moveTo>
                  <a:lnTo>
                    <a:pt x="66746" y="447674"/>
                  </a:lnTo>
                  <a:lnTo>
                    <a:pt x="62101" y="447217"/>
                  </a:lnTo>
                  <a:lnTo>
                    <a:pt x="24240" y="430068"/>
                  </a:lnTo>
                  <a:lnTo>
                    <a:pt x="2287" y="394774"/>
                  </a:lnTo>
                  <a:lnTo>
                    <a:pt x="0" y="380928"/>
                  </a:lnTo>
                  <a:lnTo>
                    <a:pt x="0" y="3762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80928" y="0"/>
                  </a:lnTo>
                  <a:lnTo>
                    <a:pt x="419826" y="14645"/>
                  </a:lnTo>
                  <a:lnTo>
                    <a:pt x="444032" y="48433"/>
                  </a:lnTo>
                  <a:lnTo>
                    <a:pt x="447674" y="66746"/>
                  </a:lnTo>
                  <a:lnTo>
                    <a:pt x="447674" y="380928"/>
                  </a:lnTo>
                  <a:lnTo>
                    <a:pt x="433029" y="419825"/>
                  </a:lnTo>
                  <a:lnTo>
                    <a:pt x="399241" y="444031"/>
                  </a:lnTo>
                  <a:lnTo>
                    <a:pt x="385573" y="447217"/>
                  </a:lnTo>
                  <a:lnTo>
                    <a:pt x="380928" y="447674"/>
                  </a:lnTo>
                  <a:close/>
                </a:path>
              </a:pathLst>
            </a:custGeom>
            <a:solidFill>
              <a:srgbClr val="7E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33412" y="14430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3762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7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76237" y="0"/>
                  </a:lnTo>
                  <a:lnTo>
                    <a:pt x="380928" y="0"/>
                  </a:lnTo>
                  <a:lnTo>
                    <a:pt x="385573" y="457"/>
                  </a:lnTo>
                  <a:lnTo>
                    <a:pt x="390174" y="1372"/>
                  </a:lnTo>
                  <a:lnTo>
                    <a:pt x="394774" y="2287"/>
                  </a:lnTo>
                  <a:lnTo>
                    <a:pt x="399241" y="3642"/>
                  </a:lnTo>
                  <a:lnTo>
                    <a:pt x="403575" y="5437"/>
                  </a:lnTo>
                  <a:lnTo>
                    <a:pt x="407908" y="7232"/>
                  </a:lnTo>
                  <a:lnTo>
                    <a:pt x="412025" y="9433"/>
                  </a:lnTo>
                  <a:lnTo>
                    <a:pt x="415925" y="12039"/>
                  </a:lnTo>
                  <a:lnTo>
                    <a:pt x="419826" y="14645"/>
                  </a:lnTo>
                  <a:lnTo>
                    <a:pt x="442236" y="44099"/>
                  </a:lnTo>
                  <a:lnTo>
                    <a:pt x="444032" y="48433"/>
                  </a:lnTo>
                  <a:lnTo>
                    <a:pt x="447674" y="71437"/>
                  </a:lnTo>
                  <a:lnTo>
                    <a:pt x="447674" y="376237"/>
                  </a:lnTo>
                  <a:lnTo>
                    <a:pt x="442236" y="403575"/>
                  </a:lnTo>
                  <a:lnTo>
                    <a:pt x="440441" y="407908"/>
                  </a:lnTo>
                  <a:lnTo>
                    <a:pt x="438241" y="412025"/>
                  </a:lnTo>
                  <a:lnTo>
                    <a:pt x="435635" y="415925"/>
                  </a:lnTo>
                  <a:lnTo>
                    <a:pt x="433029" y="419826"/>
                  </a:lnTo>
                  <a:lnTo>
                    <a:pt x="415925" y="435635"/>
                  </a:lnTo>
                  <a:lnTo>
                    <a:pt x="412025" y="438241"/>
                  </a:lnTo>
                  <a:lnTo>
                    <a:pt x="390174" y="446302"/>
                  </a:lnTo>
                  <a:lnTo>
                    <a:pt x="385573" y="447217"/>
                  </a:lnTo>
                  <a:lnTo>
                    <a:pt x="380928" y="447674"/>
                  </a:lnTo>
                  <a:lnTo>
                    <a:pt x="376237" y="447674"/>
                  </a:lnTo>
                  <a:lnTo>
                    <a:pt x="71437" y="447674"/>
                  </a:lnTo>
                  <a:lnTo>
                    <a:pt x="66746" y="447674"/>
                  </a:lnTo>
                  <a:lnTo>
                    <a:pt x="62101" y="447217"/>
                  </a:lnTo>
                  <a:lnTo>
                    <a:pt x="57500" y="446302"/>
                  </a:lnTo>
                  <a:lnTo>
                    <a:pt x="52900" y="445387"/>
                  </a:lnTo>
                  <a:lnTo>
                    <a:pt x="31748" y="435635"/>
                  </a:lnTo>
                  <a:lnTo>
                    <a:pt x="27848" y="433029"/>
                  </a:lnTo>
                  <a:lnTo>
                    <a:pt x="24240" y="430068"/>
                  </a:lnTo>
                  <a:lnTo>
                    <a:pt x="20923" y="426751"/>
                  </a:lnTo>
                  <a:lnTo>
                    <a:pt x="17606" y="423434"/>
                  </a:lnTo>
                  <a:lnTo>
                    <a:pt x="5437" y="403575"/>
                  </a:lnTo>
                  <a:lnTo>
                    <a:pt x="3642" y="399241"/>
                  </a:lnTo>
                  <a:lnTo>
                    <a:pt x="2287" y="394774"/>
                  </a:lnTo>
                  <a:lnTo>
                    <a:pt x="1372" y="390174"/>
                  </a:lnTo>
                  <a:lnTo>
                    <a:pt x="457" y="385573"/>
                  </a:lnTo>
                  <a:lnTo>
                    <a:pt x="0" y="380928"/>
                  </a:lnTo>
                  <a:lnTo>
                    <a:pt x="0" y="376237"/>
                  </a:lnTo>
                  <a:close/>
                </a:path>
              </a:pathLst>
            </a:custGeom>
            <a:ln w="9524">
              <a:solidFill>
                <a:srgbClr val="B91B1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13794" y="1552574"/>
              <a:ext cx="287020" cy="229235"/>
            </a:xfrm>
            <a:custGeom>
              <a:avLst/>
              <a:gdLst/>
              <a:ahLst/>
              <a:cxnLst/>
              <a:rect l="l" t="t" r="r" b="b"/>
              <a:pathLst>
                <a:path w="287019" h="229235">
                  <a:moveTo>
                    <a:pt x="7724" y="157162"/>
                  </a:moveTo>
                  <a:lnTo>
                    <a:pt x="4643" y="157162"/>
                  </a:lnTo>
                  <a:lnTo>
                    <a:pt x="1875" y="155153"/>
                  </a:lnTo>
                  <a:lnTo>
                    <a:pt x="0" y="149259"/>
                  </a:lnTo>
                  <a:lnTo>
                    <a:pt x="1026" y="146045"/>
                  </a:lnTo>
                  <a:lnTo>
                    <a:pt x="3527" y="144214"/>
                  </a:lnTo>
                  <a:lnTo>
                    <a:pt x="3705" y="144035"/>
                  </a:lnTo>
                  <a:lnTo>
                    <a:pt x="11965" y="135731"/>
                  </a:lnTo>
                  <a:lnTo>
                    <a:pt x="14421" y="132605"/>
                  </a:lnTo>
                  <a:lnTo>
                    <a:pt x="16743" y="128855"/>
                  </a:lnTo>
                  <a:lnTo>
                    <a:pt x="18305" y="124703"/>
                  </a:lnTo>
                  <a:lnTo>
                    <a:pt x="10827" y="114457"/>
                  </a:lnTo>
                  <a:lnTo>
                    <a:pt x="5257" y="103249"/>
                  </a:lnTo>
                  <a:lnTo>
                    <a:pt x="1780" y="91237"/>
                  </a:lnTo>
                  <a:lnTo>
                    <a:pt x="580" y="78581"/>
                  </a:lnTo>
                  <a:lnTo>
                    <a:pt x="7876" y="47994"/>
                  </a:lnTo>
                  <a:lnTo>
                    <a:pt x="27776" y="23016"/>
                  </a:lnTo>
                  <a:lnTo>
                    <a:pt x="57295" y="6175"/>
                  </a:lnTo>
                  <a:lnTo>
                    <a:pt x="93449" y="0"/>
                  </a:lnTo>
                  <a:lnTo>
                    <a:pt x="129602" y="6175"/>
                  </a:lnTo>
                  <a:lnTo>
                    <a:pt x="159121" y="23016"/>
                  </a:lnTo>
                  <a:lnTo>
                    <a:pt x="159281" y="23217"/>
                  </a:lnTo>
                  <a:lnTo>
                    <a:pt x="88537" y="23217"/>
                  </a:lnTo>
                  <a:lnTo>
                    <a:pt x="84519" y="27235"/>
                  </a:lnTo>
                  <a:lnTo>
                    <a:pt x="84519" y="38397"/>
                  </a:lnTo>
                  <a:lnTo>
                    <a:pt x="81126" y="39156"/>
                  </a:lnTo>
                  <a:lnTo>
                    <a:pt x="77732" y="40362"/>
                  </a:lnTo>
                  <a:lnTo>
                    <a:pt x="74607" y="42192"/>
                  </a:lnTo>
                  <a:lnTo>
                    <a:pt x="68401" y="45898"/>
                  </a:lnTo>
                  <a:lnTo>
                    <a:pt x="63043" y="52372"/>
                  </a:lnTo>
                  <a:lnTo>
                    <a:pt x="63132" y="70857"/>
                  </a:lnTo>
                  <a:lnTo>
                    <a:pt x="68446" y="76572"/>
                  </a:lnTo>
                  <a:lnTo>
                    <a:pt x="79027" y="82912"/>
                  </a:lnTo>
                  <a:lnTo>
                    <a:pt x="85144" y="84787"/>
                  </a:lnTo>
                  <a:lnTo>
                    <a:pt x="96395" y="88136"/>
                  </a:lnTo>
                  <a:lnTo>
                    <a:pt x="100503" y="89475"/>
                  </a:lnTo>
                  <a:lnTo>
                    <a:pt x="105548" y="92645"/>
                  </a:lnTo>
                  <a:lnTo>
                    <a:pt x="105861" y="93627"/>
                  </a:lnTo>
                  <a:lnTo>
                    <a:pt x="105902" y="95235"/>
                  </a:lnTo>
                  <a:lnTo>
                    <a:pt x="70142" y="95235"/>
                  </a:lnTo>
                  <a:lnTo>
                    <a:pt x="65097" y="97780"/>
                  </a:lnTo>
                  <a:lnTo>
                    <a:pt x="61972" y="107066"/>
                  </a:lnTo>
                  <a:lnTo>
                    <a:pt x="64516" y="112156"/>
                  </a:lnTo>
                  <a:lnTo>
                    <a:pt x="69160" y="113719"/>
                  </a:lnTo>
                  <a:lnTo>
                    <a:pt x="70946" y="114300"/>
                  </a:lnTo>
                  <a:lnTo>
                    <a:pt x="71883" y="114657"/>
                  </a:lnTo>
                  <a:lnTo>
                    <a:pt x="79876" y="117425"/>
                  </a:lnTo>
                  <a:lnTo>
                    <a:pt x="84474" y="118407"/>
                  </a:lnTo>
                  <a:lnTo>
                    <a:pt x="84474" y="129837"/>
                  </a:lnTo>
                  <a:lnTo>
                    <a:pt x="88493" y="133856"/>
                  </a:lnTo>
                  <a:lnTo>
                    <a:pt x="159352" y="133856"/>
                  </a:lnTo>
                  <a:lnTo>
                    <a:pt x="159121" y="134146"/>
                  </a:lnTo>
                  <a:lnTo>
                    <a:pt x="137482" y="146491"/>
                  </a:lnTo>
                  <a:lnTo>
                    <a:pt x="46702" y="146491"/>
                  </a:lnTo>
                  <a:lnTo>
                    <a:pt x="43353" y="148277"/>
                  </a:lnTo>
                  <a:lnTo>
                    <a:pt x="15013" y="156723"/>
                  </a:lnTo>
                  <a:lnTo>
                    <a:pt x="7724" y="157162"/>
                  </a:lnTo>
                  <a:close/>
                </a:path>
                <a:path w="287019" h="229235">
                  <a:moveTo>
                    <a:pt x="181599" y="58801"/>
                  </a:moveTo>
                  <a:lnTo>
                    <a:pt x="111978" y="58801"/>
                  </a:lnTo>
                  <a:lnTo>
                    <a:pt x="116844" y="55989"/>
                  </a:lnTo>
                  <a:lnTo>
                    <a:pt x="119434" y="46434"/>
                  </a:lnTo>
                  <a:lnTo>
                    <a:pt x="116577" y="41567"/>
                  </a:lnTo>
                  <a:lnTo>
                    <a:pt x="108897" y="39513"/>
                  </a:lnTo>
                  <a:lnTo>
                    <a:pt x="105682" y="38754"/>
                  </a:lnTo>
                  <a:lnTo>
                    <a:pt x="102378" y="38174"/>
                  </a:lnTo>
                  <a:lnTo>
                    <a:pt x="102378" y="27235"/>
                  </a:lnTo>
                  <a:lnTo>
                    <a:pt x="98360" y="23217"/>
                  </a:lnTo>
                  <a:lnTo>
                    <a:pt x="159281" y="23217"/>
                  </a:lnTo>
                  <a:lnTo>
                    <a:pt x="179021" y="47994"/>
                  </a:lnTo>
                  <a:lnTo>
                    <a:pt x="181599" y="58801"/>
                  </a:lnTo>
                  <a:close/>
                </a:path>
                <a:path w="287019" h="229235">
                  <a:moveTo>
                    <a:pt x="159352" y="133856"/>
                  </a:moveTo>
                  <a:lnTo>
                    <a:pt x="98315" y="133856"/>
                  </a:lnTo>
                  <a:lnTo>
                    <a:pt x="102334" y="129837"/>
                  </a:lnTo>
                  <a:lnTo>
                    <a:pt x="102334" y="118764"/>
                  </a:lnTo>
                  <a:lnTo>
                    <a:pt x="105906" y="118005"/>
                  </a:lnTo>
                  <a:lnTo>
                    <a:pt x="109477" y="116755"/>
                  </a:lnTo>
                  <a:lnTo>
                    <a:pt x="119077" y="110772"/>
                  </a:lnTo>
                  <a:lnTo>
                    <a:pt x="123899" y="103986"/>
                  </a:lnTo>
                  <a:lnTo>
                    <a:pt x="123631" y="85591"/>
                  </a:lnTo>
                  <a:lnTo>
                    <a:pt x="118541" y="79742"/>
                  </a:lnTo>
                  <a:lnTo>
                    <a:pt x="107647" y="72866"/>
                  </a:lnTo>
                  <a:lnTo>
                    <a:pt x="86126" y="66302"/>
                  </a:lnTo>
                  <a:lnTo>
                    <a:pt x="80947" y="63222"/>
                  </a:lnTo>
                  <a:lnTo>
                    <a:pt x="80902" y="59962"/>
                  </a:lnTo>
                  <a:lnTo>
                    <a:pt x="81528" y="58712"/>
                  </a:lnTo>
                  <a:lnTo>
                    <a:pt x="86082" y="56033"/>
                  </a:lnTo>
                  <a:lnTo>
                    <a:pt x="89743" y="55185"/>
                  </a:lnTo>
                  <a:lnTo>
                    <a:pt x="97556" y="55274"/>
                  </a:lnTo>
                  <a:lnTo>
                    <a:pt x="102289" y="56212"/>
                  </a:lnTo>
                  <a:lnTo>
                    <a:pt x="107200" y="57551"/>
                  </a:lnTo>
                  <a:lnTo>
                    <a:pt x="111978" y="58801"/>
                  </a:lnTo>
                  <a:lnTo>
                    <a:pt x="181599" y="58801"/>
                  </a:lnTo>
                  <a:lnTo>
                    <a:pt x="186317" y="78581"/>
                  </a:lnTo>
                  <a:lnTo>
                    <a:pt x="179021" y="109168"/>
                  </a:lnTo>
                  <a:lnTo>
                    <a:pt x="159352" y="133856"/>
                  </a:lnTo>
                  <a:close/>
                </a:path>
                <a:path w="287019" h="229235">
                  <a:moveTo>
                    <a:pt x="193461" y="228600"/>
                  </a:moveTo>
                  <a:lnTo>
                    <a:pt x="162992" y="224271"/>
                  </a:lnTo>
                  <a:lnTo>
                    <a:pt x="136763" y="212258"/>
                  </a:lnTo>
                  <a:lnTo>
                    <a:pt x="116503" y="194016"/>
                  </a:lnTo>
                  <a:lnTo>
                    <a:pt x="103941" y="171003"/>
                  </a:lnTo>
                  <a:lnTo>
                    <a:pt x="141158" y="161711"/>
                  </a:lnTo>
                  <a:lnTo>
                    <a:pt x="171929" y="141903"/>
                  </a:lnTo>
                  <a:lnTo>
                    <a:pt x="192872" y="113540"/>
                  </a:lnTo>
                  <a:lnTo>
                    <a:pt x="200441" y="79320"/>
                  </a:lnTo>
                  <a:lnTo>
                    <a:pt x="200516" y="73937"/>
                  </a:lnTo>
                  <a:lnTo>
                    <a:pt x="200337" y="71660"/>
                  </a:lnTo>
                  <a:lnTo>
                    <a:pt x="234060" y="79320"/>
                  </a:lnTo>
                  <a:lnTo>
                    <a:pt x="261366" y="96407"/>
                  </a:lnTo>
                  <a:lnTo>
                    <a:pt x="279656" y="120709"/>
                  </a:lnTo>
                  <a:lnTo>
                    <a:pt x="286330" y="150018"/>
                  </a:lnTo>
                  <a:lnTo>
                    <a:pt x="285131" y="162675"/>
                  </a:lnTo>
                  <a:lnTo>
                    <a:pt x="281659" y="174692"/>
                  </a:lnTo>
                  <a:lnTo>
                    <a:pt x="276102" y="185913"/>
                  </a:lnTo>
                  <a:lnTo>
                    <a:pt x="268649" y="196185"/>
                  </a:lnTo>
                  <a:lnTo>
                    <a:pt x="270212" y="200382"/>
                  </a:lnTo>
                  <a:lnTo>
                    <a:pt x="272534" y="204088"/>
                  </a:lnTo>
                  <a:lnTo>
                    <a:pt x="274989" y="207213"/>
                  </a:lnTo>
                  <a:lnTo>
                    <a:pt x="277132" y="209981"/>
                  </a:lnTo>
                  <a:lnTo>
                    <a:pt x="283338" y="215607"/>
                  </a:lnTo>
                  <a:lnTo>
                    <a:pt x="285928" y="217527"/>
                  </a:lnTo>
                  <a:lnTo>
                    <a:pt x="286071" y="217973"/>
                  </a:lnTo>
                  <a:lnTo>
                    <a:pt x="240253" y="217973"/>
                  </a:lnTo>
                  <a:lnTo>
                    <a:pt x="229520" y="222478"/>
                  </a:lnTo>
                  <a:lnTo>
                    <a:pt x="218079" y="225815"/>
                  </a:lnTo>
                  <a:lnTo>
                    <a:pt x="206028" y="227887"/>
                  </a:lnTo>
                  <a:lnTo>
                    <a:pt x="193461" y="228600"/>
                  </a:lnTo>
                  <a:close/>
                </a:path>
                <a:path w="287019" h="229235">
                  <a:moveTo>
                    <a:pt x="97512" y="101798"/>
                  </a:moveTo>
                  <a:lnTo>
                    <a:pt x="88761" y="101485"/>
                  </a:lnTo>
                  <a:lnTo>
                    <a:pt x="70142" y="95235"/>
                  </a:lnTo>
                  <a:lnTo>
                    <a:pt x="105902" y="95235"/>
                  </a:lnTo>
                  <a:lnTo>
                    <a:pt x="105922" y="97154"/>
                  </a:lnTo>
                  <a:lnTo>
                    <a:pt x="105102" y="98449"/>
                  </a:lnTo>
                  <a:lnTo>
                    <a:pt x="101039" y="100950"/>
                  </a:lnTo>
                  <a:lnTo>
                    <a:pt x="97512" y="101798"/>
                  </a:lnTo>
                  <a:close/>
                </a:path>
                <a:path w="287019" h="229235">
                  <a:moveTo>
                    <a:pt x="93449" y="157162"/>
                  </a:moveTo>
                  <a:lnTo>
                    <a:pt x="80883" y="156449"/>
                  </a:lnTo>
                  <a:lnTo>
                    <a:pt x="68836" y="154371"/>
                  </a:lnTo>
                  <a:lnTo>
                    <a:pt x="57327" y="150987"/>
                  </a:lnTo>
                  <a:lnTo>
                    <a:pt x="46702" y="146491"/>
                  </a:lnTo>
                  <a:lnTo>
                    <a:pt x="137482" y="146491"/>
                  </a:lnTo>
                  <a:lnTo>
                    <a:pt x="129602" y="150987"/>
                  </a:lnTo>
                  <a:lnTo>
                    <a:pt x="93449" y="157162"/>
                  </a:lnTo>
                  <a:close/>
                </a:path>
                <a:path w="287019" h="229235">
                  <a:moveTo>
                    <a:pt x="282312" y="228644"/>
                  </a:moveTo>
                  <a:lnTo>
                    <a:pt x="279231" y="228644"/>
                  </a:lnTo>
                  <a:lnTo>
                    <a:pt x="271941" y="228205"/>
                  </a:lnTo>
                  <a:lnTo>
                    <a:pt x="240253" y="217973"/>
                  </a:lnTo>
                  <a:lnTo>
                    <a:pt x="286071" y="217973"/>
                  </a:lnTo>
                  <a:lnTo>
                    <a:pt x="286955" y="220741"/>
                  </a:lnTo>
                  <a:lnTo>
                    <a:pt x="285080" y="226635"/>
                  </a:lnTo>
                  <a:lnTo>
                    <a:pt x="282312" y="228644"/>
                  </a:lnTo>
                  <a:close/>
                </a:path>
              </a:pathLst>
            </a:custGeom>
            <a:solidFill>
              <a:srgbClr val="FBA5A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1238237" y="1847861"/>
              <a:ext cx="47625" cy="542925"/>
            </a:xfrm>
            <a:custGeom>
              <a:avLst/>
              <a:gdLst/>
              <a:ahLst/>
              <a:cxnLst/>
              <a:rect l="l" t="t" r="r" b="b"/>
              <a:pathLst>
                <a:path w="47625" h="542925">
                  <a:moveTo>
                    <a:pt x="47625" y="515950"/>
                  </a:moveTo>
                  <a:lnTo>
                    <a:pt x="26974" y="495300"/>
                  </a:lnTo>
                  <a:lnTo>
                    <a:pt x="20662" y="495300"/>
                  </a:lnTo>
                  <a:lnTo>
                    <a:pt x="0" y="515950"/>
                  </a:lnTo>
                  <a:lnTo>
                    <a:pt x="0" y="522262"/>
                  </a:lnTo>
                  <a:lnTo>
                    <a:pt x="20662" y="542925"/>
                  </a:lnTo>
                  <a:lnTo>
                    <a:pt x="26974" y="542925"/>
                  </a:lnTo>
                  <a:lnTo>
                    <a:pt x="47625" y="522262"/>
                  </a:lnTo>
                  <a:lnTo>
                    <a:pt x="47625" y="519112"/>
                  </a:lnTo>
                  <a:lnTo>
                    <a:pt x="47625" y="515950"/>
                  </a:lnTo>
                  <a:close/>
                </a:path>
                <a:path w="47625" h="542925">
                  <a:moveTo>
                    <a:pt x="47625" y="268300"/>
                  </a:moveTo>
                  <a:lnTo>
                    <a:pt x="26974" y="247650"/>
                  </a:lnTo>
                  <a:lnTo>
                    <a:pt x="20662" y="247650"/>
                  </a:lnTo>
                  <a:lnTo>
                    <a:pt x="0" y="268300"/>
                  </a:lnTo>
                  <a:lnTo>
                    <a:pt x="0" y="274612"/>
                  </a:lnTo>
                  <a:lnTo>
                    <a:pt x="20662" y="295275"/>
                  </a:lnTo>
                  <a:lnTo>
                    <a:pt x="26974" y="295275"/>
                  </a:lnTo>
                  <a:lnTo>
                    <a:pt x="47625" y="274612"/>
                  </a:lnTo>
                  <a:lnTo>
                    <a:pt x="47625" y="271462"/>
                  </a:lnTo>
                  <a:lnTo>
                    <a:pt x="47625" y="268300"/>
                  </a:lnTo>
                  <a:close/>
                </a:path>
                <a:path w="47625" h="5429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1225549" y="1444625"/>
            <a:ext cx="3416300" cy="10140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微软雅黑"/>
                <a:cs typeface="微软雅黑"/>
              </a:rPr>
              <a:t>多智能体协作瓶颈</a:t>
            </a:r>
            <a:endParaRPr sz="1500">
              <a:latin typeface="微软雅黑"/>
              <a:cs typeface="微软雅黑"/>
            </a:endParaRPr>
          </a:p>
          <a:p>
            <a:pPr marL="202565" marR="5080">
              <a:lnSpc>
                <a:spcPct val="154800"/>
              </a:lnSpc>
              <a:spcBef>
                <a:spcPts val="135"/>
              </a:spcBef>
            </a:pPr>
            <a:r>
              <a:rPr sz="1050" b="1" dirty="0">
                <a:solidFill>
                  <a:srgbClr val="FBA5A5"/>
                </a:solidFill>
                <a:latin typeface="微软雅黑"/>
                <a:cs typeface="微软雅黑"/>
              </a:rPr>
              <a:t>目标对齐困难：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个体最优策略可能导致集体目标偏离。</a:t>
            </a:r>
            <a:r>
              <a:rPr sz="1050" b="1" dirty="0">
                <a:solidFill>
                  <a:srgbClr val="FBA5A5"/>
                </a:solidFill>
                <a:latin typeface="微软雅黑"/>
                <a:cs typeface="微软雅黑"/>
              </a:rPr>
              <a:t>通信开销：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大规模系统中信息交换呈指数级增长。</a:t>
            </a:r>
            <a:endParaRPr sz="1050">
              <a:latin typeface="微软雅黑"/>
              <a:cs typeface="微软雅黑"/>
            </a:endParaRPr>
          </a:p>
          <a:p>
            <a:pPr marL="202565">
              <a:lnSpc>
                <a:spcPct val="100000"/>
              </a:lnSpc>
              <a:spcBef>
                <a:spcPts val="690"/>
              </a:spcBef>
            </a:pPr>
            <a:r>
              <a:rPr sz="1050" b="1" dirty="0">
                <a:solidFill>
                  <a:srgbClr val="FBA5A5"/>
                </a:solidFill>
                <a:latin typeface="微软雅黑"/>
                <a:cs typeface="微软雅黑"/>
              </a:rPr>
              <a:t>语义鸿沟：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异构智能体间缺乏统一的理解协议。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28624" y="2981324"/>
            <a:ext cx="5514975" cy="1752600"/>
            <a:chOff x="428624" y="2981324"/>
            <a:chExt cx="5514975" cy="1752600"/>
          </a:xfrm>
        </p:grpSpPr>
        <p:sp>
          <p:nvSpPr>
            <p:cNvPr id="16" name="object 16"/>
            <p:cNvSpPr/>
            <p:nvPr/>
          </p:nvSpPr>
          <p:spPr>
            <a:xfrm>
              <a:off x="428624" y="2981324"/>
              <a:ext cx="5514975" cy="1752600"/>
            </a:xfrm>
            <a:custGeom>
              <a:avLst/>
              <a:gdLst/>
              <a:ahLst/>
              <a:cxnLst/>
              <a:rect l="l" t="t" r="r" b="b"/>
              <a:pathLst>
                <a:path w="5514975" h="1752600">
                  <a:moveTo>
                    <a:pt x="5438774" y="1752599"/>
                  </a:moveTo>
                  <a:lnTo>
                    <a:pt x="76199" y="1752599"/>
                  </a:lnTo>
                  <a:lnTo>
                    <a:pt x="68693" y="1752237"/>
                  </a:lnTo>
                  <a:lnTo>
                    <a:pt x="27882" y="1735332"/>
                  </a:lnTo>
                  <a:lnTo>
                    <a:pt x="3262" y="1698486"/>
                  </a:lnTo>
                  <a:lnTo>
                    <a:pt x="0" y="167639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438774" y="0"/>
                  </a:lnTo>
                  <a:lnTo>
                    <a:pt x="5481116" y="12830"/>
                  </a:lnTo>
                  <a:lnTo>
                    <a:pt x="5509173" y="47039"/>
                  </a:lnTo>
                  <a:lnTo>
                    <a:pt x="5514974" y="76199"/>
                  </a:lnTo>
                  <a:lnTo>
                    <a:pt x="5514974" y="1676399"/>
                  </a:lnTo>
                  <a:lnTo>
                    <a:pt x="5502143" y="1718742"/>
                  </a:lnTo>
                  <a:lnTo>
                    <a:pt x="5467934" y="1746799"/>
                  </a:lnTo>
                  <a:lnTo>
                    <a:pt x="5438774" y="17525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28624" y="2981324"/>
              <a:ext cx="5514975" cy="1752600"/>
            </a:xfrm>
            <a:custGeom>
              <a:avLst/>
              <a:gdLst/>
              <a:ahLst/>
              <a:cxnLst/>
              <a:rect l="l" t="t" r="r" b="b"/>
              <a:pathLst>
                <a:path w="5514975" h="1752600">
                  <a:moveTo>
                    <a:pt x="5438774" y="1752599"/>
                  </a:moveTo>
                  <a:lnTo>
                    <a:pt x="76199" y="1752599"/>
                  </a:lnTo>
                  <a:lnTo>
                    <a:pt x="68693" y="1752237"/>
                  </a:lnTo>
                  <a:lnTo>
                    <a:pt x="27882" y="1735332"/>
                  </a:lnTo>
                  <a:lnTo>
                    <a:pt x="3262" y="1698486"/>
                  </a:lnTo>
                  <a:lnTo>
                    <a:pt x="0" y="167639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438774" y="0"/>
                  </a:lnTo>
                  <a:lnTo>
                    <a:pt x="5475594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8"/>
                  </a:lnTo>
                  <a:lnTo>
                    <a:pt x="9524" y="71821"/>
                  </a:lnTo>
                  <a:lnTo>
                    <a:pt x="9524" y="1680777"/>
                  </a:lnTo>
                  <a:lnTo>
                    <a:pt x="23194" y="1717082"/>
                  </a:lnTo>
                  <a:lnTo>
                    <a:pt x="54729" y="1739674"/>
                  </a:lnTo>
                  <a:lnTo>
                    <a:pt x="71822" y="1743074"/>
                  </a:lnTo>
                  <a:lnTo>
                    <a:pt x="5475595" y="1743074"/>
                  </a:lnTo>
                  <a:lnTo>
                    <a:pt x="5474731" y="1743591"/>
                  </a:lnTo>
                  <a:lnTo>
                    <a:pt x="5467934" y="1746799"/>
                  </a:lnTo>
                  <a:lnTo>
                    <a:pt x="5460860" y="1749337"/>
                  </a:lnTo>
                  <a:lnTo>
                    <a:pt x="5453643" y="1751149"/>
                  </a:lnTo>
                  <a:lnTo>
                    <a:pt x="5446281" y="1752237"/>
                  </a:lnTo>
                  <a:lnTo>
                    <a:pt x="5438774" y="1752599"/>
                  </a:lnTo>
                  <a:close/>
                </a:path>
                <a:path w="5514975" h="1752600">
                  <a:moveTo>
                    <a:pt x="5475595" y="1743074"/>
                  </a:moveTo>
                  <a:lnTo>
                    <a:pt x="5443152" y="1743074"/>
                  </a:lnTo>
                  <a:lnTo>
                    <a:pt x="5447488" y="1742647"/>
                  </a:lnTo>
                  <a:lnTo>
                    <a:pt x="5456075" y="1740939"/>
                  </a:lnTo>
                  <a:lnTo>
                    <a:pt x="5489016" y="1720450"/>
                  </a:lnTo>
                  <a:lnTo>
                    <a:pt x="5505022" y="1685113"/>
                  </a:lnTo>
                  <a:lnTo>
                    <a:pt x="5505448" y="1680777"/>
                  </a:lnTo>
                  <a:lnTo>
                    <a:pt x="5505448" y="71821"/>
                  </a:lnTo>
                  <a:lnTo>
                    <a:pt x="5491779" y="35516"/>
                  </a:lnTo>
                  <a:lnTo>
                    <a:pt x="5460244" y="12924"/>
                  </a:lnTo>
                  <a:lnTo>
                    <a:pt x="5443152" y="9524"/>
                  </a:lnTo>
                  <a:lnTo>
                    <a:pt x="5475594" y="9524"/>
                  </a:lnTo>
                  <a:lnTo>
                    <a:pt x="5505966" y="40243"/>
                  </a:lnTo>
                  <a:lnTo>
                    <a:pt x="5514974" y="1676399"/>
                  </a:lnTo>
                  <a:lnTo>
                    <a:pt x="5514612" y="1683906"/>
                  </a:lnTo>
                  <a:lnTo>
                    <a:pt x="5497707" y="1724717"/>
                  </a:lnTo>
                  <a:lnTo>
                    <a:pt x="5481116" y="1739769"/>
                  </a:lnTo>
                  <a:lnTo>
                    <a:pt x="5475595" y="174307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33412" y="33480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380928" y="447674"/>
                  </a:moveTo>
                  <a:lnTo>
                    <a:pt x="66746" y="447674"/>
                  </a:lnTo>
                  <a:lnTo>
                    <a:pt x="62101" y="447217"/>
                  </a:lnTo>
                  <a:lnTo>
                    <a:pt x="24240" y="430067"/>
                  </a:lnTo>
                  <a:lnTo>
                    <a:pt x="2287" y="394774"/>
                  </a:lnTo>
                  <a:lnTo>
                    <a:pt x="0" y="380928"/>
                  </a:lnTo>
                  <a:lnTo>
                    <a:pt x="0" y="3762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80928" y="0"/>
                  </a:lnTo>
                  <a:lnTo>
                    <a:pt x="419826" y="14645"/>
                  </a:lnTo>
                  <a:lnTo>
                    <a:pt x="444032" y="48432"/>
                  </a:lnTo>
                  <a:lnTo>
                    <a:pt x="447674" y="66746"/>
                  </a:lnTo>
                  <a:lnTo>
                    <a:pt x="447674" y="380928"/>
                  </a:lnTo>
                  <a:lnTo>
                    <a:pt x="433029" y="419825"/>
                  </a:lnTo>
                  <a:lnTo>
                    <a:pt x="399241" y="444031"/>
                  </a:lnTo>
                  <a:lnTo>
                    <a:pt x="385573" y="447217"/>
                  </a:lnTo>
                  <a:lnTo>
                    <a:pt x="380928" y="447674"/>
                  </a:lnTo>
                  <a:close/>
                </a:path>
              </a:pathLst>
            </a:custGeom>
            <a:solidFill>
              <a:srgbClr val="7834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33412" y="33480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3762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27848" y="14645"/>
                  </a:lnTo>
                  <a:lnTo>
                    <a:pt x="31748" y="12039"/>
                  </a:lnTo>
                  <a:lnTo>
                    <a:pt x="35649" y="9433"/>
                  </a:lnTo>
                  <a:lnTo>
                    <a:pt x="39765" y="7232"/>
                  </a:lnTo>
                  <a:lnTo>
                    <a:pt x="44099" y="5437"/>
                  </a:lnTo>
                  <a:lnTo>
                    <a:pt x="48433" y="3642"/>
                  </a:lnTo>
                  <a:lnTo>
                    <a:pt x="52900" y="2287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76237" y="0"/>
                  </a:lnTo>
                  <a:lnTo>
                    <a:pt x="380928" y="0"/>
                  </a:lnTo>
                  <a:lnTo>
                    <a:pt x="385573" y="457"/>
                  </a:lnTo>
                  <a:lnTo>
                    <a:pt x="390174" y="1372"/>
                  </a:lnTo>
                  <a:lnTo>
                    <a:pt x="394774" y="2287"/>
                  </a:lnTo>
                  <a:lnTo>
                    <a:pt x="399241" y="3642"/>
                  </a:lnTo>
                  <a:lnTo>
                    <a:pt x="403575" y="5437"/>
                  </a:lnTo>
                  <a:lnTo>
                    <a:pt x="407908" y="7232"/>
                  </a:lnTo>
                  <a:lnTo>
                    <a:pt x="412025" y="9433"/>
                  </a:lnTo>
                  <a:lnTo>
                    <a:pt x="415925" y="12039"/>
                  </a:lnTo>
                  <a:lnTo>
                    <a:pt x="419826" y="14645"/>
                  </a:lnTo>
                  <a:lnTo>
                    <a:pt x="423434" y="17606"/>
                  </a:lnTo>
                  <a:lnTo>
                    <a:pt x="426751" y="20923"/>
                  </a:lnTo>
                  <a:lnTo>
                    <a:pt x="430068" y="24240"/>
                  </a:lnTo>
                  <a:lnTo>
                    <a:pt x="442236" y="44099"/>
                  </a:lnTo>
                  <a:lnTo>
                    <a:pt x="444032" y="48432"/>
                  </a:lnTo>
                  <a:lnTo>
                    <a:pt x="447674" y="71437"/>
                  </a:lnTo>
                  <a:lnTo>
                    <a:pt x="447674" y="376237"/>
                  </a:lnTo>
                  <a:lnTo>
                    <a:pt x="435635" y="415925"/>
                  </a:lnTo>
                  <a:lnTo>
                    <a:pt x="433029" y="419825"/>
                  </a:lnTo>
                  <a:lnTo>
                    <a:pt x="415925" y="435634"/>
                  </a:lnTo>
                  <a:lnTo>
                    <a:pt x="412025" y="438240"/>
                  </a:lnTo>
                  <a:lnTo>
                    <a:pt x="376237" y="447674"/>
                  </a:lnTo>
                  <a:lnTo>
                    <a:pt x="71437" y="447674"/>
                  </a:lnTo>
                  <a:lnTo>
                    <a:pt x="31748" y="435634"/>
                  </a:lnTo>
                  <a:lnTo>
                    <a:pt x="5437" y="403575"/>
                  </a:lnTo>
                  <a:lnTo>
                    <a:pt x="0" y="380928"/>
                  </a:lnTo>
                  <a:lnTo>
                    <a:pt x="0" y="376237"/>
                  </a:lnTo>
                  <a:close/>
                </a:path>
              </a:pathLst>
            </a:custGeom>
            <a:ln w="9524">
              <a:solidFill>
                <a:srgbClr val="B453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146" y="3471862"/>
              <a:ext cx="230207" cy="20002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238237" y="3752861"/>
              <a:ext cx="47625" cy="542925"/>
            </a:xfrm>
            <a:custGeom>
              <a:avLst/>
              <a:gdLst/>
              <a:ahLst/>
              <a:cxnLst/>
              <a:rect l="l" t="t" r="r" b="b"/>
              <a:pathLst>
                <a:path w="47625" h="542925">
                  <a:moveTo>
                    <a:pt x="47625" y="515950"/>
                  </a:moveTo>
                  <a:lnTo>
                    <a:pt x="26974" y="495300"/>
                  </a:lnTo>
                  <a:lnTo>
                    <a:pt x="20662" y="495300"/>
                  </a:lnTo>
                  <a:lnTo>
                    <a:pt x="0" y="515950"/>
                  </a:lnTo>
                  <a:lnTo>
                    <a:pt x="0" y="522262"/>
                  </a:lnTo>
                  <a:lnTo>
                    <a:pt x="20662" y="542912"/>
                  </a:lnTo>
                  <a:lnTo>
                    <a:pt x="26974" y="542912"/>
                  </a:lnTo>
                  <a:lnTo>
                    <a:pt x="47625" y="522262"/>
                  </a:lnTo>
                  <a:lnTo>
                    <a:pt x="47625" y="519112"/>
                  </a:lnTo>
                  <a:lnTo>
                    <a:pt x="47625" y="515950"/>
                  </a:lnTo>
                  <a:close/>
                </a:path>
                <a:path w="47625" h="542925">
                  <a:moveTo>
                    <a:pt x="47625" y="268300"/>
                  </a:moveTo>
                  <a:lnTo>
                    <a:pt x="26974" y="247650"/>
                  </a:lnTo>
                  <a:lnTo>
                    <a:pt x="20662" y="247650"/>
                  </a:lnTo>
                  <a:lnTo>
                    <a:pt x="0" y="268300"/>
                  </a:lnTo>
                  <a:lnTo>
                    <a:pt x="0" y="274612"/>
                  </a:lnTo>
                  <a:lnTo>
                    <a:pt x="20662" y="295262"/>
                  </a:lnTo>
                  <a:lnTo>
                    <a:pt x="26974" y="295262"/>
                  </a:lnTo>
                  <a:lnTo>
                    <a:pt x="47625" y="274612"/>
                  </a:lnTo>
                  <a:lnTo>
                    <a:pt x="47625" y="271462"/>
                  </a:lnTo>
                  <a:lnTo>
                    <a:pt x="47625" y="268300"/>
                  </a:lnTo>
                  <a:close/>
                </a:path>
                <a:path w="47625" h="5429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12"/>
                  </a:lnTo>
                  <a:lnTo>
                    <a:pt x="26974" y="47612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1225549" y="3349625"/>
            <a:ext cx="3282950" cy="10140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微软雅黑"/>
                <a:cs typeface="微软雅黑"/>
              </a:rPr>
              <a:t>突现行为不可预测</a:t>
            </a:r>
            <a:endParaRPr sz="1500">
              <a:latin typeface="微软雅黑"/>
              <a:cs typeface="微软雅黑"/>
            </a:endParaRPr>
          </a:p>
          <a:p>
            <a:pPr marL="202565" marR="5080">
              <a:lnSpc>
                <a:spcPct val="154800"/>
              </a:lnSpc>
              <a:spcBef>
                <a:spcPts val="135"/>
              </a:spcBef>
            </a:pPr>
            <a:r>
              <a:rPr sz="1050" b="1" dirty="0">
                <a:solidFill>
                  <a:srgbClr val="FBD34D"/>
                </a:solidFill>
                <a:latin typeface="微软雅黑"/>
                <a:cs typeface="微软雅黑"/>
              </a:rPr>
              <a:t>意外系统级行为：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交互产生难以预料的宏观后果。</a:t>
            </a:r>
            <a:r>
              <a:rPr sz="1050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050" b="1" dirty="0">
                <a:solidFill>
                  <a:srgbClr val="FBD34D"/>
                </a:solidFill>
                <a:latin typeface="微软雅黑"/>
                <a:cs typeface="微软雅黑"/>
              </a:rPr>
              <a:t>因果级联失效：</a:t>
            </a:r>
            <a:r>
              <a:rPr sz="1050" dirty="0">
                <a:solidFill>
                  <a:srgbClr val="D0D5DA"/>
                </a:solidFill>
                <a:latin typeface="微软雅黑"/>
                <a:cs typeface="微软雅黑"/>
              </a:rPr>
              <a:t>单点错误引发多米诺骨牌式崩溃。</a:t>
            </a:r>
            <a:r>
              <a:rPr sz="1050" b="1" spc="-50" dirty="0">
                <a:solidFill>
                  <a:srgbClr val="FBD34D"/>
                </a:solidFill>
                <a:latin typeface="微软雅黑"/>
                <a:cs typeface="微软雅黑"/>
              </a:rPr>
              <a:t>非</a:t>
            </a:r>
            <a:r>
              <a:rPr sz="1050" b="1" dirty="0">
                <a:solidFill>
                  <a:srgbClr val="FBD34D"/>
                </a:solidFill>
                <a:latin typeface="微软雅黑"/>
                <a:cs typeface="微软雅黑"/>
              </a:rPr>
              <a:t>线性反应：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微小扰动可能导致系统状态剧烈波动。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28624" y="4886324"/>
            <a:ext cx="5514975" cy="1752600"/>
            <a:chOff x="428624" y="4886324"/>
            <a:chExt cx="5514975" cy="1752600"/>
          </a:xfrm>
        </p:grpSpPr>
        <p:sp>
          <p:nvSpPr>
            <p:cNvPr id="24" name="object 24"/>
            <p:cNvSpPr/>
            <p:nvPr/>
          </p:nvSpPr>
          <p:spPr>
            <a:xfrm>
              <a:off x="428624" y="4886324"/>
              <a:ext cx="5514975" cy="1752600"/>
            </a:xfrm>
            <a:custGeom>
              <a:avLst/>
              <a:gdLst/>
              <a:ahLst/>
              <a:cxnLst/>
              <a:rect l="l" t="t" r="r" b="b"/>
              <a:pathLst>
                <a:path w="5514975" h="1752600">
                  <a:moveTo>
                    <a:pt x="5438774" y="1752599"/>
                  </a:moveTo>
                  <a:lnTo>
                    <a:pt x="76199" y="1752599"/>
                  </a:lnTo>
                  <a:lnTo>
                    <a:pt x="68693" y="1752237"/>
                  </a:lnTo>
                  <a:lnTo>
                    <a:pt x="27882" y="1735332"/>
                  </a:lnTo>
                  <a:lnTo>
                    <a:pt x="3262" y="1698486"/>
                  </a:lnTo>
                  <a:lnTo>
                    <a:pt x="0" y="167639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438774" y="0"/>
                  </a:lnTo>
                  <a:lnTo>
                    <a:pt x="5481116" y="12830"/>
                  </a:lnTo>
                  <a:lnTo>
                    <a:pt x="5509173" y="47039"/>
                  </a:lnTo>
                  <a:lnTo>
                    <a:pt x="5514974" y="76199"/>
                  </a:lnTo>
                  <a:lnTo>
                    <a:pt x="5514974" y="1676399"/>
                  </a:lnTo>
                  <a:lnTo>
                    <a:pt x="5502143" y="1718742"/>
                  </a:lnTo>
                  <a:lnTo>
                    <a:pt x="5467934" y="1746799"/>
                  </a:lnTo>
                  <a:lnTo>
                    <a:pt x="5438774" y="175259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28624" y="4886324"/>
              <a:ext cx="5514975" cy="1752600"/>
            </a:xfrm>
            <a:custGeom>
              <a:avLst/>
              <a:gdLst/>
              <a:ahLst/>
              <a:cxnLst/>
              <a:rect l="l" t="t" r="r" b="b"/>
              <a:pathLst>
                <a:path w="5514975" h="1752600">
                  <a:moveTo>
                    <a:pt x="5438774" y="1752599"/>
                  </a:moveTo>
                  <a:lnTo>
                    <a:pt x="76199" y="1752599"/>
                  </a:lnTo>
                  <a:lnTo>
                    <a:pt x="68693" y="1752237"/>
                  </a:lnTo>
                  <a:lnTo>
                    <a:pt x="27882" y="1735332"/>
                  </a:lnTo>
                  <a:lnTo>
                    <a:pt x="3262" y="1698486"/>
                  </a:lnTo>
                  <a:lnTo>
                    <a:pt x="0" y="1676399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438774" y="0"/>
                  </a:lnTo>
                  <a:lnTo>
                    <a:pt x="5475594" y="9524"/>
                  </a:lnTo>
                  <a:lnTo>
                    <a:pt x="71822" y="9524"/>
                  </a:lnTo>
                  <a:lnTo>
                    <a:pt x="67486" y="9951"/>
                  </a:lnTo>
                  <a:lnTo>
                    <a:pt x="32149" y="25957"/>
                  </a:lnTo>
                  <a:lnTo>
                    <a:pt x="11660" y="58897"/>
                  </a:lnTo>
                  <a:lnTo>
                    <a:pt x="9524" y="71821"/>
                  </a:lnTo>
                  <a:lnTo>
                    <a:pt x="9524" y="1680777"/>
                  </a:lnTo>
                  <a:lnTo>
                    <a:pt x="23194" y="1717081"/>
                  </a:lnTo>
                  <a:lnTo>
                    <a:pt x="54729" y="1739674"/>
                  </a:lnTo>
                  <a:lnTo>
                    <a:pt x="71822" y="1743074"/>
                  </a:lnTo>
                  <a:lnTo>
                    <a:pt x="5475595" y="1743074"/>
                  </a:lnTo>
                  <a:lnTo>
                    <a:pt x="5474731" y="1743591"/>
                  </a:lnTo>
                  <a:lnTo>
                    <a:pt x="5467934" y="1746799"/>
                  </a:lnTo>
                  <a:lnTo>
                    <a:pt x="5460860" y="1749337"/>
                  </a:lnTo>
                  <a:lnTo>
                    <a:pt x="5453643" y="1751149"/>
                  </a:lnTo>
                  <a:lnTo>
                    <a:pt x="5446281" y="1752237"/>
                  </a:lnTo>
                  <a:lnTo>
                    <a:pt x="5438774" y="1752599"/>
                  </a:lnTo>
                  <a:close/>
                </a:path>
                <a:path w="5514975" h="1752600">
                  <a:moveTo>
                    <a:pt x="5475595" y="1743074"/>
                  </a:moveTo>
                  <a:lnTo>
                    <a:pt x="5443152" y="1743074"/>
                  </a:lnTo>
                  <a:lnTo>
                    <a:pt x="5447488" y="1742647"/>
                  </a:lnTo>
                  <a:lnTo>
                    <a:pt x="5456075" y="1740938"/>
                  </a:lnTo>
                  <a:lnTo>
                    <a:pt x="5489016" y="1720449"/>
                  </a:lnTo>
                  <a:lnTo>
                    <a:pt x="5505022" y="1685113"/>
                  </a:lnTo>
                  <a:lnTo>
                    <a:pt x="5505448" y="1680777"/>
                  </a:lnTo>
                  <a:lnTo>
                    <a:pt x="5505448" y="71821"/>
                  </a:lnTo>
                  <a:lnTo>
                    <a:pt x="5491779" y="35516"/>
                  </a:lnTo>
                  <a:lnTo>
                    <a:pt x="5460244" y="12924"/>
                  </a:lnTo>
                  <a:lnTo>
                    <a:pt x="5443152" y="9524"/>
                  </a:lnTo>
                  <a:lnTo>
                    <a:pt x="5475594" y="9524"/>
                  </a:lnTo>
                  <a:lnTo>
                    <a:pt x="5505966" y="40243"/>
                  </a:lnTo>
                  <a:lnTo>
                    <a:pt x="5514974" y="1676399"/>
                  </a:lnTo>
                  <a:lnTo>
                    <a:pt x="5514612" y="1683906"/>
                  </a:lnTo>
                  <a:lnTo>
                    <a:pt x="5497707" y="1724717"/>
                  </a:lnTo>
                  <a:lnTo>
                    <a:pt x="5481116" y="1739769"/>
                  </a:lnTo>
                  <a:lnTo>
                    <a:pt x="5475595" y="174307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33412" y="52530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380928" y="447674"/>
                  </a:moveTo>
                  <a:lnTo>
                    <a:pt x="66746" y="447674"/>
                  </a:lnTo>
                  <a:lnTo>
                    <a:pt x="62101" y="447216"/>
                  </a:lnTo>
                  <a:lnTo>
                    <a:pt x="24240" y="430067"/>
                  </a:lnTo>
                  <a:lnTo>
                    <a:pt x="2287" y="394773"/>
                  </a:lnTo>
                  <a:lnTo>
                    <a:pt x="0" y="380927"/>
                  </a:lnTo>
                  <a:lnTo>
                    <a:pt x="0" y="376237"/>
                  </a:lnTo>
                  <a:lnTo>
                    <a:pt x="0" y="66746"/>
                  </a:lnTo>
                  <a:lnTo>
                    <a:pt x="14645" y="27847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80928" y="0"/>
                  </a:lnTo>
                  <a:lnTo>
                    <a:pt x="419826" y="14644"/>
                  </a:lnTo>
                  <a:lnTo>
                    <a:pt x="444032" y="48432"/>
                  </a:lnTo>
                  <a:lnTo>
                    <a:pt x="447674" y="66746"/>
                  </a:lnTo>
                  <a:lnTo>
                    <a:pt x="447674" y="380927"/>
                  </a:lnTo>
                  <a:lnTo>
                    <a:pt x="433029" y="419825"/>
                  </a:lnTo>
                  <a:lnTo>
                    <a:pt x="399241" y="444030"/>
                  </a:lnTo>
                  <a:lnTo>
                    <a:pt x="385573" y="447216"/>
                  </a:lnTo>
                  <a:lnTo>
                    <a:pt x="380928" y="447674"/>
                  </a:lnTo>
                  <a:close/>
                </a:path>
              </a:pathLst>
            </a:custGeom>
            <a:solidFill>
              <a:srgbClr val="1D3A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33412" y="525303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3762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0"/>
                  </a:lnTo>
                  <a:lnTo>
                    <a:pt x="1372" y="57499"/>
                  </a:lnTo>
                  <a:lnTo>
                    <a:pt x="2287" y="52899"/>
                  </a:lnTo>
                  <a:lnTo>
                    <a:pt x="3642" y="48432"/>
                  </a:lnTo>
                  <a:lnTo>
                    <a:pt x="5437" y="44098"/>
                  </a:lnTo>
                  <a:lnTo>
                    <a:pt x="7232" y="39764"/>
                  </a:lnTo>
                  <a:lnTo>
                    <a:pt x="9433" y="35648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39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1" y="457"/>
                  </a:lnTo>
                  <a:lnTo>
                    <a:pt x="71437" y="0"/>
                  </a:lnTo>
                  <a:lnTo>
                    <a:pt x="376237" y="0"/>
                  </a:lnTo>
                  <a:lnTo>
                    <a:pt x="415925" y="12039"/>
                  </a:lnTo>
                  <a:lnTo>
                    <a:pt x="419826" y="14645"/>
                  </a:lnTo>
                  <a:lnTo>
                    <a:pt x="423434" y="17606"/>
                  </a:lnTo>
                  <a:lnTo>
                    <a:pt x="426751" y="20923"/>
                  </a:lnTo>
                  <a:lnTo>
                    <a:pt x="430068" y="24239"/>
                  </a:lnTo>
                  <a:lnTo>
                    <a:pt x="433029" y="27848"/>
                  </a:lnTo>
                  <a:lnTo>
                    <a:pt x="435635" y="31748"/>
                  </a:lnTo>
                  <a:lnTo>
                    <a:pt x="438241" y="35648"/>
                  </a:lnTo>
                  <a:lnTo>
                    <a:pt x="447674" y="71437"/>
                  </a:lnTo>
                  <a:lnTo>
                    <a:pt x="447674" y="376237"/>
                  </a:lnTo>
                  <a:lnTo>
                    <a:pt x="435635" y="415925"/>
                  </a:lnTo>
                  <a:lnTo>
                    <a:pt x="433029" y="419825"/>
                  </a:lnTo>
                  <a:lnTo>
                    <a:pt x="415925" y="435634"/>
                  </a:lnTo>
                  <a:lnTo>
                    <a:pt x="412025" y="438240"/>
                  </a:lnTo>
                  <a:lnTo>
                    <a:pt x="390174" y="446301"/>
                  </a:lnTo>
                  <a:lnTo>
                    <a:pt x="385573" y="447216"/>
                  </a:lnTo>
                  <a:lnTo>
                    <a:pt x="380928" y="447674"/>
                  </a:lnTo>
                  <a:lnTo>
                    <a:pt x="376237" y="447674"/>
                  </a:lnTo>
                  <a:lnTo>
                    <a:pt x="71437" y="447674"/>
                  </a:lnTo>
                  <a:lnTo>
                    <a:pt x="66746" y="447674"/>
                  </a:lnTo>
                  <a:lnTo>
                    <a:pt x="62101" y="447216"/>
                  </a:lnTo>
                  <a:lnTo>
                    <a:pt x="57500" y="446301"/>
                  </a:lnTo>
                  <a:lnTo>
                    <a:pt x="52900" y="445386"/>
                  </a:lnTo>
                  <a:lnTo>
                    <a:pt x="17606" y="423434"/>
                  </a:lnTo>
                  <a:lnTo>
                    <a:pt x="12039" y="415925"/>
                  </a:lnTo>
                  <a:lnTo>
                    <a:pt x="9433" y="412025"/>
                  </a:lnTo>
                  <a:lnTo>
                    <a:pt x="0" y="380927"/>
                  </a:lnTo>
                  <a:lnTo>
                    <a:pt x="0" y="376237"/>
                  </a:lnTo>
                  <a:close/>
                </a:path>
              </a:pathLst>
            </a:custGeom>
            <a:ln w="9524">
              <a:solidFill>
                <a:srgbClr val="1C4E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949" y="5362574"/>
              <a:ext cx="228644" cy="230073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238237" y="5657862"/>
              <a:ext cx="47625" cy="542925"/>
            </a:xfrm>
            <a:custGeom>
              <a:avLst/>
              <a:gdLst/>
              <a:ahLst/>
              <a:cxnLst/>
              <a:rect l="l" t="t" r="r" b="b"/>
              <a:pathLst>
                <a:path w="47625" h="542925">
                  <a:moveTo>
                    <a:pt x="47625" y="515950"/>
                  </a:moveTo>
                  <a:lnTo>
                    <a:pt x="26974" y="495300"/>
                  </a:lnTo>
                  <a:lnTo>
                    <a:pt x="20662" y="495300"/>
                  </a:lnTo>
                  <a:lnTo>
                    <a:pt x="0" y="515950"/>
                  </a:lnTo>
                  <a:lnTo>
                    <a:pt x="0" y="522262"/>
                  </a:lnTo>
                  <a:lnTo>
                    <a:pt x="20662" y="542925"/>
                  </a:lnTo>
                  <a:lnTo>
                    <a:pt x="26974" y="542925"/>
                  </a:lnTo>
                  <a:lnTo>
                    <a:pt x="47625" y="522262"/>
                  </a:lnTo>
                  <a:lnTo>
                    <a:pt x="47625" y="519112"/>
                  </a:lnTo>
                  <a:lnTo>
                    <a:pt x="47625" y="515950"/>
                  </a:lnTo>
                  <a:close/>
                </a:path>
                <a:path w="47625" h="542925">
                  <a:moveTo>
                    <a:pt x="47625" y="268300"/>
                  </a:moveTo>
                  <a:lnTo>
                    <a:pt x="26974" y="247650"/>
                  </a:lnTo>
                  <a:lnTo>
                    <a:pt x="20662" y="247650"/>
                  </a:lnTo>
                  <a:lnTo>
                    <a:pt x="0" y="268300"/>
                  </a:lnTo>
                  <a:lnTo>
                    <a:pt x="0" y="274612"/>
                  </a:lnTo>
                  <a:lnTo>
                    <a:pt x="20662" y="295262"/>
                  </a:lnTo>
                  <a:lnTo>
                    <a:pt x="26974" y="295262"/>
                  </a:lnTo>
                  <a:lnTo>
                    <a:pt x="47625" y="274612"/>
                  </a:lnTo>
                  <a:lnTo>
                    <a:pt x="47625" y="271462"/>
                  </a:lnTo>
                  <a:lnTo>
                    <a:pt x="47625" y="268300"/>
                  </a:lnTo>
                  <a:close/>
                </a:path>
                <a:path w="47625" h="5429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12"/>
                  </a:lnTo>
                  <a:lnTo>
                    <a:pt x="26974" y="47612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225549" y="5254625"/>
            <a:ext cx="3149600" cy="10140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FFFFF"/>
                </a:solidFill>
                <a:latin typeface="微软雅黑"/>
                <a:cs typeface="微软雅黑"/>
              </a:rPr>
              <a:t>调试与扩展性挑战</a:t>
            </a:r>
            <a:endParaRPr sz="1500">
              <a:latin typeface="微软雅黑"/>
              <a:cs typeface="微软雅黑"/>
            </a:endParaRPr>
          </a:p>
          <a:p>
            <a:pPr marL="202565" marR="5080">
              <a:lnSpc>
                <a:spcPct val="154800"/>
              </a:lnSpc>
              <a:spcBef>
                <a:spcPts val="135"/>
              </a:spcBef>
            </a:pPr>
            <a:r>
              <a:rPr sz="1050" b="1" dirty="0">
                <a:solidFill>
                  <a:srgbClr val="93C4FD"/>
                </a:solidFill>
                <a:latin typeface="微软雅黑"/>
                <a:cs typeface="微软雅黑"/>
              </a:rPr>
              <a:t>错误回溯难：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分布式决策路径导致责任归属模糊。</a:t>
            </a:r>
            <a:r>
              <a:rPr sz="1050" b="1" dirty="0">
                <a:solidFill>
                  <a:srgbClr val="93C4FD"/>
                </a:solidFill>
                <a:latin typeface="微软雅黑"/>
                <a:cs typeface="微软雅黑"/>
              </a:rPr>
              <a:t>状态空间爆炸：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系统复杂度随智能体数量激增。</a:t>
            </a:r>
            <a:r>
              <a:rPr sz="1050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050" b="1" dirty="0">
                <a:solidFill>
                  <a:srgbClr val="93C4FD"/>
                </a:solidFill>
                <a:latin typeface="微软雅黑"/>
                <a:cs typeface="微软雅黑"/>
              </a:rPr>
              <a:t>验证缺失：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难以构建覆盖所有交互场景的测试集。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6248399" y="1076324"/>
            <a:ext cx="5514975" cy="3114675"/>
            <a:chOff x="6248399" y="1076324"/>
            <a:chExt cx="5514975" cy="3114675"/>
          </a:xfrm>
        </p:grpSpPr>
        <p:sp>
          <p:nvSpPr>
            <p:cNvPr id="32" name="object 32"/>
            <p:cNvSpPr/>
            <p:nvPr/>
          </p:nvSpPr>
          <p:spPr>
            <a:xfrm>
              <a:off x="6248399" y="1076324"/>
              <a:ext cx="5514975" cy="3114675"/>
            </a:xfrm>
            <a:custGeom>
              <a:avLst/>
              <a:gdLst/>
              <a:ahLst/>
              <a:cxnLst/>
              <a:rect l="l" t="t" r="r" b="b"/>
              <a:pathLst>
                <a:path w="5514975" h="3114675">
                  <a:moveTo>
                    <a:pt x="5438774" y="3114674"/>
                  </a:moveTo>
                  <a:lnTo>
                    <a:pt x="76199" y="3114674"/>
                  </a:lnTo>
                  <a:lnTo>
                    <a:pt x="68693" y="3114312"/>
                  </a:lnTo>
                  <a:lnTo>
                    <a:pt x="27882" y="3097407"/>
                  </a:lnTo>
                  <a:lnTo>
                    <a:pt x="3262" y="3060560"/>
                  </a:lnTo>
                  <a:lnTo>
                    <a:pt x="0" y="303847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438774" y="0"/>
                  </a:lnTo>
                  <a:lnTo>
                    <a:pt x="5481116" y="12830"/>
                  </a:lnTo>
                  <a:lnTo>
                    <a:pt x="5509173" y="47039"/>
                  </a:lnTo>
                  <a:lnTo>
                    <a:pt x="5514974" y="76199"/>
                  </a:lnTo>
                  <a:lnTo>
                    <a:pt x="5514974" y="3038474"/>
                  </a:lnTo>
                  <a:lnTo>
                    <a:pt x="5502143" y="3080816"/>
                  </a:lnTo>
                  <a:lnTo>
                    <a:pt x="5467934" y="3108874"/>
                  </a:lnTo>
                  <a:lnTo>
                    <a:pt x="5438774" y="311467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6248399" y="1076324"/>
              <a:ext cx="5514975" cy="3114675"/>
            </a:xfrm>
            <a:custGeom>
              <a:avLst/>
              <a:gdLst/>
              <a:ahLst/>
              <a:cxnLst/>
              <a:rect l="l" t="t" r="r" b="b"/>
              <a:pathLst>
                <a:path w="5514975" h="3114675">
                  <a:moveTo>
                    <a:pt x="5438774" y="3114674"/>
                  </a:moveTo>
                  <a:lnTo>
                    <a:pt x="76199" y="3114674"/>
                  </a:lnTo>
                  <a:lnTo>
                    <a:pt x="68693" y="3114312"/>
                  </a:lnTo>
                  <a:lnTo>
                    <a:pt x="27882" y="3097407"/>
                  </a:lnTo>
                  <a:lnTo>
                    <a:pt x="3262" y="3060560"/>
                  </a:lnTo>
                  <a:lnTo>
                    <a:pt x="0" y="303847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438774" y="0"/>
                  </a:lnTo>
                  <a:lnTo>
                    <a:pt x="5481116" y="12830"/>
                  </a:lnTo>
                  <a:lnTo>
                    <a:pt x="5509173" y="47039"/>
                  </a:lnTo>
                  <a:lnTo>
                    <a:pt x="5514974" y="76199"/>
                  </a:lnTo>
                  <a:lnTo>
                    <a:pt x="5514974" y="3038474"/>
                  </a:lnTo>
                  <a:lnTo>
                    <a:pt x="5502143" y="3080816"/>
                  </a:lnTo>
                  <a:lnTo>
                    <a:pt x="5467934" y="3108874"/>
                  </a:lnTo>
                  <a:lnTo>
                    <a:pt x="5438774" y="311467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6448424" y="1276349"/>
              <a:ext cx="19050" cy="190500"/>
            </a:xfrm>
            <a:custGeom>
              <a:avLst/>
              <a:gdLst/>
              <a:ahLst/>
              <a:cxnLst/>
              <a:rect l="l" t="t" r="r" b="b"/>
              <a:pathLst>
                <a:path w="19050" h="190500">
                  <a:moveTo>
                    <a:pt x="19049" y="190499"/>
                  </a:moveTo>
                  <a:lnTo>
                    <a:pt x="0" y="19049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19049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6530975" y="1273175"/>
            <a:ext cx="14922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5" dirty="0">
                <a:solidFill>
                  <a:srgbClr val="D0D5DA"/>
                </a:solidFill>
                <a:latin typeface="微软雅黑"/>
                <a:cs typeface="微软雅黑"/>
              </a:rPr>
              <a:t>系统规模与风险指数关系</a:t>
            </a:r>
            <a:endParaRPr sz="1050">
              <a:latin typeface="微软雅黑"/>
              <a:cs typeface="微软雅黑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308875" y="3835400"/>
            <a:ext cx="326771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9CA2AF"/>
                </a:solidFill>
                <a:latin typeface="微软雅黑"/>
                <a:cs typeface="微软雅黑"/>
              </a:rPr>
              <a:t>*多模块叠加错误率可能超过30% (来源: 2025年AI</a:t>
            </a:r>
            <a:r>
              <a:rPr sz="900" spc="-10" dirty="0">
                <a:solidFill>
                  <a:srgbClr val="9CA2AF"/>
                </a:solidFill>
                <a:latin typeface="微软雅黑"/>
                <a:cs typeface="微软雅黑"/>
              </a:rPr>
              <a:t>系统架构洞察)</a:t>
            </a:r>
            <a:endParaRPr sz="900">
              <a:latin typeface="微软雅黑"/>
              <a:cs typeface="微软雅黑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6248399" y="1504950"/>
            <a:ext cx="5514975" cy="5133975"/>
            <a:chOff x="6248399" y="1504950"/>
            <a:chExt cx="5514975" cy="5133975"/>
          </a:xfrm>
        </p:grpSpPr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48424" y="1504950"/>
              <a:ext cx="5114924" cy="2247899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6248399" y="4419599"/>
              <a:ext cx="5514975" cy="2219325"/>
            </a:xfrm>
            <a:custGeom>
              <a:avLst/>
              <a:gdLst/>
              <a:ahLst/>
              <a:cxnLst/>
              <a:rect l="l" t="t" r="r" b="b"/>
              <a:pathLst>
                <a:path w="5514975" h="2219325">
                  <a:moveTo>
                    <a:pt x="5438774" y="2219324"/>
                  </a:moveTo>
                  <a:lnTo>
                    <a:pt x="76199" y="2219324"/>
                  </a:lnTo>
                  <a:lnTo>
                    <a:pt x="68693" y="2218962"/>
                  </a:lnTo>
                  <a:lnTo>
                    <a:pt x="27882" y="2202057"/>
                  </a:lnTo>
                  <a:lnTo>
                    <a:pt x="3262" y="2165211"/>
                  </a:lnTo>
                  <a:lnTo>
                    <a:pt x="0" y="214312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438774" y="0"/>
                  </a:lnTo>
                  <a:lnTo>
                    <a:pt x="5481116" y="12830"/>
                  </a:lnTo>
                  <a:lnTo>
                    <a:pt x="5509173" y="47039"/>
                  </a:lnTo>
                  <a:lnTo>
                    <a:pt x="5514974" y="76199"/>
                  </a:lnTo>
                  <a:lnTo>
                    <a:pt x="5514974" y="2143124"/>
                  </a:lnTo>
                  <a:lnTo>
                    <a:pt x="5502143" y="2185466"/>
                  </a:lnTo>
                  <a:lnTo>
                    <a:pt x="5467934" y="2213524"/>
                  </a:lnTo>
                  <a:lnTo>
                    <a:pt x="5438774" y="221932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248399" y="4419599"/>
              <a:ext cx="5514975" cy="2219325"/>
            </a:xfrm>
            <a:custGeom>
              <a:avLst/>
              <a:gdLst/>
              <a:ahLst/>
              <a:cxnLst/>
              <a:rect l="l" t="t" r="r" b="b"/>
              <a:pathLst>
                <a:path w="5514975" h="2219325">
                  <a:moveTo>
                    <a:pt x="5438774" y="2219324"/>
                  </a:moveTo>
                  <a:lnTo>
                    <a:pt x="76199" y="2219324"/>
                  </a:lnTo>
                  <a:lnTo>
                    <a:pt x="68693" y="2218962"/>
                  </a:lnTo>
                  <a:lnTo>
                    <a:pt x="27882" y="2202057"/>
                  </a:lnTo>
                  <a:lnTo>
                    <a:pt x="3262" y="2165211"/>
                  </a:lnTo>
                  <a:lnTo>
                    <a:pt x="0" y="2143124"/>
                  </a:lnTo>
                  <a:lnTo>
                    <a:pt x="0" y="76199"/>
                  </a:lnTo>
                  <a:lnTo>
                    <a:pt x="12830" y="33857"/>
                  </a:lnTo>
                  <a:lnTo>
                    <a:pt x="47039" y="5800"/>
                  </a:lnTo>
                  <a:lnTo>
                    <a:pt x="76199" y="0"/>
                  </a:lnTo>
                  <a:lnTo>
                    <a:pt x="5438774" y="0"/>
                  </a:lnTo>
                  <a:lnTo>
                    <a:pt x="5475594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7" y="25957"/>
                  </a:lnTo>
                  <a:lnTo>
                    <a:pt x="11659" y="58897"/>
                  </a:lnTo>
                  <a:lnTo>
                    <a:pt x="9524" y="71821"/>
                  </a:lnTo>
                  <a:lnTo>
                    <a:pt x="9524" y="2147502"/>
                  </a:lnTo>
                  <a:lnTo>
                    <a:pt x="23193" y="2183806"/>
                  </a:lnTo>
                  <a:lnTo>
                    <a:pt x="54727" y="2206399"/>
                  </a:lnTo>
                  <a:lnTo>
                    <a:pt x="71821" y="2209799"/>
                  </a:lnTo>
                  <a:lnTo>
                    <a:pt x="5475594" y="2209799"/>
                  </a:lnTo>
                  <a:lnTo>
                    <a:pt x="5474731" y="2210316"/>
                  </a:lnTo>
                  <a:lnTo>
                    <a:pt x="5467934" y="2213524"/>
                  </a:lnTo>
                  <a:lnTo>
                    <a:pt x="5460860" y="2216062"/>
                  </a:lnTo>
                  <a:lnTo>
                    <a:pt x="5453643" y="2217874"/>
                  </a:lnTo>
                  <a:lnTo>
                    <a:pt x="5446281" y="2218962"/>
                  </a:lnTo>
                  <a:lnTo>
                    <a:pt x="5438774" y="2219324"/>
                  </a:lnTo>
                  <a:close/>
                </a:path>
                <a:path w="5514975" h="2219325">
                  <a:moveTo>
                    <a:pt x="5475594" y="2209799"/>
                  </a:moveTo>
                  <a:lnTo>
                    <a:pt x="5443151" y="2209799"/>
                  </a:lnTo>
                  <a:lnTo>
                    <a:pt x="5447487" y="2209372"/>
                  </a:lnTo>
                  <a:lnTo>
                    <a:pt x="5456074" y="2207663"/>
                  </a:lnTo>
                  <a:lnTo>
                    <a:pt x="5489015" y="2187174"/>
                  </a:lnTo>
                  <a:lnTo>
                    <a:pt x="5505021" y="2151838"/>
                  </a:lnTo>
                  <a:lnTo>
                    <a:pt x="5505448" y="2147502"/>
                  </a:lnTo>
                  <a:lnTo>
                    <a:pt x="5505448" y="71821"/>
                  </a:lnTo>
                  <a:lnTo>
                    <a:pt x="5491779" y="35516"/>
                  </a:lnTo>
                  <a:lnTo>
                    <a:pt x="5460242" y="12924"/>
                  </a:lnTo>
                  <a:lnTo>
                    <a:pt x="5443151" y="9524"/>
                  </a:lnTo>
                  <a:lnTo>
                    <a:pt x="5475594" y="9524"/>
                  </a:lnTo>
                  <a:lnTo>
                    <a:pt x="5505966" y="40243"/>
                  </a:lnTo>
                  <a:lnTo>
                    <a:pt x="5514974" y="2143124"/>
                  </a:lnTo>
                  <a:lnTo>
                    <a:pt x="5514612" y="2150631"/>
                  </a:lnTo>
                  <a:lnTo>
                    <a:pt x="5497707" y="2191442"/>
                  </a:lnTo>
                  <a:lnTo>
                    <a:pt x="5481116" y="2206494"/>
                  </a:lnTo>
                  <a:lnTo>
                    <a:pt x="5475594" y="2209799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448424" y="4619624"/>
              <a:ext cx="19050" cy="190500"/>
            </a:xfrm>
            <a:custGeom>
              <a:avLst/>
              <a:gdLst/>
              <a:ahLst/>
              <a:cxnLst/>
              <a:rect l="l" t="t" r="r" b="b"/>
              <a:pathLst>
                <a:path w="19050" h="190500">
                  <a:moveTo>
                    <a:pt x="19049" y="190499"/>
                  </a:moveTo>
                  <a:lnTo>
                    <a:pt x="0" y="190499"/>
                  </a:lnTo>
                  <a:lnTo>
                    <a:pt x="0" y="0"/>
                  </a:lnTo>
                  <a:lnTo>
                    <a:pt x="19049" y="0"/>
                  </a:lnTo>
                  <a:lnTo>
                    <a:pt x="19049" y="190499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530975" y="4616450"/>
            <a:ext cx="21367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5" dirty="0">
                <a:solidFill>
                  <a:srgbClr val="D0D5DA"/>
                </a:solidFill>
                <a:latin typeface="微软雅黑"/>
                <a:cs typeface="微软雅黑"/>
              </a:rPr>
              <a:t>级联失效示意 </a:t>
            </a:r>
            <a:r>
              <a:rPr sz="1050" b="1" dirty="0">
                <a:solidFill>
                  <a:srgbClr val="D0D5DA"/>
                </a:solidFill>
                <a:latin typeface="微软雅黑"/>
                <a:cs typeface="微软雅黑"/>
              </a:rPr>
              <a:t>(Cascading</a:t>
            </a:r>
            <a:r>
              <a:rPr sz="1050" b="1" spc="-30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050" b="1" spc="-10" dirty="0">
                <a:solidFill>
                  <a:srgbClr val="D0D5DA"/>
                </a:solidFill>
                <a:latin typeface="微软雅黑"/>
                <a:cs typeface="微软雅黑"/>
              </a:rPr>
              <a:t>Failure)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7293863" y="5369947"/>
            <a:ext cx="3241675" cy="633095"/>
            <a:chOff x="7293863" y="5369947"/>
            <a:chExt cx="3241675" cy="633095"/>
          </a:xfrm>
        </p:grpSpPr>
        <p:sp>
          <p:nvSpPr>
            <p:cNvPr id="44" name="object 44"/>
            <p:cNvSpPr/>
            <p:nvPr/>
          </p:nvSpPr>
          <p:spPr>
            <a:xfrm>
              <a:off x="7481874" y="5625477"/>
              <a:ext cx="1036319" cy="121920"/>
            </a:xfrm>
            <a:custGeom>
              <a:avLst/>
              <a:gdLst/>
              <a:ahLst/>
              <a:cxnLst/>
              <a:rect l="l" t="t" r="r" b="b"/>
              <a:pathLst>
                <a:path w="1036320" h="121920">
                  <a:moveTo>
                    <a:pt x="50800" y="50800"/>
                  </a:moveTo>
                  <a:lnTo>
                    <a:pt x="0" y="50800"/>
                  </a:lnTo>
                  <a:lnTo>
                    <a:pt x="0" y="71120"/>
                  </a:lnTo>
                  <a:lnTo>
                    <a:pt x="50800" y="71120"/>
                  </a:lnTo>
                  <a:lnTo>
                    <a:pt x="50800" y="50800"/>
                  </a:lnTo>
                  <a:close/>
                </a:path>
                <a:path w="1036320" h="121920">
                  <a:moveTo>
                    <a:pt x="152400" y="50800"/>
                  </a:moveTo>
                  <a:lnTo>
                    <a:pt x="101600" y="50800"/>
                  </a:lnTo>
                  <a:lnTo>
                    <a:pt x="101600" y="71120"/>
                  </a:lnTo>
                  <a:lnTo>
                    <a:pt x="152400" y="71120"/>
                  </a:lnTo>
                  <a:lnTo>
                    <a:pt x="152400" y="50800"/>
                  </a:lnTo>
                  <a:close/>
                </a:path>
                <a:path w="1036320" h="121920">
                  <a:moveTo>
                    <a:pt x="254000" y="50800"/>
                  </a:moveTo>
                  <a:lnTo>
                    <a:pt x="203200" y="50800"/>
                  </a:lnTo>
                  <a:lnTo>
                    <a:pt x="203200" y="71120"/>
                  </a:lnTo>
                  <a:lnTo>
                    <a:pt x="254000" y="71120"/>
                  </a:lnTo>
                  <a:lnTo>
                    <a:pt x="254000" y="50800"/>
                  </a:lnTo>
                  <a:close/>
                </a:path>
                <a:path w="1036320" h="121920">
                  <a:moveTo>
                    <a:pt x="355600" y="50800"/>
                  </a:moveTo>
                  <a:lnTo>
                    <a:pt x="304800" y="50800"/>
                  </a:lnTo>
                  <a:lnTo>
                    <a:pt x="304800" y="71120"/>
                  </a:lnTo>
                  <a:lnTo>
                    <a:pt x="355600" y="71120"/>
                  </a:lnTo>
                  <a:lnTo>
                    <a:pt x="355600" y="50800"/>
                  </a:lnTo>
                  <a:close/>
                </a:path>
                <a:path w="1036320" h="121920">
                  <a:moveTo>
                    <a:pt x="457200" y="50800"/>
                  </a:moveTo>
                  <a:lnTo>
                    <a:pt x="406400" y="50800"/>
                  </a:lnTo>
                  <a:lnTo>
                    <a:pt x="406400" y="71120"/>
                  </a:lnTo>
                  <a:lnTo>
                    <a:pt x="457200" y="71120"/>
                  </a:lnTo>
                  <a:lnTo>
                    <a:pt x="457200" y="50800"/>
                  </a:lnTo>
                  <a:close/>
                </a:path>
                <a:path w="1036320" h="121920">
                  <a:moveTo>
                    <a:pt x="558800" y="50800"/>
                  </a:moveTo>
                  <a:lnTo>
                    <a:pt x="508000" y="50800"/>
                  </a:lnTo>
                  <a:lnTo>
                    <a:pt x="508000" y="71120"/>
                  </a:lnTo>
                  <a:lnTo>
                    <a:pt x="558800" y="71120"/>
                  </a:lnTo>
                  <a:lnTo>
                    <a:pt x="558800" y="50800"/>
                  </a:lnTo>
                  <a:close/>
                </a:path>
                <a:path w="1036320" h="121920">
                  <a:moveTo>
                    <a:pt x="660400" y="50800"/>
                  </a:moveTo>
                  <a:lnTo>
                    <a:pt x="609600" y="50800"/>
                  </a:lnTo>
                  <a:lnTo>
                    <a:pt x="609600" y="71120"/>
                  </a:lnTo>
                  <a:lnTo>
                    <a:pt x="660400" y="71120"/>
                  </a:lnTo>
                  <a:lnTo>
                    <a:pt x="660400" y="50800"/>
                  </a:lnTo>
                  <a:close/>
                </a:path>
                <a:path w="1036320" h="121920">
                  <a:moveTo>
                    <a:pt x="762000" y="50800"/>
                  </a:moveTo>
                  <a:lnTo>
                    <a:pt x="711200" y="50800"/>
                  </a:lnTo>
                  <a:lnTo>
                    <a:pt x="711200" y="71120"/>
                  </a:lnTo>
                  <a:lnTo>
                    <a:pt x="762000" y="71120"/>
                  </a:lnTo>
                  <a:lnTo>
                    <a:pt x="762000" y="50800"/>
                  </a:lnTo>
                  <a:close/>
                </a:path>
                <a:path w="1036320" h="121920">
                  <a:moveTo>
                    <a:pt x="1036320" y="60960"/>
                  </a:moveTo>
                  <a:lnTo>
                    <a:pt x="853440" y="0"/>
                  </a:lnTo>
                  <a:lnTo>
                    <a:pt x="853440" y="50800"/>
                  </a:lnTo>
                  <a:lnTo>
                    <a:pt x="812800" y="50800"/>
                  </a:lnTo>
                  <a:lnTo>
                    <a:pt x="812800" y="71120"/>
                  </a:lnTo>
                  <a:lnTo>
                    <a:pt x="853440" y="71120"/>
                  </a:lnTo>
                  <a:lnTo>
                    <a:pt x="853440" y="121920"/>
                  </a:lnTo>
                  <a:lnTo>
                    <a:pt x="1036320" y="60960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8497886" y="5381624"/>
              <a:ext cx="1016000" cy="304800"/>
            </a:xfrm>
            <a:custGeom>
              <a:avLst/>
              <a:gdLst/>
              <a:ahLst/>
              <a:cxnLst/>
              <a:rect l="l" t="t" r="r" b="b"/>
              <a:pathLst>
                <a:path w="1016000" h="304800">
                  <a:moveTo>
                    <a:pt x="0" y="304800"/>
                  </a:moveTo>
                  <a:lnTo>
                    <a:pt x="1016000" y="0"/>
                  </a:lnTo>
                </a:path>
              </a:pathLst>
            </a:custGeom>
            <a:solidFill>
              <a:srgbClr val="0000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8497886" y="5381624"/>
              <a:ext cx="1016000" cy="304800"/>
            </a:xfrm>
            <a:custGeom>
              <a:avLst/>
              <a:gdLst/>
              <a:ahLst/>
              <a:cxnLst/>
              <a:rect l="l" t="t" r="r" b="b"/>
              <a:pathLst>
                <a:path w="1016000" h="304800">
                  <a:moveTo>
                    <a:pt x="0" y="304800"/>
                  </a:moveTo>
                  <a:lnTo>
                    <a:pt x="1016000" y="0"/>
                  </a:lnTo>
                </a:path>
              </a:pathLst>
            </a:custGeom>
            <a:ln w="20320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9340666" y="5369947"/>
              <a:ext cx="193040" cy="116839"/>
            </a:xfrm>
            <a:custGeom>
              <a:avLst/>
              <a:gdLst/>
              <a:ahLst/>
              <a:cxnLst/>
              <a:rect l="l" t="t" r="r" b="b"/>
              <a:pathLst>
                <a:path w="193040" h="116839">
                  <a:moveTo>
                    <a:pt x="35033" y="116778"/>
                  </a:moveTo>
                  <a:lnTo>
                    <a:pt x="0" y="0"/>
                  </a:lnTo>
                  <a:lnTo>
                    <a:pt x="192683" y="5838"/>
                  </a:lnTo>
                  <a:lnTo>
                    <a:pt x="35033" y="116778"/>
                  </a:lnTo>
                  <a:close/>
                </a:path>
              </a:pathLst>
            </a:custGeom>
            <a:solidFill>
              <a:srgbClr val="EF4444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8497886" y="5686424"/>
              <a:ext cx="1016000" cy="304800"/>
            </a:xfrm>
            <a:custGeom>
              <a:avLst/>
              <a:gdLst/>
              <a:ahLst/>
              <a:cxnLst/>
              <a:rect l="l" t="t" r="r" b="b"/>
              <a:pathLst>
                <a:path w="1016000" h="304800">
                  <a:moveTo>
                    <a:pt x="1016000" y="304800"/>
                  </a:moveTo>
                  <a:lnTo>
                    <a:pt x="0" y="0"/>
                  </a:lnTo>
                </a:path>
              </a:pathLst>
            </a:custGeom>
            <a:solidFill>
              <a:srgbClr val="000000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8497886" y="5686424"/>
              <a:ext cx="1016000" cy="304800"/>
            </a:xfrm>
            <a:custGeom>
              <a:avLst/>
              <a:gdLst/>
              <a:ahLst/>
              <a:cxnLst/>
              <a:rect l="l" t="t" r="r" b="b"/>
              <a:pathLst>
                <a:path w="1016000" h="304800">
                  <a:moveTo>
                    <a:pt x="0" y="0"/>
                  </a:moveTo>
                  <a:lnTo>
                    <a:pt x="1016000" y="304800"/>
                  </a:lnTo>
                </a:path>
              </a:pathLst>
            </a:custGeom>
            <a:ln w="20320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340665" y="5886124"/>
              <a:ext cx="193040" cy="116839"/>
            </a:xfrm>
            <a:custGeom>
              <a:avLst/>
              <a:gdLst/>
              <a:ahLst/>
              <a:cxnLst/>
              <a:rect l="l" t="t" r="r" b="b"/>
              <a:pathLst>
                <a:path w="193040" h="116839">
                  <a:moveTo>
                    <a:pt x="0" y="116778"/>
                  </a:moveTo>
                  <a:lnTo>
                    <a:pt x="35033" y="0"/>
                  </a:lnTo>
                  <a:lnTo>
                    <a:pt x="192683" y="110939"/>
                  </a:lnTo>
                  <a:lnTo>
                    <a:pt x="0" y="116778"/>
                  </a:lnTo>
                  <a:close/>
                </a:path>
              </a:pathLst>
            </a:custGeom>
            <a:solidFill>
              <a:srgbClr val="EF4444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497886" y="5381624"/>
              <a:ext cx="2032000" cy="609600"/>
            </a:xfrm>
            <a:custGeom>
              <a:avLst/>
              <a:gdLst/>
              <a:ahLst/>
              <a:cxnLst/>
              <a:rect l="l" t="t" r="r" b="b"/>
              <a:pathLst>
                <a:path w="2032000" h="609600">
                  <a:moveTo>
                    <a:pt x="1016000" y="0"/>
                  </a:moveTo>
                  <a:lnTo>
                    <a:pt x="2032000" y="0"/>
                  </a:lnTo>
                </a:path>
                <a:path w="2032000" h="609600">
                  <a:moveTo>
                    <a:pt x="1016000" y="609600"/>
                  </a:moveTo>
                  <a:lnTo>
                    <a:pt x="2032000" y="609600"/>
                  </a:lnTo>
                </a:path>
                <a:path w="2032000" h="609600">
                  <a:moveTo>
                    <a:pt x="0" y="304800"/>
                  </a:moveTo>
                  <a:lnTo>
                    <a:pt x="1016000" y="304800"/>
                  </a:lnTo>
                </a:path>
              </a:pathLst>
            </a:custGeom>
            <a:ln w="10160">
              <a:solidFill>
                <a:srgbClr val="9CA2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293863" y="5498591"/>
              <a:ext cx="374903" cy="374903"/>
            </a:xfrm>
            <a:prstGeom prst="rect">
              <a:avLst/>
            </a:prstGeom>
          </p:spPr>
        </p:pic>
      </p:grpSp>
      <p:sp>
        <p:nvSpPr>
          <p:cNvPr id="53" name="object 53"/>
          <p:cNvSpPr txBox="1"/>
          <p:nvPr/>
        </p:nvSpPr>
        <p:spPr>
          <a:xfrm>
            <a:off x="7447854" y="5602555"/>
            <a:ext cx="6794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b="1" spc="-50" dirty="0">
                <a:solidFill>
                  <a:srgbClr val="FFFFFF"/>
                </a:solidFill>
                <a:latin typeface="微软雅黑"/>
                <a:cs typeface="微软雅黑"/>
              </a:rPr>
              <a:t>!</a:t>
            </a:r>
            <a:endParaRPr sz="950">
              <a:latin typeface="微软雅黑"/>
              <a:cs typeface="微软雅黑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7266135" y="5927738"/>
            <a:ext cx="431800" cy="1473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" spc="-20" dirty="0">
                <a:solidFill>
                  <a:srgbClr val="EF4444"/>
                </a:solidFill>
                <a:latin typeface="微软雅黑"/>
                <a:cs typeface="微软雅黑"/>
              </a:rPr>
              <a:t>单点故障</a:t>
            </a:r>
            <a:endParaRPr sz="800">
              <a:latin typeface="微软雅黑"/>
              <a:cs typeface="微软雅黑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8335326" y="5254625"/>
            <a:ext cx="2301240" cy="863600"/>
            <a:chOff x="8335326" y="5254625"/>
            <a:chExt cx="2301240" cy="863600"/>
          </a:xfrm>
        </p:grpSpPr>
        <p:sp>
          <p:nvSpPr>
            <p:cNvPr id="56" name="object 56"/>
            <p:cNvSpPr/>
            <p:nvPr/>
          </p:nvSpPr>
          <p:spPr>
            <a:xfrm>
              <a:off x="8345486" y="55340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152400" y="304800"/>
                  </a:moveTo>
                  <a:lnTo>
                    <a:pt x="108159" y="298239"/>
                  </a:lnTo>
                  <a:lnTo>
                    <a:pt x="67730" y="279115"/>
                  </a:lnTo>
                  <a:lnTo>
                    <a:pt x="34591" y="249082"/>
                  </a:lnTo>
                  <a:lnTo>
                    <a:pt x="11600" y="210720"/>
                  </a:lnTo>
                  <a:lnTo>
                    <a:pt x="732" y="167337"/>
                  </a:lnTo>
                  <a:lnTo>
                    <a:pt x="0" y="152400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400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3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800" y="152400"/>
                  </a:lnTo>
                  <a:lnTo>
                    <a:pt x="304616" y="159886"/>
                  </a:lnTo>
                  <a:lnTo>
                    <a:pt x="295895" y="203733"/>
                  </a:lnTo>
                  <a:lnTo>
                    <a:pt x="274803" y="243192"/>
                  </a:lnTo>
                  <a:lnTo>
                    <a:pt x="243192" y="274804"/>
                  </a:lnTo>
                  <a:lnTo>
                    <a:pt x="203733" y="295895"/>
                  </a:lnTo>
                  <a:lnTo>
                    <a:pt x="159886" y="304616"/>
                  </a:lnTo>
                  <a:lnTo>
                    <a:pt x="152400" y="304800"/>
                  </a:lnTo>
                  <a:close/>
                </a:path>
              </a:pathLst>
            </a:custGeom>
            <a:solidFill>
              <a:srgbClr val="7E1C1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8345486" y="5534025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304800" y="152400"/>
                  </a:moveTo>
                  <a:lnTo>
                    <a:pt x="298239" y="196639"/>
                  </a:lnTo>
                  <a:lnTo>
                    <a:pt x="279115" y="237068"/>
                  </a:lnTo>
                  <a:lnTo>
                    <a:pt x="249082" y="270208"/>
                  </a:lnTo>
                  <a:lnTo>
                    <a:pt x="210720" y="293199"/>
                  </a:lnTo>
                  <a:lnTo>
                    <a:pt x="167337" y="304067"/>
                  </a:lnTo>
                  <a:lnTo>
                    <a:pt x="152400" y="304800"/>
                  </a:lnTo>
                  <a:lnTo>
                    <a:pt x="144912" y="304616"/>
                  </a:lnTo>
                  <a:lnTo>
                    <a:pt x="101065" y="295895"/>
                  </a:lnTo>
                  <a:lnTo>
                    <a:pt x="61607" y="274804"/>
                  </a:lnTo>
                  <a:lnTo>
                    <a:pt x="29995" y="243192"/>
                  </a:lnTo>
                  <a:lnTo>
                    <a:pt x="8904" y="203733"/>
                  </a:lnTo>
                  <a:lnTo>
                    <a:pt x="183" y="159886"/>
                  </a:lnTo>
                  <a:lnTo>
                    <a:pt x="0" y="152400"/>
                  </a:lnTo>
                  <a:lnTo>
                    <a:pt x="183" y="144912"/>
                  </a:lnTo>
                  <a:lnTo>
                    <a:pt x="8904" y="101066"/>
                  </a:lnTo>
                  <a:lnTo>
                    <a:pt x="29995" y="61607"/>
                  </a:lnTo>
                  <a:lnTo>
                    <a:pt x="61607" y="29995"/>
                  </a:lnTo>
                  <a:lnTo>
                    <a:pt x="101065" y="8904"/>
                  </a:lnTo>
                  <a:lnTo>
                    <a:pt x="144912" y="183"/>
                  </a:lnTo>
                  <a:lnTo>
                    <a:pt x="152400" y="0"/>
                  </a:lnTo>
                  <a:lnTo>
                    <a:pt x="159886" y="183"/>
                  </a:lnTo>
                  <a:lnTo>
                    <a:pt x="203733" y="8904"/>
                  </a:lnTo>
                  <a:lnTo>
                    <a:pt x="243192" y="29995"/>
                  </a:lnTo>
                  <a:lnTo>
                    <a:pt x="274803" y="61607"/>
                  </a:lnTo>
                  <a:lnTo>
                    <a:pt x="295895" y="101066"/>
                  </a:lnTo>
                  <a:lnTo>
                    <a:pt x="304616" y="144912"/>
                  </a:lnTo>
                  <a:lnTo>
                    <a:pt x="304800" y="152400"/>
                  </a:lnTo>
                  <a:close/>
                </a:path>
              </a:pathLst>
            </a:custGeom>
            <a:ln w="20320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8" name="object 5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1966" y="5259705"/>
              <a:ext cx="243840" cy="243839"/>
            </a:xfrm>
            <a:prstGeom prst="rect">
              <a:avLst/>
            </a:prstGeom>
          </p:spPr>
        </p:pic>
        <p:sp>
          <p:nvSpPr>
            <p:cNvPr id="59" name="object 59"/>
            <p:cNvSpPr/>
            <p:nvPr/>
          </p:nvSpPr>
          <p:spPr>
            <a:xfrm>
              <a:off x="9391966" y="5259705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39">
                  <a:moveTo>
                    <a:pt x="243840" y="121920"/>
                  </a:moveTo>
                  <a:lnTo>
                    <a:pt x="237622" y="161180"/>
                  </a:lnTo>
                  <a:lnTo>
                    <a:pt x="223292" y="189655"/>
                  </a:lnTo>
                  <a:lnTo>
                    <a:pt x="218845" y="196311"/>
                  </a:lnTo>
                  <a:lnTo>
                    <a:pt x="189654" y="223292"/>
                  </a:lnTo>
                  <a:lnTo>
                    <a:pt x="182998" y="227740"/>
                  </a:lnTo>
                  <a:lnTo>
                    <a:pt x="175972" y="231495"/>
                  </a:lnTo>
                  <a:lnTo>
                    <a:pt x="168576" y="234559"/>
                  </a:lnTo>
                  <a:lnTo>
                    <a:pt x="161180" y="237622"/>
                  </a:lnTo>
                  <a:lnTo>
                    <a:pt x="153556" y="239935"/>
                  </a:lnTo>
                  <a:lnTo>
                    <a:pt x="145705" y="241497"/>
                  </a:lnTo>
                  <a:lnTo>
                    <a:pt x="137853" y="243059"/>
                  </a:lnTo>
                  <a:lnTo>
                    <a:pt x="129925" y="243839"/>
                  </a:lnTo>
                  <a:lnTo>
                    <a:pt x="121920" y="243840"/>
                  </a:lnTo>
                  <a:lnTo>
                    <a:pt x="113914" y="243839"/>
                  </a:lnTo>
                  <a:lnTo>
                    <a:pt x="105986" y="243059"/>
                  </a:lnTo>
                  <a:lnTo>
                    <a:pt x="98134" y="241497"/>
                  </a:lnTo>
                  <a:lnTo>
                    <a:pt x="90283" y="239935"/>
                  </a:lnTo>
                  <a:lnTo>
                    <a:pt x="54184" y="223292"/>
                  </a:lnTo>
                  <a:lnTo>
                    <a:pt x="35709" y="208130"/>
                  </a:lnTo>
                  <a:lnTo>
                    <a:pt x="30048" y="202469"/>
                  </a:lnTo>
                  <a:lnTo>
                    <a:pt x="9280" y="168576"/>
                  </a:lnTo>
                  <a:lnTo>
                    <a:pt x="2342" y="145705"/>
                  </a:lnTo>
                  <a:lnTo>
                    <a:pt x="780" y="137853"/>
                  </a:lnTo>
                  <a:lnTo>
                    <a:pt x="0" y="129925"/>
                  </a:lnTo>
                  <a:lnTo>
                    <a:pt x="0" y="121920"/>
                  </a:lnTo>
                  <a:lnTo>
                    <a:pt x="0" y="113914"/>
                  </a:lnTo>
                  <a:lnTo>
                    <a:pt x="780" y="105986"/>
                  </a:lnTo>
                  <a:lnTo>
                    <a:pt x="2342" y="98134"/>
                  </a:lnTo>
                  <a:lnTo>
                    <a:pt x="3904" y="90282"/>
                  </a:lnTo>
                  <a:lnTo>
                    <a:pt x="6216" y="82659"/>
                  </a:lnTo>
                  <a:lnTo>
                    <a:pt x="9280" y="75263"/>
                  </a:lnTo>
                  <a:lnTo>
                    <a:pt x="12343" y="67867"/>
                  </a:lnTo>
                  <a:lnTo>
                    <a:pt x="35709" y="35709"/>
                  </a:lnTo>
                  <a:lnTo>
                    <a:pt x="41370" y="30048"/>
                  </a:lnTo>
                  <a:lnTo>
                    <a:pt x="47528" y="24994"/>
                  </a:lnTo>
                  <a:lnTo>
                    <a:pt x="54184" y="20547"/>
                  </a:lnTo>
                  <a:lnTo>
                    <a:pt x="60841" y="16099"/>
                  </a:lnTo>
                  <a:lnTo>
                    <a:pt x="98134" y="2342"/>
                  </a:lnTo>
                  <a:lnTo>
                    <a:pt x="113914" y="0"/>
                  </a:lnTo>
                  <a:lnTo>
                    <a:pt x="121920" y="0"/>
                  </a:lnTo>
                  <a:lnTo>
                    <a:pt x="129925" y="0"/>
                  </a:lnTo>
                  <a:lnTo>
                    <a:pt x="168576" y="9280"/>
                  </a:lnTo>
                  <a:lnTo>
                    <a:pt x="175972" y="12344"/>
                  </a:lnTo>
                  <a:lnTo>
                    <a:pt x="182998" y="16099"/>
                  </a:lnTo>
                  <a:lnTo>
                    <a:pt x="189654" y="20547"/>
                  </a:lnTo>
                  <a:lnTo>
                    <a:pt x="196311" y="24994"/>
                  </a:lnTo>
                  <a:lnTo>
                    <a:pt x="223292" y="54184"/>
                  </a:lnTo>
                  <a:lnTo>
                    <a:pt x="239935" y="90282"/>
                  </a:lnTo>
                  <a:lnTo>
                    <a:pt x="241497" y="98134"/>
                  </a:lnTo>
                  <a:lnTo>
                    <a:pt x="243058" y="105986"/>
                  </a:lnTo>
                  <a:lnTo>
                    <a:pt x="243839" y="113914"/>
                  </a:lnTo>
                  <a:lnTo>
                    <a:pt x="243840" y="121920"/>
                  </a:lnTo>
                  <a:close/>
                </a:path>
              </a:pathLst>
            </a:custGeom>
            <a:ln w="10160">
              <a:solidFill>
                <a:srgbClr val="F7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0" name="object 6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391966" y="5869305"/>
              <a:ext cx="243840" cy="243839"/>
            </a:xfrm>
            <a:prstGeom prst="rect">
              <a:avLst/>
            </a:prstGeom>
          </p:spPr>
        </p:pic>
        <p:sp>
          <p:nvSpPr>
            <p:cNvPr id="61" name="object 61"/>
            <p:cNvSpPr/>
            <p:nvPr/>
          </p:nvSpPr>
          <p:spPr>
            <a:xfrm>
              <a:off x="9391966" y="5869305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39">
                  <a:moveTo>
                    <a:pt x="243840" y="121920"/>
                  </a:moveTo>
                  <a:lnTo>
                    <a:pt x="237622" y="161180"/>
                  </a:lnTo>
                  <a:lnTo>
                    <a:pt x="223292" y="189655"/>
                  </a:lnTo>
                  <a:lnTo>
                    <a:pt x="218845" y="196311"/>
                  </a:lnTo>
                  <a:lnTo>
                    <a:pt x="189654" y="223292"/>
                  </a:lnTo>
                  <a:lnTo>
                    <a:pt x="182998" y="227740"/>
                  </a:lnTo>
                  <a:lnTo>
                    <a:pt x="175972" y="231495"/>
                  </a:lnTo>
                  <a:lnTo>
                    <a:pt x="168576" y="234559"/>
                  </a:lnTo>
                  <a:lnTo>
                    <a:pt x="161180" y="237622"/>
                  </a:lnTo>
                  <a:lnTo>
                    <a:pt x="153556" y="239935"/>
                  </a:lnTo>
                  <a:lnTo>
                    <a:pt x="145705" y="241497"/>
                  </a:lnTo>
                  <a:lnTo>
                    <a:pt x="137853" y="243059"/>
                  </a:lnTo>
                  <a:lnTo>
                    <a:pt x="129925" y="243839"/>
                  </a:lnTo>
                  <a:lnTo>
                    <a:pt x="121920" y="243840"/>
                  </a:lnTo>
                  <a:lnTo>
                    <a:pt x="113914" y="243839"/>
                  </a:lnTo>
                  <a:lnTo>
                    <a:pt x="105986" y="243059"/>
                  </a:lnTo>
                  <a:lnTo>
                    <a:pt x="98134" y="241497"/>
                  </a:lnTo>
                  <a:lnTo>
                    <a:pt x="90283" y="239935"/>
                  </a:lnTo>
                  <a:lnTo>
                    <a:pt x="54184" y="223292"/>
                  </a:lnTo>
                  <a:lnTo>
                    <a:pt x="35709" y="208130"/>
                  </a:lnTo>
                  <a:lnTo>
                    <a:pt x="30048" y="202469"/>
                  </a:lnTo>
                  <a:lnTo>
                    <a:pt x="9280" y="168576"/>
                  </a:lnTo>
                  <a:lnTo>
                    <a:pt x="2342" y="145705"/>
                  </a:lnTo>
                  <a:lnTo>
                    <a:pt x="780" y="137853"/>
                  </a:lnTo>
                  <a:lnTo>
                    <a:pt x="0" y="129925"/>
                  </a:lnTo>
                  <a:lnTo>
                    <a:pt x="0" y="121920"/>
                  </a:lnTo>
                  <a:lnTo>
                    <a:pt x="0" y="113914"/>
                  </a:lnTo>
                  <a:lnTo>
                    <a:pt x="780" y="105986"/>
                  </a:lnTo>
                  <a:lnTo>
                    <a:pt x="2342" y="98134"/>
                  </a:lnTo>
                  <a:lnTo>
                    <a:pt x="3904" y="90282"/>
                  </a:lnTo>
                  <a:lnTo>
                    <a:pt x="6216" y="82659"/>
                  </a:lnTo>
                  <a:lnTo>
                    <a:pt x="9280" y="75263"/>
                  </a:lnTo>
                  <a:lnTo>
                    <a:pt x="12343" y="67867"/>
                  </a:lnTo>
                  <a:lnTo>
                    <a:pt x="35709" y="35709"/>
                  </a:lnTo>
                  <a:lnTo>
                    <a:pt x="41370" y="30048"/>
                  </a:lnTo>
                  <a:lnTo>
                    <a:pt x="47528" y="24994"/>
                  </a:lnTo>
                  <a:lnTo>
                    <a:pt x="54184" y="20547"/>
                  </a:lnTo>
                  <a:lnTo>
                    <a:pt x="60841" y="16099"/>
                  </a:lnTo>
                  <a:lnTo>
                    <a:pt x="98134" y="2342"/>
                  </a:lnTo>
                  <a:lnTo>
                    <a:pt x="105986" y="780"/>
                  </a:lnTo>
                  <a:lnTo>
                    <a:pt x="113914" y="0"/>
                  </a:lnTo>
                  <a:lnTo>
                    <a:pt x="121920" y="0"/>
                  </a:lnTo>
                  <a:lnTo>
                    <a:pt x="129925" y="0"/>
                  </a:lnTo>
                  <a:lnTo>
                    <a:pt x="137853" y="780"/>
                  </a:lnTo>
                  <a:lnTo>
                    <a:pt x="145705" y="2342"/>
                  </a:lnTo>
                  <a:lnTo>
                    <a:pt x="153556" y="3904"/>
                  </a:lnTo>
                  <a:lnTo>
                    <a:pt x="161180" y="6216"/>
                  </a:lnTo>
                  <a:lnTo>
                    <a:pt x="168576" y="9280"/>
                  </a:lnTo>
                  <a:lnTo>
                    <a:pt x="175972" y="12343"/>
                  </a:lnTo>
                  <a:lnTo>
                    <a:pt x="182998" y="16099"/>
                  </a:lnTo>
                  <a:lnTo>
                    <a:pt x="189654" y="20547"/>
                  </a:lnTo>
                  <a:lnTo>
                    <a:pt x="196311" y="24994"/>
                  </a:lnTo>
                  <a:lnTo>
                    <a:pt x="223292" y="54184"/>
                  </a:lnTo>
                  <a:lnTo>
                    <a:pt x="239935" y="90282"/>
                  </a:lnTo>
                  <a:lnTo>
                    <a:pt x="241497" y="98134"/>
                  </a:lnTo>
                  <a:lnTo>
                    <a:pt x="243058" y="105986"/>
                  </a:lnTo>
                  <a:lnTo>
                    <a:pt x="243839" y="113914"/>
                  </a:lnTo>
                  <a:lnTo>
                    <a:pt x="243840" y="121920"/>
                  </a:lnTo>
                  <a:close/>
                </a:path>
              </a:pathLst>
            </a:custGeom>
            <a:ln w="10160">
              <a:solidFill>
                <a:srgbClr val="F7707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2" name="object 6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391966" y="5564504"/>
              <a:ext cx="243840" cy="243839"/>
            </a:xfrm>
            <a:prstGeom prst="rect">
              <a:avLst/>
            </a:prstGeom>
          </p:spPr>
        </p:pic>
        <p:sp>
          <p:nvSpPr>
            <p:cNvPr id="63" name="object 63"/>
            <p:cNvSpPr/>
            <p:nvPr/>
          </p:nvSpPr>
          <p:spPr>
            <a:xfrm>
              <a:off x="9391966" y="5564504"/>
              <a:ext cx="243840" cy="243840"/>
            </a:xfrm>
            <a:custGeom>
              <a:avLst/>
              <a:gdLst/>
              <a:ahLst/>
              <a:cxnLst/>
              <a:rect l="l" t="t" r="r" b="b"/>
              <a:pathLst>
                <a:path w="243840" h="243839">
                  <a:moveTo>
                    <a:pt x="243840" y="121920"/>
                  </a:moveTo>
                  <a:lnTo>
                    <a:pt x="237622" y="161180"/>
                  </a:lnTo>
                  <a:lnTo>
                    <a:pt x="223292" y="189654"/>
                  </a:lnTo>
                  <a:lnTo>
                    <a:pt x="218845" y="196311"/>
                  </a:lnTo>
                  <a:lnTo>
                    <a:pt x="189654" y="223292"/>
                  </a:lnTo>
                  <a:lnTo>
                    <a:pt x="182998" y="227740"/>
                  </a:lnTo>
                  <a:lnTo>
                    <a:pt x="175972" y="231495"/>
                  </a:lnTo>
                  <a:lnTo>
                    <a:pt x="168576" y="234559"/>
                  </a:lnTo>
                  <a:lnTo>
                    <a:pt x="161180" y="237622"/>
                  </a:lnTo>
                  <a:lnTo>
                    <a:pt x="121920" y="243840"/>
                  </a:lnTo>
                  <a:lnTo>
                    <a:pt x="113914" y="243839"/>
                  </a:lnTo>
                  <a:lnTo>
                    <a:pt x="75263" y="234559"/>
                  </a:lnTo>
                  <a:lnTo>
                    <a:pt x="67867" y="231495"/>
                  </a:lnTo>
                  <a:lnTo>
                    <a:pt x="60841" y="227740"/>
                  </a:lnTo>
                  <a:lnTo>
                    <a:pt x="54184" y="223292"/>
                  </a:lnTo>
                  <a:lnTo>
                    <a:pt x="47528" y="218845"/>
                  </a:lnTo>
                  <a:lnTo>
                    <a:pt x="41370" y="213790"/>
                  </a:lnTo>
                  <a:lnTo>
                    <a:pt x="35709" y="208130"/>
                  </a:lnTo>
                  <a:lnTo>
                    <a:pt x="30048" y="202469"/>
                  </a:lnTo>
                  <a:lnTo>
                    <a:pt x="24994" y="196311"/>
                  </a:lnTo>
                  <a:lnTo>
                    <a:pt x="20547" y="189654"/>
                  </a:lnTo>
                  <a:lnTo>
                    <a:pt x="16099" y="182998"/>
                  </a:lnTo>
                  <a:lnTo>
                    <a:pt x="12344" y="175972"/>
                  </a:lnTo>
                  <a:lnTo>
                    <a:pt x="9280" y="168576"/>
                  </a:lnTo>
                  <a:lnTo>
                    <a:pt x="6217" y="161180"/>
                  </a:lnTo>
                  <a:lnTo>
                    <a:pt x="3904" y="153556"/>
                  </a:lnTo>
                  <a:lnTo>
                    <a:pt x="2342" y="145705"/>
                  </a:lnTo>
                  <a:lnTo>
                    <a:pt x="780" y="137853"/>
                  </a:lnTo>
                  <a:lnTo>
                    <a:pt x="0" y="129925"/>
                  </a:lnTo>
                  <a:lnTo>
                    <a:pt x="0" y="121920"/>
                  </a:lnTo>
                  <a:lnTo>
                    <a:pt x="0" y="113914"/>
                  </a:lnTo>
                  <a:lnTo>
                    <a:pt x="780" y="105986"/>
                  </a:lnTo>
                  <a:lnTo>
                    <a:pt x="2342" y="98134"/>
                  </a:lnTo>
                  <a:lnTo>
                    <a:pt x="3904" y="90282"/>
                  </a:lnTo>
                  <a:lnTo>
                    <a:pt x="6216" y="82659"/>
                  </a:lnTo>
                  <a:lnTo>
                    <a:pt x="9280" y="75263"/>
                  </a:lnTo>
                  <a:lnTo>
                    <a:pt x="12343" y="67867"/>
                  </a:lnTo>
                  <a:lnTo>
                    <a:pt x="35709" y="35709"/>
                  </a:lnTo>
                  <a:lnTo>
                    <a:pt x="41370" y="30048"/>
                  </a:lnTo>
                  <a:lnTo>
                    <a:pt x="47528" y="24994"/>
                  </a:lnTo>
                  <a:lnTo>
                    <a:pt x="54184" y="20547"/>
                  </a:lnTo>
                  <a:lnTo>
                    <a:pt x="60841" y="16099"/>
                  </a:lnTo>
                  <a:lnTo>
                    <a:pt x="98134" y="2342"/>
                  </a:lnTo>
                  <a:lnTo>
                    <a:pt x="105986" y="780"/>
                  </a:lnTo>
                  <a:lnTo>
                    <a:pt x="113914" y="0"/>
                  </a:lnTo>
                  <a:lnTo>
                    <a:pt x="121920" y="0"/>
                  </a:lnTo>
                  <a:lnTo>
                    <a:pt x="129925" y="0"/>
                  </a:lnTo>
                  <a:lnTo>
                    <a:pt x="137853" y="780"/>
                  </a:lnTo>
                  <a:lnTo>
                    <a:pt x="145705" y="2342"/>
                  </a:lnTo>
                  <a:lnTo>
                    <a:pt x="153556" y="3904"/>
                  </a:lnTo>
                  <a:lnTo>
                    <a:pt x="161180" y="6217"/>
                  </a:lnTo>
                  <a:lnTo>
                    <a:pt x="168576" y="9280"/>
                  </a:lnTo>
                  <a:lnTo>
                    <a:pt x="175972" y="12344"/>
                  </a:lnTo>
                  <a:lnTo>
                    <a:pt x="182998" y="16099"/>
                  </a:lnTo>
                  <a:lnTo>
                    <a:pt x="189654" y="20547"/>
                  </a:lnTo>
                  <a:lnTo>
                    <a:pt x="196311" y="24994"/>
                  </a:lnTo>
                  <a:lnTo>
                    <a:pt x="202469" y="30048"/>
                  </a:lnTo>
                  <a:lnTo>
                    <a:pt x="208130" y="35709"/>
                  </a:lnTo>
                  <a:lnTo>
                    <a:pt x="213791" y="41370"/>
                  </a:lnTo>
                  <a:lnTo>
                    <a:pt x="218845" y="47528"/>
                  </a:lnTo>
                  <a:lnTo>
                    <a:pt x="223292" y="54184"/>
                  </a:lnTo>
                  <a:lnTo>
                    <a:pt x="227740" y="60841"/>
                  </a:lnTo>
                  <a:lnTo>
                    <a:pt x="241497" y="98134"/>
                  </a:lnTo>
                  <a:lnTo>
                    <a:pt x="243839" y="113914"/>
                  </a:lnTo>
                  <a:lnTo>
                    <a:pt x="243840" y="121920"/>
                  </a:lnTo>
                  <a:close/>
                </a:path>
              </a:pathLst>
            </a:custGeom>
            <a:ln w="10160">
              <a:solidFill>
                <a:srgbClr val="4A54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4" name="object 6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423206" y="5274945"/>
              <a:ext cx="213360" cy="213360"/>
            </a:xfrm>
            <a:prstGeom prst="rect">
              <a:avLst/>
            </a:prstGeom>
          </p:spPr>
        </p:pic>
        <p:pic>
          <p:nvPicPr>
            <p:cNvPr id="65" name="object 65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0423206" y="5884545"/>
              <a:ext cx="213360" cy="213360"/>
            </a:xfrm>
            <a:prstGeom prst="rect">
              <a:avLst/>
            </a:prstGeom>
          </p:spPr>
        </p:pic>
      </p:grpSp>
      <p:sp>
        <p:nvSpPr>
          <p:cNvPr id="66" name="object 66"/>
          <p:cNvSpPr txBox="1"/>
          <p:nvPr/>
        </p:nvSpPr>
        <p:spPr>
          <a:xfrm>
            <a:off x="7774234" y="6212155"/>
            <a:ext cx="246380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5" dirty="0">
                <a:solidFill>
                  <a:srgbClr val="D0D5DA"/>
                </a:solidFill>
                <a:latin typeface="微软雅黑"/>
                <a:cs typeface="微软雅黑"/>
              </a:rPr>
              <a:t>错误在系统中级联传播，导致不可预测的崩溃</a:t>
            </a:r>
            <a:endParaRPr sz="950">
              <a:latin typeface="微软雅黑"/>
              <a:cs typeface="微软雅黑"/>
            </a:endParaRPr>
          </a:p>
        </p:txBody>
      </p:sp>
      <p:sp>
        <p:nvSpPr>
          <p:cNvPr id="67" name="object 6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sp>
        <p:nvSpPr>
          <p:cNvPr id="69" name="object 3">
            <a:extLst>
              <a:ext uri="{FF2B5EF4-FFF2-40B4-BE49-F238E27FC236}">
                <a16:creationId xmlns:a16="http://schemas.microsoft.com/office/drawing/2014/main" id="{02BF16F4-FA15-4922-8FB4-F139F4A65CF9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76199" y="0"/>
                </a:lnTo>
                <a:lnTo>
                  <a:pt x="76199" y="68579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/>
          <p:cNvSpPr txBox="1"/>
          <p:nvPr/>
        </p:nvSpPr>
        <p:spPr>
          <a:xfrm>
            <a:off x="558800" y="844550"/>
            <a:ext cx="247904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0" dirty="0">
                <a:solidFill>
                  <a:srgbClr val="9CA2AF"/>
                </a:solidFill>
                <a:latin typeface="微软雅黑 Light"/>
                <a:cs typeface="微软雅黑 Light"/>
              </a:rPr>
              <a:t>AI</a:t>
            </a:r>
            <a:r>
              <a:rPr sz="1050" b="0" spc="114" dirty="0">
                <a:solidFill>
                  <a:srgbClr val="9CA2AF"/>
                </a:solidFill>
                <a:latin typeface="微软雅黑 Light"/>
                <a:cs typeface="微软雅黑 Light"/>
              </a:rPr>
              <a:t> </a:t>
            </a:r>
            <a:r>
              <a:rPr sz="1050" b="0" dirty="0">
                <a:solidFill>
                  <a:srgbClr val="9CA2AF"/>
                </a:solidFill>
                <a:latin typeface="微软雅黑 Light"/>
                <a:cs typeface="微软雅黑 Light"/>
              </a:rPr>
              <a:t>AGENT</a:t>
            </a:r>
            <a:r>
              <a:rPr sz="1050" b="0" spc="75" dirty="0">
                <a:solidFill>
                  <a:srgbClr val="9CA2AF"/>
                </a:solidFill>
                <a:latin typeface="微软雅黑 Light"/>
                <a:cs typeface="微软雅黑 Light"/>
              </a:rPr>
              <a:t> 与 </a:t>
            </a:r>
            <a:r>
              <a:rPr sz="1050" b="0" dirty="0">
                <a:solidFill>
                  <a:srgbClr val="9CA2AF"/>
                </a:solidFill>
                <a:latin typeface="微软雅黑 Light"/>
                <a:cs typeface="微软雅黑 Light"/>
              </a:rPr>
              <a:t>AGENTIC</a:t>
            </a:r>
            <a:r>
              <a:rPr sz="1050" b="0" spc="120" dirty="0">
                <a:solidFill>
                  <a:srgbClr val="9CA2AF"/>
                </a:solidFill>
                <a:latin typeface="微软雅黑 Light"/>
                <a:cs typeface="微软雅黑 Light"/>
              </a:rPr>
              <a:t> </a:t>
            </a:r>
            <a:r>
              <a:rPr sz="1050" b="0" dirty="0">
                <a:solidFill>
                  <a:srgbClr val="9CA2AF"/>
                </a:solidFill>
                <a:latin typeface="微软雅黑 Light"/>
                <a:cs typeface="微软雅黑 Light"/>
              </a:rPr>
              <a:t>AI</a:t>
            </a:r>
            <a:r>
              <a:rPr sz="1050" b="0" spc="5" dirty="0">
                <a:solidFill>
                  <a:srgbClr val="9CA2AF"/>
                </a:solidFill>
                <a:latin typeface="微软雅黑 Light"/>
                <a:cs typeface="微软雅黑 Light"/>
              </a:rPr>
              <a:t> 挑战深度剖析</a:t>
            </a:r>
            <a:endParaRPr sz="1050">
              <a:latin typeface="微软雅黑 Light"/>
              <a:cs typeface="微软雅黑 Ligh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558800" y="193039"/>
            <a:ext cx="258572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-10" dirty="0"/>
              <a:t>伦理与治理难题</a:t>
            </a:r>
            <a:endParaRPr sz="2850"/>
          </a:p>
        </p:txBody>
      </p:sp>
      <p:grpSp>
        <p:nvGrpSpPr>
          <p:cNvPr id="8" name="object 8"/>
          <p:cNvGrpSpPr/>
          <p:nvPr/>
        </p:nvGrpSpPr>
        <p:grpSpPr>
          <a:xfrm>
            <a:off x="571499" y="733424"/>
            <a:ext cx="5219700" cy="2247900"/>
            <a:chOff x="571499" y="733424"/>
            <a:chExt cx="5219700" cy="2247900"/>
          </a:xfrm>
        </p:grpSpPr>
        <p:sp>
          <p:nvSpPr>
            <p:cNvPr id="9" name="object 9"/>
            <p:cNvSpPr/>
            <p:nvPr/>
          </p:nvSpPr>
          <p:spPr>
            <a:xfrm>
              <a:off x="571499" y="733424"/>
              <a:ext cx="952500" cy="38100"/>
            </a:xfrm>
            <a:custGeom>
              <a:avLst/>
              <a:gdLst/>
              <a:ahLst/>
              <a:cxnLst/>
              <a:rect l="l" t="t" r="r" b="b"/>
              <a:pathLst>
                <a:path w="952500" h="38100">
                  <a:moveTo>
                    <a:pt x="95249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952499" y="0"/>
                  </a:lnTo>
                  <a:lnTo>
                    <a:pt x="952499" y="38099"/>
                  </a:lnTo>
                  <a:close/>
                </a:path>
              </a:pathLst>
            </a:custGeom>
            <a:solidFill>
              <a:srgbClr val="EF444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23899" y="112394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380999" y="533399"/>
                  </a:moveTo>
                  <a:lnTo>
                    <a:pt x="152399" y="533399"/>
                  </a:lnTo>
                  <a:lnTo>
                    <a:pt x="137387" y="532674"/>
                  </a:lnTo>
                  <a:lnTo>
                    <a:pt x="94078" y="521799"/>
                  </a:lnTo>
                  <a:lnTo>
                    <a:pt x="55765" y="498865"/>
                  </a:lnTo>
                  <a:lnTo>
                    <a:pt x="25660" y="465684"/>
                  </a:lnTo>
                  <a:lnTo>
                    <a:pt x="6525" y="425173"/>
                  </a:lnTo>
                  <a:lnTo>
                    <a:pt x="0" y="38099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4"/>
                  </a:lnTo>
                  <a:lnTo>
                    <a:pt x="55765" y="34533"/>
                  </a:lnTo>
                  <a:lnTo>
                    <a:pt x="94078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380999" y="0"/>
                  </a:lnTo>
                  <a:lnTo>
                    <a:pt x="425173" y="6525"/>
                  </a:lnTo>
                  <a:lnTo>
                    <a:pt x="465684" y="25660"/>
                  </a:lnTo>
                  <a:lnTo>
                    <a:pt x="498865" y="55765"/>
                  </a:lnTo>
                  <a:lnTo>
                    <a:pt x="521799" y="94078"/>
                  </a:lnTo>
                  <a:lnTo>
                    <a:pt x="532674" y="137387"/>
                  </a:lnTo>
                  <a:lnTo>
                    <a:pt x="533399" y="152399"/>
                  </a:lnTo>
                  <a:lnTo>
                    <a:pt x="533399" y="380999"/>
                  </a:lnTo>
                  <a:lnTo>
                    <a:pt x="526874" y="425173"/>
                  </a:lnTo>
                  <a:lnTo>
                    <a:pt x="507739" y="465684"/>
                  </a:lnTo>
                  <a:lnTo>
                    <a:pt x="477634" y="498865"/>
                  </a:lnTo>
                  <a:lnTo>
                    <a:pt x="439320" y="521799"/>
                  </a:lnTo>
                  <a:lnTo>
                    <a:pt x="396012" y="532674"/>
                  </a:lnTo>
                  <a:lnTo>
                    <a:pt x="380999" y="533399"/>
                  </a:lnTo>
                  <a:close/>
                </a:path>
              </a:pathLst>
            </a:custGeom>
            <a:solidFill>
              <a:srgbClr val="F59D0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3899" y="112394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380999" y="533399"/>
                  </a:moveTo>
                  <a:lnTo>
                    <a:pt x="152399" y="533399"/>
                  </a:lnTo>
                  <a:lnTo>
                    <a:pt x="137387" y="532674"/>
                  </a:lnTo>
                  <a:lnTo>
                    <a:pt x="94078" y="521799"/>
                  </a:lnTo>
                  <a:lnTo>
                    <a:pt x="55765" y="498865"/>
                  </a:lnTo>
                  <a:lnTo>
                    <a:pt x="25660" y="465684"/>
                  </a:lnTo>
                  <a:lnTo>
                    <a:pt x="6525" y="425173"/>
                  </a:lnTo>
                  <a:lnTo>
                    <a:pt x="0" y="38099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5"/>
                  </a:lnTo>
                  <a:lnTo>
                    <a:pt x="55765" y="34533"/>
                  </a:lnTo>
                  <a:lnTo>
                    <a:pt x="94078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380999" y="0"/>
                  </a:lnTo>
                  <a:lnTo>
                    <a:pt x="396012" y="725"/>
                  </a:lnTo>
                  <a:lnTo>
                    <a:pt x="410737" y="2900"/>
                  </a:lnTo>
                  <a:lnTo>
                    <a:pt x="425173" y="6525"/>
                  </a:lnTo>
                  <a:lnTo>
                    <a:pt x="43353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5"/>
                  </a:lnTo>
                  <a:lnTo>
                    <a:pt x="37645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380999"/>
                  </a:lnTo>
                  <a:lnTo>
                    <a:pt x="15675" y="422474"/>
                  </a:lnTo>
                  <a:lnTo>
                    <a:pt x="33603" y="460376"/>
                  </a:lnTo>
                  <a:lnTo>
                    <a:pt x="61759" y="491445"/>
                  </a:lnTo>
                  <a:lnTo>
                    <a:pt x="97724" y="512999"/>
                  </a:lnTo>
                  <a:lnTo>
                    <a:pt x="138395" y="523188"/>
                  </a:lnTo>
                  <a:lnTo>
                    <a:pt x="152399" y="523874"/>
                  </a:lnTo>
                  <a:lnTo>
                    <a:pt x="433534" y="523874"/>
                  </a:lnTo>
                  <a:lnTo>
                    <a:pt x="425173" y="526874"/>
                  </a:lnTo>
                  <a:lnTo>
                    <a:pt x="410737" y="530499"/>
                  </a:lnTo>
                  <a:lnTo>
                    <a:pt x="396012" y="532674"/>
                  </a:lnTo>
                  <a:lnTo>
                    <a:pt x="380999" y="533399"/>
                  </a:lnTo>
                  <a:close/>
                </a:path>
                <a:path w="533400" h="533400">
                  <a:moveTo>
                    <a:pt x="433534" y="523874"/>
                  </a:moveTo>
                  <a:lnTo>
                    <a:pt x="380999" y="523874"/>
                  </a:lnTo>
                  <a:lnTo>
                    <a:pt x="388019" y="523703"/>
                  </a:lnTo>
                  <a:lnTo>
                    <a:pt x="395004" y="523188"/>
                  </a:lnTo>
                  <a:lnTo>
                    <a:pt x="435675" y="512999"/>
                  </a:lnTo>
                  <a:lnTo>
                    <a:pt x="471639" y="491445"/>
                  </a:lnTo>
                  <a:lnTo>
                    <a:pt x="499796" y="460376"/>
                  </a:lnTo>
                  <a:lnTo>
                    <a:pt x="517724" y="422474"/>
                  </a:lnTo>
                  <a:lnTo>
                    <a:pt x="523874" y="380999"/>
                  </a:lnTo>
                  <a:lnTo>
                    <a:pt x="523874" y="152399"/>
                  </a:lnTo>
                  <a:lnTo>
                    <a:pt x="523703" y="145380"/>
                  </a:lnTo>
                  <a:lnTo>
                    <a:pt x="515526" y="104274"/>
                  </a:lnTo>
                  <a:lnTo>
                    <a:pt x="495753" y="67282"/>
                  </a:lnTo>
                  <a:lnTo>
                    <a:pt x="466117" y="37645"/>
                  </a:lnTo>
                  <a:lnTo>
                    <a:pt x="429125" y="17873"/>
                  </a:lnTo>
                  <a:lnTo>
                    <a:pt x="388019" y="9696"/>
                  </a:lnTo>
                  <a:lnTo>
                    <a:pt x="380999" y="9524"/>
                  </a:lnTo>
                  <a:lnTo>
                    <a:pt x="433534" y="9524"/>
                  </a:lnTo>
                  <a:lnTo>
                    <a:pt x="477634" y="34533"/>
                  </a:lnTo>
                  <a:lnTo>
                    <a:pt x="507739" y="67715"/>
                  </a:lnTo>
                  <a:lnTo>
                    <a:pt x="526874" y="108226"/>
                  </a:lnTo>
                  <a:lnTo>
                    <a:pt x="533399" y="152399"/>
                  </a:lnTo>
                  <a:lnTo>
                    <a:pt x="533399" y="380999"/>
                  </a:lnTo>
                  <a:lnTo>
                    <a:pt x="532674" y="396012"/>
                  </a:lnTo>
                  <a:lnTo>
                    <a:pt x="521799" y="439320"/>
                  </a:lnTo>
                  <a:lnTo>
                    <a:pt x="498865" y="477634"/>
                  </a:lnTo>
                  <a:lnTo>
                    <a:pt x="465684" y="507739"/>
                  </a:lnTo>
                  <a:lnTo>
                    <a:pt x="439320" y="521799"/>
                  </a:lnTo>
                  <a:lnTo>
                    <a:pt x="433534" y="523874"/>
                  </a:lnTo>
                  <a:close/>
                </a:path>
              </a:pathLst>
            </a:custGeom>
            <a:solidFill>
              <a:srgbClr val="F59D0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5349" y="1276349"/>
              <a:ext cx="200025" cy="228600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19149" y="2562224"/>
              <a:ext cx="4972050" cy="419100"/>
            </a:xfrm>
            <a:custGeom>
              <a:avLst/>
              <a:gdLst/>
              <a:ahLst/>
              <a:cxnLst/>
              <a:rect l="l" t="t" r="r" b="b"/>
              <a:pathLst>
                <a:path w="4972050" h="419100">
                  <a:moveTo>
                    <a:pt x="4900853" y="419099"/>
                  </a:moveTo>
                  <a:lnTo>
                    <a:pt x="53397" y="419099"/>
                  </a:lnTo>
                  <a:lnTo>
                    <a:pt x="49680" y="418611"/>
                  </a:lnTo>
                  <a:lnTo>
                    <a:pt x="14085" y="393243"/>
                  </a:lnTo>
                  <a:lnTo>
                    <a:pt x="366" y="352858"/>
                  </a:lnTo>
                  <a:lnTo>
                    <a:pt x="0" y="347903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4900853" y="0"/>
                  </a:lnTo>
                  <a:lnTo>
                    <a:pt x="4942343" y="15621"/>
                  </a:lnTo>
                  <a:lnTo>
                    <a:pt x="4968163" y="51661"/>
                  </a:lnTo>
                  <a:lnTo>
                    <a:pt x="4972049" y="71196"/>
                  </a:lnTo>
                  <a:lnTo>
                    <a:pt x="4972049" y="347903"/>
                  </a:lnTo>
                  <a:lnTo>
                    <a:pt x="4956427" y="389394"/>
                  </a:lnTo>
                  <a:lnTo>
                    <a:pt x="4920387" y="415214"/>
                  </a:lnTo>
                  <a:lnTo>
                    <a:pt x="4905808" y="418611"/>
                  </a:lnTo>
                  <a:lnTo>
                    <a:pt x="4900853" y="419099"/>
                  </a:lnTo>
                  <a:close/>
                </a:path>
              </a:pathLst>
            </a:custGeom>
            <a:solidFill>
              <a:srgbClr val="78340E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800099" y="2562502"/>
              <a:ext cx="70485" cy="419100"/>
            </a:xfrm>
            <a:custGeom>
              <a:avLst/>
              <a:gdLst/>
              <a:ahLst/>
              <a:cxnLst/>
              <a:rect l="l" t="t" r="r" b="b"/>
              <a:pathLst>
                <a:path w="70484" h="419100">
                  <a:moveTo>
                    <a:pt x="70449" y="418544"/>
                  </a:moveTo>
                  <a:lnTo>
                    <a:pt x="33857" y="405991"/>
                  </a:lnTo>
                  <a:lnTo>
                    <a:pt x="5800" y="371782"/>
                  </a:lnTo>
                  <a:lnTo>
                    <a:pt x="0" y="342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099" y="75922"/>
                  </a:lnTo>
                  <a:lnTo>
                    <a:pt x="38099" y="342622"/>
                  </a:lnTo>
                  <a:lnTo>
                    <a:pt x="44514" y="384964"/>
                  </a:lnTo>
                  <a:lnTo>
                    <a:pt x="66287" y="416888"/>
                  </a:lnTo>
                  <a:lnTo>
                    <a:pt x="70449" y="418544"/>
                  </a:lnTo>
                  <a:close/>
                </a:path>
              </a:pathLst>
            </a:custGeom>
            <a:solidFill>
              <a:srgbClr val="D9770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2499" y="2733674"/>
              <a:ext cx="134157" cy="134183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787399" y="1235075"/>
            <a:ext cx="4997450" cy="162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976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EF2C7"/>
                </a:solidFill>
                <a:latin typeface="微软雅黑"/>
                <a:cs typeface="微软雅黑"/>
              </a:rPr>
              <a:t>责任归属模糊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34300"/>
              </a:lnSpc>
              <a:spcBef>
                <a:spcPts val="2235"/>
              </a:spcBef>
            </a:pPr>
            <a:r>
              <a:rPr sz="1350" b="0" spc="-5" dirty="0">
                <a:solidFill>
                  <a:srgbClr val="D0D5DA"/>
                </a:solidFill>
                <a:latin typeface="微软雅黑 Light"/>
                <a:cs typeface="微软雅黑 Light"/>
              </a:rPr>
              <a:t>分布式架构导致系统行为难以通过单一节点追溯。当多个智能体共同决策导致错误时，难以界定具体责任主体。</a:t>
            </a:r>
            <a:endParaRPr sz="1350">
              <a:latin typeface="微软雅黑 Light"/>
              <a:cs typeface="微软雅黑 Light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350">
              <a:latin typeface="微软雅黑 Light"/>
              <a:cs typeface="微软雅黑 Light"/>
            </a:endParaRPr>
          </a:p>
          <a:p>
            <a:pPr marL="412115">
              <a:lnSpc>
                <a:spcPct val="100000"/>
              </a:lnSpc>
            </a:pPr>
            <a:r>
              <a:rPr sz="1050" spc="-5" dirty="0">
                <a:solidFill>
                  <a:srgbClr val="FEF2C7"/>
                </a:solidFill>
                <a:latin typeface="微软雅黑"/>
                <a:cs typeface="微软雅黑"/>
              </a:rPr>
              <a:t>分布式架构使得行为解释极度困难，信任建立面临严峻挑战。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6400799" y="1123949"/>
            <a:ext cx="5067300" cy="1857375"/>
            <a:chOff x="6400799" y="1123949"/>
            <a:chExt cx="5067300" cy="1857375"/>
          </a:xfrm>
        </p:grpSpPr>
        <p:sp>
          <p:nvSpPr>
            <p:cNvPr id="18" name="object 18"/>
            <p:cNvSpPr/>
            <p:nvPr/>
          </p:nvSpPr>
          <p:spPr>
            <a:xfrm>
              <a:off x="6400799" y="112394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380999" y="533399"/>
                  </a:moveTo>
                  <a:lnTo>
                    <a:pt x="152399" y="533399"/>
                  </a:lnTo>
                  <a:lnTo>
                    <a:pt x="137386" y="532674"/>
                  </a:lnTo>
                  <a:lnTo>
                    <a:pt x="94078" y="521799"/>
                  </a:lnTo>
                  <a:lnTo>
                    <a:pt x="55764" y="498865"/>
                  </a:lnTo>
                  <a:lnTo>
                    <a:pt x="25659" y="465684"/>
                  </a:lnTo>
                  <a:lnTo>
                    <a:pt x="6524" y="425173"/>
                  </a:lnTo>
                  <a:lnTo>
                    <a:pt x="0" y="380999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380999" y="0"/>
                  </a:lnTo>
                  <a:lnTo>
                    <a:pt x="425172" y="6525"/>
                  </a:lnTo>
                  <a:lnTo>
                    <a:pt x="465683" y="25660"/>
                  </a:lnTo>
                  <a:lnTo>
                    <a:pt x="498865" y="55765"/>
                  </a:lnTo>
                  <a:lnTo>
                    <a:pt x="521798" y="94078"/>
                  </a:lnTo>
                  <a:lnTo>
                    <a:pt x="532674" y="137387"/>
                  </a:lnTo>
                  <a:lnTo>
                    <a:pt x="533399" y="152399"/>
                  </a:lnTo>
                  <a:lnTo>
                    <a:pt x="533399" y="380999"/>
                  </a:lnTo>
                  <a:lnTo>
                    <a:pt x="526873" y="425173"/>
                  </a:lnTo>
                  <a:lnTo>
                    <a:pt x="507738" y="465684"/>
                  </a:lnTo>
                  <a:lnTo>
                    <a:pt x="477633" y="498865"/>
                  </a:lnTo>
                  <a:lnTo>
                    <a:pt x="439319" y="521799"/>
                  </a:lnTo>
                  <a:lnTo>
                    <a:pt x="396012" y="532674"/>
                  </a:lnTo>
                  <a:lnTo>
                    <a:pt x="380999" y="533399"/>
                  </a:lnTo>
                  <a:close/>
                </a:path>
              </a:pathLst>
            </a:custGeom>
            <a:solidFill>
              <a:srgbClr val="8B5C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00799" y="112394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380999" y="533399"/>
                  </a:moveTo>
                  <a:lnTo>
                    <a:pt x="152399" y="533399"/>
                  </a:lnTo>
                  <a:lnTo>
                    <a:pt x="137386" y="532674"/>
                  </a:lnTo>
                  <a:lnTo>
                    <a:pt x="94078" y="521799"/>
                  </a:lnTo>
                  <a:lnTo>
                    <a:pt x="55764" y="498865"/>
                  </a:lnTo>
                  <a:lnTo>
                    <a:pt x="25659" y="465684"/>
                  </a:lnTo>
                  <a:lnTo>
                    <a:pt x="6524" y="425173"/>
                  </a:lnTo>
                  <a:lnTo>
                    <a:pt x="0" y="380999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5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380999" y="0"/>
                  </a:lnTo>
                  <a:lnTo>
                    <a:pt x="396012" y="725"/>
                  </a:lnTo>
                  <a:lnTo>
                    <a:pt x="410736" y="2900"/>
                  </a:lnTo>
                  <a:lnTo>
                    <a:pt x="425172" y="6525"/>
                  </a:lnTo>
                  <a:lnTo>
                    <a:pt x="433533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3" y="17873"/>
                  </a:lnTo>
                  <a:lnTo>
                    <a:pt x="67280" y="37645"/>
                  </a:lnTo>
                  <a:lnTo>
                    <a:pt x="37644" y="67282"/>
                  </a:lnTo>
                  <a:lnTo>
                    <a:pt x="17872" y="104274"/>
                  </a:lnTo>
                  <a:lnTo>
                    <a:pt x="9695" y="145380"/>
                  </a:lnTo>
                  <a:lnTo>
                    <a:pt x="9524" y="152399"/>
                  </a:lnTo>
                  <a:lnTo>
                    <a:pt x="9524" y="380999"/>
                  </a:lnTo>
                  <a:lnTo>
                    <a:pt x="15674" y="422474"/>
                  </a:lnTo>
                  <a:lnTo>
                    <a:pt x="33602" y="460376"/>
                  </a:lnTo>
                  <a:lnTo>
                    <a:pt x="61758" y="491445"/>
                  </a:lnTo>
                  <a:lnTo>
                    <a:pt x="97722" y="512999"/>
                  </a:lnTo>
                  <a:lnTo>
                    <a:pt x="138394" y="523188"/>
                  </a:lnTo>
                  <a:lnTo>
                    <a:pt x="152399" y="523874"/>
                  </a:lnTo>
                  <a:lnTo>
                    <a:pt x="433533" y="523874"/>
                  </a:lnTo>
                  <a:lnTo>
                    <a:pt x="425172" y="526874"/>
                  </a:lnTo>
                  <a:lnTo>
                    <a:pt x="410736" y="530499"/>
                  </a:lnTo>
                  <a:lnTo>
                    <a:pt x="396012" y="532674"/>
                  </a:lnTo>
                  <a:lnTo>
                    <a:pt x="380999" y="533399"/>
                  </a:lnTo>
                  <a:close/>
                </a:path>
                <a:path w="533400" h="533400">
                  <a:moveTo>
                    <a:pt x="433533" y="523874"/>
                  </a:moveTo>
                  <a:lnTo>
                    <a:pt x="380999" y="523874"/>
                  </a:lnTo>
                  <a:lnTo>
                    <a:pt x="388018" y="523703"/>
                  </a:lnTo>
                  <a:lnTo>
                    <a:pt x="395003" y="523188"/>
                  </a:lnTo>
                  <a:lnTo>
                    <a:pt x="435675" y="512999"/>
                  </a:lnTo>
                  <a:lnTo>
                    <a:pt x="471639" y="491445"/>
                  </a:lnTo>
                  <a:lnTo>
                    <a:pt x="499794" y="460376"/>
                  </a:lnTo>
                  <a:lnTo>
                    <a:pt x="517723" y="422474"/>
                  </a:lnTo>
                  <a:lnTo>
                    <a:pt x="523874" y="380999"/>
                  </a:lnTo>
                  <a:lnTo>
                    <a:pt x="523874" y="152399"/>
                  </a:lnTo>
                  <a:lnTo>
                    <a:pt x="523702" y="145380"/>
                  </a:lnTo>
                  <a:lnTo>
                    <a:pt x="515525" y="104274"/>
                  </a:lnTo>
                  <a:lnTo>
                    <a:pt x="495752" y="67282"/>
                  </a:lnTo>
                  <a:lnTo>
                    <a:pt x="466117" y="37645"/>
                  </a:lnTo>
                  <a:lnTo>
                    <a:pt x="429124" y="17873"/>
                  </a:lnTo>
                  <a:lnTo>
                    <a:pt x="388018" y="9696"/>
                  </a:lnTo>
                  <a:lnTo>
                    <a:pt x="380999" y="9524"/>
                  </a:lnTo>
                  <a:lnTo>
                    <a:pt x="433533" y="9524"/>
                  </a:lnTo>
                  <a:lnTo>
                    <a:pt x="477633" y="34533"/>
                  </a:lnTo>
                  <a:lnTo>
                    <a:pt x="507738" y="67715"/>
                  </a:lnTo>
                  <a:lnTo>
                    <a:pt x="526873" y="108226"/>
                  </a:lnTo>
                  <a:lnTo>
                    <a:pt x="533399" y="152399"/>
                  </a:lnTo>
                  <a:lnTo>
                    <a:pt x="533399" y="380999"/>
                  </a:lnTo>
                  <a:lnTo>
                    <a:pt x="532674" y="396012"/>
                  </a:lnTo>
                  <a:lnTo>
                    <a:pt x="521798" y="439320"/>
                  </a:lnTo>
                  <a:lnTo>
                    <a:pt x="498865" y="477634"/>
                  </a:lnTo>
                  <a:lnTo>
                    <a:pt x="465683" y="507739"/>
                  </a:lnTo>
                  <a:lnTo>
                    <a:pt x="439319" y="521799"/>
                  </a:lnTo>
                  <a:lnTo>
                    <a:pt x="433533" y="523874"/>
                  </a:lnTo>
                  <a:close/>
                </a:path>
              </a:pathLst>
            </a:custGeom>
            <a:solidFill>
              <a:srgbClr val="8B5C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553199" y="1276349"/>
              <a:ext cx="228644" cy="228599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6496048" y="2562225"/>
              <a:ext cx="4972050" cy="419100"/>
            </a:xfrm>
            <a:custGeom>
              <a:avLst/>
              <a:gdLst/>
              <a:ahLst/>
              <a:cxnLst/>
              <a:rect l="l" t="t" r="r" b="b"/>
              <a:pathLst>
                <a:path w="4972050" h="419100">
                  <a:moveTo>
                    <a:pt x="4900853" y="419099"/>
                  </a:moveTo>
                  <a:lnTo>
                    <a:pt x="53397" y="419099"/>
                  </a:lnTo>
                  <a:lnTo>
                    <a:pt x="49681" y="418611"/>
                  </a:lnTo>
                  <a:lnTo>
                    <a:pt x="14085" y="393243"/>
                  </a:lnTo>
                  <a:lnTo>
                    <a:pt x="366" y="352858"/>
                  </a:lnTo>
                  <a:lnTo>
                    <a:pt x="0" y="347903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1716" y="29705"/>
                  </a:lnTo>
                  <a:lnTo>
                    <a:pt x="42320" y="2440"/>
                  </a:lnTo>
                  <a:lnTo>
                    <a:pt x="53397" y="0"/>
                  </a:lnTo>
                  <a:lnTo>
                    <a:pt x="4900853" y="0"/>
                  </a:lnTo>
                  <a:lnTo>
                    <a:pt x="4942342" y="15621"/>
                  </a:lnTo>
                  <a:lnTo>
                    <a:pt x="4968163" y="51661"/>
                  </a:lnTo>
                  <a:lnTo>
                    <a:pt x="4972050" y="71196"/>
                  </a:lnTo>
                  <a:lnTo>
                    <a:pt x="4972050" y="347903"/>
                  </a:lnTo>
                  <a:lnTo>
                    <a:pt x="4956426" y="389394"/>
                  </a:lnTo>
                  <a:lnTo>
                    <a:pt x="4920387" y="415214"/>
                  </a:lnTo>
                  <a:lnTo>
                    <a:pt x="4905807" y="418611"/>
                  </a:lnTo>
                  <a:lnTo>
                    <a:pt x="4900853" y="419099"/>
                  </a:lnTo>
                  <a:close/>
                </a:path>
              </a:pathLst>
            </a:custGeom>
            <a:solidFill>
              <a:srgbClr val="4B1C94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476999" y="2562502"/>
              <a:ext cx="70485" cy="419100"/>
            </a:xfrm>
            <a:custGeom>
              <a:avLst/>
              <a:gdLst/>
              <a:ahLst/>
              <a:cxnLst/>
              <a:rect l="l" t="t" r="r" b="b"/>
              <a:pathLst>
                <a:path w="70484" h="419100">
                  <a:moveTo>
                    <a:pt x="70449" y="418544"/>
                  </a:moveTo>
                  <a:lnTo>
                    <a:pt x="33856" y="405991"/>
                  </a:lnTo>
                  <a:lnTo>
                    <a:pt x="5799" y="371782"/>
                  </a:lnTo>
                  <a:lnTo>
                    <a:pt x="0" y="3426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6" y="1655"/>
                  </a:lnTo>
                  <a:lnTo>
                    <a:pt x="56950" y="9389"/>
                  </a:lnTo>
                  <a:lnTo>
                    <a:pt x="40999" y="46761"/>
                  </a:lnTo>
                  <a:lnTo>
                    <a:pt x="38099" y="75922"/>
                  </a:lnTo>
                  <a:lnTo>
                    <a:pt x="38099" y="342622"/>
                  </a:lnTo>
                  <a:lnTo>
                    <a:pt x="44514" y="384964"/>
                  </a:lnTo>
                  <a:lnTo>
                    <a:pt x="66287" y="416888"/>
                  </a:lnTo>
                  <a:lnTo>
                    <a:pt x="70449" y="418544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631613" y="2735888"/>
              <a:ext cx="128922" cy="128922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6464299" y="1235075"/>
            <a:ext cx="4997450" cy="162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976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ECE8FE"/>
                </a:solidFill>
                <a:latin typeface="微软雅黑"/>
                <a:cs typeface="微软雅黑"/>
              </a:rPr>
              <a:t>偏见传播放大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34300"/>
              </a:lnSpc>
              <a:spcBef>
                <a:spcPts val="2235"/>
              </a:spcBef>
            </a:pPr>
            <a:r>
              <a:rPr sz="1350" b="0" spc="-5" dirty="0">
                <a:solidFill>
                  <a:srgbClr val="D0D5DA"/>
                </a:solidFill>
                <a:latin typeface="微软雅黑 Light"/>
                <a:cs typeface="微软雅黑 Light"/>
              </a:rPr>
              <a:t>单个智能体的偏见数据或有缺陷的逻辑会在协作系统中级联传播，导致群体性歧视被系统性放大。</a:t>
            </a:r>
            <a:endParaRPr sz="1350">
              <a:latin typeface="微软雅黑 Light"/>
              <a:cs typeface="微软雅黑 Light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350">
              <a:latin typeface="微软雅黑 Light"/>
              <a:cs typeface="微软雅黑 Light"/>
            </a:endParaRPr>
          </a:p>
          <a:p>
            <a:pPr marL="412115">
              <a:lnSpc>
                <a:spcPct val="100000"/>
              </a:lnSpc>
            </a:pPr>
            <a:r>
              <a:rPr sz="1050" spc="-5" dirty="0">
                <a:solidFill>
                  <a:srgbClr val="ECE8FE"/>
                </a:solidFill>
                <a:latin typeface="微软雅黑"/>
                <a:cs typeface="微软雅黑"/>
              </a:rPr>
              <a:t>微小的单点错误可能引发不可预测的系统级协调失败和偏差。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723899" y="3943349"/>
            <a:ext cx="5067300" cy="1857375"/>
            <a:chOff x="723899" y="3943349"/>
            <a:chExt cx="5067300" cy="1857375"/>
          </a:xfrm>
        </p:grpSpPr>
        <p:sp>
          <p:nvSpPr>
            <p:cNvPr id="26" name="object 26"/>
            <p:cNvSpPr/>
            <p:nvPr/>
          </p:nvSpPr>
          <p:spPr>
            <a:xfrm>
              <a:off x="723899" y="394334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380999" y="533399"/>
                  </a:moveTo>
                  <a:lnTo>
                    <a:pt x="152399" y="533399"/>
                  </a:lnTo>
                  <a:lnTo>
                    <a:pt x="137387" y="532674"/>
                  </a:lnTo>
                  <a:lnTo>
                    <a:pt x="94078" y="521798"/>
                  </a:lnTo>
                  <a:lnTo>
                    <a:pt x="55765" y="498865"/>
                  </a:lnTo>
                  <a:lnTo>
                    <a:pt x="25660" y="465684"/>
                  </a:lnTo>
                  <a:lnTo>
                    <a:pt x="6525" y="425172"/>
                  </a:lnTo>
                  <a:lnTo>
                    <a:pt x="0" y="38099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4"/>
                  </a:lnTo>
                  <a:lnTo>
                    <a:pt x="55765" y="34533"/>
                  </a:lnTo>
                  <a:lnTo>
                    <a:pt x="94078" y="11600"/>
                  </a:lnTo>
                  <a:lnTo>
                    <a:pt x="137387" y="724"/>
                  </a:lnTo>
                  <a:lnTo>
                    <a:pt x="152399" y="0"/>
                  </a:lnTo>
                  <a:lnTo>
                    <a:pt x="380999" y="0"/>
                  </a:lnTo>
                  <a:lnTo>
                    <a:pt x="425173" y="6524"/>
                  </a:lnTo>
                  <a:lnTo>
                    <a:pt x="465684" y="25659"/>
                  </a:lnTo>
                  <a:lnTo>
                    <a:pt x="498865" y="55764"/>
                  </a:lnTo>
                  <a:lnTo>
                    <a:pt x="521799" y="94078"/>
                  </a:lnTo>
                  <a:lnTo>
                    <a:pt x="532674" y="137386"/>
                  </a:lnTo>
                  <a:lnTo>
                    <a:pt x="533399" y="152399"/>
                  </a:lnTo>
                  <a:lnTo>
                    <a:pt x="533399" y="380999"/>
                  </a:lnTo>
                  <a:lnTo>
                    <a:pt x="526874" y="425172"/>
                  </a:lnTo>
                  <a:lnTo>
                    <a:pt x="507739" y="465684"/>
                  </a:lnTo>
                  <a:lnTo>
                    <a:pt x="477634" y="498865"/>
                  </a:lnTo>
                  <a:lnTo>
                    <a:pt x="439320" y="521798"/>
                  </a:lnTo>
                  <a:lnTo>
                    <a:pt x="396012" y="532674"/>
                  </a:lnTo>
                  <a:lnTo>
                    <a:pt x="380999" y="533399"/>
                  </a:lnTo>
                  <a:close/>
                </a:path>
              </a:pathLst>
            </a:custGeom>
            <a:solidFill>
              <a:srgbClr val="EF4444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723899" y="394334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380999" y="533399"/>
                  </a:moveTo>
                  <a:lnTo>
                    <a:pt x="152399" y="533399"/>
                  </a:lnTo>
                  <a:lnTo>
                    <a:pt x="137387" y="532674"/>
                  </a:lnTo>
                  <a:lnTo>
                    <a:pt x="94078" y="521798"/>
                  </a:lnTo>
                  <a:lnTo>
                    <a:pt x="55765" y="498865"/>
                  </a:lnTo>
                  <a:lnTo>
                    <a:pt x="25660" y="465684"/>
                  </a:lnTo>
                  <a:lnTo>
                    <a:pt x="6525" y="425172"/>
                  </a:lnTo>
                  <a:lnTo>
                    <a:pt x="0" y="380999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4"/>
                  </a:lnTo>
                  <a:lnTo>
                    <a:pt x="55765" y="34533"/>
                  </a:lnTo>
                  <a:lnTo>
                    <a:pt x="94078" y="11600"/>
                  </a:lnTo>
                  <a:lnTo>
                    <a:pt x="137387" y="724"/>
                  </a:lnTo>
                  <a:lnTo>
                    <a:pt x="152399" y="0"/>
                  </a:lnTo>
                  <a:lnTo>
                    <a:pt x="380999" y="0"/>
                  </a:lnTo>
                  <a:lnTo>
                    <a:pt x="396012" y="724"/>
                  </a:lnTo>
                  <a:lnTo>
                    <a:pt x="410737" y="2899"/>
                  </a:lnTo>
                  <a:lnTo>
                    <a:pt x="425173" y="6524"/>
                  </a:lnTo>
                  <a:lnTo>
                    <a:pt x="433535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2"/>
                  </a:lnTo>
                  <a:lnTo>
                    <a:pt x="67281" y="37645"/>
                  </a:lnTo>
                  <a:lnTo>
                    <a:pt x="37645" y="67281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380999"/>
                  </a:lnTo>
                  <a:lnTo>
                    <a:pt x="15675" y="422473"/>
                  </a:lnTo>
                  <a:lnTo>
                    <a:pt x="33603" y="460376"/>
                  </a:lnTo>
                  <a:lnTo>
                    <a:pt x="61760" y="491444"/>
                  </a:lnTo>
                  <a:lnTo>
                    <a:pt x="97724" y="512998"/>
                  </a:lnTo>
                  <a:lnTo>
                    <a:pt x="138395" y="523188"/>
                  </a:lnTo>
                  <a:lnTo>
                    <a:pt x="152399" y="523874"/>
                  </a:lnTo>
                  <a:lnTo>
                    <a:pt x="433533" y="523874"/>
                  </a:lnTo>
                  <a:lnTo>
                    <a:pt x="425173" y="526874"/>
                  </a:lnTo>
                  <a:lnTo>
                    <a:pt x="410737" y="530499"/>
                  </a:lnTo>
                  <a:lnTo>
                    <a:pt x="396012" y="532674"/>
                  </a:lnTo>
                  <a:lnTo>
                    <a:pt x="380999" y="533399"/>
                  </a:lnTo>
                  <a:close/>
                </a:path>
                <a:path w="533400" h="533400">
                  <a:moveTo>
                    <a:pt x="433533" y="523874"/>
                  </a:moveTo>
                  <a:lnTo>
                    <a:pt x="380999" y="523874"/>
                  </a:lnTo>
                  <a:lnTo>
                    <a:pt x="388019" y="523703"/>
                  </a:lnTo>
                  <a:lnTo>
                    <a:pt x="395004" y="523188"/>
                  </a:lnTo>
                  <a:lnTo>
                    <a:pt x="435675" y="512998"/>
                  </a:lnTo>
                  <a:lnTo>
                    <a:pt x="471639" y="491444"/>
                  </a:lnTo>
                  <a:lnTo>
                    <a:pt x="499796" y="460376"/>
                  </a:lnTo>
                  <a:lnTo>
                    <a:pt x="517724" y="422473"/>
                  </a:lnTo>
                  <a:lnTo>
                    <a:pt x="523874" y="380999"/>
                  </a:lnTo>
                  <a:lnTo>
                    <a:pt x="523874" y="152399"/>
                  </a:lnTo>
                  <a:lnTo>
                    <a:pt x="523703" y="145380"/>
                  </a:lnTo>
                  <a:lnTo>
                    <a:pt x="515526" y="104274"/>
                  </a:lnTo>
                  <a:lnTo>
                    <a:pt x="495753" y="67281"/>
                  </a:lnTo>
                  <a:lnTo>
                    <a:pt x="466117" y="37645"/>
                  </a:lnTo>
                  <a:lnTo>
                    <a:pt x="429125" y="17872"/>
                  </a:lnTo>
                  <a:lnTo>
                    <a:pt x="388019" y="9696"/>
                  </a:lnTo>
                  <a:lnTo>
                    <a:pt x="380999" y="9524"/>
                  </a:lnTo>
                  <a:lnTo>
                    <a:pt x="433535" y="9524"/>
                  </a:lnTo>
                  <a:lnTo>
                    <a:pt x="477634" y="34533"/>
                  </a:lnTo>
                  <a:lnTo>
                    <a:pt x="507739" y="67714"/>
                  </a:lnTo>
                  <a:lnTo>
                    <a:pt x="526874" y="108226"/>
                  </a:lnTo>
                  <a:lnTo>
                    <a:pt x="533399" y="152399"/>
                  </a:lnTo>
                  <a:lnTo>
                    <a:pt x="533399" y="380999"/>
                  </a:lnTo>
                  <a:lnTo>
                    <a:pt x="532674" y="396012"/>
                  </a:lnTo>
                  <a:lnTo>
                    <a:pt x="521799" y="439320"/>
                  </a:lnTo>
                  <a:lnTo>
                    <a:pt x="498865" y="477634"/>
                  </a:lnTo>
                  <a:lnTo>
                    <a:pt x="465684" y="507739"/>
                  </a:lnTo>
                  <a:lnTo>
                    <a:pt x="439320" y="521798"/>
                  </a:lnTo>
                  <a:lnTo>
                    <a:pt x="433533" y="523874"/>
                  </a:lnTo>
                  <a:close/>
                </a:path>
              </a:pathLst>
            </a:custGeom>
            <a:solidFill>
              <a:srgbClr val="EF4444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83443" y="4095749"/>
              <a:ext cx="214312" cy="228242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819149" y="5381624"/>
              <a:ext cx="4972050" cy="419100"/>
            </a:xfrm>
            <a:custGeom>
              <a:avLst/>
              <a:gdLst/>
              <a:ahLst/>
              <a:cxnLst/>
              <a:rect l="l" t="t" r="r" b="b"/>
              <a:pathLst>
                <a:path w="4972050" h="419100">
                  <a:moveTo>
                    <a:pt x="4900853" y="419099"/>
                  </a:moveTo>
                  <a:lnTo>
                    <a:pt x="53397" y="419099"/>
                  </a:lnTo>
                  <a:lnTo>
                    <a:pt x="49680" y="418611"/>
                  </a:lnTo>
                  <a:lnTo>
                    <a:pt x="14085" y="393243"/>
                  </a:lnTo>
                  <a:lnTo>
                    <a:pt x="366" y="352858"/>
                  </a:lnTo>
                  <a:lnTo>
                    <a:pt x="0" y="347902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4900853" y="0"/>
                  </a:lnTo>
                  <a:lnTo>
                    <a:pt x="4942343" y="15621"/>
                  </a:lnTo>
                  <a:lnTo>
                    <a:pt x="4968163" y="51661"/>
                  </a:lnTo>
                  <a:lnTo>
                    <a:pt x="4972049" y="71196"/>
                  </a:lnTo>
                  <a:lnTo>
                    <a:pt x="4972049" y="347902"/>
                  </a:lnTo>
                  <a:lnTo>
                    <a:pt x="4956427" y="389394"/>
                  </a:lnTo>
                  <a:lnTo>
                    <a:pt x="4920387" y="415213"/>
                  </a:lnTo>
                  <a:lnTo>
                    <a:pt x="4905808" y="418611"/>
                  </a:lnTo>
                  <a:lnTo>
                    <a:pt x="4900853" y="419099"/>
                  </a:lnTo>
                  <a:close/>
                </a:path>
              </a:pathLst>
            </a:custGeom>
            <a:solidFill>
              <a:srgbClr val="7E1C1C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00099" y="5381902"/>
              <a:ext cx="70485" cy="419100"/>
            </a:xfrm>
            <a:custGeom>
              <a:avLst/>
              <a:gdLst/>
              <a:ahLst/>
              <a:cxnLst/>
              <a:rect l="l" t="t" r="r" b="b"/>
              <a:pathLst>
                <a:path w="70484" h="419100">
                  <a:moveTo>
                    <a:pt x="70449" y="418544"/>
                  </a:moveTo>
                  <a:lnTo>
                    <a:pt x="33857" y="405991"/>
                  </a:lnTo>
                  <a:lnTo>
                    <a:pt x="5800" y="371781"/>
                  </a:lnTo>
                  <a:lnTo>
                    <a:pt x="0" y="342622"/>
                  </a:lnTo>
                  <a:lnTo>
                    <a:pt x="0" y="75922"/>
                  </a:lnTo>
                  <a:lnTo>
                    <a:pt x="12830" y="33579"/>
                  </a:lnTo>
                  <a:lnTo>
                    <a:pt x="47039" y="5522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9"/>
                  </a:lnTo>
                  <a:lnTo>
                    <a:pt x="41000" y="46761"/>
                  </a:lnTo>
                  <a:lnTo>
                    <a:pt x="38099" y="75922"/>
                  </a:lnTo>
                  <a:lnTo>
                    <a:pt x="38099" y="342622"/>
                  </a:lnTo>
                  <a:lnTo>
                    <a:pt x="44514" y="384963"/>
                  </a:lnTo>
                  <a:lnTo>
                    <a:pt x="66287" y="416888"/>
                  </a:lnTo>
                  <a:lnTo>
                    <a:pt x="70449" y="418544"/>
                  </a:lnTo>
                  <a:close/>
                </a:path>
              </a:pathLst>
            </a:custGeom>
            <a:solidFill>
              <a:srgbClr val="DB252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52499" y="5553074"/>
              <a:ext cx="150018" cy="133350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787399" y="4054475"/>
            <a:ext cx="4997450" cy="162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976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FEE2E2"/>
                </a:solidFill>
                <a:latin typeface="微软雅黑"/>
                <a:cs typeface="微软雅黑"/>
              </a:rPr>
              <a:t>安全攻击面扩大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34300"/>
              </a:lnSpc>
              <a:spcBef>
                <a:spcPts val="2235"/>
              </a:spcBef>
            </a:pPr>
            <a:r>
              <a:rPr sz="1350" b="0" spc="-5" dirty="0">
                <a:solidFill>
                  <a:srgbClr val="D0D5DA"/>
                </a:solidFill>
                <a:latin typeface="微软雅黑 Light"/>
                <a:cs typeface="微软雅黑 Light"/>
              </a:rPr>
              <a:t>多智能体增加了系统的暴露面。攻击者只需攻破防御最薄弱的单个智能体，即可渗透整个系统网络。</a:t>
            </a:r>
            <a:endParaRPr sz="1350">
              <a:latin typeface="微软雅黑 Light"/>
              <a:cs typeface="微软雅黑 Light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350">
              <a:latin typeface="微软雅黑 Light"/>
              <a:cs typeface="微软雅黑 Light"/>
            </a:endParaRPr>
          </a:p>
          <a:p>
            <a:pPr marL="429259">
              <a:lnSpc>
                <a:spcPct val="100000"/>
              </a:lnSpc>
            </a:pPr>
            <a:r>
              <a:rPr sz="1050" spc="-5" dirty="0">
                <a:solidFill>
                  <a:srgbClr val="FEE2E2"/>
                </a:solidFill>
                <a:latin typeface="微软雅黑"/>
                <a:cs typeface="微软雅黑"/>
              </a:rPr>
              <a:t>对抗性风险显著增加，单点被攻破可能导致整个系统崩溃。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400799" y="3943349"/>
            <a:ext cx="5067300" cy="1857375"/>
            <a:chOff x="6400799" y="3943349"/>
            <a:chExt cx="5067300" cy="1857375"/>
          </a:xfrm>
        </p:grpSpPr>
        <p:sp>
          <p:nvSpPr>
            <p:cNvPr id="34" name="object 34"/>
            <p:cNvSpPr/>
            <p:nvPr/>
          </p:nvSpPr>
          <p:spPr>
            <a:xfrm>
              <a:off x="6400799" y="394334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380999" y="533399"/>
                  </a:moveTo>
                  <a:lnTo>
                    <a:pt x="152399" y="533399"/>
                  </a:lnTo>
                  <a:lnTo>
                    <a:pt x="137386" y="532674"/>
                  </a:lnTo>
                  <a:lnTo>
                    <a:pt x="94078" y="521798"/>
                  </a:lnTo>
                  <a:lnTo>
                    <a:pt x="55764" y="498865"/>
                  </a:lnTo>
                  <a:lnTo>
                    <a:pt x="25659" y="465684"/>
                  </a:lnTo>
                  <a:lnTo>
                    <a:pt x="6524" y="425172"/>
                  </a:lnTo>
                  <a:lnTo>
                    <a:pt x="0" y="380999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4"/>
                  </a:lnTo>
                  <a:lnTo>
                    <a:pt x="152399" y="0"/>
                  </a:lnTo>
                  <a:lnTo>
                    <a:pt x="380999" y="0"/>
                  </a:lnTo>
                  <a:lnTo>
                    <a:pt x="425172" y="6524"/>
                  </a:lnTo>
                  <a:lnTo>
                    <a:pt x="465683" y="25659"/>
                  </a:lnTo>
                  <a:lnTo>
                    <a:pt x="498865" y="55764"/>
                  </a:lnTo>
                  <a:lnTo>
                    <a:pt x="521798" y="94078"/>
                  </a:lnTo>
                  <a:lnTo>
                    <a:pt x="532674" y="137386"/>
                  </a:lnTo>
                  <a:lnTo>
                    <a:pt x="533399" y="152399"/>
                  </a:lnTo>
                  <a:lnTo>
                    <a:pt x="533399" y="380999"/>
                  </a:lnTo>
                  <a:lnTo>
                    <a:pt x="526873" y="425172"/>
                  </a:lnTo>
                  <a:lnTo>
                    <a:pt x="507738" y="465684"/>
                  </a:lnTo>
                  <a:lnTo>
                    <a:pt x="477633" y="498865"/>
                  </a:lnTo>
                  <a:lnTo>
                    <a:pt x="439319" y="521798"/>
                  </a:lnTo>
                  <a:lnTo>
                    <a:pt x="396012" y="532674"/>
                  </a:lnTo>
                  <a:lnTo>
                    <a:pt x="380999" y="533399"/>
                  </a:lnTo>
                  <a:close/>
                </a:path>
              </a:pathLst>
            </a:custGeom>
            <a:solidFill>
              <a:srgbClr val="3B81F5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400799" y="3943349"/>
              <a:ext cx="533400" cy="533400"/>
            </a:xfrm>
            <a:custGeom>
              <a:avLst/>
              <a:gdLst/>
              <a:ahLst/>
              <a:cxnLst/>
              <a:rect l="l" t="t" r="r" b="b"/>
              <a:pathLst>
                <a:path w="533400" h="533400">
                  <a:moveTo>
                    <a:pt x="380999" y="533399"/>
                  </a:moveTo>
                  <a:lnTo>
                    <a:pt x="152399" y="533399"/>
                  </a:lnTo>
                  <a:lnTo>
                    <a:pt x="137386" y="532674"/>
                  </a:lnTo>
                  <a:lnTo>
                    <a:pt x="94078" y="521798"/>
                  </a:lnTo>
                  <a:lnTo>
                    <a:pt x="55764" y="498865"/>
                  </a:lnTo>
                  <a:lnTo>
                    <a:pt x="25659" y="465684"/>
                  </a:lnTo>
                  <a:lnTo>
                    <a:pt x="6524" y="425172"/>
                  </a:lnTo>
                  <a:lnTo>
                    <a:pt x="0" y="380999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4"/>
                  </a:lnTo>
                  <a:lnTo>
                    <a:pt x="152399" y="0"/>
                  </a:lnTo>
                  <a:lnTo>
                    <a:pt x="380999" y="0"/>
                  </a:lnTo>
                  <a:lnTo>
                    <a:pt x="396012" y="724"/>
                  </a:lnTo>
                  <a:lnTo>
                    <a:pt x="410736" y="2899"/>
                  </a:lnTo>
                  <a:lnTo>
                    <a:pt x="425172" y="6524"/>
                  </a:lnTo>
                  <a:lnTo>
                    <a:pt x="433534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3" y="17872"/>
                  </a:lnTo>
                  <a:lnTo>
                    <a:pt x="67280" y="37645"/>
                  </a:lnTo>
                  <a:lnTo>
                    <a:pt x="37644" y="67281"/>
                  </a:lnTo>
                  <a:lnTo>
                    <a:pt x="17872" y="104274"/>
                  </a:lnTo>
                  <a:lnTo>
                    <a:pt x="9695" y="145380"/>
                  </a:lnTo>
                  <a:lnTo>
                    <a:pt x="9524" y="152399"/>
                  </a:lnTo>
                  <a:lnTo>
                    <a:pt x="9524" y="380999"/>
                  </a:lnTo>
                  <a:lnTo>
                    <a:pt x="15674" y="422473"/>
                  </a:lnTo>
                  <a:lnTo>
                    <a:pt x="33602" y="460376"/>
                  </a:lnTo>
                  <a:lnTo>
                    <a:pt x="61758" y="491444"/>
                  </a:lnTo>
                  <a:lnTo>
                    <a:pt x="97722" y="512998"/>
                  </a:lnTo>
                  <a:lnTo>
                    <a:pt x="138394" y="523188"/>
                  </a:lnTo>
                  <a:lnTo>
                    <a:pt x="152399" y="523874"/>
                  </a:lnTo>
                  <a:lnTo>
                    <a:pt x="433532" y="523874"/>
                  </a:lnTo>
                  <a:lnTo>
                    <a:pt x="425172" y="526874"/>
                  </a:lnTo>
                  <a:lnTo>
                    <a:pt x="410736" y="530499"/>
                  </a:lnTo>
                  <a:lnTo>
                    <a:pt x="396012" y="532674"/>
                  </a:lnTo>
                  <a:lnTo>
                    <a:pt x="380999" y="533399"/>
                  </a:lnTo>
                  <a:close/>
                </a:path>
                <a:path w="533400" h="533400">
                  <a:moveTo>
                    <a:pt x="433532" y="523874"/>
                  </a:moveTo>
                  <a:lnTo>
                    <a:pt x="380999" y="523874"/>
                  </a:lnTo>
                  <a:lnTo>
                    <a:pt x="388018" y="523703"/>
                  </a:lnTo>
                  <a:lnTo>
                    <a:pt x="395003" y="523188"/>
                  </a:lnTo>
                  <a:lnTo>
                    <a:pt x="435675" y="512998"/>
                  </a:lnTo>
                  <a:lnTo>
                    <a:pt x="471639" y="491444"/>
                  </a:lnTo>
                  <a:lnTo>
                    <a:pt x="499794" y="460376"/>
                  </a:lnTo>
                  <a:lnTo>
                    <a:pt x="517723" y="422473"/>
                  </a:lnTo>
                  <a:lnTo>
                    <a:pt x="523874" y="380999"/>
                  </a:lnTo>
                  <a:lnTo>
                    <a:pt x="523874" y="152399"/>
                  </a:lnTo>
                  <a:lnTo>
                    <a:pt x="523702" y="145380"/>
                  </a:lnTo>
                  <a:lnTo>
                    <a:pt x="515525" y="104274"/>
                  </a:lnTo>
                  <a:lnTo>
                    <a:pt x="495752" y="67281"/>
                  </a:lnTo>
                  <a:lnTo>
                    <a:pt x="466117" y="37645"/>
                  </a:lnTo>
                  <a:lnTo>
                    <a:pt x="429124" y="17872"/>
                  </a:lnTo>
                  <a:lnTo>
                    <a:pt x="388018" y="9696"/>
                  </a:lnTo>
                  <a:lnTo>
                    <a:pt x="380999" y="9524"/>
                  </a:lnTo>
                  <a:lnTo>
                    <a:pt x="433534" y="9524"/>
                  </a:lnTo>
                  <a:lnTo>
                    <a:pt x="477633" y="34533"/>
                  </a:lnTo>
                  <a:lnTo>
                    <a:pt x="507738" y="67714"/>
                  </a:lnTo>
                  <a:lnTo>
                    <a:pt x="526873" y="108226"/>
                  </a:lnTo>
                  <a:lnTo>
                    <a:pt x="533399" y="152399"/>
                  </a:lnTo>
                  <a:lnTo>
                    <a:pt x="533399" y="380999"/>
                  </a:lnTo>
                  <a:lnTo>
                    <a:pt x="532674" y="396012"/>
                  </a:lnTo>
                  <a:lnTo>
                    <a:pt x="521798" y="439320"/>
                  </a:lnTo>
                  <a:lnTo>
                    <a:pt x="498865" y="477634"/>
                  </a:lnTo>
                  <a:lnTo>
                    <a:pt x="465683" y="507739"/>
                  </a:lnTo>
                  <a:lnTo>
                    <a:pt x="439319" y="521798"/>
                  </a:lnTo>
                  <a:lnTo>
                    <a:pt x="433532" y="523874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6523865" y="4095749"/>
              <a:ext cx="287020" cy="228600"/>
            </a:xfrm>
            <a:custGeom>
              <a:avLst/>
              <a:gdLst/>
              <a:ahLst/>
              <a:cxnLst/>
              <a:rect l="l" t="t" r="r" b="b"/>
              <a:pathLst>
                <a:path w="287020" h="228600">
                  <a:moveTo>
                    <a:pt x="172209" y="14287"/>
                  </a:moveTo>
                  <a:lnTo>
                    <a:pt x="115059" y="14287"/>
                  </a:lnTo>
                  <a:lnTo>
                    <a:pt x="120628" y="8400"/>
                  </a:lnTo>
                  <a:lnTo>
                    <a:pt x="127404" y="3895"/>
                  </a:lnTo>
                  <a:lnTo>
                    <a:pt x="135150" y="1014"/>
                  </a:lnTo>
                  <a:lnTo>
                    <a:pt x="143634" y="0"/>
                  </a:lnTo>
                  <a:lnTo>
                    <a:pt x="152117" y="1014"/>
                  </a:lnTo>
                  <a:lnTo>
                    <a:pt x="159863" y="3895"/>
                  </a:lnTo>
                  <a:lnTo>
                    <a:pt x="166639" y="8400"/>
                  </a:lnTo>
                  <a:lnTo>
                    <a:pt x="172209" y="14287"/>
                  </a:lnTo>
                  <a:close/>
                </a:path>
                <a:path w="287020" h="228600">
                  <a:moveTo>
                    <a:pt x="237261" y="42862"/>
                  </a:moveTo>
                  <a:lnTo>
                    <a:pt x="50006" y="42862"/>
                  </a:lnTo>
                  <a:lnTo>
                    <a:pt x="43621" y="36477"/>
                  </a:lnTo>
                  <a:lnTo>
                    <a:pt x="43621" y="20672"/>
                  </a:lnTo>
                  <a:lnTo>
                    <a:pt x="50006" y="14287"/>
                  </a:lnTo>
                  <a:lnTo>
                    <a:pt x="237261" y="14287"/>
                  </a:lnTo>
                  <a:lnTo>
                    <a:pt x="243646" y="20672"/>
                  </a:lnTo>
                  <a:lnTo>
                    <a:pt x="243646" y="36477"/>
                  </a:lnTo>
                  <a:lnTo>
                    <a:pt x="237261" y="42862"/>
                  </a:lnTo>
                  <a:close/>
                </a:path>
                <a:path w="287020" h="228600">
                  <a:moveTo>
                    <a:pt x="157921" y="200025"/>
                  </a:moveTo>
                  <a:lnTo>
                    <a:pt x="129346" y="200025"/>
                  </a:lnTo>
                  <a:lnTo>
                    <a:pt x="129346" y="68446"/>
                  </a:lnTo>
                  <a:lnTo>
                    <a:pt x="122009" y="64122"/>
                  </a:lnTo>
                  <a:lnTo>
                    <a:pt x="115924" y="58232"/>
                  </a:lnTo>
                  <a:lnTo>
                    <a:pt x="111370" y="51054"/>
                  </a:lnTo>
                  <a:lnTo>
                    <a:pt x="108629" y="42862"/>
                  </a:lnTo>
                  <a:lnTo>
                    <a:pt x="178638" y="42862"/>
                  </a:lnTo>
                  <a:lnTo>
                    <a:pt x="175897" y="51079"/>
                  </a:lnTo>
                  <a:lnTo>
                    <a:pt x="171343" y="58266"/>
                  </a:lnTo>
                  <a:lnTo>
                    <a:pt x="165258" y="64147"/>
                  </a:lnTo>
                  <a:lnTo>
                    <a:pt x="157921" y="68446"/>
                  </a:lnTo>
                  <a:lnTo>
                    <a:pt x="157921" y="200025"/>
                  </a:lnTo>
                  <a:close/>
                </a:path>
                <a:path w="287020" h="228600">
                  <a:moveTo>
                    <a:pt x="57373" y="185737"/>
                  </a:moveTo>
                  <a:lnTo>
                    <a:pt x="20543" y="175641"/>
                  </a:lnTo>
                  <a:lnTo>
                    <a:pt x="0" y="145598"/>
                  </a:lnTo>
                  <a:lnTo>
                    <a:pt x="1607" y="140553"/>
                  </a:lnTo>
                  <a:lnTo>
                    <a:pt x="48890" y="59471"/>
                  </a:lnTo>
                  <a:lnTo>
                    <a:pt x="52997" y="57150"/>
                  </a:lnTo>
                  <a:lnTo>
                    <a:pt x="61838" y="57150"/>
                  </a:lnTo>
                  <a:lnTo>
                    <a:pt x="65945" y="59516"/>
                  </a:lnTo>
                  <a:lnTo>
                    <a:pt x="68665" y="64147"/>
                  </a:lnTo>
                  <a:lnTo>
                    <a:pt x="82240" y="87421"/>
                  </a:lnTo>
                  <a:lnTo>
                    <a:pt x="57373" y="87421"/>
                  </a:lnTo>
                  <a:lnTo>
                    <a:pt x="25047" y="142875"/>
                  </a:lnTo>
                  <a:lnTo>
                    <a:pt x="113968" y="142875"/>
                  </a:lnTo>
                  <a:lnTo>
                    <a:pt x="114835" y="145598"/>
                  </a:lnTo>
                  <a:lnTo>
                    <a:pt x="113674" y="150509"/>
                  </a:lnTo>
                  <a:lnTo>
                    <a:pt x="106773" y="164471"/>
                  </a:lnTo>
                  <a:lnTo>
                    <a:pt x="94230" y="175641"/>
                  </a:lnTo>
                  <a:lnTo>
                    <a:pt x="77333" y="183052"/>
                  </a:lnTo>
                  <a:lnTo>
                    <a:pt x="57373" y="185737"/>
                  </a:lnTo>
                  <a:close/>
                </a:path>
                <a:path w="287020" h="228600">
                  <a:moveTo>
                    <a:pt x="229359" y="185737"/>
                  </a:moveTo>
                  <a:lnTo>
                    <a:pt x="192507" y="175641"/>
                  </a:lnTo>
                  <a:lnTo>
                    <a:pt x="171941" y="145598"/>
                  </a:lnTo>
                  <a:lnTo>
                    <a:pt x="173548" y="140553"/>
                  </a:lnTo>
                  <a:lnTo>
                    <a:pt x="220831" y="59471"/>
                  </a:lnTo>
                  <a:lnTo>
                    <a:pt x="224938" y="57150"/>
                  </a:lnTo>
                  <a:lnTo>
                    <a:pt x="233779" y="57150"/>
                  </a:lnTo>
                  <a:lnTo>
                    <a:pt x="237886" y="59516"/>
                  </a:lnTo>
                  <a:lnTo>
                    <a:pt x="240606" y="64147"/>
                  </a:lnTo>
                  <a:lnTo>
                    <a:pt x="254181" y="87421"/>
                  </a:lnTo>
                  <a:lnTo>
                    <a:pt x="229359" y="87421"/>
                  </a:lnTo>
                  <a:lnTo>
                    <a:pt x="197033" y="142875"/>
                  </a:lnTo>
                  <a:lnTo>
                    <a:pt x="285909" y="142875"/>
                  </a:lnTo>
                  <a:lnTo>
                    <a:pt x="286776" y="145598"/>
                  </a:lnTo>
                  <a:lnTo>
                    <a:pt x="285616" y="150509"/>
                  </a:lnTo>
                  <a:lnTo>
                    <a:pt x="278740" y="164471"/>
                  </a:lnTo>
                  <a:lnTo>
                    <a:pt x="266210" y="175641"/>
                  </a:lnTo>
                  <a:lnTo>
                    <a:pt x="249318" y="183052"/>
                  </a:lnTo>
                  <a:lnTo>
                    <a:pt x="229359" y="185737"/>
                  </a:lnTo>
                  <a:close/>
                </a:path>
                <a:path w="287020" h="228600">
                  <a:moveTo>
                    <a:pt x="113968" y="142875"/>
                  </a:moveTo>
                  <a:lnTo>
                    <a:pt x="89743" y="142875"/>
                  </a:lnTo>
                  <a:lnTo>
                    <a:pt x="57373" y="87421"/>
                  </a:lnTo>
                  <a:lnTo>
                    <a:pt x="82240" y="87421"/>
                  </a:lnTo>
                  <a:lnTo>
                    <a:pt x="113228" y="140553"/>
                  </a:lnTo>
                  <a:lnTo>
                    <a:pt x="113968" y="142875"/>
                  </a:lnTo>
                  <a:close/>
                </a:path>
                <a:path w="287020" h="228600">
                  <a:moveTo>
                    <a:pt x="285909" y="142875"/>
                  </a:moveTo>
                  <a:lnTo>
                    <a:pt x="261729" y="142875"/>
                  </a:lnTo>
                  <a:lnTo>
                    <a:pt x="229359" y="87421"/>
                  </a:lnTo>
                  <a:lnTo>
                    <a:pt x="254181" y="87421"/>
                  </a:lnTo>
                  <a:lnTo>
                    <a:pt x="285169" y="140553"/>
                  </a:lnTo>
                  <a:lnTo>
                    <a:pt x="285909" y="142875"/>
                  </a:lnTo>
                  <a:close/>
                </a:path>
                <a:path w="287020" h="228600">
                  <a:moveTo>
                    <a:pt x="237261" y="228600"/>
                  </a:moveTo>
                  <a:lnTo>
                    <a:pt x="50006" y="228600"/>
                  </a:lnTo>
                  <a:lnTo>
                    <a:pt x="43621" y="222215"/>
                  </a:lnTo>
                  <a:lnTo>
                    <a:pt x="43621" y="206409"/>
                  </a:lnTo>
                  <a:lnTo>
                    <a:pt x="50006" y="200025"/>
                  </a:lnTo>
                  <a:lnTo>
                    <a:pt x="237261" y="200025"/>
                  </a:lnTo>
                  <a:lnTo>
                    <a:pt x="243646" y="206409"/>
                  </a:lnTo>
                  <a:lnTo>
                    <a:pt x="243646" y="222215"/>
                  </a:lnTo>
                  <a:lnTo>
                    <a:pt x="237261" y="228600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496048" y="5381624"/>
              <a:ext cx="4972050" cy="419100"/>
            </a:xfrm>
            <a:custGeom>
              <a:avLst/>
              <a:gdLst/>
              <a:ahLst/>
              <a:cxnLst/>
              <a:rect l="l" t="t" r="r" b="b"/>
              <a:pathLst>
                <a:path w="4972050" h="419100">
                  <a:moveTo>
                    <a:pt x="4900853" y="419099"/>
                  </a:moveTo>
                  <a:lnTo>
                    <a:pt x="53397" y="419099"/>
                  </a:lnTo>
                  <a:lnTo>
                    <a:pt x="49681" y="418611"/>
                  </a:lnTo>
                  <a:lnTo>
                    <a:pt x="14085" y="393243"/>
                  </a:lnTo>
                  <a:lnTo>
                    <a:pt x="366" y="352858"/>
                  </a:lnTo>
                  <a:lnTo>
                    <a:pt x="0" y="347902"/>
                  </a:lnTo>
                  <a:lnTo>
                    <a:pt x="0" y="3428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4900853" y="0"/>
                  </a:lnTo>
                  <a:lnTo>
                    <a:pt x="4942342" y="15621"/>
                  </a:lnTo>
                  <a:lnTo>
                    <a:pt x="4968163" y="51661"/>
                  </a:lnTo>
                  <a:lnTo>
                    <a:pt x="4972050" y="71196"/>
                  </a:lnTo>
                  <a:lnTo>
                    <a:pt x="4972050" y="347902"/>
                  </a:lnTo>
                  <a:lnTo>
                    <a:pt x="4956426" y="389394"/>
                  </a:lnTo>
                  <a:lnTo>
                    <a:pt x="4920387" y="415213"/>
                  </a:lnTo>
                  <a:lnTo>
                    <a:pt x="4905807" y="418611"/>
                  </a:lnTo>
                  <a:lnTo>
                    <a:pt x="4900853" y="419099"/>
                  </a:lnTo>
                  <a:close/>
                </a:path>
              </a:pathLst>
            </a:custGeom>
            <a:solidFill>
              <a:srgbClr val="1D3A8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476999" y="5381902"/>
              <a:ext cx="70485" cy="419100"/>
            </a:xfrm>
            <a:custGeom>
              <a:avLst/>
              <a:gdLst/>
              <a:ahLst/>
              <a:cxnLst/>
              <a:rect l="l" t="t" r="r" b="b"/>
              <a:pathLst>
                <a:path w="70484" h="419100">
                  <a:moveTo>
                    <a:pt x="70449" y="418544"/>
                  </a:moveTo>
                  <a:lnTo>
                    <a:pt x="33856" y="405991"/>
                  </a:lnTo>
                  <a:lnTo>
                    <a:pt x="5799" y="371781"/>
                  </a:lnTo>
                  <a:lnTo>
                    <a:pt x="0" y="342622"/>
                  </a:lnTo>
                  <a:lnTo>
                    <a:pt x="0" y="75922"/>
                  </a:lnTo>
                  <a:lnTo>
                    <a:pt x="12829" y="33579"/>
                  </a:lnTo>
                  <a:lnTo>
                    <a:pt x="47038" y="5522"/>
                  </a:lnTo>
                  <a:lnTo>
                    <a:pt x="70449" y="0"/>
                  </a:lnTo>
                  <a:lnTo>
                    <a:pt x="66286" y="1655"/>
                  </a:lnTo>
                  <a:lnTo>
                    <a:pt x="56950" y="9389"/>
                  </a:lnTo>
                  <a:lnTo>
                    <a:pt x="40999" y="46761"/>
                  </a:lnTo>
                  <a:lnTo>
                    <a:pt x="38099" y="75922"/>
                  </a:lnTo>
                  <a:lnTo>
                    <a:pt x="38099" y="342622"/>
                  </a:lnTo>
                  <a:lnTo>
                    <a:pt x="44514" y="384963"/>
                  </a:lnTo>
                  <a:lnTo>
                    <a:pt x="66287" y="416887"/>
                  </a:lnTo>
                  <a:lnTo>
                    <a:pt x="70449" y="418544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28592" y="5552267"/>
              <a:ext cx="168302" cy="134964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6464299" y="4054475"/>
            <a:ext cx="4997450" cy="1623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9765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solidFill>
                  <a:srgbClr val="DAE9FE"/>
                </a:solidFill>
                <a:latin typeface="微软雅黑"/>
                <a:cs typeface="微软雅黑"/>
              </a:rPr>
              <a:t>价值对齐困难</a:t>
            </a:r>
            <a:endParaRPr sz="1800">
              <a:latin typeface="微软雅黑"/>
              <a:cs typeface="微软雅黑"/>
            </a:endParaRPr>
          </a:p>
          <a:p>
            <a:pPr marL="12700" marR="5080">
              <a:lnSpc>
                <a:spcPct val="134300"/>
              </a:lnSpc>
              <a:spcBef>
                <a:spcPts val="2235"/>
              </a:spcBef>
            </a:pPr>
            <a:r>
              <a:rPr sz="1350" b="0" spc="-5" dirty="0">
                <a:solidFill>
                  <a:srgbClr val="D0D5DA"/>
                </a:solidFill>
                <a:latin typeface="微软雅黑 Light"/>
                <a:cs typeface="微软雅黑 Light"/>
              </a:rPr>
              <a:t>由不同开发者构建的多智能体各自拥有不同的目标函数，难以在复杂系统中建立统一的伦理标准。</a:t>
            </a:r>
            <a:endParaRPr sz="1350">
              <a:latin typeface="微软雅黑 Light"/>
              <a:cs typeface="微软雅黑 Light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endParaRPr sz="1350">
              <a:latin typeface="微软雅黑 Light"/>
              <a:cs typeface="微软雅黑 Light"/>
            </a:endParaRPr>
          </a:p>
          <a:p>
            <a:pPr marL="445770">
              <a:lnSpc>
                <a:spcPct val="100000"/>
              </a:lnSpc>
            </a:pPr>
            <a:r>
              <a:rPr sz="1050" spc="-5" dirty="0">
                <a:solidFill>
                  <a:srgbClr val="DAE9FE"/>
                </a:solidFill>
                <a:latin typeface="微软雅黑"/>
                <a:cs typeface="微软雅黑"/>
              </a:rPr>
              <a:t>目标冲突与资源竞争导致协作受阻，人类价值观难以全面贯彻。</a:t>
            </a:r>
            <a:endParaRPr sz="1050">
              <a:latin typeface="微软雅黑"/>
              <a:cs typeface="微软雅黑"/>
            </a:endParaRPr>
          </a:p>
        </p:txBody>
      </p:sp>
      <p:pic>
        <p:nvPicPr>
          <p:cNvPr id="41" name="object 4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76399" y="1581149"/>
            <a:ext cx="8839199" cy="4267199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sp>
        <p:nvSpPr>
          <p:cNvPr id="43" name="object 3">
            <a:extLst>
              <a:ext uri="{FF2B5EF4-FFF2-40B4-BE49-F238E27FC236}">
                <a16:creationId xmlns:a16="http://schemas.microsoft.com/office/drawing/2014/main" id="{60F939AC-7B93-4BC2-83C1-FFF625AA17C6}"/>
              </a:ext>
            </a:extLst>
          </p:cNvPr>
          <p:cNvSpPr/>
          <p:nvPr/>
        </p:nvSpPr>
        <p:spPr>
          <a:xfrm>
            <a:off x="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76199" y="0"/>
                </a:lnTo>
                <a:lnTo>
                  <a:pt x="76199" y="68579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2">
            <a:extLst>
              <a:ext uri="{FF2B5EF4-FFF2-40B4-BE49-F238E27FC236}">
                <a16:creationId xmlns:a16="http://schemas.microsoft.com/office/drawing/2014/main" id="{16A423DE-7200-47CB-85C7-2AFFF03019B1}"/>
              </a:ext>
            </a:extLst>
          </p:cNvPr>
          <p:cNvSpPr/>
          <p:nvPr/>
        </p:nvSpPr>
        <p:spPr>
          <a:xfrm>
            <a:off x="7315199" y="0"/>
            <a:ext cx="4876800" cy="6858000"/>
          </a:xfrm>
          <a:custGeom>
            <a:avLst/>
            <a:gdLst/>
            <a:ahLst/>
            <a:cxnLst/>
            <a:rect l="l" t="t" r="r" b="b"/>
            <a:pathLst>
              <a:path w="4876800" h="6858000">
                <a:moveTo>
                  <a:pt x="4876799" y="6857999"/>
                </a:moveTo>
                <a:lnTo>
                  <a:pt x="0" y="6857999"/>
                </a:lnTo>
                <a:lnTo>
                  <a:pt x="731519" y="0"/>
                </a:lnTo>
                <a:lnTo>
                  <a:pt x="4876799" y="0"/>
                </a:lnTo>
                <a:lnTo>
                  <a:pt x="4876799" y="6857999"/>
                </a:lnTo>
                <a:close/>
              </a:path>
            </a:pathLst>
          </a:custGeom>
          <a:solidFill>
            <a:srgbClr val="4A54A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15199" y="0"/>
            <a:ext cx="4876800" cy="6858000"/>
          </a:xfrm>
          <a:custGeom>
            <a:avLst/>
            <a:gdLst/>
            <a:ahLst/>
            <a:cxnLst/>
            <a:rect l="l" t="t" r="r" b="b"/>
            <a:pathLst>
              <a:path w="4876800" h="6858000">
                <a:moveTo>
                  <a:pt x="4876799" y="6857999"/>
                </a:moveTo>
                <a:lnTo>
                  <a:pt x="0" y="6857999"/>
                </a:lnTo>
                <a:lnTo>
                  <a:pt x="731519" y="0"/>
                </a:lnTo>
                <a:lnTo>
                  <a:pt x="4876799" y="0"/>
                </a:lnTo>
                <a:lnTo>
                  <a:pt x="4876799" y="6857999"/>
                </a:lnTo>
                <a:close/>
              </a:path>
            </a:pathLst>
          </a:custGeom>
          <a:solidFill>
            <a:srgbClr val="4A54A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76199" y="0"/>
                </a:lnTo>
                <a:lnTo>
                  <a:pt x="76199" y="68579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业务影响分析</a:t>
            </a:r>
          </a:p>
        </p:txBody>
      </p:sp>
      <p:sp>
        <p:nvSpPr>
          <p:cNvPr id="5" name="object 5"/>
          <p:cNvSpPr/>
          <p:nvPr/>
        </p:nvSpPr>
        <p:spPr>
          <a:xfrm>
            <a:off x="428624" y="800099"/>
            <a:ext cx="1371600" cy="38100"/>
          </a:xfrm>
          <a:custGeom>
            <a:avLst/>
            <a:gdLst/>
            <a:ahLst/>
            <a:cxnLst/>
            <a:rect l="l" t="t" r="r" b="b"/>
            <a:pathLst>
              <a:path w="1371600" h="38100">
                <a:moveTo>
                  <a:pt x="1371599" y="38099"/>
                </a:moveTo>
                <a:lnTo>
                  <a:pt x="0" y="38099"/>
                </a:lnTo>
                <a:lnTo>
                  <a:pt x="0" y="0"/>
                </a:lnTo>
                <a:lnTo>
                  <a:pt x="1371599" y="0"/>
                </a:lnTo>
                <a:lnTo>
                  <a:pt x="13715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6" name="object 6"/>
          <p:cNvGrpSpPr/>
          <p:nvPr/>
        </p:nvGrpSpPr>
        <p:grpSpPr>
          <a:xfrm>
            <a:off x="504824" y="1219199"/>
            <a:ext cx="5438775" cy="2390775"/>
            <a:chOff x="504824" y="1219199"/>
            <a:chExt cx="5438775" cy="2390775"/>
          </a:xfrm>
        </p:grpSpPr>
        <p:sp>
          <p:nvSpPr>
            <p:cNvPr id="7" name="object 7"/>
            <p:cNvSpPr/>
            <p:nvPr/>
          </p:nvSpPr>
          <p:spPr>
            <a:xfrm>
              <a:off x="504824" y="1219199"/>
              <a:ext cx="5438775" cy="2390775"/>
            </a:xfrm>
            <a:custGeom>
              <a:avLst/>
              <a:gdLst/>
              <a:ahLst/>
              <a:cxnLst/>
              <a:rect l="l" t="t" r="r" b="b"/>
              <a:pathLst>
                <a:path w="5438775" h="2390775">
                  <a:moveTo>
                    <a:pt x="5286374" y="2390774"/>
                  </a:moveTo>
                  <a:lnTo>
                    <a:pt x="152399" y="2390774"/>
                  </a:lnTo>
                  <a:lnTo>
                    <a:pt x="137387" y="2390049"/>
                  </a:lnTo>
                  <a:lnTo>
                    <a:pt x="94078" y="2379173"/>
                  </a:lnTo>
                  <a:lnTo>
                    <a:pt x="55765" y="2356240"/>
                  </a:lnTo>
                  <a:lnTo>
                    <a:pt x="25660" y="2323059"/>
                  </a:lnTo>
                  <a:lnTo>
                    <a:pt x="6525" y="2282547"/>
                  </a:lnTo>
                  <a:lnTo>
                    <a:pt x="0" y="2238374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4"/>
                  </a:lnTo>
                  <a:lnTo>
                    <a:pt x="55765" y="34533"/>
                  </a:lnTo>
                  <a:lnTo>
                    <a:pt x="94078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286374" y="0"/>
                  </a:lnTo>
                  <a:lnTo>
                    <a:pt x="5330547" y="6525"/>
                  </a:lnTo>
                  <a:lnTo>
                    <a:pt x="5371058" y="25660"/>
                  </a:lnTo>
                  <a:lnTo>
                    <a:pt x="5404240" y="55765"/>
                  </a:lnTo>
                  <a:lnTo>
                    <a:pt x="5427173" y="94078"/>
                  </a:lnTo>
                  <a:lnTo>
                    <a:pt x="5438049" y="137386"/>
                  </a:lnTo>
                  <a:lnTo>
                    <a:pt x="5438774" y="152399"/>
                  </a:lnTo>
                  <a:lnTo>
                    <a:pt x="5438774" y="2238374"/>
                  </a:lnTo>
                  <a:lnTo>
                    <a:pt x="5432248" y="2282547"/>
                  </a:lnTo>
                  <a:lnTo>
                    <a:pt x="5413113" y="2323059"/>
                  </a:lnTo>
                  <a:lnTo>
                    <a:pt x="5383008" y="2356240"/>
                  </a:lnTo>
                  <a:lnTo>
                    <a:pt x="5344694" y="2379173"/>
                  </a:lnTo>
                  <a:lnTo>
                    <a:pt x="5301387" y="2390049"/>
                  </a:lnTo>
                  <a:lnTo>
                    <a:pt x="5286374" y="239077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04824" y="1219199"/>
              <a:ext cx="5438775" cy="2390775"/>
            </a:xfrm>
            <a:custGeom>
              <a:avLst/>
              <a:gdLst/>
              <a:ahLst/>
              <a:cxnLst/>
              <a:rect l="l" t="t" r="r" b="b"/>
              <a:pathLst>
                <a:path w="5438775" h="2390775">
                  <a:moveTo>
                    <a:pt x="5286374" y="2390774"/>
                  </a:moveTo>
                  <a:lnTo>
                    <a:pt x="152399" y="2390774"/>
                  </a:lnTo>
                  <a:lnTo>
                    <a:pt x="137387" y="2390049"/>
                  </a:lnTo>
                  <a:lnTo>
                    <a:pt x="94078" y="2379173"/>
                  </a:lnTo>
                  <a:lnTo>
                    <a:pt x="55765" y="2356240"/>
                  </a:lnTo>
                  <a:lnTo>
                    <a:pt x="25660" y="2323059"/>
                  </a:lnTo>
                  <a:lnTo>
                    <a:pt x="6525" y="2282547"/>
                  </a:lnTo>
                  <a:lnTo>
                    <a:pt x="0" y="2238374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4"/>
                  </a:lnTo>
                  <a:lnTo>
                    <a:pt x="55765" y="34533"/>
                  </a:lnTo>
                  <a:lnTo>
                    <a:pt x="94078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286374" y="0"/>
                  </a:lnTo>
                  <a:lnTo>
                    <a:pt x="5301387" y="725"/>
                  </a:lnTo>
                  <a:lnTo>
                    <a:pt x="5316112" y="2900"/>
                  </a:lnTo>
                  <a:lnTo>
                    <a:pt x="5330547" y="6525"/>
                  </a:lnTo>
                  <a:lnTo>
                    <a:pt x="5338909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3"/>
                  </a:lnTo>
                  <a:lnTo>
                    <a:pt x="67282" y="37645"/>
                  </a:lnTo>
                  <a:lnTo>
                    <a:pt x="37646" y="67282"/>
                  </a:lnTo>
                  <a:lnTo>
                    <a:pt x="17873" y="104274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2238374"/>
                  </a:lnTo>
                  <a:lnTo>
                    <a:pt x="15675" y="2279849"/>
                  </a:lnTo>
                  <a:lnTo>
                    <a:pt x="33603" y="2317751"/>
                  </a:lnTo>
                  <a:lnTo>
                    <a:pt x="61759" y="2348819"/>
                  </a:lnTo>
                  <a:lnTo>
                    <a:pt x="97724" y="2370373"/>
                  </a:lnTo>
                  <a:lnTo>
                    <a:pt x="138395" y="2380563"/>
                  </a:lnTo>
                  <a:lnTo>
                    <a:pt x="152399" y="2381249"/>
                  </a:lnTo>
                  <a:lnTo>
                    <a:pt x="5338908" y="2381249"/>
                  </a:lnTo>
                  <a:lnTo>
                    <a:pt x="5330547" y="2384249"/>
                  </a:lnTo>
                  <a:lnTo>
                    <a:pt x="5316111" y="2387874"/>
                  </a:lnTo>
                  <a:lnTo>
                    <a:pt x="5301387" y="2390049"/>
                  </a:lnTo>
                  <a:lnTo>
                    <a:pt x="5286374" y="2390774"/>
                  </a:lnTo>
                  <a:close/>
                </a:path>
                <a:path w="5438775" h="2390775">
                  <a:moveTo>
                    <a:pt x="5338908" y="2381249"/>
                  </a:moveTo>
                  <a:lnTo>
                    <a:pt x="5286374" y="2381249"/>
                  </a:lnTo>
                  <a:lnTo>
                    <a:pt x="5293393" y="2381078"/>
                  </a:lnTo>
                  <a:lnTo>
                    <a:pt x="5300378" y="2380563"/>
                  </a:lnTo>
                  <a:lnTo>
                    <a:pt x="5341050" y="2370373"/>
                  </a:lnTo>
                  <a:lnTo>
                    <a:pt x="5377013" y="2348819"/>
                  </a:lnTo>
                  <a:lnTo>
                    <a:pt x="5405170" y="2317751"/>
                  </a:lnTo>
                  <a:lnTo>
                    <a:pt x="5423098" y="2279849"/>
                  </a:lnTo>
                  <a:lnTo>
                    <a:pt x="5429249" y="2238374"/>
                  </a:lnTo>
                  <a:lnTo>
                    <a:pt x="5429249" y="152399"/>
                  </a:lnTo>
                  <a:lnTo>
                    <a:pt x="5429077" y="145380"/>
                  </a:lnTo>
                  <a:lnTo>
                    <a:pt x="5420900" y="104274"/>
                  </a:lnTo>
                  <a:lnTo>
                    <a:pt x="5401127" y="67282"/>
                  </a:lnTo>
                  <a:lnTo>
                    <a:pt x="5371491" y="37645"/>
                  </a:lnTo>
                  <a:lnTo>
                    <a:pt x="5334499" y="17873"/>
                  </a:lnTo>
                  <a:lnTo>
                    <a:pt x="5293393" y="9696"/>
                  </a:lnTo>
                  <a:lnTo>
                    <a:pt x="5286374" y="9524"/>
                  </a:lnTo>
                  <a:lnTo>
                    <a:pt x="5338909" y="9524"/>
                  </a:lnTo>
                  <a:lnTo>
                    <a:pt x="5383008" y="34533"/>
                  </a:lnTo>
                  <a:lnTo>
                    <a:pt x="5413114" y="67714"/>
                  </a:lnTo>
                  <a:lnTo>
                    <a:pt x="5432248" y="108226"/>
                  </a:lnTo>
                  <a:lnTo>
                    <a:pt x="5438774" y="152399"/>
                  </a:lnTo>
                  <a:lnTo>
                    <a:pt x="5438774" y="2238374"/>
                  </a:lnTo>
                  <a:lnTo>
                    <a:pt x="5438049" y="2253387"/>
                  </a:lnTo>
                  <a:lnTo>
                    <a:pt x="5427173" y="2296695"/>
                  </a:lnTo>
                  <a:lnTo>
                    <a:pt x="5404240" y="2335009"/>
                  </a:lnTo>
                  <a:lnTo>
                    <a:pt x="5371058" y="2365114"/>
                  </a:lnTo>
                  <a:lnTo>
                    <a:pt x="5344694" y="2379173"/>
                  </a:lnTo>
                  <a:lnTo>
                    <a:pt x="5338908" y="2381249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747712" y="146208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380928" y="447674"/>
                  </a:moveTo>
                  <a:lnTo>
                    <a:pt x="66746" y="447674"/>
                  </a:lnTo>
                  <a:lnTo>
                    <a:pt x="62101" y="447217"/>
                  </a:lnTo>
                  <a:lnTo>
                    <a:pt x="24240" y="430068"/>
                  </a:lnTo>
                  <a:lnTo>
                    <a:pt x="2287" y="394774"/>
                  </a:lnTo>
                  <a:lnTo>
                    <a:pt x="0" y="380928"/>
                  </a:lnTo>
                  <a:lnTo>
                    <a:pt x="0" y="3762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80928" y="0"/>
                  </a:lnTo>
                  <a:lnTo>
                    <a:pt x="419826" y="14645"/>
                  </a:lnTo>
                  <a:lnTo>
                    <a:pt x="444032" y="48433"/>
                  </a:lnTo>
                  <a:lnTo>
                    <a:pt x="447674" y="66746"/>
                  </a:lnTo>
                  <a:lnTo>
                    <a:pt x="447674" y="380928"/>
                  </a:lnTo>
                  <a:lnTo>
                    <a:pt x="433029" y="419826"/>
                  </a:lnTo>
                  <a:lnTo>
                    <a:pt x="399241" y="444032"/>
                  </a:lnTo>
                  <a:lnTo>
                    <a:pt x="385573" y="447217"/>
                  </a:lnTo>
                  <a:lnTo>
                    <a:pt x="380928" y="447674"/>
                  </a:lnTo>
                  <a:close/>
                </a:path>
              </a:pathLst>
            </a:custGeom>
            <a:solidFill>
              <a:srgbClr val="7E1C1C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747712" y="146208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3762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76237" y="0"/>
                  </a:lnTo>
                  <a:lnTo>
                    <a:pt x="380928" y="0"/>
                  </a:lnTo>
                  <a:lnTo>
                    <a:pt x="385573" y="457"/>
                  </a:lnTo>
                  <a:lnTo>
                    <a:pt x="390174" y="1372"/>
                  </a:lnTo>
                  <a:lnTo>
                    <a:pt x="394774" y="2287"/>
                  </a:lnTo>
                  <a:lnTo>
                    <a:pt x="415925" y="12039"/>
                  </a:lnTo>
                  <a:lnTo>
                    <a:pt x="419826" y="14645"/>
                  </a:lnTo>
                  <a:lnTo>
                    <a:pt x="444032" y="48433"/>
                  </a:lnTo>
                  <a:lnTo>
                    <a:pt x="446302" y="57500"/>
                  </a:lnTo>
                  <a:lnTo>
                    <a:pt x="447217" y="62101"/>
                  </a:lnTo>
                  <a:lnTo>
                    <a:pt x="447674" y="66746"/>
                  </a:lnTo>
                  <a:lnTo>
                    <a:pt x="447674" y="71437"/>
                  </a:lnTo>
                  <a:lnTo>
                    <a:pt x="447674" y="376237"/>
                  </a:lnTo>
                  <a:lnTo>
                    <a:pt x="447674" y="380928"/>
                  </a:lnTo>
                  <a:lnTo>
                    <a:pt x="447217" y="385573"/>
                  </a:lnTo>
                  <a:lnTo>
                    <a:pt x="446302" y="390174"/>
                  </a:lnTo>
                  <a:lnTo>
                    <a:pt x="445387" y="394774"/>
                  </a:lnTo>
                  <a:lnTo>
                    <a:pt x="435635" y="415925"/>
                  </a:lnTo>
                  <a:lnTo>
                    <a:pt x="433029" y="419826"/>
                  </a:lnTo>
                  <a:lnTo>
                    <a:pt x="415925" y="435635"/>
                  </a:lnTo>
                  <a:lnTo>
                    <a:pt x="412025" y="438241"/>
                  </a:lnTo>
                  <a:lnTo>
                    <a:pt x="390174" y="446302"/>
                  </a:lnTo>
                  <a:lnTo>
                    <a:pt x="385573" y="447217"/>
                  </a:lnTo>
                  <a:lnTo>
                    <a:pt x="380928" y="447674"/>
                  </a:lnTo>
                  <a:lnTo>
                    <a:pt x="376237" y="447674"/>
                  </a:lnTo>
                  <a:lnTo>
                    <a:pt x="71437" y="447674"/>
                  </a:lnTo>
                  <a:lnTo>
                    <a:pt x="66746" y="447674"/>
                  </a:lnTo>
                  <a:lnTo>
                    <a:pt x="62101" y="447217"/>
                  </a:lnTo>
                  <a:lnTo>
                    <a:pt x="57500" y="446302"/>
                  </a:lnTo>
                  <a:lnTo>
                    <a:pt x="52900" y="445387"/>
                  </a:lnTo>
                  <a:lnTo>
                    <a:pt x="17606" y="423434"/>
                  </a:lnTo>
                  <a:lnTo>
                    <a:pt x="12039" y="415925"/>
                  </a:lnTo>
                  <a:lnTo>
                    <a:pt x="9433" y="412025"/>
                  </a:lnTo>
                  <a:lnTo>
                    <a:pt x="1372" y="390174"/>
                  </a:lnTo>
                  <a:lnTo>
                    <a:pt x="457" y="385573"/>
                  </a:lnTo>
                  <a:lnTo>
                    <a:pt x="0" y="380928"/>
                  </a:lnTo>
                  <a:lnTo>
                    <a:pt x="0" y="376237"/>
                  </a:lnTo>
                  <a:close/>
                </a:path>
              </a:pathLst>
            </a:custGeom>
            <a:ln w="9524">
              <a:solidFill>
                <a:srgbClr val="EF444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249" y="1590620"/>
              <a:ext cx="228600" cy="195317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414" y="2114550"/>
              <a:ext cx="153471" cy="13334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819137" y="2476512"/>
              <a:ext cx="47625" cy="504825"/>
            </a:xfrm>
            <a:custGeom>
              <a:avLst/>
              <a:gdLst/>
              <a:ahLst/>
              <a:cxnLst/>
              <a:rect l="l" t="t" r="r" b="b"/>
              <a:pathLst>
                <a:path w="47625" h="504825">
                  <a:moveTo>
                    <a:pt x="47625" y="477850"/>
                  </a:moveTo>
                  <a:lnTo>
                    <a:pt x="26974" y="457200"/>
                  </a:lnTo>
                  <a:lnTo>
                    <a:pt x="20662" y="457200"/>
                  </a:lnTo>
                  <a:lnTo>
                    <a:pt x="0" y="477850"/>
                  </a:lnTo>
                  <a:lnTo>
                    <a:pt x="0" y="484162"/>
                  </a:lnTo>
                  <a:lnTo>
                    <a:pt x="20662" y="504825"/>
                  </a:lnTo>
                  <a:lnTo>
                    <a:pt x="26974" y="504825"/>
                  </a:lnTo>
                  <a:lnTo>
                    <a:pt x="47625" y="484162"/>
                  </a:lnTo>
                  <a:lnTo>
                    <a:pt x="47625" y="481012"/>
                  </a:lnTo>
                  <a:lnTo>
                    <a:pt x="47625" y="477850"/>
                  </a:lnTo>
                  <a:close/>
                </a:path>
                <a:path w="47625" h="5048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806449" y="1558925"/>
            <a:ext cx="4869815" cy="1680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5465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EE2E2"/>
                </a:solidFill>
                <a:latin typeface="微软雅黑"/>
                <a:cs typeface="微软雅黑"/>
              </a:rPr>
              <a:t>稳定性风险</a:t>
            </a:r>
            <a:endParaRPr sz="1500">
              <a:latin typeface="微软雅黑"/>
              <a:cs typeface="微软雅黑"/>
            </a:endParaRPr>
          </a:p>
          <a:p>
            <a:pPr marL="164465">
              <a:lnSpc>
                <a:spcPct val="100000"/>
              </a:lnSpc>
              <a:spcBef>
                <a:spcPts val="2250"/>
              </a:spcBef>
            </a:pPr>
            <a:r>
              <a:rPr sz="1200" b="1" spc="-5" dirty="0">
                <a:solidFill>
                  <a:srgbClr val="FBA5A5"/>
                </a:solidFill>
                <a:latin typeface="微软雅黑"/>
                <a:cs typeface="微软雅黑"/>
              </a:rPr>
              <a:t>因果理解缺失引发级联错误</a:t>
            </a:r>
            <a:endParaRPr sz="1200">
              <a:latin typeface="微软雅黑"/>
              <a:cs typeface="微软雅黑"/>
            </a:endParaRPr>
          </a:p>
          <a:p>
            <a:pPr marL="12700" marR="5080" indent="190500">
              <a:lnSpc>
                <a:spcPct val="119000"/>
              </a:lnSpc>
              <a:spcBef>
                <a:spcPts val="944"/>
              </a:spcBef>
            </a:pPr>
            <a:r>
              <a:rPr sz="1050" spc="-5" dirty="0">
                <a:solidFill>
                  <a:srgbClr val="FFFFFF"/>
                </a:solidFill>
                <a:latin typeface="微软雅黑"/>
                <a:cs typeface="微软雅黑"/>
              </a:rPr>
              <a:t>医疗诊断场景：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Agent</a:t>
            </a:r>
            <a:r>
              <a:rPr sz="1050" spc="-25" dirty="0">
                <a:solidFill>
                  <a:srgbClr val="D0D5DA"/>
                </a:solidFill>
                <a:latin typeface="微软雅黑"/>
                <a:cs typeface="微软雅黑"/>
              </a:rPr>
              <a:t>仅能识别统计相关性，在非常规病例下易因幻觉给出错误</a:t>
            </a:r>
            <a:r>
              <a:rPr sz="1050" spc="-20" dirty="0">
                <a:solidFill>
                  <a:srgbClr val="D0D5DA"/>
                </a:solidFill>
                <a:latin typeface="微软雅黑"/>
                <a:cs typeface="微软雅黑"/>
              </a:rPr>
              <a:t>建议。</a:t>
            </a:r>
            <a:endParaRPr sz="1050">
              <a:latin typeface="微软雅黑"/>
              <a:cs typeface="微软雅黑"/>
            </a:endParaRPr>
          </a:p>
          <a:p>
            <a:pPr marL="12700" marR="74295" indent="190500">
              <a:lnSpc>
                <a:spcPct val="119000"/>
              </a:lnSpc>
              <a:spcBef>
                <a:spcPts val="600"/>
              </a:spcBef>
            </a:pPr>
            <a:r>
              <a:rPr sz="1050" dirty="0">
                <a:solidFill>
                  <a:srgbClr val="FFFFFF"/>
                </a:solidFill>
                <a:latin typeface="微软雅黑"/>
                <a:cs typeface="微软雅黑"/>
              </a:rPr>
              <a:t>系统级风险：</a:t>
            </a:r>
            <a:r>
              <a:rPr sz="1050" spc="-20" dirty="0">
                <a:solidFill>
                  <a:srgbClr val="D0D5DA"/>
                </a:solidFill>
                <a:latin typeface="微软雅黑"/>
                <a:cs typeface="微软雅黑"/>
              </a:rPr>
              <a:t>在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Agentic</a:t>
            </a:r>
            <a:r>
              <a:rPr sz="1050" spc="-20" dirty="0">
                <a:solidFill>
                  <a:srgbClr val="D0D5DA"/>
                </a:solidFill>
                <a:latin typeface="微软雅黑"/>
                <a:cs typeface="微软雅黑"/>
              </a:rPr>
              <a:t>系统（如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ICU</a:t>
            </a:r>
            <a:r>
              <a:rPr sz="1050" spc="-20" dirty="0">
                <a:solidFill>
                  <a:srgbClr val="D0D5DA"/>
                </a:solidFill>
                <a:latin typeface="微软雅黑"/>
                <a:cs typeface="微软雅黑"/>
              </a:rPr>
              <a:t>监控）</a:t>
            </a:r>
            <a:r>
              <a:rPr sz="1050" spc="-25" dirty="0">
                <a:solidFill>
                  <a:srgbClr val="D0D5DA"/>
                </a:solidFill>
                <a:latin typeface="微软雅黑"/>
                <a:cs typeface="微软雅黑"/>
              </a:rPr>
              <a:t>中，单个智能体的错误会在系统中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被无限放大，导致整体协调瘫痪。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248399" y="1219199"/>
            <a:ext cx="5438775" cy="2390775"/>
            <a:chOff x="6248399" y="1219199"/>
            <a:chExt cx="5438775" cy="2390775"/>
          </a:xfrm>
        </p:grpSpPr>
        <p:sp>
          <p:nvSpPr>
            <p:cNvPr id="16" name="object 16"/>
            <p:cNvSpPr/>
            <p:nvPr/>
          </p:nvSpPr>
          <p:spPr>
            <a:xfrm>
              <a:off x="6248399" y="1219199"/>
              <a:ext cx="5438775" cy="2390775"/>
            </a:xfrm>
            <a:custGeom>
              <a:avLst/>
              <a:gdLst/>
              <a:ahLst/>
              <a:cxnLst/>
              <a:rect l="l" t="t" r="r" b="b"/>
              <a:pathLst>
                <a:path w="5438775" h="2390775">
                  <a:moveTo>
                    <a:pt x="5286374" y="2390774"/>
                  </a:moveTo>
                  <a:lnTo>
                    <a:pt x="152399" y="2390774"/>
                  </a:lnTo>
                  <a:lnTo>
                    <a:pt x="137386" y="2390049"/>
                  </a:lnTo>
                  <a:lnTo>
                    <a:pt x="94078" y="2379173"/>
                  </a:lnTo>
                  <a:lnTo>
                    <a:pt x="55764" y="2356240"/>
                  </a:lnTo>
                  <a:lnTo>
                    <a:pt x="25659" y="2323059"/>
                  </a:lnTo>
                  <a:lnTo>
                    <a:pt x="6524" y="2282547"/>
                  </a:lnTo>
                  <a:lnTo>
                    <a:pt x="0" y="2238374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5286374" y="0"/>
                  </a:lnTo>
                  <a:lnTo>
                    <a:pt x="5330546" y="6525"/>
                  </a:lnTo>
                  <a:lnTo>
                    <a:pt x="5371058" y="25660"/>
                  </a:lnTo>
                  <a:lnTo>
                    <a:pt x="5404239" y="55765"/>
                  </a:lnTo>
                  <a:lnTo>
                    <a:pt x="5427172" y="94078"/>
                  </a:lnTo>
                  <a:lnTo>
                    <a:pt x="5438049" y="137386"/>
                  </a:lnTo>
                  <a:lnTo>
                    <a:pt x="5438774" y="152399"/>
                  </a:lnTo>
                  <a:lnTo>
                    <a:pt x="5438774" y="2238374"/>
                  </a:lnTo>
                  <a:lnTo>
                    <a:pt x="5432247" y="2282547"/>
                  </a:lnTo>
                  <a:lnTo>
                    <a:pt x="5413112" y="2323059"/>
                  </a:lnTo>
                  <a:lnTo>
                    <a:pt x="5383008" y="2356240"/>
                  </a:lnTo>
                  <a:lnTo>
                    <a:pt x="5344694" y="2379173"/>
                  </a:lnTo>
                  <a:lnTo>
                    <a:pt x="5301386" y="2390049"/>
                  </a:lnTo>
                  <a:lnTo>
                    <a:pt x="5286374" y="239077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6248399" y="1219199"/>
              <a:ext cx="5438775" cy="2390775"/>
            </a:xfrm>
            <a:custGeom>
              <a:avLst/>
              <a:gdLst/>
              <a:ahLst/>
              <a:cxnLst/>
              <a:rect l="l" t="t" r="r" b="b"/>
              <a:pathLst>
                <a:path w="5438775" h="2390775">
                  <a:moveTo>
                    <a:pt x="5286374" y="2390774"/>
                  </a:moveTo>
                  <a:lnTo>
                    <a:pt x="152399" y="2390774"/>
                  </a:lnTo>
                  <a:lnTo>
                    <a:pt x="137386" y="2390049"/>
                  </a:lnTo>
                  <a:lnTo>
                    <a:pt x="94078" y="2379173"/>
                  </a:lnTo>
                  <a:lnTo>
                    <a:pt x="55764" y="2356240"/>
                  </a:lnTo>
                  <a:lnTo>
                    <a:pt x="25659" y="2323059"/>
                  </a:lnTo>
                  <a:lnTo>
                    <a:pt x="6524" y="2282547"/>
                  </a:lnTo>
                  <a:lnTo>
                    <a:pt x="0" y="2238374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5286374" y="0"/>
                  </a:lnTo>
                  <a:lnTo>
                    <a:pt x="5301387" y="725"/>
                  </a:lnTo>
                  <a:lnTo>
                    <a:pt x="5316111" y="2900"/>
                  </a:lnTo>
                  <a:lnTo>
                    <a:pt x="5330547" y="6525"/>
                  </a:lnTo>
                  <a:lnTo>
                    <a:pt x="5338908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3" y="17873"/>
                  </a:lnTo>
                  <a:lnTo>
                    <a:pt x="67280" y="37645"/>
                  </a:lnTo>
                  <a:lnTo>
                    <a:pt x="37644" y="67282"/>
                  </a:lnTo>
                  <a:lnTo>
                    <a:pt x="17871" y="104274"/>
                  </a:lnTo>
                  <a:lnTo>
                    <a:pt x="9695" y="145380"/>
                  </a:lnTo>
                  <a:lnTo>
                    <a:pt x="9524" y="152399"/>
                  </a:lnTo>
                  <a:lnTo>
                    <a:pt x="9524" y="2238374"/>
                  </a:lnTo>
                  <a:lnTo>
                    <a:pt x="15674" y="2279849"/>
                  </a:lnTo>
                  <a:lnTo>
                    <a:pt x="33602" y="2317751"/>
                  </a:lnTo>
                  <a:lnTo>
                    <a:pt x="61758" y="2348819"/>
                  </a:lnTo>
                  <a:lnTo>
                    <a:pt x="97722" y="2370373"/>
                  </a:lnTo>
                  <a:lnTo>
                    <a:pt x="138394" y="2380563"/>
                  </a:lnTo>
                  <a:lnTo>
                    <a:pt x="152399" y="2381249"/>
                  </a:lnTo>
                  <a:lnTo>
                    <a:pt x="5338907" y="2381249"/>
                  </a:lnTo>
                  <a:lnTo>
                    <a:pt x="5330547" y="2384249"/>
                  </a:lnTo>
                  <a:lnTo>
                    <a:pt x="5316111" y="2387874"/>
                  </a:lnTo>
                  <a:lnTo>
                    <a:pt x="5301387" y="2390049"/>
                  </a:lnTo>
                  <a:lnTo>
                    <a:pt x="5286374" y="2390774"/>
                  </a:lnTo>
                  <a:close/>
                </a:path>
                <a:path w="5438775" h="2390775">
                  <a:moveTo>
                    <a:pt x="5338907" y="2381249"/>
                  </a:moveTo>
                  <a:lnTo>
                    <a:pt x="5286374" y="2381249"/>
                  </a:lnTo>
                  <a:lnTo>
                    <a:pt x="5293392" y="2381078"/>
                  </a:lnTo>
                  <a:lnTo>
                    <a:pt x="5300378" y="2380563"/>
                  </a:lnTo>
                  <a:lnTo>
                    <a:pt x="5341048" y="2370373"/>
                  </a:lnTo>
                  <a:lnTo>
                    <a:pt x="5377012" y="2348819"/>
                  </a:lnTo>
                  <a:lnTo>
                    <a:pt x="5405168" y="2317751"/>
                  </a:lnTo>
                  <a:lnTo>
                    <a:pt x="5423096" y="2279849"/>
                  </a:lnTo>
                  <a:lnTo>
                    <a:pt x="5429249" y="2238374"/>
                  </a:lnTo>
                  <a:lnTo>
                    <a:pt x="5429249" y="152399"/>
                  </a:lnTo>
                  <a:lnTo>
                    <a:pt x="5429076" y="145380"/>
                  </a:lnTo>
                  <a:lnTo>
                    <a:pt x="5420898" y="104274"/>
                  </a:lnTo>
                  <a:lnTo>
                    <a:pt x="5401125" y="67282"/>
                  </a:lnTo>
                  <a:lnTo>
                    <a:pt x="5371490" y="37645"/>
                  </a:lnTo>
                  <a:lnTo>
                    <a:pt x="5334498" y="17873"/>
                  </a:lnTo>
                  <a:lnTo>
                    <a:pt x="5293392" y="9696"/>
                  </a:lnTo>
                  <a:lnTo>
                    <a:pt x="5286374" y="9524"/>
                  </a:lnTo>
                  <a:lnTo>
                    <a:pt x="5338908" y="9524"/>
                  </a:lnTo>
                  <a:lnTo>
                    <a:pt x="5383008" y="34533"/>
                  </a:lnTo>
                  <a:lnTo>
                    <a:pt x="5413112" y="67714"/>
                  </a:lnTo>
                  <a:lnTo>
                    <a:pt x="5432247" y="108226"/>
                  </a:lnTo>
                  <a:lnTo>
                    <a:pt x="5438774" y="152399"/>
                  </a:lnTo>
                  <a:lnTo>
                    <a:pt x="5438774" y="2238374"/>
                  </a:lnTo>
                  <a:lnTo>
                    <a:pt x="5438049" y="2253387"/>
                  </a:lnTo>
                  <a:lnTo>
                    <a:pt x="5427172" y="2296695"/>
                  </a:lnTo>
                  <a:lnTo>
                    <a:pt x="5404239" y="2335009"/>
                  </a:lnTo>
                  <a:lnTo>
                    <a:pt x="5371058" y="2365114"/>
                  </a:lnTo>
                  <a:lnTo>
                    <a:pt x="5344694" y="2379173"/>
                  </a:lnTo>
                  <a:lnTo>
                    <a:pt x="5338907" y="2381249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6491286" y="146208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380927" y="447674"/>
                  </a:moveTo>
                  <a:lnTo>
                    <a:pt x="66747" y="447674"/>
                  </a:lnTo>
                  <a:lnTo>
                    <a:pt x="62102" y="447217"/>
                  </a:lnTo>
                  <a:lnTo>
                    <a:pt x="24240" y="430068"/>
                  </a:lnTo>
                  <a:lnTo>
                    <a:pt x="2287" y="394774"/>
                  </a:lnTo>
                  <a:lnTo>
                    <a:pt x="0" y="380928"/>
                  </a:lnTo>
                  <a:lnTo>
                    <a:pt x="0" y="3762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380927" y="0"/>
                  </a:lnTo>
                  <a:lnTo>
                    <a:pt x="419826" y="14645"/>
                  </a:lnTo>
                  <a:lnTo>
                    <a:pt x="444031" y="48433"/>
                  </a:lnTo>
                  <a:lnTo>
                    <a:pt x="447674" y="66746"/>
                  </a:lnTo>
                  <a:lnTo>
                    <a:pt x="447674" y="380928"/>
                  </a:lnTo>
                  <a:lnTo>
                    <a:pt x="433029" y="419826"/>
                  </a:lnTo>
                  <a:lnTo>
                    <a:pt x="399241" y="444032"/>
                  </a:lnTo>
                  <a:lnTo>
                    <a:pt x="385573" y="447217"/>
                  </a:lnTo>
                  <a:lnTo>
                    <a:pt x="380927" y="447674"/>
                  </a:lnTo>
                  <a:close/>
                </a:path>
              </a:pathLst>
            </a:custGeom>
            <a:solidFill>
              <a:srgbClr val="78340E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491286" y="1462087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3762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900"/>
                  </a:lnTo>
                  <a:lnTo>
                    <a:pt x="3642" y="48433"/>
                  </a:lnTo>
                  <a:lnTo>
                    <a:pt x="5438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7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2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376238" y="0"/>
                  </a:lnTo>
                  <a:lnTo>
                    <a:pt x="380927" y="0"/>
                  </a:lnTo>
                  <a:lnTo>
                    <a:pt x="385573" y="457"/>
                  </a:lnTo>
                  <a:lnTo>
                    <a:pt x="390173" y="1372"/>
                  </a:lnTo>
                  <a:lnTo>
                    <a:pt x="394774" y="2287"/>
                  </a:lnTo>
                  <a:lnTo>
                    <a:pt x="426751" y="20923"/>
                  </a:lnTo>
                  <a:lnTo>
                    <a:pt x="430068" y="24240"/>
                  </a:lnTo>
                  <a:lnTo>
                    <a:pt x="433029" y="27848"/>
                  </a:lnTo>
                  <a:lnTo>
                    <a:pt x="435634" y="31748"/>
                  </a:lnTo>
                  <a:lnTo>
                    <a:pt x="438241" y="35649"/>
                  </a:lnTo>
                  <a:lnTo>
                    <a:pt x="447675" y="71437"/>
                  </a:lnTo>
                  <a:lnTo>
                    <a:pt x="447675" y="376237"/>
                  </a:lnTo>
                  <a:lnTo>
                    <a:pt x="435634" y="415925"/>
                  </a:lnTo>
                  <a:lnTo>
                    <a:pt x="433029" y="419826"/>
                  </a:lnTo>
                  <a:lnTo>
                    <a:pt x="430068" y="423434"/>
                  </a:lnTo>
                  <a:lnTo>
                    <a:pt x="426751" y="426751"/>
                  </a:lnTo>
                  <a:lnTo>
                    <a:pt x="423435" y="430068"/>
                  </a:lnTo>
                  <a:lnTo>
                    <a:pt x="390173" y="446302"/>
                  </a:lnTo>
                  <a:lnTo>
                    <a:pt x="385573" y="447217"/>
                  </a:lnTo>
                  <a:lnTo>
                    <a:pt x="380927" y="447674"/>
                  </a:lnTo>
                  <a:lnTo>
                    <a:pt x="376238" y="447674"/>
                  </a:lnTo>
                  <a:lnTo>
                    <a:pt x="71438" y="447674"/>
                  </a:lnTo>
                  <a:lnTo>
                    <a:pt x="66747" y="447674"/>
                  </a:lnTo>
                  <a:lnTo>
                    <a:pt x="62102" y="447217"/>
                  </a:lnTo>
                  <a:lnTo>
                    <a:pt x="24240" y="430068"/>
                  </a:lnTo>
                  <a:lnTo>
                    <a:pt x="20923" y="426751"/>
                  </a:lnTo>
                  <a:lnTo>
                    <a:pt x="17607" y="423434"/>
                  </a:lnTo>
                  <a:lnTo>
                    <a:pt x="14645" y="419826"/>
                  </a:lnTo>
                  <a:lnTo>
                    <a:pt x="12039" y="415925"/>
                  </a:lnTo>
                  <a:lnTo>
                    <a:pt x="9433" y="412025"/>
                  </a:lnTo>
                  <a:lnTo>
                    <a:pt x="7232" y="407908"/>
                  </a:lnTo>
                  <a:lnTo>
                    <a:pt x="5438" y="403575"/>
                  </a:lnTo>
                  <a:lnTo>
                    <a:pt x="3642" y="399241"/>
                  </a:lnTo>
                  <a:lnTo>
                    <a:pt x="2287" y="394774"/>
                  </a:lnTo>
                  <a:lnTo>
                    <a:pt x="1372" y="390174"/>
                  </a:lnTo>
                  <a:lnTo>
                    <a:pt x="457" y="385573"/>
                  </a:lnTo>
                  <a:lnTo>
                    <a:pt x="0" y="380928"/>
                  </a:lnTo>
                  <a:lnTo>
                    <a:pt x="0" y="376237"/>
                  </a:lnTo>
                  <a:close/>
                </a:path>
              </a:pathLst>
            </a:custGeom>
            <a:ln w="9524">
              <a:solidFill>
                <a:srgbClr val="F59D0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571490" y="1571624"/>
              <a:ext cx="287020" cy="228600"/>
            </a:xfrm>
            <a:custGeom>
              <a:avLst/>
              <a:gdLst/>
              <a:ahLst/>
              <a:cxnLst/>
              <a:rect l="l" t="t" r="r" b="b"/>
              <a:pathLst>
                <a:path w="287020" h="228600">
                  <a:moveTo>
                    <a:pt x="172209" y="14287"/>
                  </a:moveTo>
                  <a:lnTo>
                    <a:pt x="115059" y="14287"/>
                  </a:lnTo>
                  <a:lnTo>
                    <a:pt x="120628" y="8400"/>
                  </a:lnTo>
                  <a:lnTo>
                    <a:pt x="127404" y="3895"/>
                  </a:lnTo>
                  <a:lnTo>
                    <a:pt x="135150" y="1014"/>
                  </a:lnTo>
                  <a:lnTo>
                    <a:pt x="143634" y="0"/>
                  </a:lnTo>
                  <a:lnTo>
                    <a:pt x="152117" y="1014"/>
                  </a:lnTo>
                  <a:lnTo>
                    <a:pt x="159863" y="3895"/>
                  </a:lnTo>
                  <a:lnTo>
                    <a:pt x="166639" y="8400"/>
                  </a:lnTo>
                  <a:lnTo>
                    <a:pt x="172209" y="14287"/>
                  </a:lnTo>
                  <a:close/>
                </a:path>
                <a:path w="287020" h="228600">
                  <a:moveTo>
                    <a:pt x="237261" y="42862"/>
                  </a:moveTo>
                  <a:lnTo>
                    <a:pt x="50006" y="42862"/>
                  </a:lnTo>
                  <a:lnTo>
                    <a:pt x="43621" y="36477"/>
                  </a:lnTo>
                  <a:lnTo>
                    <a:pt x="43621" y="20672"/>
                  </a:lnTo>
                  <a:lnTo>
                    <a:pt x="50006" y="14287"/>
                  </a:lnTo>
                  <a:lnTo>
                    <a:pt x="237261" y="14287"/>
                  </a:lnTo>
                  <a:lnTo>
                    <a:pt x="243646" y="20672"/>
                  </a:lnTo>
                  <a:lnTo>
                    <a:pt x="243646" y="36477"/>
                  </a:lnTo>
                  <a:lnTo>
                    <a:pt x="237261" y="42862"/>
                  </a:lnTo>
                  <a:close/>
                </a:path>
                <a:path w="287020" h="228600">
                  <a:moveTo>
                    <a:pt x="157921" y="200025"/>
                  </a:moveTo>
                  <a:lnTo>
                    <a:pt x="129346" y="200025"/>
                  </a:lnTo>
                  <a:lnTo>
                    <a:pt x="129346" y="68446"/>
                  </a:lnTo>
                  <a:lnTo>
                    <a:pt x="122009" y="64122"/>
                  </a:lnTo>
                  <a:lnTo>
                    <a:pt x="115924" y="58232"/>
                  </a:lnTo>
                  <a:lnTo>
                    <a:pt x="111370" y="51054"/>
                  </a:lnTo>
                  <a:lnTo>
                    <a:pt x="108629" y="42862"/>
                  </a:lnTo>
                  <a:lnTo>
                    <a:pt x="178638" y="42862"/>
                  </a:lnTo>
                  <a:lnTo>
                    <a:pt x="175897" y="51079"/>
                  </a:lnTo>
                  <a:lnTo>
                    <a:pt x="171343" y="58266"/>
                  </a:lnTo>
                  <a:lnTo>
                    <a:pt x="165258" y="64147"/>
                  </a:lnTo>
                  <a:lnTo>
                    <a:pt x="157921" y="68446"/>
                  </a:lnTo>
                  <a:lnTo>
                    <a:pt x="157921" y="200025"/>
                  </a:lnTo>
                  <a:close/>
                </a:path>
                <a:path w="287020" h="228600">
                  <a:moveTo>
                    <a:pt x="57373" y="185737"/>
                  </a:moveTo>
                  <a:lnTo>
                    <a:pt x="20543" y="175641"/>
                  </a:lnTo>
                  <a:lnTo>
                    <a:pt x="0" y="145598"/>
                  </a:lnTo>
                  <a:lnTo>
                    <a:pt x="1607" y="140553"/>
                  </a:lnTo>
                  <a:lnTo>
                    <a:pt x="48890" y="59471"/>
                  </a:lnTo>
                  <a:lnTo>
                    <a:pt x="52997" y="57150"/>
                  </a:lnTo>
                  <a:lnTo>
                    <a:pt x="61838" y="57150"/>
                  </a:lnTo>
                  <a:lnTo>
                    <a:pt x="65945" y="59516"/>
                  </a:lnTo>
                  <a:lnTo>
                    <a:pt x="68665" y="64147"/>
                  </a:lnTo>
                  <a:lnTo>
                    <a:pt x="82240" y="87421"/>
                  </a:lnTo>
                  <a:lnTo>
                    <a:pt x="57373" y="87421"/>
                  </a:lnTo>
                  <a:lnTo>
                    <a:pt x="25047" y="142875"/>
                  </a:lnTo>
                  <a:lnTo>
                    <a:pt x="113968" y="142875"/>
                  </a:lnTo>
                  <a:lnTo>
                    <a:pt x="114835" y="145598"/>
                  </a:lnTo>
                  <a:lnTo>
                    <a:pt x="113674" y="150509"/>
                  </a:lnTo>
                  <a:lnTo>
                    <a:pt x="106773" y="164471"/>
                  </a:lnTo>
                  <a:lnTo>
                    <a:pt x="94230" y="175641"/>
                  </a:lnTo>
                  <a:lnTo>
                    <a:pt x="77333" y="183052"/>
                  </a:lnTo>
                  <a:lnTo>
                    <a:pt x="57373" y="185737"/>
                  </a:lnTo>
                  <a:close/>
                </a:path>
                <a:path w="287020" h="228600">
                  <a:moveTo>
                    <a:pt x="229359" y="185737"/>
                  </a:moveTo>
                  <a:lnTo>
                    <a:pt x="192507" y="175641"/>
                  </a:lnTo>
                  <a:lnTo>
                    <a:pt x="171941" y="145598"/>
                  </a:lnTo>
                  <a:lnTo>
                    <a:pt x="173548" y="140553"/>
                  </a:lnTo>
                  <a:lnTo>
                    <a:pt x="220831" y="59471"/>
                  </a:lnTo>
                  <a:lnTo>
                    <a:pt x="224938" y="57150"/>
                  </a:lnTo>
                  <a:lnTo>
                    <a:pt x="233779" y="57150"/>
                  </a:lnTo>
                  <a:lnTo>
                    <a:pt x="237886" y="59516"/>
                  </a:lnTo>
                  <a:lnTo>
                    <a:pt x="240606" y="64147"/>
                  </a:lnTo>
                  <a:lnTo>
                    <a:pt x="254181" y="87421"/>
                  </a:lnTo>
                  <a:lnTo>
                    <a:pt x="229359" y="87421"/>
                  </a:lnTo>
                  <a:lnTo>
                    <a:pt x="197033" y="142875"/>
                  </a:lnTo>
                  <a:lnTo>
                    <a:pt x="285909" y="142875"/>
                  </a:lnTo>
                  <a:lnTo>
                    <a:pt x="286776" y="145598"/>
                  </a:lnTo>
                  <a:lnTo>
                    <a:pt x="285616" y="150509"/>
                  </a:lnTo>
                  <a:lnTo>
                    <a:pt x="278740" y="164471"/>
                  </a:lnTo>
                  <a:lnTo>
                    <a:pt x="266210" y="175641"/>
                  </a:lnTo>
                  <a:lnTo>
                    <a:pt x="249318" y="183052"/>
                  </a:lnTo>
                  <a:lnTo>
                    <a:pt x="229359" y="185737"/>
                  </a:lnTo>
                  <a:close/>
                </a:path>
                <a:path w="287020" h="228600">
                  <a:moveTo>
                    <a:pt x="113968" y="142875"/>
                  </a:moveTo>
                  <a:lnTo>
                    <a:pt x="89743" y="142875"/>
                  </a:lnTo>
                  <a:lnTo>
                    <a:pt x="57373" y="87421"/>
                  </a:lnTo>
                  <a:lnTo>
                    <a:pt x="82240" y="87421"/>
                  </a:lnTo>
                  <a:lnTo>
                    <a:pt x="113228" y="140553"/>
                  </a:lnTo>
                  <a:lnTo>
                    <a:pt x="113968" y="142875"/>
                  </a:lnTo>
                  <a:close/>
                </a:path>
                <a:path w="287020" h="228600">
                  <a:moveTo>
                    <a:pt x="285909" y="142875"/>
                  </a:moveTo>
                  <a:lnTo>
                    <a:pt x="261729" y="142875"/>
                  </a:lnTo>
                  <a:lnTo>
                    <a:pt x="229359" y="87421"/>
                  </a:lnTo>
                  <a:lnTo>
                    <a:pt x="254181" y="87421"/>
                  </a:lnTo>
                  <a:lnTo>
                    <a:pt x="285169" y="140553"/>
                  </a:lnTo>
                  <a:lnTo>
                    <a:pt x="285909" y="142875"/>
                  </a:lnTo>
                  <a:close/>
                </a:path>
                <a:path w="287020" h="228600">
                  <a:moveTo>
                    <a:pt x="237261" y="228600"/>
                  </a:moveTo>
                  <a:lnTo>
                    <a:pt x="50006" y="228600"/>
                  </a:lnTo>
                  <a:lnTo>
                    <a:pt x="43621" y="222215"/>
                  </a:lnTo>
                  <a:lnTo>
                    <a:pt x="43621" y="206409"/>
                  </a:lnTo>
                  <a:lnTo>
                    <a:pt x="50006" y="200025"/>
                  </a:lnTo>
                  <a:lnTo>
                    <a:pt x="237261" y="200025"/>
                  </a:lnTo>
                  <a:lnTo>
                    <a:pt x="243646" y="206409"/>
                  </a:lnTo>
                  <a:lnTo>
                    <a:pt x="243646" y="222215"/>
                  </a:lnTo>
                  <a:lnTo>
                    <a:pt x="237261" y="228600"/>
                  </a:lnTo>
                  <a:close/>
                </a:path>
              </a:pathLst>
            </a:custGeom>
            <a:solidFill>
              <a:srgbClr val="FABE2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083425" y="1558925"/>
            <a:ext cx="97790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EF2C7"/>
                </a:solidFill>
                <a:latin typeface="微软雅黑"/>
                <a:cs typeface="微软雅黑"/>
              </a:rPr>
              <a:t>合规性挑战</a:t>
            </a:r>
            <a:endParaRPr sz="1500">
              <a:latin typeface="微软雅黑"/>
              <a:cs typeface="微软雅黑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486524" y="2105025"/>
            <a:ext cx="190500" cy="876300"/>
            <a:chOff x="6486524" y="2105025"/>
            <a:chExt cx="190500" cy="876300"/>
          </a:xfrm>
        </p:grpSpPr>
        <p:pic>
          <p:nvPicPr>
            <p:cNvPr id="23" name="object 2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86524" y="2105025"/>
              <a:ext cx="190499" cy="152399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6562712" y="2476512"/>
              <a:ext cx="47625" cy="504825"/>
            </a:xfrm>
            <a:custGeom>
              <a:avLst/>
              <a:gdLst/>
              <a:ahLst/>
              <a:cxnLst/>
              <a:rect l="l" t="t" r="r" b="b"/>
              <a:pathLst>
                <a:path w="47625" h="504825">
                  <a:moveTo>
                    <a:pt x="47625" y="477850"/>
                  </a:moveTo>
                  <a:lnTo>
                    <a:pt x="26974" y="457200"/>
                  </a:lnTo>
                  <a:lnTo>
                    <a:pt x="20662" y="457200"/>
                  </a:lnTo>
                  <a:lnTo>
                    <a:pt x="0" y="477850"/>
                  </a:lnTo>
                  <a:lnTo>
                    <a:pt x="0" y="484162"/>
                  </a:lnTo>
                  <a:lnTo>
                    <a:pt x="20662" y="504825"/>
                  </a:lnTo>
                  <a:lnTo>
                    <a:pt x="26974" y="504825"/>
                  </a:lnTo>
                  <a:lnTo>
                    <a:pt x="47625" y="484162"/>
                  </a:lnTo>
                  <a:lnTo>
                    <a:pt x="47625" y="481012"/>
                  </a:lnTo>
                  <a:lnTo>
                    <a:pt x="47625" y="477850"/>
                  </a:lnTo>
                  <a:close/>
                </a:path>
                <a:path w="47625" h="5048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25"/>
                  </a:lnTo>
                  <a:lnTo>
                    <a:pt x="26974" y="47625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550025" y="2073275"/>
            <a:ext cx="4869815" cy="97599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2565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BD34D"/>
                </a:solidFill>
                <a:latin typeface="微软雅黑"/>
                <a:cs typeface="微软雅黑"/>
              </a:rPr>
              <a:t>多智能体协作的目标冲突</a:t>
            </a:r>
            <a:endParaRPr sz="1200">
              <a:latin typeface="微软雅黑"/>
              <a:cs typeface="微软雅黑"/>
            </a:endParaRPr>
          </a:p>
          <a:p>
            <a:pPr marL="202565">
              <a:lnSpc>
                <a:spcPct val="100000"/>
              </a:lnSpc>
              <a:spcBef>
                <a:spcPts val="1185"/>
              </a:spcBef>
            </a:pPr>
            <a:r>
              <a:rPr sz="1050" dirty="0">
                <a:solidFill>
                  <a:srgbClr val="FFFFFF"/>
                </a:solidFill>
                <a:latin typeface="微软雅黑"/>
                <a:cs typeface="微软雅黑"/>
              </a:rPr>
              <a:t>突现行为不可测：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多机器人交互可能产生意料之外的有害系统行为，责任归属</a:t>
            </a:r>
            <a:endParaRPr sz="10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dirty="0">
                <a:solidFill>
                  <a:srgbClr val="D0D5DA"/>
                </a:solidFill>
                <a:latin typeface="微软雅黑"/>
                <a:cs typeface="微软雅黑"/>
              </a:rPr>
              <a:t>（Accountability）</a:t>
            </a:r>
            <a:r>
              <a:rPr sz="1050" spc="-20" dirty="0">
                <a:solidFill>
                  <a:srgbClr val="D0D5DA"/>
                </a:solidFill>
                <a:latin typeface="微软雅黑"/>
                <a:cs typeface="微软雅黑"/>
              </a:rPr>
              <a:t>模糊。</a:t>
            </a:r>
            <a:endParaRPr sz="1050">
              <a:latin typeface="微软雅黑"/>
              <a:cs typeface="微软雅黑"/>
            </a:endParaRPr>
          </a:p>
          <a:p>
            <a:pPr marL="202565">
              <a:lnSpc>
                <a:spcPct val="100000"/>
              </a:lnSpc>
              <a:spcBef>
                <a:spcPts val="840"/>
              </a:spcBef>
            </a:pPr>
            <a:r>
              <a:rPr sz="1050" dirty="0">
                <a:solidFill>
                  <a:srgbClr val="FFFFFF"/>
                </a:solidFill>
                <a:latin typeface="微软雅黑"/>
                <a:cs typeface="微软雅黑"/>
              </a:rPr>
              <a:t>偏见放大：</a:t>
            </a:r>
            <a:r>
              <a:rPr sz="1050" spc="-20" dirty="0">
                <a:solidFill>
                  <a:srgbClr val="D0D5DA"/>
                </a:solidFill>
                <a:latin typeface="微软雅黑"/>
                <a:cs typeface="微软雅黑"/>
              </a:rPr>
              <a:t>单个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Agent</a:t>
            </a:r>
            <a:r>
              <a:rPr sz="1050" spc="-25" dirty="0">
                <a:solidFill>
                  <a:srgbClr val="D0D5DA"/>
                </a:solidFill>
                <a:latin typeface="微软雅黑"/>
                <a:cs typeface="微软雅黑"/>
              </a:rPr>
              <a:t>的偏见可能在协作网络中传播，导致违规的自动化决策。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04824" y="3914774"/>
            <a:ext cx="5438775" cy="2390775"/>
            <a:chOff x="504824" y="3914774"/>
            <a:chExt cx="5438775" cy="2390775"/>
          </a:xfrm>
        </p:grpSpPr>
        <p:sp>
          <p:nvSpPr>
            <p:cNvPr id="27" name="object 27"/>
            <p:cNvSpPr/>
            <p:nvPr/>
          </p:nvSpPr>
          <p:spPr>
            <a:xfrm>
              <a:off x="504824" y="3914774"/>
              <a:ext cx="5438775" cy="2390775"/>
            </a:xfrm>
            <a:custGeom>
              <a:avLst/>
              <a:gdLst/>
              <a:ahLst/>
              <a:cxnLst/>
              <a:rect l="l" t="t" r="r" b="b"/>
              <a:pathLst>
                <a:path w="5438775" h="2390775">
                  <a:moveTo>
                    <a:pt x="5286374" y="2390774"/>
                  </a:moveTo>
                  <a:lnTo>
                    <a:pt x="152399" y="2390774"/>
                  </a:lnTo>
                  <a:lnTo>
                    <a:pt x="137387" y="2390049"/>
                  </a:lnTo>
                  <a:lnTo>
                    <a:pt x="94078" y="2379172"/>
                  </a:lnTo>
                  <a:lnTo>
                    <a:pt x="55765" y="2356240"/>
                  </a:lnTo>
                  <a:lnTo>
                    <a:pt x="25660" y="2323058"/>
                  </a:lnTo>
                  <a:lnTo>
                    <a:pt x="6525" y="2282547"/>
                  </a:lnTo>
                  <a:lnTo>
                    <a:pt x="0" y="2238374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4"/>
                  </a:lnTo>
                  <a:lnTo>
                    <a:pt x="55765" y="34533"/>
                  </a:lnTo>
                  <a:lnTo>
                    <a:pt x="94078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286374" y="0"/>
                  </a:lnTo>
                  <a:lnTo>
                    <a:pt x="5330547" y="6525"/>
                  </a:lnTo>
                  <a:lnTo>
                    <a:pt x="5371058" y="25659"/>
                  </a:lnTo>
                  <a:lnTo>
                    <a:pt x="5404240" y="55764"/>
                  </a:lnTo>
                  <a:lnTo>
                    <a:pt x="5427173" y="94078"/>
                  </a:lnTo>
                  <a:lnTo>
                    <a:pt x="5438049" y="137386"/>
                  </a:lnTo>
                  <a:lnTo>
                    <a:pt x="5438774" y="152399"/>
                  </a:lnTo>
                  <a:lnTo>
                    <a:pt x="5438774" y="2238374"/>
                  </a:lnTo>
                  <a:lnTo>
                    <a:pt x="5432248" y="2282547"/>
                  </a:lnTo>
                  <a:lnTo>
                    <a:pt x="5413113" y="2323058"/>
                  </a:lnTo>
                  <a:lnTo>
                    <a:pt x="5383008" y="2356240"/>
                  </a:lnTo>
                  <a:lnTo>
                    <a:pt x="5344694" y="2379172"/>
                  </a:lnTo>
                  <a:lnTo>
                    <a:pt x="5301387" y="2390049"/>
                  </a:lnTo>
                  <a:lnTo>
                    <a:pt x="5286374" y="239077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04824" y="3914774"/>
              <a:ext cx="5438775" cy="2390775"/>
            </a:xfrm>
            <a:custGeom>
              <a:avLst/>
              <a:gdLst/>
              <a:ahLst/>
              <a:cxnLst/>
              <a:rect l="l" t="t" r="r" b="b"/>
              <a:pathLst>
                <a:path w="5438775" h="2390775">
                  <a:moveTo>
                    <a:pt x="5286374" y="2390774"/>
                  </a:moveTo>
                  <a:lnTo>
                    <a:pt x="152399" y="2390774"/>
                  </a:lnTo>
                  <a:lnTo>
                    <a:pt x="137387" y="2390049"/>
                  </a:lnTo>
                  <a:lnTo>
                    <a:pt x="94078" y="2379173"/>
                  </a:lnTo>
                  <a:lnTo>
                    <a:pt x="55765" y="2356240"/>
                  </a:lnTo>
                  <a:lnTo>
                    <a:pt x="25660" y="2323059"/>
                  </a:lnTo>
                  <a:lnTo>
                    <a:pt x="6525" y="2282547"/>
                  </a:lnTo>
                  <a:lnTo>
                    <a:pt x="0" y="2238374"/>
                  </a:lnTo>
                  <a:lnTo>
                    <a:pt x="0" y="152399"/>
                  </a:lnTo>
                  <a:lnTo>
                    <a:pt x="6525" y="108226"/>
                  </a:lnTo>
                  <a:lnTo>
                    <a:pt x="25660" y="67714"/>
                  </a:lnTo>
                  <a:lnTo>
                    <a:pt x="55765" y="34533"/>
                  </a:lnTo>
                  <a:lnTo>
                    <a:pt x="94078" y="11600"/>
                  </a:lnTo>
                  <a:lnTo>
                    <a:pt x="137387" y="725"/>
                  </a:lnTo>
                  <a:lnTo>
                    <a:pt x="152399" y="0"/>
                  </a:lnTo>
                  <a:lnTo>
                    <a:pt x="5286374" y="0"/>
                  </a:lnTo>
                  <a:lnTo>
                    <a:pt x="5301387" y="725"/>
                  </a:lnTo>
                  <a:lnTo>
                    <a:pt x="5316112" y="2900"/>
                  </a:lnTo>
                  <a:lnTo>
                    <a:pt x="5330547" y="6525"/>
                  </a:lnTo>
                  <a:lnTo>
                    <a:pt x="5338909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4" y="17872"/>
                  </a:lnTo>
                  <a:lnTo>
                    <a:pt x="67282" y="37645"/>
                  </a:lnTo>
                  <a:lnTo>
                    <a:pt x="37646" y="67281"/>
                  </a:lnTo>
                  <a:lnTo>
                    <a:pt x="17873" y="104273"/>
                  </a:lnTo>
                  <a:lnTo>
                    <a:pt x="9696" y="145380"/>
                  </a:lnTo>
                  <a:lnTo>
                    <a:pt x="9524" y="152399"/>
                  </a:lnTo>
                  <a:lnTo>
                    <a:pt x="9524" y="2238374"/>
                  </a:lnTo>
                  <a:lnTo>
                    <a:pt x="15675" y="2279849"/>
                  </a:lnTo>
                  <a:lnTo>
                    <a:pt x="33603" y="2317751"/>
                  </a:lnTo>
                  <a:lnTo>
                    <a:pt x="61759" y="2348819"/>
                  </a:lnTo>
                  <a:lnTo>
                    <a:pt x="97724" y="2370372"/>
                  </a:lnTo>
                  <a:lnTo>
                    <a:pt x="138395" y="2380562"/>
                  </a:lnTo>
                  <a:lnTo>
                    <a:pt x="152399" y="2381249"/>
                  </a:lnTo>
                  <a:lnTo>
                    <a:pt x="5338906" y="2381249"/>
                  </a:lnTo>
                  <a:lnTo>
                    <a:pt x="5330547" y="2384248"/>
                  </a:lnTo>
                  <a:lnTo>
                    <a:pt x="5316111" y="2387873"/>
                  </a:lnTo>
                  <a:lnTo>
                    <a:pt x="5301387" y="2390049"/>
                  </a:lnTo>
                  <a:lnTo>
                    <a:pt x="5286374" y="2390774"/>
                  </a:lnTo>
                  <a:close/>
                </a:path>
                <a:path w="5438775" h="2390775">
                  <a:moveTo>
                    <a:pt x="5338906" y="2381249"/>
                  </a:moveTo>
                  <a:lnTo>
                    <a:pt x="5286374" y="2381249"/>
                  </a:lnTo>
                  <a:lnTo>
                    <a:pt x="5293393" y="2381077"/>
                  </a:lnTo>
                  <a:lnTo>
                    <a:pt x="5300378" y="2380562"/>
                  </a:lnTo>
                  <a:lnTo>
                    <a:pt x="5341050" y="2370372"/>
                  </a:lnTo>
                  <a:lnTo>
                    <a:pt x="5377013" y="2348819"/>
                  </a:lnTo>
                  <a:lnTo>
                    <a:pt x="5405170" y="2317751"/>
                  </a:lnTo>
                  <a:lnTo>
                    <a:pt x="5423098" y="2279849"/>
                  </a:lnTo>
                  <a:lnTo>
                    <a:pt x="5429249" y="2238374"/>
                  </a:lnTo>
                  <a:lnTo>
                    <a:pt x="5429249" y="152399"/>
                  </a:lnTo>
                  <a:lnTo>
                    <a:pt x="5429077" y="145380"/>
                  </a:lnTo>
                  <a:lnTo>
                    <a:pt x="5420900" y="104273"/>
                  </a:lnTo>
                  <a:lnTo>
                    <a:pt x="5401127" y="67281"/>
                  </a:lnTo>
                  <a:lnTo>
                    <a:pt x="5371491" y="37645"/>
                  </a:lnTo>
                  <a:lnTo>
                    <a:pt x="5334499" y="17872"/>
                  </a:lnTo>
                  <a:lnTo>
                    <a:pt x="5293393" y="9696"/>
                  </a:lnTo>
                  <a:lnTo>
                    <a:pt x="5286374" y="9524"/>
                  </a:lnTo>
                  <a:lnTo>
                    <a:pt x="5338909" y="9524"/>
                  </a:lnTo>
                  <a:lnTo>
                    <a:pt x="5383008" y="34533"/>
                  </a:lnTo>
                  <a:lnTo>
                    <a:pt x="5413114" y="67714"/>
                  </a:lnTo>
                  <a:lnTo>
                    <a:pt x="5432248" y="108226"/>
                  </a:lnTo>
                  <a:lnTo>
                    <a:pt x="5438774" y="152399"/>
                  </a:lnTo>
                  <a:lnTo>
                    <a:pt x="5438774" y="2238374"/>
                  </a:lnTo>
                  <a:lnTo>
                    <a:pt x="5438049" y="2253387"/>
                  </a:lnTo>
                  <a:lnTo>
                    <a:pt x="5427173" y="2296695"/>
                  </a:lnTo>
                  <a:lnTo>
                    <a:pt x="5404240" y="2335008"/>
                  </a:lnTo>
                  <a:lnTo>
                    <a:pt x="5371058" y="2365113"/>
                  </a:lnTo>
                  <a:lnTo>
                    <a:pt x="5344694" y="2379173"/>
                  </a:lnTo>
                  <a:lnTo>
                    <a:pt x="5338906" y="2381249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747712" y="41576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380928" y="447674"/>
                  </a:moveTo>
                  <a:lnTo>
                    <a:pt x="66746" y="447674"/>
                  </a:lnTo>
                  <a:lnTo>
                    <a:pt x="62101" y="447217"/>
                  </a:lnTo>
                  <a:lnTo>
                    <a:pt x="24240" y="430068"/>
                  </a:lnTo>
                  <a:lnTo>
                    <a:pt x="2287" y="394774"/>
                  </a:lnTo>
                  <a:lnTo>
                    <a:pt x="0" y="380928"/>
                  </a:lnTo>
                  <a:lnTo>
                    <a:pt x="0" y="3762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6" y="0"/>
                  </a:lnTo>
                  <a:lnTo>
                    <a:pt x="380928" y="0"/>
                  </a:lnTo>
                  <a:lnTo>
                    <a:pt x="419826" y="14645"/>
                  </a:lnTo>
                  <a:lnTo>
                    <a:pt x="444032" y="48433"/>
                  </a:lnTo>
                  <a:lnTo>
                    <a:pt x="447674" y="66746"/>
                  </a:lnTo>
                  <a:lnTo>
                    <a:pt x="447674" y="380928"/>
                  </a:lnTo>
                  <a:lnTo>
                    <a:pt x="433029" y="419826"/>
                  </a:lnTo>
                  <a:lnTo>
                    <a:pt x="399241" y="444031"/>
                  </a:lnTo>
                  <a:lnTo>
                    <a:pt x="385573" y="447217"/>
                  </a:lnTo>
                  <a:lnTo>
                    <a:pt x="380928" y="447674"/>
                  </a:lnTo>
                  <a:close/>
                </a:path>
              </a:pathLst>
            </a:custGeom>
            <a:solidFill>
              <a:srgbClr val="054E3B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747712" y="41576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3762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6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57500" y="1372"/>
                  </a:lnTo>
                  <a:lnTo>
                    <a:pt x="62101" y="457"/>
                  </a:lnTo>
                  <a:lnTo>
                    <a:pt x="66746" y="0"/>
                  </a:lnTo>
                  <a:lnTo>
                    <a:pt x="71437" y="0"/>
                  </a:lnTo>
                  <a:lnTo>
                    <a:pt x="376237" y="0"/>
                  </a:lnTo>
                  <a:lnTo>
                    <a:pt x="380928" y="0"/>
                  </a:lnTo>
                  <a:lnTo>
                    <a:pt x="385573" y="457"/>
                  </a:lnTo>
                  <a:lnTo>
                    <a:pt x="423434" y="17606"/>
                  </a:lnTo>
                  <a:lnTo>
                    <a:pt x="426751" y="20923"/>
                  </a:lnTo>
                  <a:lnTo>
                    <a:pt x="430068" y="24240"/>
                  </a:lnTo>
                  <a:lnTo>
                    <a:pt x="433029" y="27848"/>
                  </a:lnTo>
                  <a:lnTo>
                    <a:pt x="435635" y="31748"/>
                  </a:lnTo>
                  <a:lnTo>
                    <a:pt x="438241" y="35649"/>
                  </a:lnTo>
                  <a:lnTo>
                    <a:pt x="447674" y="66746"/>
                  </a:lnTo>
                  <a:lnTo>
                    <a:pt x="447674" y="71437"/>
                  </a:lnTo>
                  <a:lnTo>
                    <a:pt x="447674" y="376237"/>
                  </a:lnTo>
                  <a:lnTo>
                    <a:pt x="447674" y="380928"/>
                  </a:lnTo>
                  <a:lnTo>
                    <a:pt x="447217" y="385573"/>
                  </a:lnTo>
                  <a:lnTo>
                    <a:pt x="435635" y="415925"/>
                  </a:lnTo>
                  <a:lnTo>
                    <a:pt x="433029" y="419826"/>
                  </a:lnTo>
                  <a:lnTo>
                    <a:pt x="430068" y="423434"/>
                  </a:lnTo>
                  <a:lnTo>
                    <a:pt x="426751" y="426751"/>
                  </a:lnTo>
                  <a:lnTo>
                    <a:pt x="423434" y="430068"/>
                  </a:lnTo>
                  <a:lnTo>
                    <a:pt x="385573" y="447217"/>
                  </a:lnTo>
                  <a:lnTo>
                    <a:pt x="380928" y="447674"/>
                  </a:lnTo>
                  <a:lnTo>
                    <a:pt x="376237" y="447674"/>
                  </a:lnTo>
                  <a:lnTo>
                    <a:pt x="71437" y="447674"/>
                  </a:lnTo>
                  <a:lnTo>
                    <a:pt x="66746" y="447674"/>
                  </a:lnTo>
                  <a:lnTo>
                    <a:pt x="62101" y="447217"/>
                  </a:lnTo>
                  <a:lnTo>
                    <a:pt x="57500" y="446302"/>
                  </a:lnTo>
                  <a:lnTo>
                    <a:pt x="52900" y="445386"/>
                  </a:lnTo>
                  <a:lnTo>
                    <a:pt x="20923" y="426751"/>
                  </a:lnTo>
                  <a:lnTo>
                    <a:pt x="17606" y="423434"/>
                  </a:lnTo>
                  <a:lnTo>
                    <a:pt x="14645" y="419826"/>
                  </a:lnTo>
                  <a:lnTo>
                    <a:pt x="12039" y="415925"/>
                  </a:lnTo>
                  <a:lnTo>
                    <a:pt x="9433" y="412025"/>
                  </a:lnTo>
                  <a:lnTo>
                    <a:pt x="0" y="380928"/>
                  </a:lnTo>
                  <a:lnTo>
                    <a:pt x="0" y="376237"/>
                  </a:lnTo>
                  <a:close/>
                </a:path>
              </a:pathLst>
            </a:custGeom>
            <a:ln w="9524">
              <a:solidFill>
                <a:srgbClr val="0FB98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57249" y="4281487"/>
              <a:ext cx="228600" cy="20002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2949" y="4800599"/>
              <a:ext cx="152399" cy="152399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819137" y="5172087"/>
              <a:ext cx="47625" cy="504825"/>
            </a:xfrm>
            <a:custGeom>
              <a:avLst/>
              <a:gdLst/>
              <a:ahLst/>
              <a:cxnLst/>
              <a:rect l="l" t="t" r="r" b="b"/>
              <a:pathLst>
                <a:path w="47625" h="504825">
                  <a:moveTo>
                    <a:pt x="47625" y="477850"/>
                  </a:moveTo>
                  <a:lnTo>
                    <a:pt x="26974" y="457200"/>
                  </a:lnTo>
                  <a:lnTo>
                    <a:pt x="20662" y="457200"/>
                  </a:lnTo>
                  <a:lnTo>
                    <a:pt x="0" y="477850"/>
                  </a:lnTo>
                  <a:lnTo>
                    <a:pt x="0" y="484162"/>
                  </a:lnTo>
                  <a:lnTo>
                    <a:pt x="20662" y="504812"/>
                  </a:lnTo>
                  <a:lnTo>
                    <a:pt x="26974" y="504812"/>
                  </a:lnTo>
                  <a:lnTo>
                    <a:pt x="47625" y="484162"/>
                  </a:lnTo>
                  <a:lnTo>
                    <a:pt x="47625" y="481012"/>
                  </a:lnTo>
                  <a:lnTo>
                    <a:pt x="47625" y="477850"/>
                  </a:lnTo>
                  <a:close/>
                </a:path>
                <a:path w="47625" h="5048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12"/>
                  </a:lnTo>
                  <a:lnTo>
                    <a:pt x="26974" y="47612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806449" y="4254500"/>
            <a:ext cx="4883150" cy="1680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5465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D0FAE4"/>
                </a:solidFill>
                <a:latin typeface="微软雅黑"/>
                <a:cs typeface="微软雅黑"/>
              </a:rPr>
              <a:t>成本不可控</a:t>
            </a:r>
            <a:endParaRPr sz="1500">
              <a:latin typeface="微软雅黑"/>
              <a:cs typeface="微软雅黑"/>
            </a:endParaRPr>
          </a:p>
          <a:p>
            <a:pPr marL="164465">
              <a:lnSpc>
                <a:spcPct val="100000"/>
              </a:lnSpc>
              <a:spcBef>
                <a:spcPts val="2250"/>
              </a:spcBef>
            </a:pPr>
            <a:r>
              <a:rPr sz="1200" b="1" spc="-10" dirty="0">
                <a:solidFill>
                  <a:srgbClr val="6EE7B6"/>
                </a:solidFill>
                <a:latin typeface="微软雅黑"/>
                <a:cs typeface="微软雅黑"/>
              </a:rPr>
              <a:t>资源消耗与延迟瓶颈</a:t>
            </a:r>
            <a:endParaRPr sz="1200">
              <a:latin typeface="微软雅黑"/>
              <a:cs typeface="微软雅黑"/>
            </a:endParaRPr>
          </a:p>
          <a:p>
            <a:pPr marL="12700" marR="65405" indent="190500">
              <a:lnSpc>
                <a:spcPct val="119000"/>
              </a:lnSpc>
              <a:spcBef>
                <a:spcPts val="944"/>
              </a:spcBef>
            </a:pPr>
            <a:r>
              <a:rPr sz="1050" dirty="0">
                <a:solidFill>
                  <a:srgbClr val="FFFFFF"/>
                </a:solidFill>
                <a:latin typeface="微软雅黑"/>
                <a:cs typeface="微软雅黑"/>
              </a:rPr>
              <a:t>传统拼接低效：</a:t>
            </a:r>
            <a:r>
              <a:rPr sz="1050" dirty="0">
                <a:solidFill>
                  <a:srgbClr val="D0D5DA"/>
                </a:solidFill>
                <a:latin typeface="微软雅黑"/>
                <a:cs typeface="微软雅黑"/>
              </a:rPr>
              <a:t>模块化拼接（搜索+分析+写作）导致错误率叠加超30%，</a:t>
            </a:r>
            <a:r>
              <a:rPr sz="1050" spc="-25" dirty="0">
                <a:solidFill>
                  <a:srgbClr val="D0D5DA"/>
                </a:solidFill>
                <a:latin typeface="微软雅黑"/>
                <a:cs typeface="微软雅黑"/>
              </a:rPr>
              <a:t>频繁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修正增加运行成本。</a:t>
            </a:r>
            <a:endParaRPr sz="1050">
              <a:latin typeface="微软雅黑"/>
              <a:cs typeface="微软雅黑"/>
            </a:endParaRPr>
          </a:p>
          <a:p>
            <a:pPr marL="12700" marR="5080" indent="190500">
              <a:lnSpc>
                <a:spcPct val="119000"/>
              </a:lnSpc>
              <a:spcBef>
                <a:spcPts val="600"/>
              </a:spcBef>
            </a:pPr>
            <a:r>
              <a:rPr sz="1050" dirty="0">
                <a:solidFill>
                  <a:srgbClr val="FFFFFF"/>
                </a:solidFill>
                <a:latin typeface="微软雅黑"/>
                <a:cs typeface="微软雅黑"/>
              </a:rPr>
              <a:t>维护复杂性：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随着智能体数量增加，系统可靠性维护和错误追踪成本呈指数级上</a:t>
            </a:r>
            <a:r>
              <a:rPr sz="1050" spc="-25" dirty="0">
                <a:solidFill>
                  <a:srgbClr val="D0D5DA"/>
                </a:solidFill>
                <a:latin typeface="微软雅黑"/>
                <a:cs typeface="微软雅黑"/>
              </a:rPr>
              <a:t>升。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6248399" y="3914774"/>
            <a:ext cx="5438775" cy="2390775"/>
            <a:chOff x="6248399" y="3914774"/>
            <a:chExt cx="5438775" cy="2390775"/>
          </a:xfrm>
        </p:grpSpPr>
        <p:sp>
          <p:nvSpPr>
            <p:cNvPr id="36" name="object 36"/>
            <p:cNvSpPr/>
            <p:nvPr/>
          </p:nvSpPr>
          <p:spPr>
            <a:xfrm>
              <a:off x="6248399" y="3914774"/>
              <a:ext cx="5438775" cy="2390775"/>
            </a:xfrm>
            <a:custGeom>
              <a:avLst/>
              <a:gdLst/>
              <a:ahLst/>
              <a:cxnLst/>
              <a:rect l="l" t="t" r="r" b="b"/>
              <a:pathLst>
                <a:path w="5438775" h="2390775">
                  <a:moveTo>
                    <a:pt x="5286374" y="2390774"/>
                  </a:moveTo>
                  <a:lnTo>
                    <a:pt x="152399" y="2390774"/>
                  </a:lnTo>
                  <a:lnTo>
                    <a:pt x="137386" y="2390049"/>
                  </a:lnTo>
                  <a:lnTo>
                    <a:pt x="94078" y="2379172"/>
                  </a:lnTo>
                  <a:lnTo>
                    <a:pt x="55764" y="2356240"/>
                  </a:lnTo>
                  <a:lnTo>
                    <a:pt x="25659" y="2323058"/>
                  </a:lnTo>
                  <a:lnTo>
                    <a:pt x="6524" y="2282547"/>
                  </a:lnTo>
                  <a:lnTo>
                    <a:pt x="0" y="2238374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5286374" y="0"/>
                  </a:lnTo>
                  <a:lnTo>
                    <a:pt x="5330546" y="6525"/>
                  </a:lnTo>
                  <a:lnTo>
                    <a:pt x="5371058" y="25659"/>
                  </a:lnTo>
                  <a:lnTo>
                    <a:pt x="5404239" y="55764"/>
                  </a:lnTo>
                  <a:lnTo>
                    <a:pt x="5427172" y="94078"/>
                  </a:lnTo>
                  <a:lnTo>
                    <a:pt x="5438049" y="137386"/>
                  </a:lnTo>
                  <a:lnTo>
                    <a:pt x="5438774" y="152399"/>
                  </a:lnTo>
                  <a:lnTo>
                    <a:pt x="5438774" y="2238374"/>
                  </a:lnTo>
                  <a:lnTo>
                    <a:pt x="5432247" y="2282547"/>
                  </a:lnTo>
                  <a:lnTo>
                    <a:pt x="5413112" y="2323058"/>
                  </a:lnTo>
                  <a:lnTo>
                    <a:pt x="5383008" y="2356240"/>
                  </a:lnTo>
                  <a:lnTo>
                    <a:pt x="5344694" y="2379172"/>
                  </a:lnTo>
                  <a:lnTo>
                    <a:pt x="5301386" y="2390049"/>
                  </a:lnTo>
                  <a:lnTo>
                    <a:pt x="5286374" y="239077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6248399" y="3914774"/>
              <a:ext cx="5438775" cy="2390775"/>
            </a:xfrm>
            <a:custGeom>
              <a:avLst/>
              <a:gdLst/>
              <a:ahLst/>
              <a:cxnLst/>
              <a:rect l="l" t="t" r="r" b="b"/>
              <a:pathLst>
                <a:path w="5438775" h="2390775">
                  <a:moveTo>
                    <a:pt x="5286374" y="2390774"/>
                  </a:moveTo>
                  <a:lnTo>
                    <a:pt x="152399" y="2390774"/>
                  </a:lnTo>
                  <a:lnTo>
                    <a:pt x="137386" y="2390049"/>
                  </a:lnTo>
                  <a:lnTo>
                    <a:pt x="94078" y="2379173"/>
                  </a:lnTo>
                  <a:lnTo>
                    <a:pt x="55764" y="2356240"/>
                  </a:lnTo>
                  <a:lnTo>
                    <a:pt x="25659" y="2323059"/>
                  </a:lnTo>
                  <a:lnTo>
                    <a:pt x="6524" y="2282547"/>
                  </a:lnTo>
                  <a:lnTo>
                    <a:pt x="0" y="2238374"/>
                  </a:lnTo>
                  <a:lnTo>
                    <a:pt x="0" y="152399"/>
                  </a:lnTo>
                  <a:lnTo>
                    <a:pt x="6524" y="108226"/>
                  </a:lnTo>
                  <a:lnTo>
                    <a:pt x="25659" y="67714"/>
                  </a:lnTo>
                  <a:lnTo>
                    <a:pt x="55764" y="34533"/>
                  </a:lnTo>
                  <a:lnTo>
                    <a:pt x="94078" y="11600"/>
                  </a:lnTo>
                  <a:lnTo>
                    <a:pt x="137386" y="725"/>
                  </a:lnTo>
                  <a:lnTo>
                    <a:pt x="152399" y="0"/>
                  </a:lnTo>
                  <a:lnTo>
                    <a:pt x="5286374" y="0"/>
                  </a:lnTo>
                  <a:lnTo>
                    <a:pt x="5301387" y="725"/>
                  </a:lnTo>
                  <a:lnTo>
                    <a:pt x="5316111" y="2900"/>
                  </a:lnTo>
                  <a:lnTo>
                    <a:pt x="5330547" y="6525"/>
                  </a:lnTo>
                  <a:lnTo>
                    <a:pt x="5338908" y="9524"/>
                  </a:lnTo>
                  <a:lnTo>
                    <a:pt x="152399" y="9524"/>
                  </a:lnTo>
                  <a:lnTo>
                    <a:pt x="145380" y="9696"/>
                  </a:lnTo>
                  <a:lnTo>
                    <a:pt x="104273" y="17872"/>
                  </a:lnTo>
                  <a:lnTo>
                    <a:pt x="67280" y="37645"/>
                  </a:lnTo>
                  <a:lnTo>
                    <a:pt x="37644" y="67281"/>
                  </a:lnTo>
                  <a:lnTo>
                    <a:pt x="17871" y="104273"/>
                  </a:lnTo>
                  <a:lnTo>
                    <a:pt x="9695" y="145380"/>
                  </a:lnTo>
                  <a:lnTo>
                    <a:pt x="9524" y="152399"/>
                  </a:lnTo>
                  <a:lnTo>
                    <a:pt x="9524" y="2238374"/>
                  </a:lnTo>
                  <a:lnTo>
                    <a:pt x="15674" y="2279849"/>
                  </a:lnTo>
                  <a:lnTo>
                    <a:pt x="33602" y="2317751"/>
                  </a:lnTo>
                  <a:lnTo>
                    <a:pt x="61758" y="2348819"/>
                  </a:lnTo>
                  <a:lnTo>
                    <a:pt x="97722" y="2370372"/>
                  </a:lnTo>
                  <a:lnTo>
                    <a:pt x="138394" y="2380562"/>
                  </a:lnTo>
                  <a:lnTo>
                    <a:pt x="152399" y="2381249"/>
                  </a:lnTo>
                  <a:lnTo>
                    <a:pt x="5338906" y="2381249"/>
                  </a:lnTo>
                  <a:lnTo>
                    <a:pt x="5330547" y="2384248"/>
                  </a:lnTo>
                  <a:lnTo>
                    <a:pt x="5316111" y="2387873"/>
                  </a:lnTo>
                  <a:lnTo>
                    <a:pt x="5301387" y="2390049"/>
                  </a:lnTo>
                  <a:lnTo>
                    <a:pt x="5286374" y="2390774"/>
                  </a:lnTo>
                  <a:close/>
                </a:path>
                <a:path w="5438775" h="2390775">
                  <a:moveTo>
                    <a:pt x="5338906" y="2381249"/>
                  </a:moveTo>
                  <a:lnTo>
                    <a:pt x="5286374" y="2381249"/>
                  </a:lnTo>
                  <a:lnTo>
                    <a:pt x="5293392" y="2381077"/>
                  </a:lnTo>
                  <a:lnTo>
                    <a:pt x="5300378" y="2380562"/>
                  </a:lnTo>
                  <a:lnTo>
                    <a:pt x="5341048" y="2370372"/>
                  </a:lnTo>
                  <a:lnTo>
                    <a:pt x="5377012" y="2348819"/>
                  </a:lnTo>
                  <a:lnTo>
                    <a:pt x="5405168" y="2317751"/>
                  </a:lnTo>
                  <a:lnTo>
                    <a:pt x="5423096" y="2279849"/>
                  </a:lnTo>
                  <a:lnTo>
                    <a:pt x="5429249" y="2238374"/>
                  </a:lnTo>
                  <a:lnTo>
                    <a:pt x="5429249" y="152399"/>
                  </a:lnTo>
                  <a:lnTo>
                    <a:pt x="5429076" y="145380"/>
                  </a:lnTo>
                  <a:lnTo>
                    <a:pt x="5420898" y="104273"/>
                  </a:lnTo>
                  <a:lnTo>
                    <a:pt x="5401125" y="67281"/>
                  </a:lnTo>
                  <a:lnTo>
                    <a:pt x="5371490" y="37645"/>
                  </a:lnTo>
                  <a:lnTo>
                    <a:pt x="5334498" y="17872"/>
                  </a:lnTo>
                  <a:lnTo>
                    <a:pt x="5293392" y="9696"/>
                  </a:lnTo>
                  <a:lnTo>
                    <a:pt x="5286374" y="9524"/>
                  </a:lnTo>
                  <a:lnTo>
                    <a:pt x="5338908" y="9524"/>
                  </a:lnTo>
                  <a:lnTo>
                    <a:pt x="5383008" y="34533"/>
                  </a:lnTo>
                  <a:lnTo>
                    <a:pt x="5413112" y="67714"/>
                  </a:lnTo>
                  <a:lnTo>
                    <a:pt x="5432247" y="108226"/>
                  </a:lnTo>
                  <a:lnTo>
                    <a:pt x="5438774" y="152399"/>
                  </a:lnTo>
                  <a:lnTo>
                    <a:pt x="5438774" y="2238374"/>
                  </a:lnTo>
                  <a:lnTo>
                    <a:pt x="5438049" y="2253387"/>
                  </a:lnTo>
                  <a:lnTo>
                    <a:pt x="5427172" y="2296695"/>
                  </a:lnTo>
                  <a:lnTo>
                    <a:pt x="5404239" y="2335008"/>
                  </a:lnTo>
                  <a:lnTo>
                    <a:pt x="5371058" y="2365113"/>
                  </a:lnTo>
                  <a:lnTo>
                    <a:pt x="5344694" y="2379173"/>
                  </a:lnTo>
                  <a:lnTo>
                    <a:pt x="5338906" y="2381249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491286" y="41576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380927" y="447674"/>
                  </a:moveTo>
                  <a:lnTo>
                    <a:pt x="66747" y="447674"/>
                  </a:lnTo>
                  <a:lnTo>
                    <a:pt x="62102" y="447217"/>
                  </a:lnTo>
                  <a:lnTo>
                    <a:pt x="24240" y="430068"/>
                  </a:lnTo>
                  <a:lnTo>
                    <a:pt x="2287" y="394774"/>
                  </a:lnTo>
                  <a:lnTo>
                    <a:pt x="0" y="380928"/>
                  </a:lnTo>
                  <a:lnTo>
                    <a:pt x="0" y="376237"/>
                  </a:lnTo>
                  <a:lnTo>
                    <a:pt x="0" y="66746"/>
                  </a:lnTo>
                  <a:lnTo>
                    <a:pt x="14645" y="27848"/>
                  </a:lnTo>
                  <a:lnTo>
                    <a:pt x="48433" y="3642"/>
                  </a:lnTo>
                  <a:lnTo>
                    <a:pt x="66747" y="0"/>
                  </a:lnTo>
                  <a:lnTo>
                    <a:pt x="380927" y="0"/>
                  </a:lnTo>
                  <a:lnTo>
                    <a:pt x="419826" y="14645"/>
                  </a:lnTo>
                  <a:lnTo>
                    <a:pt x="444031" y="48433"/>
                  </a:lnTo>
                  <a:lnTo>
                    <a:pt x="447674" y="66746"/>
                  </a:lnTo>
                  <a:lnTo>
                    <a:pt x="447674" y="380928"/>
                  </a:lnTo>
                  <a:lnTo>
                    <a:pt x="433029" y="419826"/>
                  </a:lnTo>
                  <a:lnTo>
                    <a:pt x="399241" y="444031"/>
                  </a:lnTo>
                  <a:lnTo>
                    <a:pt x="385573" y="447217"/>
                  </a:lnTo>
                  <a:lnTo>
                    <a:pt x="380927" y="447674"/>
                  </a:lnTo>
                  <a:close/>
                </a:path>
              </a:pathLst>
            </a:custGeom>
            <a:solidFill>
              <a:srgbClr val="1D3A8A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491286" y="4157662"/>
              <a:ext cx="447675" cy="447675"/>
            </a:xfrm>
            <a:custGeom>
              <a:avLst/>
              <a:gdLst/>
              <a:ahLst/>
              <a:cxnLst/>
              <a:rect l="l" t="t" r="r" b="b"/>
              <a:pathLst>
                <a:path w="447675" h="447675">
                  <a:moveTo>
                    <a:pt x="0" y="376237"/>
                  </a:moveTo>
                  <a:lnTo>
                    <a:pt x="0" y="71437"/>
                  </a:lnTo>
                  <a:lnTo>
                    <a:pt x="0" y="66746"/>
                  </a:lnTo>
                  <a:lnTo>
                    <a:pt x="457" y="62101"/>
                  </a:lnTo>
                  <a:lnTo>
                    <a:pt x="1372" y="57500"/>
                  </a:lnTo>
                  <a:lnTo>
                    <a:pt x="2287" y="52899"/>
                  </a:lnTo>
                  <a:lnTo>
                    <a:pt x="3642" y="48433"/>
                  </a:lnTo>
                  <a:lnTo>
                    <a:pt x="5438" y="44099"/>
                  </a:lnTo>
                  <a:lnTo>
                    <a:pt x="7232" y="39765"/>
                  </a:lnTo>
                  <a:lnTo>
                    <a:pt x="9433" y="35649"/>
                  </a:lnTo>
                  <a:lnTo>
                    <a:pt x="12039" y="31748"/>
                  </a:lnTo>
                  <a:lnTo>
                    <a:pt x="14645" y="27848"/>
                  </a:lnTo>
                  <a:lnTo>
                    <a:pt x="17607" y="24240"/>
                  </a:lnTo>
                  <a:lnTo>
                    <a:pt x="20923" y="20923"/>
                  </a:lnTo>
                  <a:lnTo>
                    <a:pt x="24240" y="17606"/>
                  </a:lnTo>
                  <a:lnTo>
                    <a:pt x="62102" y="457"/>
                  </a:lnTo>
                  <a:lnTo>
                    <a:pt x="66747" y="0"/>
                  </a:lnTo>
                  <a:lnTo>
                    <a:pt x="71438" y="0"/>
                  </a:lnTo>
                  <a:lnTo>
                    <a:pt x="376238" y="0"/>
                  </a:lnTo>
                  <a:lnTo>
                    <a:pt x="380927" y="0"/>
                  </a:lnTo>
                  <a:lnTo>
                    <a:pt x="385573" y="457"/>
                  </a:lnTo>
                  <a:lnTo>
                    <a:pt x="423435" y="17606"/>
                  </a:lnTo>
                  <a:lnTo>
                    <a:pt x="426751" y="20923"/>
                  </a:lnTo>
                  <a:lnTo>
                    <a:pt x="430068" y="24240"/>
                  </a:lnTo>
                  <a:lnTo>
                    <a:pt x="433029" y="27848"/>
                  </a:lnTo>
                  <a:lnTo>
                    <a:pt x="435634" y="31748"/>
                  </a:lnTo>
                  <a:lnTo>
                    <a:pt x="438241" y="35649"/>
                  </a:lnTo>
                  <a:lnTo>
                    <a:pt x="447675" y="71437"/>
                  </a:lnTo>
                  <a:lnTo>
                    <a:pt x="447675" y="376237"/>
                  </a:lnTo>
                  <a:lnTo>
                    <a:pt x="435634" y="415925"/>
                  </a:lnTo>
                  <a:lnTo>
                    <a:pt x="433029" y="419826"/>
                  </a:lnTo>
                  <a:lnTo>
                    <a:pt x="430068" y="423434"/>
                  </a:lnTo>
                  <a:lnTo>
                    <a:pt x="426751" y="426751"/>
                  </a:lnTo>
                  <a:lnTo>
                    <a:pt x="423435" y="430068"/>
                  </a:lnTo>
                  <a:lnTo>
                    <a:pt x="390173" y="446302"/>
                  </a:lnTo>
                  <a:lnTo>
                    <a:pt x="385573" y="447217"/>
                  </a:lnTo>
                  <a:lnTo>
                    <a:pt x="380927" y="447674"/>
                  </a:lnTo>
                  <a:lnTo>
                    <a:pt x="376238" y="447674"/>
                  </a:lnTo>
                  <a:lnTo>
                    <a:pt x="71438" y="447674"/>
                  </a:lnTo>
                  <a:lnTo>
                    <a:pt x="66747" y="447674"/>
                  </a:lnTo>
                  <a:lnTo>
                    <a:pt x="62102" y="447217"/>
                  </a:lnTo>
                  <a:lnTo>
                    <a:pt x="31748" y="435635"/>
                  </a:lnTo>
                  <a:lnTo>
                    <a:pt x="27848" y="433029"/>
                  </a:lnTo>
                  <a:lnTo>
                    <a:pt x="24240" y="430068"/>
                  </a:lnTo>
                  <a:lnTo>
                    <a:pt x="20923" y="426751"/>
                  </a:lnTo>
                  <a:lnTo>
                    <a:pt x="17607" y="423434"/>
                  </a:lnTo>
                  <a:lnTo>
                    <a:pt x="14645" y="419826"/>
                  </a:lnTo>
                  <a:lnTo>
                    <a:pt x="12039" y="415925"/>
                  </a:lnTo>
                  <a:lnTo>
                    <a:pt x="9433" y="412025"/>
                  </a:lnTo>
                  <a:lnTo>
                    <a:pt x="7232" y="407908"/>
                  </a:lnTo>
                  <a:lnTo>
                    <a:pt x="5438" y="403575"/>
                  </a:lnTo>
                  <a:lnTo>
                    <a:pt x="3642" y="399241"/>
                  </a:lnTo>
                  <a:lnTo>
                    <a:pt x="2287" y="394774"/>
                  </a:lnTo>
                  <a:lnTo>
                    <a:pt x="1372" y="390174"/>
                  </a:lnTo>
                  <a:lnTo>
                    <a:pt x="457" y="385573"/>
                  </a:lnTo>
                  <a:lnTo>
                    <a:pt x="0" y="380928"/>
                  </a:lnTo>
                  <a:lnTo>
                    <a:pt x="0" y="376237"/>
                  </a:lnTo>
                  <a:close/>
                </a:path>
              </a:pathLst>
            </a:custGeom>
            <a:ln w="9524">
              <a:solidFill>
                <a:srgbClr val="60A5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572249" y="4267199"/>
              <a:ext cx="285750" cy="229235"/>
            </a:xfrm>
            <a:custGeom>
              <a:avLst/>
              <a:gdLst/>
              <a:ahLst/>
              <a:cxnLst/>
              <a:rect l="l" t="t" r="r" b="b"/>
              <a:pathLst>
                <a:path w="285750" h="229235">
                  <a:moveTo>
                    <a:pt x="103765" y="114299"/>
                  </a:moveTo>
                  <a:lnTo>
                    <a:pt x="96259" y="114299"/>
                  </a:lnTo>
                  <a:lnTo>
                    <a:pt x="92543" y="113933"/>
                  </a:lnTo>
                  <a:lnTo>
                    <a:pt x="56947" y="94907"/>
                  </a:lnTo>
                  <a:lnTo>
                    <a:pt x="42862" y="60902"/>
                  </a:lnTo>
                  <a:lnTo>
                    <a:pt x="42862" y="53397"/>
                  </a:lnTo>
                  <a:lnTo>
                    <a:pt x="62254" y="14085"/>
                  </a:lnTo>
                  <a:lnTo>
                    <a:pt x="96259" y="0"/>
                  </a:lnTo>
                  <a:lnTo>
                    <a:pt x="103765" y="0"/>
                  </a:lnTo>
                  <a:lnTo>
                    <a:pt x="143077" y="19392"/>
                  </a:lnTo>
                  <a:lnTo>
                    <a:pt x="157162" y="53397"/>
                  </a:lnTo>
                  <a:lnTo>
                    <a:pt x="157162" y="60902"/>
                  </a:lnTo>
                  <a:lnTo>
                    <a:pt x="137770" y="100214"/>
                  </a:lnTo>
                  <a:lnTo>
                    <a:pt x="103765" y="114299"/>
                  </a:lnTo>
                  <a:close/>
                </a:path>
                <a:path w="285750" h="229235">
                  <a:moveTo>
                    <a:pt x="222974" y="228912"/>
                  </a:moveTo>
                  <a:lnTo>
                    <a:pt x="219982" y="228912"/>
                  </a:lnTo>
                  <a:lnTo>
                    <a:pt x="217348" y="227796"/>
                  </a:lnTo>
                  <a:lnTo>
                    <a:pt x="187432" y="208275"/>
                  </a:lnTo>
                  <a:lnTo>
                    <a:pt x="169022" y="182974"/>
                  </a:lnTo>
                  <a:lnTo>
                    <a:pt x="159729" y="156175"/>
                  </a:lnTo>
                  <a:lnTo>
                    <a:pt x="157162" y="132159"/>
                  </a:lnTo>
                  <a:lnTo>
                    <a:pt x="157162" y="127783"/>
                  </a:lnTo>
                  <a:lnTo>
                    <a:pt x="159841" y="123854"/>
                  </a:lnTo>
                  <a:lnTo>
                    <a:pt x="220027" y="99744"/>
                  </a:lnTo>
                  <a:lnTo>
                    <a:pt x="222885" y="99744"/>
                  </a:lnTo>
                  <a:lnTo>
                    <a:pt x="279227" y="122292"/>
                  </a:lnTo>
                  <a:lnTo>
                    <a:pt x="221456" y="122292"/>
                  </a:lnTo>
                  <a:lnTo>
                    <a:pt x="221456" y="206141"/>
                  </a:lnTo>
                  <a:lnTo>
                    <a:pt x="257050" y="206141"/>
                  </a:lnTo>
                  <a:lnTo>
                    <a:pt x="255499" y="208275"/>
                  </a:lnTo>
                  <a:lnTo>
                    <a:pt x="225608" y="227796"/>
                  </a:lnTo>
                  <a:lnTo>
                    <a:pt x="222974" y="228912"/>
                  </a:lnTo>
                  <a:close/>
                </a:path>
                <a:path w="285750" h="229235">
                  <a:moveTo>
                    <a:pt x="257050" y="206141"/>
                  </a:moveTo>
                  <a:lnTo>
                    <a:pt x="221456" y="206141"/>
                  </a:lnTo>
                  <a:lnTo>
                    <a:pt x="240712" y="192665"/>
                  </a:lnTo>
                  <a:lnTo>
                    <a:pt x="253519" y="175686"/>
                  </a:lnTo>
                  <a:lnTo>
                    <a:pt x="260942" y="157224"/>
                  </a:lnTo>
                  <a:lnTo>
                    <a:pt x="264050" y="139303"/>
                  </a:lnTo>
                  <a:lnTo>
                    <a:pt x="221456" y="122292"/>
                  </a:lnTo>
                  <a:lnTo>
                    <a:pt x="279227" y="122292"/>
                  </a:lnTo>
                  <a:lnTo>
                    <a:pt x="283071" y="123854"/>
                  </a:lnTo>
                  <a:lnTo>
                    <a:pt x="285750" y="127783"/>
                  </a:lnTo>
                  <a:lnTo>
                    <a:pt x="285750" y="132159"/>
                  </a:lnTo>
                  <a:lnTo>
                    <a:pt x="283184" y="156175"/>
                  </a:lnTo>
                  <a:lnTo>
                    <a:pt x="273895" y="182974"/>
                  </a:lnTo>
                  <a:lnTo>
                    <a:pt x="257050" y="206141"/>
                  </a:lnTo>
                  <a:close/>
                </a:path>
                <a:path w="285750" h="229235">
                  <a:moveTo>
                    <a:pt x="187568" y="228600"/>
                  </a:moveTo>
                  <a:lnTo>
                    <a:pt x="5938" y="228600"/>
                  </a:lnTo>
                  <a:lnTo>
                    <a:pt x="0" y="222661"/>
                  </a:lnTo>
                  <a:lnTo>
                    <a:pt x="0" y="215339"/>
                  </a:lnTo>
                  <a:lnTo>
                    <a:pt x="6254" y="184347"/>
                  </a:lnTo>
                  <a:lnTo>
                    <a:pt x="23312" y="159043"/>
                  </a:lnTo>
                  <a:lnTo>
                    <a:pt x="48615" y="141985"/>
                  </a:lnTo>
                  <a:lnTo>
                    <a:pt x="79608" y="135731"/>
                  </a:lnTo>
                  <a:lnTo>
                    <a:pt x="128319" y="135731"/>
                  </a:lnTo>
                  <a:lnTo>
                    <a:pt x="135909" y="136847"/>
                  </a:lnTo>
                  <a:lnTo>
                    <a:pt x="143098" y="138990"/>
                  </a:lnTo>
                  <a:lnTo>
                    <a:pt x="146121" y="160648"/>
                  </a:lnTo>
                  <a:lnTo>
                    <a:pt x="153892" y="184370"/>
                  </a:lnTo>
                  <a:lnTo>
                    <a:pt x="167773" y="207748"/>
                  </a:lnTo>
                  <a:lnTo>
                    <a:pt x="189130" y="228376"/>
                  </a:lnTo>
                  <a:lnTo>
                    <a:pt x="188327" y="228510"/>
                  </a:lnTo>
                  <a:lnTo>
                    <a:pt x="187568" y="228600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85602" y="4799676"/>
              <a:ext cx="192345" cy="154245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6562712" y="5172087"/>
              <a:ext cx="47625" cy="314325"/>
            </a:xfrm>
            <a:custGeom>
              <a:avLst/>
              <a:gdLst/>
              <a:ahLst/>
              <a:cxnLst/>
              <a:rect l="l" t="t" r="r" b="b"/>
              <a:pathLst>
                <a:path w="47625" h="314325">
                  <a:moveTo>
                    <a:pt x="47625" y="287350"/>
                  </a:moveTo>
                  <a:lnTo>
                    <a:pt x="26974" y="266700"/>
                  </a:lnTo>
                  <a:lnTo>
                    <a:pt x="20662" y="266700"/>
                  </a:lnTo>
                  <a:lnTo>
                    <a:pt x="0" y="287350"/>
                  </a:lnTo>
                  <a:lnTo>
                    <a:pt x="0" y="293662"/>
                  </a:lnTo>
                  <a:lnTo>
                    <a:pt x="20662" y="314312"/>
                  </a:lnTo>
                  <a:lnTo>
                    <a:pt x="26974" y="314312"/>
                  </a:lnTo>
                  <a:lnTo>
                    <a:pt x="47625" y="293662"/>
                  </a:lnTo>
                  <a:lnTo>
                    <a:pt x="47625" y="290512"/>
                  </a:lnTo>
                  <a:lnTo>
                    <a:pt x="47625" y="287350"/>
                  </a:lnTo>
                  <a:close/>
                </a:path>
                <a:path w="47625" h="314325">
                  <a:moveTo>
                    <a:pt x="47625" y="20650"/>
                  </a:moveTo>
                  <a:lnTo>
                    <a:pt x="26974" y="0"/>
                  </a:lnTo>
                  <a:lnTo>
                    <a:pt x="20662" y="0"/>
                  </a:lnTo>
                  <a:lnTo>
                    <a:pt x="0" y="20650"/>
                  </a:lnTo>
                  <a:lnTo>
                    <a:pt x="0" y="26962"/>
                  </a:lnTo>
                  <a:lnTo>
                    <a:pt x="20662" y="47612"/>
                  </a:lnTo>
                  <a:lnTo>
                    <a:pt x="26974" y="47612"/>
                  </a:lnTo>
                  <a:lnTo>
                    <a:pt x="47625" y="26962"/>
                  </a:lnTo>
                  <a:lnTo>
                    <a:pt x="47625" y="23812"/>
                  </a:lnTo>
                  <a:lnTo>
                    <a:pt x="47625" y="20650"/>
                  </a:lnTo>
                  <a:close/>
                </a:path>
              </a:pathLst>
            </a:custGeom>
            <a:solidFill>
              <a:srgbClr val="D0D5D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550025" y="4254500"/>
            <a:ext cx="4883150" cy="14903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45465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DAE9FE"/>
                </a:solidFill>
                <a:latin typeface="微软雅黑"/>
                <a:cs typeface="微软雅黑"/>
              </a:rPr>
              <a:t>信任建立困难</a:t>
            </a:r>
            <a:endParaRPr sz="1500">
              <a:latin typeface="微软雅黑"/>
              <a:cs typeface="微软雅黑"/>
            </a:endParaRPr>
          </a:p>
          <a:p>
            <a:pPr marL="202565">
              <a:lnSpc>
                <a:spcPct val="100000"/>
              </a:lnSpc>
              <a:spcBef>
                <a:spcPts val="2250"/>
              </a:spcBef>
            </a:pPr>
            <a:r>
              <a:rPr sz="1200" b="1" dirty="0">
                <a:solidFill>
                  <a:srgbClr val="93C4FD"/>
                </a:solidFill>
                <a:latin typeface="微软雅黑"/>
                <a:cs typeface="微软雅黑"/>
              </a:rPr>
              <a:t>缺乏可解释性（Black </a:t>
            </a:r>
            <a:r>
              <a:rPr sz="1200" b="1" spc="-20" dirty="0">
                <a:solidFill>
                  <a:srgbClr val="93C4FD"/>
                </a:solidFill>
                <a:latin typeface="微软雅黑"/>
                <a:cs typeface="微软雅黑"/>
              </a:rPr>
              <a:t>Box）</a:t>
            </a:r>
            <a:endParaRPr sz="1200">
              <a:latin typeface="微软雅黑"/>
              <a:cs typeface="微软雅黑"/>
            </a:endParaRPr>
          </a:p>
          <a:p>
            <a:pPr marL="202565" marR="5080">
              <a:lnSpc>
                <a:spcPct val="166700"/>
              </a:lnSpc>
              <a:spcBef>
                <a:spcPts val="345"/>
              </a:spcBef>
            </a:pPr>
            <a:r>
              <a:rPr sz="1050" dirty="0">
                <a:solidFill>
                  <a:srgbClr val="FFFFFF"/>
                </a:solidFill>
                <a:latin typeface="微软雅黑"/>
                <a:cs typeface="微软雅黑"/>
              </a:rPr>
              <a:t>验证难题：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分布式架构使行为解释极为困难，导致业务方不敢在关键路径应用。</a:t>
            </a:r>
            <a:r>
              <a:rPr sz="1050" dirty="0">
                <a:solidFill>
                  <a:srgbClr val="FFFFFF"/>
                </a:solidFill>
                <a:latin typeface="微软雅黑"/>
                <a:cs typeface="微软雅黑"/>
              </a:rPr>
              <a:t>安全脆弱性：</a:t>
            </a:r>
            <a:r>
              <a:rPr sz="1050" spc="-20" dirty="0">
                <a:solidFill>
                  <a:srgbClr val="D0D5DA"/>
                </a:solidFill>
                <a:latin typeface="微软雅黑"/>
                <a:cs typeface="微软雅黑"/>
              </a:rPr>
              <a:t>攻击面扩大，单个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Agent</a:t>
            </a:r>
            <a:r>
              <a:rPr sz="1050" spc="-25" dirty="0">
                <a:solidFill>
                  <a:srgbClr val="D0D5DA"/>
                </a:solidFill>
                <a:latin typeface="微软雅黑"/>
                <a:cs typeface="微软雅黑"/>
              </a:rPr>
              <a:t>被攻破可能导致系统崩溃，缺乏系统的错</a:t>
            </a:r>
            <a:endParaRPr sz="10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误恢复机制降低用户接纳度。</a:t>
            </a:r>
            <a:endParaRPr sz="1050">
              <a:latin typeface="微软雅黑"/>
              <a:cs typeface="微软雅黑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925" y="215900"/>
            <a:ext cx="1549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5" dirty="0">
                <a:solidFill>
                  <a:srgbClr val="E4E7EB"/>
                </a:solidFill>
                <a:latin typeface="微软雅黑"/>
                <a:cs typeface="微软雅黑"/>
              </a:rPr>
              <a:t>第四部分</a:t>
            </a:r>
            <a:endParaRPr sz="3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8624" y="8000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543424" y="3000374"/>
            <a:ext cx="76200" cy="1524000"/>
          </a:xfrm>
          <a:custGeom>
            <a:avLst/>
            <a:gdLst/>
            <a:ahLst/>
            <a:cxnLst/>
            <a:rect l="l" t="t" r="r" b="b"/>
            <a:pathLst>
              <a:path w="76200" h="1524000">
                <a:moveTo>
                  <a:pt x="76199" y="1523999"/>
                </a:moveTo>
                <a:lnTo>
                  <a:pt x="0" y="1523999"/>
                </a:lnTo>
                <a:lnTo>
                  <a:pt x="0" y="0"/>
                </a:lnTo>
                <a:lnTo>
                  <a:pt x="76199" y="0"/>
                </a:lnTo>
                <a:lnTo>
                  <a:pt x="76199" y="1523999"/>
                </a:lnTo>
                <a:close/>
              </a:path>
            </a:pathLst>
          </a:custGeom>
          <a:solidFill>
            <a:srgbClr val="4A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068143" y="2673350"/>
            <a:ext cx="5431790" cy="21761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13255">
              <a:lnSpc>
                <a:spcPts val="6750"/>
              </a:lnSpc>
              <a:spcBef>
                <a:spcPts val="100"/>
              </a:spcBef>
            </a:pPr>
            <a:r>
              <a:rPr sz="5400" b="1" spc="95" dirty="0">
                <a:solidFill>
                  <a:srgbClr val="FFFFFF"/>
                </a:solidFill>
                <a:latin typeface="微软雅黑"/>
                <a:cs typeface="微软雅黑"/>
              </a:rPr>
              <a:t>学术前沿与</a:t>
            </a:r>
            <a:r>
              <a:rPr sz="5400" b="1" spc="85" dirty="0">
                <a:solidFill>
                  <a:srgbClr val="FFFFFF"/>
                </a:solidFill>
                <a:latin typeface="微软雅黑"/>
                <a:cs typeface="微软雅黑"/>
              </a:rPr>
              <a:t>技术演进</a:t>
            </a:r>
            <a:endParaRPr sz="54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275"/>
              </a:spcBef>
            </a:pPr>
            <a:r>
              <a:rPr sz="1800" b="0" spc="140" dirty="0">
                <a:solidFill>
                  <a:srgbClr val="BEDAFE"/>
                </a:solidFill>
                <a:latin typeface="微软雅黑 Light"/>
                <a:cs typeface="微软雅黑 Light"/>
              </a:rPr>
              <a:t>ACADEMIC</a:t>
            </a:r>
            <a:r>
              <a:rPr sz="1800" b="0" spc="370" dirty="0">
                <a:solidFill>
                  <a:srgbClr val="BEDAFE"/>
                </a:solidFill>
                <a:latin typeface="微软雅黑 Light"/>
                <a:cs typeface="微软雅黑 Light"/>
              </a:rPr>
              <a:t> </a:t>
            </a:r>
            <a:r>
              <a:rPr sz="1800" b="0" spc="155" dirty="0">
                <a:solidFill>
                  <a:srgbClr val="BEDAFE"/>
                </a:solidFill>
                <a:latin typeface="微软雅黑 Light"/>
                <a:cs typeface="微软雅黑 Light"/>
              </a:rPr>
              <a:t>FRONTIERS</a:t>
            </a:r>
            <a:r>
              <a:rPr sz="1800" b="0" spc="375" dirty="0">
                <a:solidFill>
                  <a:srgbClr val="BEDAFE"/>
                </a:solidFill>
                <a:latin typeface="微软雅黑 Light"/>
                <a:cs typeface="微软雅黑 Light"/>
              </a:rPr>
              <a:t> </a:t>
            </a:r>
            <a:r>
              <a:rPr sz="1800" b="0" dirty="0">
                <a:solidFill>
                  <a:srgbClr val="BEDAFE"/>
                </a:solidFill>
                <a:latin typeface="微软雅黑 Light"/>
                <a:cs typeface="微软雅黑 Light"/>
              </a:rPr>
              <a:t>&amp;</a:t>
            </a:r>
            <a:r>
              <a:rPr sz="1800" b="0" spc="375" dirty="0">
                <a:solidFill>
                  <a:srgbClr val="BEDAFE"/>
                </a:solidFill>
                <a:latin typeface="微软雅黑 Light"/>
                <a:cs typeface="微软雅黑 Light"/>
              </a:rPr>
              <a:t> </a:t>
            </a:r>
            <a:r>
              <a:rPr sz="1800" b="0" spc="125" dirty="0">
                <a:solidFill>
                  <a:srgbClr val="BEDAFE"/>
                </a:solidFill>
                <a:latin typeface="微软雅黑 Light"/>
                <a:cs typeface="微软雅黑 Light"/>
              </a:rPr>
              <a:t>TECH</a:t>
            </a:r>
            <a:r>
              <a:rPr sz="1800" b="0" spc="370" dirty="0">
                <a:solidFill>
                  <a:srgbClr val="BEDAFE"/>
                </a:solidFill>
                <a:latin typeface="微软雅黑 Light"/>
                <a:cs typeface="微软雅黑 Light"/>
              </a:rPr>
              <a:t> </a:t>
            </a:r>
            <a:r>
              <a:rPr sz="1800" b="0" spc="135" dirty="0">
                <a:solidFill>
                  <a:srgbClr val="BEDAFE"/>
                </a:solidFill>
                <a:latin typeface="微软雅黑 Light"/>
                <a:cs typeface="微软雅黑 Light"/>
              </a:rPr>
              <a:t>EVOLUTION</a:t>
            </a:r>
            <a:endParaRPr sz="1800">
              <a:latin typeface="微软雅黑 Light"/>
              <a:cs typeface="微软雅黑 Ligh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1669504" y="2644774"/>
            <a:ext cx="228155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400" b="1" spc="-25" dirty="0">
                <a:solidFill>
                  <a:srgbClr val="3B81F5"/>
                </a:solidFill>
                <a:latin typeface="微软雅黑"/>
                <a:cs typeface="微软雅黑"/>
              </a:rPr>
              <a:t>04</a:t>
            </a:r>
            <a:endParaRPr sz="14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神经符号融合</a:t>
            </a:r>
          </a:p>
        </p:txBody>
      </p:sp>
      <p:sp>
        <p:nvSpPr>
          <p:cNvPr id="3" name="object 3"/>
          <p:cNvSpPr/>
          <p:nvPr/>
        </p:nvSpPr>
        <p:spPr>
          <a:xfrm>
            <a:off x="428624" y="800099"/>
            <a:ext cx="1371600" cy="38100"/>
          </a:xfrm>
          <a:custGeom>
            <a:avLst/>
            <a:gdLst/>
            <a:ahLst/>
            <a:cxnLst/>
            <a:rect l="l" t="t" r="r" b="b"/>
            <a:pathLst>
              <a:path w="1371600" h="38100">
                <a:moveTo>
                  <a:pt x="1371599" y="38099"/>
                </a:moveTo>
                <a:lnTo>
                  <a:pt x="0" y="38099"/>
                </a:lnTo>
                <a:lnTo>
                  <a:pt x="0" y="0"/>
                </a:lnTo>
                <a:lnTo>
                  <a:pt x="1371599" y="0"/>
                </a:lnTo>
                <a:lnTo>
                  <a:pt x="13715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428624" y="1466850"/>
            <a:ext cx="5419725" cy="1285875"/>
            <a:chOff x="428624" y="1466850"/>
            <a:chExt cx="5419725" cy="1285875"/>
          </a:xfrm>
        </p:grpSpPr>
        <p:sp>
          <p:nvSpPr>
            <p:cNvPr id="5" name="object 5"/>
            <p:cNvSpPr/>
            <p:nvPr/>
          </p:nvSpPr>
          <p:spPr>
            <a:xfrm>
              <a:off x="442912" y="1466850"/>
              <a:ext cx="5405755" cy="1285875"/>
            </a:xfrm>
            <a:custGeom>
              <a:avLst/>
              <a:gdLst/>
              <a:ahLst/>
              <a:cxnLst/>
              <a:rect l="l" t="t" r="r" b="b"/>
              <a:pathLst>
                <a:path w="5405755" h="1285875">
                  <a:moveTo>
                    <a:pt x="5339759" y="1285874"/>
                  </a:moveTo>
                  <a:lnTo>
                    <a:pt x="52328" y="1285874"/>
                  </a:lnTo>
                  <a:lnTo>
                    <a:pt x="48686" y="1285424"/>
                  </a:lnTo>
                  <a:lnTo>
                    <a:pt x="13803" y="1262022"/>
                  </a:lnTo>
                  <a:lnTo>
                    <a:pt x="358" y="1224768"/>
                  </a:lnTo>
                  <a:lnTo>
                    <a:pt x="0" y="1220197"/>
                  </a:lnTo>
                  <a:lnTo>
                    <a:pt x="0" y="1215581"/>
                  </a:lnTo>
                  <a:lnTo>
                    <a:pt x="0" y="65677"/>
                  </a:lnTo>
                  <a:lnTo>
                    <a:pt x="11481" y="27402"/>
                  </a:lnTo>
                  <a:lnTo>
                    <a:pt x="41472" y="2250"/>
                  </a:lnTo>
                  <a:lnTo>
                    <a:pt x="52328" y="0"/>
                  </a:lnTo>
                  <a:lnTo>
                    <a:pt x="5339759" y="0"/>
                  </a:lnTo>
                  <a:lnTo>
                    <a:pt x="5378033" y="14410"/>
                  </a:lnTo>
                  <a:lnTo>
                    <a:pt x="5401852" y="47656"/>
                  </a:lnTo>
                  <a:lnTo>
                    <a:pt x="5405437" y="65677"/>
                  </a:lnTo>
                  <a:lnTo>
                    <a:pt x="5405437" y="1220197"/>
                  </a:lnTo>
                  <a:lnTo>
                    <a:pt x="5391025" y="1258471"/>
                  </a:lnTo>
                  <a:lnTo>
                    <a:pt x="5357778" y="1282290"/>
                  </a:lnTo>
                  <a:lnTo>
                    <a:pt x="5344330" y="1285424"/>
                  </a:lnTo>
                  <a:lnTo>
                    <a:pt x="5339759" y="128587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8624" y="1467162"/>
              <a:ext cx="64135" cy="1285875"/>
            </a:xfrm>
            <a:custGeom>
              <a:avLst/>
              <a:gdLst/>
              <a:ahLst/>
              <a:cxnLst/>
              <a:rect l="l" t="t" r="r" b="b"/>
              <a:pathLst>
                <a:path w="64134" h="1285875">
                  <a:moveTo>
                    <a:pt x="63829" y="1285250"/>
                  </a:moveTo>
                  <a:lnTo>
                    <a:pt x="25721" y="1269633"/>
                  </a:lnTo>
                  <a:lnTo>
                    <a:pt x="3009" y="1235643"/>
                  </a:lnTo>
                  <a:lnTo>
                    <a:pt x="0" y="1215269"/>
                  </a:lnTo>
                  <a:lnTo>
                    <a:pt x="0" y="69980"/>
                  </a:lnTo>
                  <a:lnTo>
                    <a:pt x="11835" y="30920"/>
                  </a:lnTo>
                  <a:lnTo>
                    <a:pt x="43393" y="5038"/>
                  </a:lnTo>
                  <a:lnTo>
                    <a:pt x="63829" y="0"/>
                  </a:lnTo>
                  <a:lnTo>
                    <a:pt x="59439" y="1471"/>
                  </a:lnTo>
                  <a:lnTo>
                    <a:pt x="49217" y="8605"/>
                  </a:lnTo>
                  <a:lnTo>
                    <a:pt x="31750" y="43080"/>
                  </a:lnTo>
                  <a:lnTo>
                    <a:pt x="28574" y="69980"/>
                  </a:lnTo>
                  <a:lnTo>
                    <a:pt x="28574" y="1215269"/>
                  </a:lnTo>
                  <a:lnTo>
                    <a:pt x="36882" y="1258382"/>
                  </a:lnTo>
                  <a:lnTo>
                    <a:pt x="59439" y="1283778"/>
                  </a:lnTo>
                  <a:lnTo>
                    <a:pt x="63829" y="1285250"/>
                  </a:lnTo>
                  <a:close/>
                </a:path>
              </a:pathLst>
            </a:custGeom>
            <a:solidFill>
              <a:srgbClr val="F59D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66749" y="1676399"/>
              <a:ext cx="285750" cy="276225"/>
            </a:xfrm>
            <a:custGeom>
              <a:avLst/>
              <a:gdLst/>
              <a:ahLst/>
              <a:cxnLst/>
              <a:rect l="l" t="t" r="r" b="b"/>
              <a:pathLst>
                <a:path w="285750" h="276225">
                  <a:moveTo>
                    <a:pt x="147637" y="276224"/>
                  </a:moveTo>
                  <a:lnTo>
                    <a:pt x="138112" y="276224"/>
                  </a:lnTo>
                  <a:lnTo>
                    <a:pt x="131327" y="276059"/>
                  </a:lnTo>
                  <a:lnTo>
                    <a:pt x="91591" y="268154"/>
                  </a:lnTo>
                  <a:lnTo>
                    <a:pt x="55831" y="249041"/>
                  </a:lnTo>
                  <a:lnTo>
                    <a:pt x="27183" y="220393"/>
                  </a:lnTo>
                  <a:lnTo>
                    <a:pt x="8069" y="184633"/>
                  </a:lnTo>
                  <a:lnTo>
                    <a:pt x="165" y="144897"/>
                  </a:lnTo>
                  <a:lnTo>
                    <a:pt x="0" y="138112"/>
                  </a:lnTo>
                  <a:lnTo>
                    <a:pt x="165" y="131327"/>
                  </a:lnTo>
                  <a:lnTo>
                    <a:pt x="8069" y="91591"/>
                  </a:lnTo>
                  <a:lnTo>
                    <a:pt x="27183" y="55831"/>
                  </a:lnTo>
                  <a:lnTo>
                    <a:pt x="55831" y="27183"/>
                  </a:lnTo>
                  <a:lnTo>
                    <a:pt x="91591" y="8069"/>
                  </a:lnTo>
                  <a:lnTo>
                    <a:pt x="131327" y="165"/>
                  </a:lnTo>
                  <a:lnTo>
                    <a:pt x="138112" y="0"/>
                  </a:lnTo>
                  <a:lnTo>
                    <a:pt x="147637" y="0"/>
                  </a:lnTo>
                  <a:lnTo>
                    <a:pt x="187729" y="5945"/>
                  </a:lnTo>
                  <a:lnTo>
                    <a:pt x="224368" y="23276"/>
                  </a:lnTo>
                  <a:lnTo>
                    <a:pt x="254401" y="50493"/>
                  </a:lnTo>
                  <a:lnTo>
                    <a:pt x="275236" y="85258"/>
                  </a:lnTo>
                  <a:lnTo>
                    <a:pt x="285086" y="124574"/>
                  </a:lnTo>
                  <a:lnTo>
                    <a:pt x="285749" y="138112"/>
                  </a:lnTo>
                  <a:lnTo>
                    <a:pt x="285584" y="144897"/>
                  </a:lnTo>
                  <a:lnTo>
                    <a:pt x="277679" y="184633"/>
                  </a:lnTo>
                  <a:lnTo>
                    <a:pt x="258566" y="220393"/>
                  </a:lnTo>
                  <a:lnTo>
                    <a:pt x="229917" y="249041"/>
                  </a:lnTo>
                  <a:lnTo>
                    <a:pt x="194158" y="268154"/>
                  </a:lnTo>
                  <a:lnTo>
                    <a:pt x="154422" y="276059"/>
                  </a:lnTo>
                  <a:lnTo>
                    <a:pt x="147637" y="276224"/>
                  </a:lnTo>
                  <a:close/>
                </a:path>
              </a:pathLst>
            </a:custGeom>
            <a:solidFill>
              <a:srgbClr val="78340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42456" y="1751855"/>
              <a:ext cx="141481" cy="122932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55240" y="1697608"/>
            <a:ext cx="4968240" cy="8235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8780">
              <a:lnSpc>
                <a:spcPct val="100000"/>
              </a:lnSpc>
              <a:spcBef>
                <a:spcPts val="130"/>
              </a:spcBef>
            </a:pPr>
            <a:r>
              <a:rPr sz="1350" b="1" spc="-15" dirty="0">
                <a:solidFill>
                  <a:srgbClr val="F2F4F5"/>
                </a:solidFill>
                <a:latin typeface="微软雅黑"/>
                <a:cs typeface="微软雅黑"/>
              </a:rPr>
              <a:t>核心问题</a:t>
            </a:r>
            <a:endParaRPr sz="1350">
              <a:latin typeface="微软雅黑"/>
              <a:cs typeface="微软雅黑"/>
            </a:endParaRPr>
          </a:p>
          <a:p>
            <a:pPr marL="12700" marR="5080">
              <a:lnSpc>
                <a:spcPct val="135000"/>
              </a:lnSpc>
              <a:spcBef>
                <a:spcPts val="580"/>
              </a:spcBef>
            </a:pPr>
            <a:r>
              <a:rPr sz="1250" spc="-10" dirty="0">
                <a:solidFill>
                  <a:srgbClr val="D0D5DA"/>
                </a:solidFill>
                <a:latin typeface="微软雅黑"/>
                <a:cs typeface="微软雅黑"/>
              </a:rPr>
              <a:t>LLM</a:t>
            </a:r>
            <a:r>
              <a:rPr sz="1250" spc="-25" dirty="0">
                <a:solidFill>
                  <a:srgbClr val="D0D5DA"/>
                </a:solidFill>
                <a:latin typeface="微软雅黑"/>
                <a:cs typeface="微软雅黑"/>
              </a:rPr>
              <a:t>存在</a:t>
            </a:r>
            <a:r>
              <a:rPr sz="1250" spc="-20" dirty="0">
                <a:solidFill>
                  <a:srgbClr val="FABE24"/>
                </a:solidFill>
                <a:latin typeface="微软雅黑"/>
                <a:cs typeface="微软雅黑"/>
              </a:rPr>
              <a:t>幻觉问题 (Hallucination)</a:t>
            </a:r>
            <a:r>
              <a:rPr sz="1250" spc="-30" dirty="0">
                <a:solidFill>
                  <a:srgbClr val="D0D5DA"/>
                </a:solidFill>
                <a:latin typeface="微软雅黑"/>
                <a:cs typeface="微软雅黑"/>
              </a:rPr>
              <a:t>，导致输出不可预测，系统行为不可靠，难以在严肃商业场景落地。</a:t>
            </a:r>
            <a:endParaRPr sz="1250">
              <a:latin typeface="微软雅黑"/>
              <a:cs typeface="微软雅黑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8624" y="3028950"/>
            <a:ext cx="5419725" cy="1285875"/>
            <a:chOff x="428624" y="3028950"/>
            <a:chExt cx="5419725" cy="1285875"/>
          </a:xfrm>
        </p:grpSpPr>
        <p:sp>
          <p:nvSpPr>
            <p:cNvPr id="11" name="object 11"/>
            <p:cNvSpPr/>
            <p:nvPr/>
          </p:nvSpPr>
          <p:spPr>
            <a:xfrm>
              <a:off x="442912" y="3028950"/>
              <a:ext cx="5405755" cy="1285875"/>
            </a:xfrm>
            <a:custGeom>
              <a:avLst/>
              <a:gdLst/>
              <a:ahLst/>
              <a:cxnLst/>
              <a:rect l="l" t="t" r="r" b="b"/>
              <a:pathLst>
                <a:path w="5405755" h="1285875">
                  <a:moveTo>
                    <a:pt x="5339759" y="1285874"/>
                  </a:moveTo>
                  <a:lnTo>
                    <a:pt x="52328" y="1285874"/>
                  </a:lnTo>
                  <a:lnTo>
                    <a:pt x="48686" y="1285423"/>
                  </a:lnTo>
                  <a:lnTo>
                    <a:pt x="13803" y="1262022"/>
                  </a:lnTo>
                  <a:lnTo>
                    <a:pt x="358" y="1224767"/>
                  </a:lnTo>
                  <a:lnTo>
                    <a:pt x="0" y="1220196"/>
                  </a:lnTo>
                  <a:lnTo>
                    <a:pt x="0" y="1215581"/>
                  </a:lnTo>
                  <a:lnTo>
                    <a:pt x="0" y="65677"/>
                  </a:lnTo>
                  <a:lnTo>
                    <a:pt x="11481" y="27402"/>
                  </a:lnTo>
                  <a:lnTo>
                    <a:pt x="41472" y="2250"/>
                  </a:lnTo>
                  <a:lnTo>
                    <a:pt x="52328" y="0"/>
                  </a:lnTo>
                  <a:lnTo>
                    <a:pt x="5339759" y="0"/>
                  </a:lnTo>
                  <a:lnTo>
                    <a:pt x="5378033" y="14409"/>
                  </a:lnTo>
                  <a:lnTo>
                    <a:pt x="5401852" y="47656"/>
                  </a:lnTo>
                  <a:lnTo>
                    <a:pt x="5405437" y="65677"/>
                  </a:lnTo>
                  <a:lnTo>
                    <a:pt x="5405437" y="1220196"/>
                  </a:lnTo>
                  <a:lnTo>
                    <a:pt x="5391025" y="1258471"/>
                  </a:lnTo>
                  <a:lnTo>
                    <a:pt x="5357778" y="1282289"/>
                  </a:lnTo>
                  <a:lnTo>
                    <a:pt x="5344330" y="1285423"/>
                  </a:lnTo>
                  <a:lnTo>
                    <a:pt x="5339759" y="128587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28624" y="3029261"/>
              <a:ext cx="64135" cy="1285875"/>
            </a:xfrm>
            <a:custGeom>
              <a:avLst/>
              <a:gdLst/>
              <a:ahLst/>
              <a:cxnLst/>
              <a:rect l="l" t="t" r="r" b="b"/>
              <a:pathLst>
                <a:path w="64134" h="1285875">
                  <a:moveTo>
                    <a:pt x="63830" y="1285250"/>
                  </a:moveTo>
                  <a:lnTo>
                    <a:pt x="25721" y="1269634"/>
                  </a:lnTo>
                  <a:lnTo>
                    <a:pt x="3009" y="1235643"/>
                  </a:lnTo>
                  <a:lnTo>
                    <a:pt x="0" y="1215269"/>
                  </a:lnTo>
                  <a:lnTo>
                    <a:pt x="0" y="69980"/>
                  </a:lnTo>
                  <a:lnTo>
                    <a:pt x="11835" y="30920"/>
                  </a:lnTo>
                  <a:lnTo>
                    <a:pt x="43393" y="5038"/>
                  </a:lnTo>
                  <a:lnTo>
                    <a:pt x="63829" y="0"/>
                  </a:lnTo>
                  <a:lnTo>
                    <a:pt x="59439" y="1471"/>
                  </a:lnTo>
                  <a:lnTo>
                    <a:pt x="49217" y="8605"/>
                  </a:lnTo>
                  <a:lnTo>
                    <a:pt x="31750" y="43080"/>
                  </a:lnTo>
                  <a:lnTo>
                    <a:pt x="28574" y="69980"/>
                  </a:lnTo>
                  <a:lnTo>
                    <a:pt x="28574" y="1215269"/>
                  </a:lnTo>
                  <a:lnTo>
                    <a:pt x="36882" y="1258383"/>
                  </a:lnTo>
                  <a:lnTo>
                    <a:pt x="59439" y="1283778"/>
                  </a:lnTo>
                  <a:lnTo>
                    <a:pt x="63830" y="1285250"/>
                  </a:lnTo>
                  <a:close/>
                </a:path>
              </a:pathLst>
            </a:custGeom>
            <a:solidFill>
              <a:srgbClr val="8B5C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666749" y="3248024"/>
              <a:ext cx="285750" cy="276225"/>
            </a:xfrm>
            <a:custGeom>
              <a:avLst/>
              <a:gdLst/>
              <a:ahLst/>
              <a:cxnLst/>
              <a:rect l="l" t="t" r="r" b="b"/>
              <a:pathLst>
                <a:path w="285750" h="276225">
                  <a:moveTo>
                    <a:pt x="147637" y="276224"/>
                  </a:moveTo>
                  <a:lnTo>
                    <a:pt x="138112" y="276224"/>
                  </a:lnTo>
                  <a:lnTo>
                    <a:pt x="131327" y="276058"/>
                  </a:lnTo>
                  <a:lnTo>
                    <a:pt x="91591" y="268154"/>
                  </a:lnTo>
                  <a:lnTo>
                    <a:pt x="55831" y="249041"/>
                  </a:lnTo>
                  <a:lnTo>
                    <a:pt x="27183" y="220392"/>
                  </a:lnTo>
                  <a:lnTo>
                    <a:pt x="8069" y="184633"/>
                  </a:lnTo>
                  <a:lnTo>
                    <a:pt x="165" y="144897"/>
                  </a:lnTo>
                  <a:lnTo>
                    <a:pt x="0" y="138112"/>
                  </a:lnTo>
                  <a:lnTo>
                    <a:pt x="165" y="131327"/>
                  </a:lnTo>
                  <a:lnTo>
                    <a:pt x="8069" y="91590"/>
                  </a:lnTo>
                  <a:lnTo>
                    <a:pt x="27183" y="55831"/>
                  </a:lnTo>
                  <a:lnTo>
                    <a:pt x="55831" y="27183"/>
                  </a:lnTo>
                  <a:lnTo>
                    <a:pt x="91591" y="8069"/>
                  </a:lnTo>
                  <a:lnTo>
                    <a:pt x="131327" y="165"/>
                  </a:lnTo>
                  <a:lnTo>
                    <a:pt x="138112" y="0"/>
                  </a:lnTo>
                  <a:lnTo>
                    <a:pt x="147637" y="0"/>
                  </a:lnTo>
                  <a:lnTo>
                    <a:pt x="187729" y="5945"/>
                  </a:lnTo>
                  <a:lnTo>
                    <a:pt x="224368" y="23275"/>
                  </a:lnTo>
                  <a:lnTo>
                    <a:pt x="254401" y="50493"/>
                  </a:lnTo>
                  <a:lnTo>
                    <a:pt x="275236" y="85258"/>
                  </a:lnTo>
                  <a:lnTo>
                    <a:pt x="285086" y="124574"/>
                  </a:lnTo>
                  <a:lnTo>
                    <a:pt x="285749" y="138112"/>
                  </a:lnTo>
                  <a:lnTo>
                    <a:pt x="285584" y="144897"/>
                  </a:lnTo>
                  <a:lnTo>
                    <a:pt x="277679" y="184633"/>
                  </a:lnTo>
                  <a:lnTo>
                    <a:pt x="258566" y="220392"/>
                  </a:lnTo>
                  <a:lnTo>
                    <a:pt x="229917" y="249040"/>
                  </a:lnTo>
                  <a:lnTo>
                    <a:pt x="194158" y="268154"/>
                  </a:lnTo>
                  <a:lnTo>
                    <a:pt x="154422" y="276058"/>
                  </a:lnTo>
                  <a:lnTo>
                    <a:pt x="147637" y="276224"/>
                  </a:lnTo>
                  <a:close/>
                </a:path>
              </a:pathLst>
            </a:custGeom>
            <a:solidFill>
              <a:srgbClr val="4B1C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42949" y="3314699"/>
              <a:ext cx="140493" cy="140493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55240" y="3259709"/>
            <a:ext cx="4926330" cy="8235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8780">
              <a:lnSpc>
                <a:spcPct val="100000"/>
              </a:lnSpc>
              <a:spcBef>
                <a:spcPts val="130"/>
              </a:spcBef>
            </a:pPr>
            <a:r>
              <a:rPr sz="1350" b="1" spc="-15" dirty="0">
                <a:solidFill>
                  <a:srgbClr val="F2F4F5"/>
                </a:solidFill>
                <a:latin typeface="微软雅黑"/>
                <a:cs typeface="微软雅黑"/>
              </a:rPr>
              <a:t>技术解法</a:t>
            </a:r>
            <a:endParaRPr sz="1350">
              <a:latin typeface="微软雅黑"/>
              <a:cs typeface="微软雅黑"/>
            </a:endParaRPr>
          </a:p>
          <a:p>
            <a:pPr marL="12700" marR="5080">
              <a:lnSpc>
                <a:spcPct val="135000"/>
              </a:lnSpc>
              <a:spcBef>
                <a:spcPts val="580"/>
              </a:spcBef>
            </a:pPr>
            <a:r>
              <a:rPr sz="1250" spc="-25" dirty="0">
                <a:solidFill>
                  <a:srgbClr val="D0D5DA"/>
                </a:solidFill>
                <a:latin typeface="微软雅黑"/>
                <a:cs typeface="微软雅黑"/>
              </a:rPr>
              <a:t>结合</a:t>
            </a:r>
            <a:r>
              <a:rPr sz="1250" spc="-25" dirty="0">
                <a:solidFill>
                  <a:srgbClr val="C3B4FD"/>
                </a:solidFill>
                <a:latin typeface="微软雅黑"/>
                <a:cs typeface="微软雅黑"/>
              </a:rPr>
              <a:t>符号规则</a:t>
            </a:r>
            <a:r>
              <a:rPr sz="1250" spc="-25" dirty="0">
                <a:solidFill>
                  <a:srgbClr val="D0D5DA"/>
                </a:solidFill>
                <a:latin typeface="微软雅黑"/>
                <a:cs typeface="微软雅黑"/>
              </a:rPr>
              <a:t>约束</a:t>
            </a:r>
            <a:r>
              <a:rPr sz="1250" spc="-10" dirty="0">
                <a:solidFill>
                  <a:srgbClr val="D0D5DA"/>
                </a:solidFill>
                <a:latin typeface="微软雅黑"/>
                <a:cs typeface="微软雅黑"/>
              </a:rPr>
              <a:t>LLM</a:t>
            </a:r>
            <a:r>
              <a:rPr sz="1250" spc="-30" dirty="0">
                <a:solidFill>
                  <a:srgbClr val="D0D5DA"/>
                </a:solidFill>
                <a:latin typeface="微软雅黑"/>
                <a:cs typeface="微软雅黑"/>
              </a:rPr>
              <a:t>输出，同时融合神经网络学习隐式模式的能力，实现显式逻辑与隐式直觉的互补。</a:t>
            </a:r>
            <a:endParaRPr sz="1250">
              <a:latin typeface="微软雅黑"/>
              <a:cs typeface="微软雅黑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28624" y="4600574"/>
            <a:ext cx="5419725" cy="1285875"/>
            <a:chOff x="428624" y="4600574"/>
            <a:chExt cx="5419725" cy="1285875"/>
          </a:xfrm>
        </p:grpSpPr>
        <p:sp>
          <p:nvSpPr>
            <p:cNvPr id="17" name="object 17"/>
            <p:cNvSpPr/>
            <p:nvPr/>
          </p:nvSpPr>
          <p:spPr>
            <a:xfrm>
              <a:off x="442912" y="4600574"/>
              <a:ext cx="5405755" cy="1285875"/>
            </a:xfrm>
            <a:custGeom>
              <a:avLst/>
              <a:gdLst/>
              <a:ahLst/>
              <a:cxnLst/>
              <a:rect l="l" t="t" r="r" b="b"/>
              <a:pathLst>
                <a:path w="5405755" h="1285875">
                  <a:moveTo>
                    <a:pt x="5339759" y="1285874"/>
                  </a:moveTo>
                  <a:lnTo>
                    <a:pt x="52328" y="1285874"/>
                  </a:lnTo>
                  <a:lnTo>
                    <a:pt x="48686" y="1285424"/>
                  </a:lnTo>
                  <a:lnTo>
                    <a:pt x="13803" y="1262022"/>
                  </a:lnTo>
                  <a:lnTo>
                    <a:pt x="358" y="1224767"/>
                  </a:lnTo>
                  <a:lnTo>
                    <a:pt x="0" y="1220196"/>
                  </a:lnTo>
                  <a:lnTo>
                    <a:pt x="0" y="1215582"/>
                  </a:lnTo>
                  <a:lnTo>
                    <a:pt x="0" y="65677"/>
                  </a:lnTo>
                  <a:lnTo>
                    <a:pt x="11481" y="27401"/>
                  </a:lnTo>
                  <a:lnTo>
                    <a:pt x="41472" y="2250"/>
                  </a:lnTo>
                  <a:lnTo>
                    <a:pt x="52328" y="0"/>
                  </a:lnTo>
                  <a:lnTo>
                    <a:pt x="5339759" y="0"/>
                  </a:lnTo>
                  <a:lnTo>
                    <a:pt x="5378033" y="14410"/>
                  </a:lnTo>
                  <a:lnTo>
                    <a:pt x="5401852" y="47656"/>
                  </a:lnTo>
                  <a:lnTo>
                    <a:pt x="5405437" y="65677"/>
                  </a:lnTo>
                  <a:lnTo>
                    <a:pt x="5405437" y="1220196"/>
                  </a:lnTo>
                  <a:lnTo>
                    <a:pt x="5391025" y="1258471"/>
                  </a:lnTo>
                  <a:lnTo>
                    <a:pt x="5357778" y="1282290"/>
                  </a:lnTo>
                  <a:lnTo>
                    <a:pt x="5344330" y="1285424"/>
                  </a:lnTo>
                  <a:lnTo>
                    <a:pt x="5339759" y="128587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28624" y="4600886"/>
              <a:ext cx="64135" cy="1285875"/>
            </a:xfrm>
            <a:custGeom>
              <a:avLst/>
              <a:gdLst/>
              <a:ahLst/>
              <a:cxnLst/>
              <a:rect l="l" t="t" r="r" b="b"/>
              <a:pathLst>
                <a:path w="64134" h="1285875">
                  <a:moveTo>
                    <a:pt x="63829" y="1285250"/>
                  </a:moveTo>
                  <a:lnTo>
                    <a:pt x="25721" y="1269634"/>
                  </a:lnTo>
                  <a:lnTo>
                    <a:pt x="3009" y="1235643"/>
                  </a:lnTo>
                  <a:lnTo>
                    <a:pt x="0" y="1215269"/>
                  </a:lnTo>
                  <a:lnTo>
                    <a:pt x="0" y="69980"/>
                  </a:lnTo>
                  <a:lnTo>
                    <a:pt x="11835" y="30920"/>
                  </a:lnTo>
                  <a:lnTo>
                    <a:pt x="43393" y="5037"/>
                  </a:lnTo>
                  <a:lnTo>
                    <a:pt x="63829" y="0"/>
                  </a:lnTo>
                  <a:lnTo>
                    <a:pt x="59439" y="1471"/>
                  </a:lnTo>
                  <a:lnTo>
                    <a:pt x="49217" y="8605"/>
                  </a:lnTo>
                  <a:lnTo>
                    <a:pt x="31750" y="43080"/>
                  </a:lnTo>
                  <a:lnTo>
                    <a:pt x="28574" y="69980"/>
                  </a:lnTo>
                  <a:lnTo>
                    <a:pt x="28574" y="1215269"/>
                  </a:lnTo>
                  <a:lnTo>
                    <a:pt x="36882" y="1258383"/>
                  </a:lnTo>
                  <a:lnTo>
                    <a:pt x="59439" y="1283778"/>
                  </a:lnTo>
                  <a:lnTo>
                    <a:pt x="63829" y="1285250"/>
                  </a:lnTo>
                  <a:close/>
                </a:path>
              </a:pathLst>
            </a:custGeom>
            <a:solidFill>
              <a:srgbClr val="0FB98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66749" y="4810124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142874" y="285749"/>
                  </a:moveTo>
                  <a:lnTo>
                    <a:pt x="101400" y="279598"/>
                  </a:lnTo>
                  <a:lnTo>
                    <a:pt x="63497" y="261670"/>
                  </a:lnTo>
                  <a:lnTo>
                    <a:pt x="32429" y="233514"/>
                  </a:lnTo>
                  <a:lnTo>
                    <a:pt x="10875" y="197550"/>
                  </a:lnTo>
                  <a:lnTo>
                    <a:pt x="686" y="156879"/>
                  </a:lnTo>
                  <a:lnTo>
                    <a:pt x="0" y="142874"/>
                  </a:lnTo>
                  <a:lnTo>
                    <a:pt x="171" y="135855"/>
                  </a:lnTo>
                  <a:lnTo>
                    <a:pt x="8348" y="94749"/>
                  </a:lnTo>
                  <a:lnTo>
                    <a:pt x="28120" y="57756"/>
                  </a:lnTo>
                  <a:lnTo>
                    <a:pt x="57756" y="28120"/>
                  </a:lnTo>
                  <a:lnTo>
                    <a:pt x="94749" y="8347"/>
                  </a:lnTo>
                  <a:lnTo>
                    <a:pt x="135855" y="171"/>
                  </a:lnTo>
                  <a:lnTo>
                    <a:pt x="142874" y="0"/>
                  </a:lnTo>
                  <a:lnTo>
                    <a:pt x="149894" y="171"/>
                  </a:lnTo>
                  <a:lnTo>
                    <a:pt x="191000" y="8347"/>
                  </a:lnTo>
                  <a:lnTo>
                    <a:pt x="227992" y="28120"/>
                  </a:lnTo>
                  <a:lnTo>
                    <a:pt x="257628" y="57756"/>
                  </a:lnTo>
                  <a:lnTo>
                    <a:pt x="277401" y="94749"/>
                  </a:lnTo>
                  <a:lnTo>
                    <a:pt x="285578" y="135855"/>
                  </a:lnTo>
                  <a:lnTo>
                    <a:pt x="285749" y="142874"/>
                  </a:lnTo>
                  <a:lnTo>
                    <a:pt x="285578" y="149894"/>
                  </a:lnTo>
                  <a:lnTo>
                    <a:pt x="277401" y="190999"/>
                  </a:lnTo>
                  <a:lnTo>
                    <a:pt x="257628" y="227992"/>
                  </a:lnTo>
                  <a:lnTo>
                    <a:pt x="227992" y="257628"/>
                  </a:lnTo>
                  <a:lnTo>
                    <a:pt x="191000" y="277401"/>
                  </a:lnTo>
                  <a:lnTo>
                    <a:pt x="149894" y="285578"/>
                  </a:lnTo>
                  <a:lnTo>
                    <a:pt x="142874" y="285749"/>
                  </a:lnTo>
                  <a:close/>
                </a:path>
              </a:pathLst>
            </a:custGeom>
            <a:solidFill>
              <a:srgbClr val="054E3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47312" y="4876799"/>
              <a:ext cx="131767" cy="140274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655240" y="4831333"/>
            <a:ext cx="4956175" cy="823594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98780">
              <a:lnSpc>
                <a:spcPct val="100000"/>
              </a:lnSpc>
              <a:spcBef>
                <a:spcPts val="130"/>
              </a:spcBef>
            </a:pPr>
            <a:r>
              <a:rPr sz="1350" b="1" spc="-15" dirty="0">
                <a:solidFill>
                  <a:srgbClr val="F2F4F5"/>
                </a:solidFill>
                <a:latin typeface="微软雅黑"/>
                <a:cs typeface="微软雅黑"/>
              </a:rPr>
              <a:t>核心价值</a:t>
            </a:r>
            <a:endParaRPr sz="1350">
              <a:latin typeface="微软雅黑"/>
              <a:cs typeface="微软雅黑"/>
            </a:endParaRPr>
          </a:p>
          <a:p>
            <a:pPr marL="12700" marR="5080">
              <a:lnSpc>
                <a:spcPct val="135000"/>
              </a:lnSpc>
              <a:spcBef>
                <a:spcPts val="580"/>
              </a:spcBef>
            </a:pPr>
            <a:r>
              <a:rPr sz="1250" spc="-25" dirty="0">
                <a:solidFill>
                  <a:srgbClr val="D0D5DA"/>
                </a:solidFill>
                <a:latin typeface="微软雅黑"/>
                <a:cs typeface="微软雅黑"/>
              </a:rPr>
              <a:t>显著提升系统的</a:t>
            </a:r>
            <a:r>
              <a:rPr sz="1250" spc="-15" dirty="0">
                <a:solidFill>
                  <a:srgbClr val="6EE7B6"/>
                </a:solidFill>
                <a:latin typeface="微软雅黑"/>
                <a:cs typeface="微软雅黑"/>
              </a:rPr>
              <a:t>可靠性 (</a:t>
            </a:r>
            <a:r>
              <a:rPr sz="1250" spc="-10" dirty="0">
                <a:solidFill>
                  <a:srgbClr val="6EE7B6"/>
                </a:solidFill>
                <a:latin typeface="微软雅黑"/>
                <a:cs typeface="微软雅黑"/>
              </a:rPr>
              <a:t>Reliability) </a:t>
            </a:r>
            <a:r>
              <a:rPr sz="1250" dirty="0">
                <a:solidFill>
                  <a:srgbClr val="D0D5DA"/>
                </a:solidFill>
                <a:latin typeface="微软雅黑"/>
                <a:cs typeface="微软雅黑"/>
              </a:rPr>
              <a:t>与 </a:t>
            </a:r>
            <a:r>
              <a:rPr sz="1250" spc="-20" dirty="0">
                <a:solidFill>
                  <a:srgbClr val="6EE7B6"/>
                </a:solidFill>
                <a:latin typeface="微软雅黑"/>
                <a:cs typeface="微软雅黑"/>
              </a:rPr>
              <a:t>可解释性 (Interpretability)</a:t>
            </a:r>
            <a:r>
              <a:rPr sz="1250" spc="-35" dirty="0">
                <a:solidFill>
                  <a:srgbClr val="D0D5DA"/>
                </a:solidFill>
                <a:latin typeface="微软雅黑"/>
                <a:cs typeface="微软雅黑"/>
              </a:rPr>
              <a:t>，增</a:t>
            </a:r>
            <a:r>
              <a:rPr sz="1250" spc="-30" dirty="0">
                <a:solidFill>
                  <a:srgbClr val="D0D5DA"/>
                </a:solidFill>
                <a:latin typeface="微软雅黑"/>
                <a:cs typeface="微软雅黑"/>
              </a:rPr>
              <a:t>强用户信任。</a:t>
            </a:r>
            <a:endParaRPr sz="1250">
              <a:latin typeface="微软雅黑"/>
              <a:cs typeface="微软雅黑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267449" y="1209674"/>
            <a:ext cx="5429250" cy="5143500"/>
            <a:chOff x="6267449" y="1209674"/>
            <a:chExt cx="5429250" cy="5143500"/>
          </a:xfrm>
        </p:grpSpPr>
        <p:sp>
          <p:nvSpPr>
            <p:cNvPr id="23" name="object 23"/>
            <p:cNvSpPr/>
            <p:nvPr/>
          </p:nvSpPr>
          <p:spPr>
            <a:xfrm>
              <a:off x="6272212" y="1214437"/>
              <a:ext cx="5419725" cy="5133975"/>
            </a:xfrm>
            <a:custGeom>
              <a:avLst/>
              <a:gdLst/>
              <a:ahLst/>
              <a:cxnLst/>
              <a:rect l="l" t="t" r="r" b="b"/>
              <a:pathLst>
                <a:path w="5419725" h="5133975">
                  <a:moveTo>
                    <a:pt x="5325657" y="5133974"/>
                  </a:moveTo>
                  <a:lnTo>
                    <a:pt x="94066" y="5133974"/>
                  </a:lnTo>
                  <a:lnTo>
                    <a:pt x="87519" y="5133329"/>
                  </a:lnTo>
                  <a:lnTo>
                    <a:pt x="50239" y="5120678"/>
                  </a:lnTo>
                  <a:lnTo>
                    <a:pt x="20638" y="5094726"/>
                  </a:lnTo>
                  <a:lnTo>
                    <a:pt x="3223" y="5059421"/>
                  </a:lnTo>
                  <a:lnTo>
                    <a:pt x="0" y="5039907"/>
                  </a:lnTo>
                  <a:lnTo>
                    <a:pt x="0" y="5033297"/>
                  </a:lnTo>
                  <a:lnTo>
                    <a:pt x="0" y="94066"/>
                  </a:lnTo>
                  <a:lnTo>
                    <a:pt x="10192" y="56042"/>
                  </a:lnTo>
                  <a:lnTo>
                    <a:pt x="34161" y="24813"/>
                  </a:lnTo>
                  <a:lnTo>
                    <a:pt x="68256" y="5133"/>
                  </a:lnTo>
                  <a:lnTo>
                    <a:pt x="94066" y="0"/>
                  </a:lnTo>
                  <a:lnTo>
                    <a:pt x="5325657" y="0"/>
                  </a:lnTo>
                  <a:lnTo>
                    <a:pt x="5363681" y="10193"/>
                  </a:lnTo>
                  <a:lnTo>
                    <a:pt x="5394910" y="34161"/>
                  </a:lnTo>
                  <a:lnTo>
                    <a:pt x="5414588" y="68256"/>
                  </a:lnTo>
                  <a:lnTo>
                    <a:pt x="5419723" y="94066"/>
                  </a:lnTo>
                  <a:lnTo>
                    <a:pt x="5419723" y="5039907"/>
                  </a:lnTo>
                  <a:lnTo>
                    <a:pt x="5409531" y="5077931"/>
                  </a:lnTo>
                  <a:lnTo>
                    <a:pt x="5385562" y="5109160"/>
                  </a:lnTo>
                  <a:lnTo>
                    <a:pt x="5351465" y="5128840"/>
                  </a:lnTo>
                  <a:lnTo>
                    <a:pt x="5332204" y="5133329"/>
                  </a:lnTo>
                  <a:lnTo>
                    <a:pt x="5325657" y="5133974"/>
                  </a:lnTo>
                  <a:close/>
                </a:path>
              </a:pathLst>
            </a:custGeom>
            <a:solidFill>
              <a:srgbClr val="1F2937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272212" y="1214437"/>
              <a:ext cx="5419725" cy="5133975"/>
            </a:xfrm>
            <a:custGeom>
              <a:avLst/>
              <a:gdLst/>
              <a:ahLst/>
              <a:cxnLst/>
              <a:rect l="l" t="t" r="r" b="b"/>
              <a:pathLst>
                <a:path w="5419725" h="5133975">
                  <a:moveTo>
                    <a:pt x="0" y="5033297"/>
                  </a:moveTo>
                  <a:lnTo>
                    <a:pt x="0" y="100676"/>
                  </a:lnTo>
                  <a:lnTo>
                    <a:pt x="0" y="94066"/>
                  </a:lnTo>
                  <a:lnTo>
                    <a:pt x="644" y="87519"/>
                  </a:lnTo>
                  <a:lnTo>
                    <a:pt x="13293" y="50240"/>
                  </a:lnTo>
                  <a:lnTo>
                    <a:pt x="16966" y="44743"/>
                  </a:lnTo>
                  <a:lnTo>
                    <a:pt x="20638" y="39247"/>
                  </a:lnTo>
                  <a:lnTo>
                    <a:pt x="24812" y="34161"/>
                  </a:lnTo>
                  <a:lnTo>
                    <a:pt x="29487" y="29487"/>
                  </a:lnTo>
                  <a:lnTo>
                    <a:pt x="34161" y="24813"/>
                  </a:lnTo>
                  <a:lnTo>
                    <a:pt x="39246" y="20639"/>
                  </a:lnTo>
                  <a:lnTo>
                    <a:pt x="44743" y="16967"/>
                  </a:lnTo>
                  <a:lnTo>
                    <a:pt x="50239" y="13294"/>
                  </a:lnTo>
                  <a:lnTo>
                    <a:pt x="56041" y="10193"/>
                  </a:lnTo>
                  <a:lnTo>
                    <a:pt x="62149" y="7663"/>
                  </a:lnTo>
                  <a:lnTo>
                    <a:pt x="68256" y="5133"/>
                  </a:lnTo>
                  <a:lnTo>
                    <a:pt x="74551" y="3224"/>
                  </a:lnTo>
                  <a:lnTo>
                    <a:pt x="81035" y="1934"/>
                  </a:lnTo>
                  <a:lnTo>
                    <a:pt x="87519" y="644"/>
                  </a:lnTo>
                  <a:lnTo>
                    <a:pt x="94066" y="0"/>
                  </a:lnTo>
                  <a:lnTo>
                    <a:pt x="100676" y="0"/>
                  </a:lnTo>
                  <a:lnTo>
                    <a:pt x="5319047" y="0"/>
                  </a:lnTo>
                  <a:lnTo>
                    <a:pt x="5325657" y="0"/>
                  </a:lnTo>
                  <a:lnTo>
                    <a:pt x="5332204" y="644"/>
                  </a:lnTo>
                  <a:lnTo>
                    <a:pt x="5338687" y="1934"/>
                  </a:lnTo>
                  <a:lnTo>
                    <a:pt x="5345170" y="3224"/>
                  </a:lnTo>
                  <a:lnTo>
                    <a:pt x="5380477" y="20639"/>
                  </a:lnTo>
                  <a:lnTo>
                    <a:pt x="5390236" y="29487"/>
                  </a:lnTo>
                  <a:lnTo>
                    <a:pt x="5394910" y="34161"/>
                  </a:lnTo>
                  <a:lnTo>
                    <a:pt x="5399083" y="39247"/>
                  </a:lnTo>
                  <a:lnTo>
                    <a:pt x="5402757" y="44743"/>
                  </a:lnTo>
                  <a:lnTo>
                    <a:pt x="5406430" y="50240"/>
                  </a:lnTo>
                  <a:lnTo>
                    <a:pt x="5409531" y="56042"/>
                  </a:lnTo>
                  <a:lnTo>
                    <a:pt x="5412059" y="62149"/>
                  </a:lnTo>
                  <a:lnTo>
                    <a:pt x="5414588" y="68256"/>
                  </a:lnTo>
                  <a:lnTo>
                    <a:pt x="5416499" y="74552"/>
                  </a:lnTo>
                  <a:lnTo>
                    <a:pt x="5417788" y="81035"/>
                  </a:lnTo>
                  <a:lnTo>
                    <a:pt x="5419078" y="87519"/>
                  </a:lnTo>
                  <a:lnTo>
                    <a:pt x="5419723" y="94066"/>
                  </a:lnTo>
                  <a:lnTo>
                    <a:pt x="5419724" y="100676"/>
                  </a:lnTo>
                  <a:lnTo>
                    <a:pt x="5419724" y="5033297"/>
                  </a:lnTo>
                  <a:lnTo>
                    <a:pt x="5419723" y="5039907"/>
                  </a:lnTo>
                  <a:lnTo>
                    <a:pt x="5419078" y="5046454"/>
                  </a:lnTo>
                  <a:lnTo>
                    <a:pt x="5417788" y="5052937"/>
                  </a:lnTo>
                  <a:lnTo>
                    <a:pt x="5416499" y="5059421"/>
                  </a:lnTo>
                  <a:lnTo>
                    <a:pt x="5414588" y="5065717"/>
                  </a:lnTo>
                  <a:lnTo>
                    <a:pt x="5412059" y="5071824"/>
                  </a:lnTo>
                  <a:lnTo>
                    <a:pt x="5409531" y="5077931"/>
                  </a:lnTo>
                  <a:lnTo>
                    <a:pt x="5385562" y="5109160"/>
                  </a:lnTo>
                  <a:lnTo>
                    <a:pt x="5351465" y="5128840"/>
                  </a:lnTo>
                  <a:lnTo>
                    <a:pt x="5325657" y="5133974"/>
                  </a:lnTo>
                  <a:lnTo>
                    <a:pt x="5319047" y="5133974"/>
                  </a:lnTo>
                  <a:lnTo>
                    <a:pt x="100676" y="5133974"/>
                  </a:lnTo>
                  <a:lnTo>
                    <a:pt x="94066" y="5133974"/>
                  </a:lnTo>
                  <a:lnTo>
                    <a:pt x="87519" y="5133329"/>
                  </a:lnTo>
                  <a:lnTo>
                    <a:pt x="81035" y="5132039"/>
                  </a:lnTo>
                  <a:lnTo>
                    <a:pt x="74551" y="5130749"/>
                  </a:lnTo>
                  <a:lnTo>
                    <a:pt x="44743" y="5117006"/>
                  </a:lnTo>
                  <a:lnTo>
                    <a:pt x="39246" y="5113334"/>
                  </a:lnTo>
                  <a:lnTo>
                    <a:pt x="34161" y="5109160"/>
                  </a:lnTo>
                  <a:lnTo>
                    <a:pt x="29487" y="5104486"/>
                  </a:lnTo>
                  <a:lnTo>
                    <a:pt x="24812" y="5099811"/>
                  </a:lnTo>
                  <a:lnTo>
                    <a:pt x="5133" y="5065717"/>
                  </a:lnTo>
                  <a:lnTo>
                    <a:pt x="0" y="5039907"/>
                  </a:lnTo>
                  <a:lnTo>
                    <a:pt x="0" y="5033297"/>
                  </a:lnTo>
                  <a:close/>
                </a:path>
              </a:pathLst>
            </a:custGeom>
            <a:ln w="9524">
              <a:solidFill>
                <a:srgbClr val="374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5" name="object 25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96049" y="1477826"/>
              <a:ext cx="175617" cy="15366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479331" y="1353334"/>
            <a:ext cx="2115820" cy="532130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258445">
              <a:lnSpc>
                <a:spcPct val="100000"/>
              </a:lnSpc>
              <a:spcBef>
                <a:spcPts val="815"/>
              </a:spcBef>
            </a:pPr>
            <a:r>
              <a:rPr sz="1350" b="1" spc="-10" dirty="0">
                <a:solidFill>
                  <a:srgbClr val="93C4FD"/>
                </a:solidFill>
                <a:latin typeface="微软雅黑"/>
                <a:cs typeface="微软雅黑"/>
              </a:rPr>
              <a:t>学术界进展</a:t>
            </a:r>
            <a:endParaRPr sz="13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505"/>
              </a:spcBef>
            </a:pPr>
            <a:r>
              <a:rPr sz="950" spc="-5" dirty="0">
                <a:solidFill>
                  <a:srgbClr val="9CA2AF"/>
                </a:solidFill>
                <a:latin typeface="微软雅黑"/>
                <a:cs typeface="微软雅黑"/>
              </a:rPr>
              <a:t>在逻辑推理和因果分析任务中表现优异</a:t>
            </a:r>
            <a:endParaRPr sz="950">
              <a:latin typeface="微软雅黑"/>
              <a:cs typeface="微软雅黑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6496049" y="1438275"/>
            <a:ext cx="4981575" cy="3209925"/>
            <a:chOff x="6496049" y="1438275"/>
            <a:chExt cx="4981575" cy="3209925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096499" y="1438275"/>
              <a:ext cx="1381125" cy="276224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6500812" y="2033587"/>
              <a:ext cx="4972050" cy="2609850"/>
            </a:xfrm>
            <a:custGeom>
              <a:avLst/>
              <a:gdLst/>
              <a:ahLst/>
              <a:cxnLst/>
              <a:rect l="l" t="t" r="r" b="b"/>
              <a:pathLst>
                <a:path w="4972050" h="2609850">
                  <a:moveTo>
                    <a:pt x="4910820" y="2609849"/>
                  </a:moveTo>
                  <a:lnTo>
                    <a:pt x="61227" y="2609849"/>
                  </a:lnTo>
                  <a:lnTo>
                    <a:pt x="56965" y="2609429"/>
                  </a:lnTo>
                  <a:lnTo>
                    <a:pt x="22235" y="2593698"/>
                  </a:lnTo>
                  <a:lnTo>
                    <a:pt x="2097" y="2561323"/>
                  </a:lnTo>
                  <a:lnTo>
                    <a:pt x="0" y="2548622"/>
                  </a:lnTo>
                  <a:lnTo>
                    <a:pt x="0" y="2544319"/>
                  </a:lnTo>
                  <a:lnTo>
                    <a:pt x="0" y="61227"/>
                  </a:lnTo>
                  <a:lnTo>
                    <a:pt x="13434" y="25545"/>
                  </a:lnTo>
                  <a:lnTo>
                    <a:pt x="44427" y="3341"/>
                  </a:lnTo>
                  <a:lnTo>
                    <a:pt x="61227" y="0"/>
                  </a:lnTo>
                  <a:lnTo>
                    <a:pt x="4910820" y="0"/>
                  </a:lnTo>
                  <a:lnTo>
                    <a:pt x="4946501" y="13434"/>
                  </a:lnTo>
                  <a:lnTo>
                    <a:pt x="4968706" y="44428"/>
                  </a:lnTo>
                  <a:lnTo>
                    <a:pt x="4972049" y="61227"/>
                  </a:lnTo>
                  <a:lnTo>
                    <a:pt x="4972049" y="2548622"/>
                  </a:lnTo>
                  <a:lnTo>
                    <a:pt x="4958612" y="2584303"/>
                  </a:lnTo>
                  <a:lnTo>
                    <a:pt x="4927618" y="2606507"/>
                  </a:lnTo>
                  <a:lnTo>
                    <a:pt x="4915082" y="2609429"/>
                  </a:lnTo>
                  <a:lnTo>
                    <a:pt x="4910820" y="2609849"/>
                  </a:lnTo>
                  <a:close/>
                </a:path>
              </a:pathLst>
            </a:custGeom>
            <a:solidFill>
              <a:srgbClr val="000000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500812" y="2033587"/>
              <a:ext cx="4972050" cy="2609850"/>
            </a:xfrm>
            <a:custGeom>
              <a:avLst/>
              <a:gdLst/>
              <a:ahLst/>
              <a:cxnLst/>
              <a:rect l="l" t="t" r="r" b="b"/>
              <a:pathLst>
                <a:path w="4972050" h="2609850">
                  <a:moveTo>
                    <a:pt x="0" y="2544319"/>
                  </a:moveTo>
                  <a:lnTo>
                    <a:pt x="0" y="65530"/>
                  </a:lnTo>
                  <a:lnTo>
                    <a:pt x="0" y="61227"/>
                  </a:lnTo>
                  <a:lnTo>
                    <a:pt x="419" y="56966"/>
                  </a:lnTo>
                  <a:lnTo>
                    <a:pt x="1258" y="52746"/>
                  </a:lnTo>
                  <a:lnTo>
                    <a:pt x="2097" y="48525"/>
                  </a:lnTo>
                  <a:lnTo>
                    <a:pt x="3340" y="44428"/>
                  </a:lnTo>
                  <a:lnTo>
                    <a:pt x="25546" y="13434"/>
                  </a:lnTo>
                  <a:lnTo>
                    <a:pt x="52745" y="1259"/>
                  </a:lnTo>
                  <a:lnTo>
                    <a:pt x="56965" y="419"/>
                  </a:lnTo>
                  <a:lnTo>
                    <a:pt x="61227" y="0"/>
                  </a:lnTo>
                  <a:lnTo>
                    <a:pt x="65530" y="0"/>
                  </a:lnTo>
                  <a:lnTo>
                    <a:pt x="4906518" y="0"/>
                  </a:lnTo>
                  <a:lnTo>
                    <a:pt x="4910820" y="0"/>
                  </a:lnTo>
                  <a:lnTo>
                    <a:pt x="4915082" y="419"/>
                  </a:lnTo>
                  <a:lnTo>
                    <a:pt x="4919301" y="1259"/>
                  </a:lnTo>
                  <a:lnTo>
                    <a:pt x="4923521" y="2098"/>
                  </a:lnTo>
                  <a:lnTo>
                    <a:pt x="4927618" y="3341"/>
                  </a:lnTo>
                  <a:lnTo>
                    <a:pt x="4931593" y="4987"/>
                  </a:lnTo>
                  <a:lnTo>
                    <a:pt x="4935569" y="6634"/>
                  </a:lnTo>
                  <a:lnTo>
                    <a:pt x="4939344" y="8653"/>
                  </a:lnTo>
                  <a:lnTo>
                    <a:pt x="4942922" y="11043"/>
                  </a:lnTo>
                  <a:lnTo>
                    <a:pt x="4946501" y="13434"/>
                  </a:lnTo>
                  <a:lnTo>
                    <a:pt x="4967059" y="40452"/>
                  </a:lnTo>
                  <a:lnTo>
                    <a:pt x="4968706" y="44428"/>
                  </a:lnTo>
                  <a:lnTo>
                    <a:pt x="4969949" y="48525"/>
                  </a:lnTo>
                  <a:lnTo>
                    <a:pt x="4970790" y="52746"/>
                  </a:lnTo>
                  <a:lnTo>
                    <a:pt x="4971629" y="56966"/>
                  </a:lnTo>
                  <a:lnTo>
                    <a:pt x="4972049" y="61227"/>
                  </a:lnTo>
                  <a:lnTo>
                    <a:pt x="4972049" y="65530"/>
                  </a:lnTo>
                  <a:lnTo>
                    <a:pt x="4972049" y="2544319"/>
                  </a:lnTo>
                  <a:lnTo>
                    <a:pt x="4972049" y="2548622"/>
                  </a:lnTo>
                  <a:lnTo>
                    <a:pt x="4971629" y="2552883"/>
                  </a:lnTo>
                  <a:lnTo>
                    <a:pt x="4970790" y="2557103"/>
                  </a:lnTo>
                  <a:lnTo>
                    <a:pt x="4969949" y="2561323"/>
                  </a:lnTo>
                  <a:lnTo>
                    <a:pt x="4968706" y="2565420"/>
                  </a:lnTo>
                  <a:lnTo>
                    <a:pt x="4967059" y="2569395"/>
                  </a:lnTo>
                  <a:lnTo>
                    <a:pt x="4965412" y="2573371"/>
                  </a:lnTo>
                  <a:lnTo>
                    <a:pt x="4942922" y="2598805"/>
                  </a:lnTo>
                  <a:lnTo>
                    <a:pt x="4939344" y="2601195"/>
                  </a:lnTo>
                  <a:lnTo>
                    <a:pt x="4906518" y="2609849"/>
                  </a:lnTo>
                  <a:lnTo>
                    <a:pt x="65530" y="2609849"/>
                  </a:lnTo>
                  <a:lnTo>
                    <a:pt x="25546" y="2596414"/>
                  </a:lnTo>
                  <a:lnTo>
                    <a:pt x="3340" y="2565420"/>
                  </a:lnTo>
                  <a:lnTo>
                    <a:pt x="1258" y="2557103"/>
                  </a:lnTo>
                  <a:lnTo>
                    <a:pt x="419" y="2552883"/>
                  </a:lnTo>
                  <a:lnTo>
                    <a:pt x="0" y="2548622"/>
                  </a:lnTo>
                  <a:lnTo>
                    <a:pt x="0" y="2544319"/>
                  </a:lnTo>
                  <a:close/>
                </a:path>
              </a:pathLst>
            </a:custGeom>
            <a:ln w="9524">
              <a:solidFill>
                <a:srgbClr val="4A54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419974" y="2181224"/>
              <a:ext cx="3124199" cy="2105024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8352035" y="4349178"/>
            <a:ext cx="1261110" cy="15240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800" dirty="0">
                <a:solidFill>
                  <a:srgbClr val="6A7280"/>
                </a:solidFill>
                <a:latin typeface="微软雅黑"/>
                <a:cs typeface="微软雅黑"/>
              </a:rPr>
              <a:t>GAIA 基准测试排行榜数据</a:t>
            </a:r>
            <a:endParaRPr sz="800">
              <a:latin typeface="微软雅黑"/>
              <a:cs typeface="微软雅黑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6496049" y="4791074"/>
            <a:ext cx="1590675" cy="619125"/>
            <a:chOff x="6496049" y="4791074"/>
            <a:chExt cx="1590675" cy="619125"/>
          </a:xfrm>
        </p:grpSpPr>
        <p:sp>
          <p:nvSpPr>
            <p:cNvPr id="34" name="object 34"/>
            <p:cNvSpPr/>
            <p:nvPr/>
          </p:nvSpPr>
          <p:spPr>
            <a:xfrm>
              <a:off x="6500812" y="4795837"/>
              <a:ext cx="1581150" cy="609600"/>
            </a:xfrm>
            <a:custGeom>
              <a:avLst/>
              <a:gdLst/>
              <a:ahLst/>
              <a:cxnLst/>
              <a:rect l="l" t="t" r="r" b="b"/>
              <a:pathLst>
                <a:path w="1581150" h="609600">
                  <a:moveTo>
                    <a:pt x="1519922" y="609599"/>
                  </a:moveTo>
                  <a:lnTo>
                    <a:pt x="61227" y="609599"/>
                  </a:lnTo>
                  <a:lnTo>
                    <a:pt x="56965" y="609178"/>
                  </a:lnTo>
                  <a:lnTo>
                    <a:pt x="22235" y="593447"/>
                  </a:lnTo>
                  <a:lnTo>
                    <a:pt x="2097" y="561073"/>
                  </a:lnTo>
                  <a:lnTo>
                    <a:pt x="0" y="548372"/>
                  </a:lnTo>
                  <a:lnTo>
                    <a:pt x="0" y="544069"/>
                  </a:lnTo>
                  <a:lnTo>
                    <a:pt x="0" y="61227"/>
                  </a:lnTo>
                  <a:lnTo>
                    <a:pt x="13434" y="25545"/>
                  </a:lnTo>
                  <a:lnTo>
                    <a:pt x="44427" y="3341"/>
                  </a:lnTo>
                  <a:lnTo>
                    <a:pt x="61227" y="0"/>
                  </a:lnTo>
                  <a:lnTo>
                    <a:pt x="1519922" y="0"/>
                  </a:lnTo>
                  <a:lnTo>
                    <a:pt x="1555602" y="13433"/>
                  </a:lnTo>
                  <a:lnTo>
                    <a:pt x="1577807" y="44427"/>
                  </a:lnTo>
                  <a:lnTo>
                    <a:pt x="1581149" y="61227"/>
                  </a:lnTo>
                  <a:lnTo>
                    <a:pt x="1581149" y="548372"/>
                  </a:lnTo>
                  <a:lnTo>
                    <a:pt x="1567714" y="584052"/>
                  </a:lnTo>
                  <a:lnTo>
                    <a:pt x="1536720" y="606257"/>
                  </a:lnTo>
                  <a:lnTo>
                    <a:pt x="1524183" y="609178"/>
                  </a:lnTo>
                  <a:lnTo>
                    <a:pt x="1519922" y="609599"/>
                  </a:lnTo>
                  <a:close/>
                </a:path>
              </a:pathLst>
            </a:custGeom>
            <a:solidFill>
              <a:srgbClr val="312E8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6500812" y="4795837"/>
              <a:ext cx="1581150" cy="609600"/>
            </a:xfrm>
            <a:custGeom>
              <a:avLst/>
              <a:gdLst/>
              <a:ahLst/>
              <a:cxnLst/>
              <a:rect l="l" t="t" r="r" b="b"/>
              <a:pathLst>
                <a:path w="1581150" h="609600">
                  <a:moveTo>
                    <a:pt x="0" y="544069"/>
                  </a:moveTo>
                  <a:lnTo>
                    <a:pt x="0" y="65530"/>
                  </a:lnTo>
                  <a:lnTo>
                    <a:pt x="0" y="61227"/>
                  </a:lnTo>
                  <a:lnTo>
                    <a:pt x="419" y="56965"/>
                  </a:lnTo>
                  <a:lnTo>
                    <a:pt x="16150" y="22235"/>
                  </a:lnTo>
                  <a:lnTo>
                    <a:pt x="48525" y="2098"/>
                  </a:lnTo>
                  <a:lnTo>
                    <a:pt x="65530" y="0"/>
                  </a:lnTo>
                  <a:lnTo>
                    <a:pt x="1515619" y="0"/>
                  </a:lnTo>
                  <a:lnTo>
                    <a:pt x="1552024" y="11043"/>
                  </a:lnTo>
                  <a:lnTo>
                    <a:pt x="1555602" y="13434"/>
                  </a:lnTo>
                  <a:lnTo>
                    <a:pt x="1570104" y="29122"/>
                  </a:lnTo>
                  <a:lnTo>
                    <a:pt x="1572495" y="32700"/>
                  </a:lnTo>
                  <a:lnTo>
                    <a:pt x="1581149" y="61227"/>
                  </a:lnTo>
                  <a:lnTo>
                    <a:pt x="1581149" y="65530"/>
                  </a:lnTo>
                  <a:lnTo>
                    <a:pt x="1581149" y="544069"/>
                  </a:lnTo>
                  <a:lnTo>
                    <a:pt x="1581149" y="548372"/>
                  </a:lnTo>
                  <a:lnTo>
                    <a:pt x="1580730" y="552633"/>
                  </a:lnTo>
                  <a:lnTo>
                    <a:pt x="1570104" y="580475"/>
                  </a:lnTo>
                  <a:lnTo>
                    <a:pt x="1567714" y="584053"/>
                  </a:lnTo>
                  <a:lnTo>
                    <a:pt x="1536720" y="606257"/>
                  </a:lnTo>
                  <a:lnTo>
                    <a:pt x="1528403" y="608339"/>
                  </a:lnTo>
                  <a:lnTo>
                    <a:pt x="1524183" y="609179"/>
                  </a:lnTo>
                  <a:lnTo>
                    <a:pt x="1519922" y="609599"/>
                  </a:lnTo>
                  <a:lnTo>
                    <a:pt x="1515619" y="609599"/>
                  </a:lnTo>
                  <a:lnTo>
                    <a:pt x="65530" y="609599"/>
                  </a:lnTo>
                  <a:lnTo>
                    <a:pt x="61227" y="609599"/>
                  </a:lnTo>
                  <a:lnTo>
                    <a:pt x="56965" y="609179"/>
                  </a:lnTo>
                  <a:lnTo>
                    <a:pt x="52745" y="608339"/>
                  </a:lnTo>
                  <a:lnTo>
                    <a:pt x="48525" y="607500"/>
                  </a:lnTo>
                  <a:lnTo>
                    <a:pt x="16150" y="587363"/>
                  </a:lnTo>
                  <a:lnTo>
                    <a:pt x="1258" y="556853"/>
                  </a:lnTo>
                  <a:lnTo>
                    <a:pt x="419" y="552633"/>
                  </a:lnTo>
                  <a:lnTo>
                    <a:pt x="0" y="548372"/>
                  </a:lnTo>
                  <a:lnTo>
                    <a:pt x="0" y="544069"/>
                  </a:lnTo>
                  <a:close/>
                </a:path>
              </a:pathLst>
            </a:custGeom>
            <a:ln w="9524">
              <a:solidFill>
                <a:srgbClr val="372FA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6594226" y="4865525"/>
            <a:ext cx="1386205" cy="4083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800" spc="-15" dirty="0">
                <a:solidFill>
                  <a:srgbClr val="A5B4FB"/>
                </a:solidFill>
                <a:latin typeface="微软雅黑"/>
                <a:cs typeface="微软雅黑"/>
              </a:rPr>
              <a:t>框架代表</a:t>
            </a: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250" b="1" spc="-20" dirty="0">
                <a:solidFill>
                  <a:srgbClr val="FFFFFF"/>
                </a:solidFill>
                <a:latin typeface="微软雅黑"/>
                <a:cs typeface="微软雅黑"/>
              </a:rPr>
              <a:t>CAMEL-</a:t>
            </a:r>
            <a:r>
              <a:rPr sz="1250" b="1" dirty="0">
                <a:solidFill>
                  <a:srgbClr val="FFFFFF"/>
                </a:solidFill>
                <a:latin typeface="微软雅黑"/>
                <a:cs typeface="微软雅黑"/>
              </a:rPr>
              <a:t>AI /</a:t>
            </a:r>
            <a:r>
              <a:rPr sz="1250" b="1" spc="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250" b="1" spc="-25" dirty="0">
                <a:solidFill>
                  <a:srgbClr val="FFFFFF"/>
                </a:solidFill>
                <a:latin typeface="微软雅黑"/>
                <a:cs typeface="微软雅黑"/>
              </a:rPr>
              <a:t>OWL</a:t>
            </a:r>
            <a:endParaRPr sz="1250">
              <a:latin typeface="微软雅黑"/>
              <a:cs typeface="微软雅黑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8220074" y="4791074"/>
            <a:ext cx="1562100" cy="619125"/>
            <a:chOff x="8220074" y="4791074"/>
            <a:chExt cx="1562100" cy="619125"/>
          </a:xfrm>
        </p:grpSpPr>
        <p:sp>
          <p:nvSpPr>
            <p:cNvPr id="38" name="object 38"/>
            <p:cNvSpPr/>
            <p:nvPr/>
          </p:nvSpPr>
          <p:spPr>
            <a:xfrm>
              <a:off x="8224836" y="4795837"/>
              <a:ext cx="1552575" cy="609600"/>
            </a:xfrm>
            <a:custGeom>
              <a:avLst/>
              <a:gdLst/>
              <a:ahLst/>
              <a:cxnLst/>
              <a:rect l="l" t="t" r="r" b="b"/>
              <a:pathLst>
                <a:path w="1552575" h="609600">
                  <a:moveTo>
                    <a:pt x="1491347" y="609599"/>
                  </a:moveTo>
                  <a:lnTo>
                    <a:pt x="61227" y="609599"/>
                  </a:lnTo>
                  <a:lnTo>
                    <a:pt x="56965" y="609178"/>
                  </a:lnTo>
                  <a:lnTo>
                    <a:pt x="22235" y="593447"/>
                  </a:lnTo>
                  <a:lnTo>
                    <a:pt x="2097" y="561073"/>
                  </a:lnTo>
                  <a:lnTo>
                    <a:pt x="0" y="548372"/>
                  </a:lnTo>
                  <a:lnTo>
                    <a:pt x="0" y="544069"/>
                  </a:lnTo>
                  <a:lnTo>
                    <a:pt x="0" y="61227"/>
                  </a:lnTo>
                  <a:lnTo>
                    <a:pt x="13432" y="25545"/>
                  </a:lnTo>
                  <a:lnTo>
                    <a:pt x="44428" y="3341"/>
                  </a:lnTo>
                  <a:lnTo>
                    <a:pt x="61227" y="0"/>
                  </a:lnTo>
                  <a:lnTo>
                    <a:pt x="1491347" y="0"/>
                  </a:lnTo>
                  <a:lnTo>
                    <a:pt x="1527028" y="13433"/>
                  </a:lnTo>
                  <a:lnTo>
                    <a:pt x="1549232" y="44427"/>
                  </a:lnTo>
                  <a:lnTo>
                    <a:pt x="1552573" y="61227"/>
                  </a:lnTo>
                  <a:lnTo>
                    <a:pt x="1552573" y="548372"/>
                  </a:lnTo>
                  <a:lnTo>
                    <a:pt x="1539139" y="584052"/>
                  </a:lnTo>
                  <a:lnTo>
                    <a:pt x="1508145" y="606257"/>
                  </a:lnTo>
                  <a:lnTo>
                    <a:pt x="1495608" y="609178"/>
                  </a:lnTo>
                  <a:lnTo>
                    <a:pt x="1491347" y="609599"/>
                  </a:lnTo>
                  <a:close/>
                </a:path>
              </a:pathLst>
            </a:custGeom>
            <a:solidFill>
              <a:srgbClr val="1D3A8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8224836" y="4795837"/>
              <a:ext cx="1552575" cy="609600"/>
            </a:xfrm>
            <a:custGeom>
              <a:avLst/>
              <a:gdLst/>
              <a:ahLst/>
              <a:cxnLst/>
              <a:rect l="l" t="t" r="r" b="b"/>
              <a:pathLst>
                <a:path w="1552575" h="609600">
                  <a:moveTo>
                    <a:pt x="0" y="544069"/>
                  </a:moveTo>
                  <a:lnTo>
                    <a:pt x="0" y="65530"/>
                  </a:lnTo>
                  <a:lnTo>
                    <a:pt x="0" y="61227"/>
                  </a:lnTo>
                  <a:lnTo>
                    <a:pt x="419" y="56965"/>
                  </a:lnTo>
                  <a:lnTo>
                    <a:pt x="1258" y="52745"/>
                  </a:lnTo>
                  <a:lnTo>
                    <a:pt x="2098" y="48525"/>
                  </a:lnTo>
                  <a:lnTo>
                    <a:pt x="3341" y="44427"/>
                  </a:lnTo>
                  <a:lnTo>
                    <a:pt x="4988" y="40452"/>
                  </a:lnTo>
                  <a:lnTo>
                    <a:pt x="6634" y="36476"/>
                  </a:lnTo>
                  <a:lnTo>
                    <a:pt x="19192" y="19193"/>
                  </a:lnTo>
                  <a:lnTo>
                    <a:pt x="22235" y="16150"/>
                  </a:lnTo>
                  <a:lnTo>
                    <a:pt x="25544" y="13434"/>
                  </a:lnTo>
                  <a:lnTo>
                    <a:pt x="29122" y="11043"/>
                  </a:lnTo>
                  <a:lnTo>
                    <a:pt x="32700" y="8653"/>
                  </a:lnTo>
                  <a:lnTo>
                    <a:pt x="65530" y="0"/>
                  </a:lnTo>
                  <a:lnTo>
                    <a:pt x="1487044" y="0"/>
                  </a:lnTo>
                  <a:lnTo>
                    <a:pt x="1523449" y="11043"/>
                  </a:lnTo>
                  <a:lnTo>
                    <a:pt x="1527028" y="13434"/>
                  </a:lnTo>
                  <a:lnTo>
                    <a:pt x="1530337" y="16150"/>
                  </a:lnTo>
                  <a:lnTo>
                    <a:pt x="1533380" y="19193"/>
                  </a:lnTo>
                  <a:lnTo>
                    <a:pt x="1536423" y="22235"/>
                  </a:lnTo>
                  <a:lnTo>
                    <a:pt x="1539139" y="25545"/>
                  </a:lnTo>
                  <a:lnTo>
                    <a:pt x="1541530" y="29122"/>
                  </a:lnTo>
                  <a:lnTo>
                    <a:pt x="1543920" y="32700"/>
                  </a:lnTo>
                  <a:lnTo>
                    <a:pt x="1545939" y="36476"/>
                  </a:lnTo>
                  <a:lnTo>
                    <a:pt x="1547585" y="40452"/>
                  </a:lnTo>
                  <a:lnTo>
                    <a:pt x="1549232" y="44427"/>
                  </a:lnTo>
                  <a:lnTo>
                    <a:pt x="1552574" y="65530"/>
                  </a:lnTo>
                  <a:lnTo>
                    <a:pt x="1552574" y="544069"/>
                  </a:lnTo>
                  <a:lnTo>
                    <a:pt x="1541530" y="580475"/>
                  </a:lnTo>
                  <a:lnTo>
                    <a:pt x="1539139" y="584053"/>
                  </a:lnTo>
                  <a:lnTo>
                    <a:pt x="1536423" y="587363"/>
                  </a:lnTo>
                  <a:lnTo>
                    <a:pt x="1533380" y="590405"/>
                  </a:lnTo>
                  <a:lnTo>
                    <a:pt x="1530337" y="593448"/>
                  </a:lnTo>
                  <a:lnTo>
                    <a:pt x="1499827" y="608339"/>
                  </a:lnTo>
                  <a:lnTo>
                    <a:pt x="1495608" y="609179"/>
                  </a:lnTo>
                  <a:lnTo>
                    <a:pt x="1491347" y="609599"/>
                  </a:lnTo>
                  <a:lnTo>
                    <a:pt x="1487044" y="609599"/>
                  </a:lnTo>
                  <a:lnTo>
                    <a:pt x="65530" y="609599"/>
                  </a:lnTo>
                  <a:lnTo>
                    <a:pt x="61227" y="609599"/>
                  </a:lnTo>
                  <a:lnTo>
                    <a:pt x="56965" y="609179"/>
                  </a:lnTo>
                  <a:lnTo>
                    <a:pt x="52745" y="608339"/>
                  </a:lnTo>
                  <a:lnTo>
                    <a:pt x="48524" y="607500"/>
                  </a:lnTo>
                  <a:lnTo>
                    <a:pt x="19192" y="590405"/>
                  </a:lnTo>
                  <a:lnTo>
                    <a:pt x="16149" y="587363"/>
                  </a:lnTo>
                  <a:lnTo>
                    <a:pt x="13432" y="584053"/>
                  </a:lnTo>
                  <a:lnTo>
                    <a:pt x="11042" y="580475"/>
                  </a:lnTo>
                  <a:lnTo>
                    <a:pt x="8652" y="576897"/>
                  </a:lnTo>
                  <a:lnTo>
                    <a:pt x="6633" y="573121"/>
                  </a:lnTo>
                  <a:lnTo>
                    <a:pt x="4987" y="569146"/>
                  </a:lnTo>
                  <a:lnTo>
                    <a:pt x="3340" y="565171"/>
                  </a:lnTo>
                  <a:lnTo>
                    <a:pt x="2097" y="561073"/>
                  </a:lnTo>
                  <a:lnTo>
                    <a:pt x="1258" y="556853"/>
                  </a:lnTo>
                  <a:lnTo>
                    <a:pt x="419" y="552633"/>
                  </a:lnTo>
                  <a:lnTo>
                    <a:pt x="0" y="548372"/>
                  </a:lnTo>
                  <a:lnTo>
                    <a:pt x="0" y="544069"/>
                  </a:lnTo>
                  <a:close/>
                </a:path>
              </a:pathLst>
            </a:custGeom>
            <a:ln w="9524">
              <a:solidFill>
                <a:srgbClr val="1D4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8324800" y="4865525"/>
            <a:ext cx="615950" cy="4083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800" dirty="0">
                <a:solidFill>
                  <a:srgbClr val="93C4FD"/>
                </a:solidFill>
                <a:latin typeface="微软雅黑"/>
                <a:cs typeface="微软雅黑"/>
              </a:rPr>
              <a:t>Level</a:t>
            </a:r>
            <a:r>
              <a:rPr sz="800" spc="35" dirty="0">
                <a:solidFill>
                  <a:srgbClr val="93C4FD"/>
                </a:solidFill>
                <a:latin typeface="微软雅黑"/>
                <a:cs typeface="微软雅黑"/>
              </a:rPr>
              <a:t> </a:t>
            </a:r>
            <a:r>
              <a:rPr sz="800" dirty="0">
                <a:solidFill>
                  <a:srgbClr val="93C4FD"/>
                </a:solidFill>
                <a:latin typeface="微软雅黑"/>
                <a:cs typeface="微软雅黑"/>
              </a:rPr>
              <a:t>1</a:t>
            </a:r>
            <a:r>
              <a:rPr sz="800" spc="-5" dirty="0">
                <a:solidFill>
                  <a:srgbClr val="93C4FD"/>
                </a:solidFill>
                <a:latin typeface="微软雅黑"/>
                <a:cs typeface="微软雅黑"/>
              </a:rPr>
              <a:t> 得分</a:t>
            </a: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250" b="1" spc="-10" dirty="0">
                <a:solidFill>
                  <a:srgbClr val="FFFFFF"/>
                </a:solidFill>
                <a:latin typeface="微软雅黑"/>
                <a:cs typeface="微软雅黑"/>
              </a:rPr>
              <a:t>81.13%</a:t>
            </a:r>
            <a:endParaRPr sz="1250">
              <a:latin typeface="微软雅黑"/>
              <a:cs typeface="微软雅黑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9915524" y="4791074"/>
            <a:ext cx="1562100" cy="619125"/>
            <a:chOff x="9915524" y="4791074"/>
            <a:chExt cx="1562100" cy="619125"/>
          </a:xfrm>
        </p:grpSpPr>
        <p:sp>
          <p:nvSpPr>
            <p:cNvPr id="42" name="object 42"/>
            <p:cNvSpPr/>
            <p:nvPr/>
          </p:nvSpPr>
          <p:spPr>
            <a:xfrm>
              <a:off x="9920286" y="4795837"/>
              <a:ext cx="1552575" cy="609600"/>
            </a:xfrm>
            <a:custGeom>
              <a:avLst/>
              <a:gdLst/>
              <a:ahLst/>
              <a:cxnLst/>
              <a:rect l="l" t="t" r="r" b="b"/>
              <a:pathLst>
                <a:path w="1552575" h="609600">
                  <a:moveTo>
                    <a:pt x="1491346" y="609599"/>
                  </a:moveTo>
                  <a:lnTo>
                    <a:pt x="61227" y="609599"/>
                  </a:lnTo>
                  <a:lnTo>
                    <a:pt x="56965" y="609178"/>
                  </a:lnTo>
                  <a:lnTo>
                    <a:pt x="22235" y="593447"/>
                  </a:lnTo>
                  <a:lnTo>
                    <a:pt x="2096" y="561073"/>
                  </a:lnTo>
                  <a:lnTo>
                    <a:pt x="0" y="548372"/>
                  </a:lnTo>
                  <a:lnTo>
                    <a:pt x="0" y="544069"/>
                  </a:lnTo>
                  <a:lnTo>
                    <a:pt x="0" y="61227"/>
                  </a:lnTo>
                  <a:lnTo>
                    <a:pt x="13432" y="25545"/>
                  </a:lnTo>
                  <a:lnTo>
                    <a:pt x="44427" y="3341"/>
                  </a:lnTo>
                  <a:lnTo>
                    <a:pt x="61227" y="0"/>
                  </a:lnTo>
                  <a:lnTo>
                    <a:pt x="1491346" y="0"/>
                  </a:lnTo>
                  <a:lnTo>
                    <a:pt x="1527026" y="13433"/>
                  </a:lnTo>
                  <a:lnTo>
                    <a:pt x="1549232" y="44427"/>
                  </a:lnTo>
                  <a:lnTo>
                    <a:pt x="1552574" y="61227"/>
                  </a:lnTo>
                  <a:lnTo>
                    <a:pt x="1552574" y="548372"/>
                  </a:lnTo>
                  <a:lnTo>
                    <a:pt x="1539137" y="584052"/>
                  </a:lnTo>
                  <a:lnTo>
                    <a:pt x="1508143" y="606257"/>
                  </a:lnTo>
                  <a:lnTo>
                    <a:pt x="1495607" y="609178"/>
                  </a:lnTo>
                  <a:lnTo>
                    <a:pt x="1491346" y="609599"/>
                  </a:lnTo>
                  <a:close/>
                </a:path>
              </a:pathLst>
            </a:custGeom>
            <a:solidFill>
              <a:srgbClr val="821742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9920286" y="4795837"/>
              <a:ext cx="1552575" cy="609600"/>
            </a:xfrm>
            <a:custGeom>
              <a:avLst/>
              <a:gdLst/>
              <a:ahLst/>
              <a:cxnLst/>
              <a:rect l="l" t="t" r="r" b="b"/>
              <a:pathLst>
                <a:path w="1552575" h="609600">
                  <a:moveTo>
                    <a:pt x="0" y="544069"/>
                  </a:moveTo>
                  <a:lnTo>
                    <a:pt x="0" y="65530"/>
                  </a:lnTo>
                  <a:lnTo>
                    <a:pt x="0" y="61227"/>
                  </a:lnTo>
                  <a:lnTo>
                    <a:pt x="419" y="56965"/>
                  </a:lnTo>
                  <a:lnTo>
                    <a:pt x="1258" y="52745"/>
                  </a:lnTo>
                  <a:lnTo>
                    <a:pt x="2096" y="48525"/>
                  </a:lnTo>
                  <a:lnTo>
                    <a:pt x="3339" y="44427"/>
                  </a:lnTo>
                  <a:lnTo>
                    <a:pt x="4986" y="40452"/>
                  </a:lnTo>
                  <a:lnTo>
                    <a:pt x="6633" y="36476"/>
                  </a:lnTo>
                  <a:lnTo>
                    <a:pt x="8651" y="32700"/>
                  </a:lnTo>
                  <a:lnTo>
                    <a:pt x="11043" y="29122"/>
                  </a:lnTo>
                  <a:lnTo>
                    <a:pt x="13432" y="25545"/>
                  </a:lnTo>
                  <a:lnTo>
                    <a:pt x="16150" y="22235"/>
                  </a:lnTo>
                  <a:lnTo>
                    <a:pt x="19192" y="19193"/>
                  </a:lnTo>
                  <a:lnTo>
                    <a:pt x="22235" y="16150"/>
                  </a:lnTo>
                  <a:lnTo>
                    <a:pt x="25544" y="13434"/>
                  </a:lnTo>
                  <a:lnTo>
                    <a:pt x="29122" y="11043"/>
                  </a:lnTo>
                  <a:lnTo>
                    <a:pt x="32700" y="8653"/>
                  </a:lnTo>
                  <a:lnTo>
                    <a:pt x="65530" y="0"/>
                  </a:lnTo>
                  <a:lnTo>
                    <a:pt x="1487044" y="0"/>
                  </a:lnTo>
                  <a:lnTo>
                    <a:pt x="1523447" y="11043"/>
                  </a:lnTo>
                  <a:lnTo>
                    <a:pt x="1527026" y="13434"/>
                  </a:lnTo>
                  <a:lnTo>
                    <a:pt x="1547584" y="40452"/>
                  </a:lnTo>
                  <a:lnTo>
                    <a:pt x="1549232" y="44427"/>
                  </a:lnTo>
                  <a:lnTo>
                    <a:pt x="1550474" y="48525"/>
                  </a:lnTo>
                  <a:lnTo>
                    <a:pt x="1551315" y="52745"/>
                  </a:lnTo>
                  <a:lnTo>
                    <a:pt x="1552155" y="56965"/>
                  </a:lnTo>
                  <a:lnTo>
                    <a:pt x="1552574" y="61227"/>
                  </a:lnTo>
                  <a:lnTo>
                    <a:pt x="1552574" y="65530"/>
                  </a:lnTo>
                  <a:lnTo>
                    <a:pt x="1552574" y="544069"/>
                  </a:lnTo>
                  <a:lnTo>
                    <a:pt x="1552574" y="548372"/>
                  </a:lnTo>
                  <a:lnTo>
                    <a:pt x="1552155" y="552633"/>
                  </a:lnTo>
                  <a:lnTo>
                    <a:pt x="1551315" y="556853"/>
                  </a:lnTo>
                  <a:lnTo>
                    <a:pt x="1550474" y="561073"/>
                  </a:lnTo>
                  <a:lnTo>
                    <a:pt x="1549232" y="565171"/>
                  </a:lnTo>
                  <a:lnTo>
                    <a:pt x="1547584" y="569146"/>
                  </a:lnTo>
                  <a:lnTo>
                    <a:pt x="1545938" y="573121"/>
                  </a:lnTo>
                  <a:lnTo>
                    <a:pt x="1519869" y="600945"/>
                  </a:lnTo>
                  <a:lnTo>
                    <a:pt x="1499826" y="608339"/>
                  </a:lnTo>
                  <a:lnTo>
                    <a:pt x="1495607" y="609179"/>
                  </a:lnTo>
                  <a:lnTo>
                    <a:pt x="1491346" y="609599"/>
                  </a:lnTo>
                  <a:lnTo>
                    <a:pt x="1487044" y="609599"/>
                  </a:lnTo>
                  <a:lnTo>
                    <a:pt x="65530" y="609599"/>
                  </a:lnTo>
                  <a:lnTo>
                    <a:pt x="61227" y="609599"/>
                  </a:lnTo>
                  <a:lnTo>
                    <a:pt x="56965" y="609179"/>
                  </a:lnTo>
                  <a:lnTo>
                    <a:pt x="52744" y="608339"/>
                  </a:lnTo>
                  <a:lnTo>
                    <a:pt x="48524" y="607500"/>
                  </a:lnTo>
                  <a:lnTo>
                    <a:pt x="19192" y="590405"/>
                  </a:lnTo>
                  <a:lnTo>
                    <a:pt x="16150" y="587363"/>
                  </a:lnTo>
                  <a:lnTo>
                    <a:pt x="4986" y="569146"/>
                  </a:lnTo>
                  <a:lnTo>
                    <a:pt x="3339" y="565171"/>
                  </a:lnTo>
                  <a:lnTo>
                    <a:pt x="2096" y="561073"/>
                  </a:lnTo>
                  <a:lnTo>
                    <a:pt x="1258" y="556853"/>
                  </a:lnTo>
                  <a:lnTo>
                    <a:pt x="419" y="552633"/>
                  </a:lnTo>
                  <a:lnTo>
                    <a:pt x="0" y="548372"/>
                  </a:lnTo>
                  <a:lnTo>
                    <a:pt x="0" y="544069"/>
                  </a:lnTo>
                  <a:close/>
                </a:path>
              </a:pathLst>
            </a:custGeom>
            <a:ln w="9524">
              <a:solidFill>
                <a:srgbClr val="9D17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10020250" y="4865525"/>
            <a:ext cx="607695" cy="408305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sz="800" spc="-15" dirty="0">
                <a:solidFill>
                  <a:srgbClr val="F9A7D4"/>
                </a:solidFill>
                <a:latin typeface="微软雅黑"/>
                <a:cs typeface="微软雅黑"/>
              </a:rPr>
              <a:t>平均得分</a:t>
            </a:r>
            <a:endParaRPr sz="8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1250" b="1" spc="-10" dirty="0">
                <a:solidFill>
                  <a:srgbClr val="FFFFFF"/>
                </a:solidFill>
                <a:latin typeface="微软雅黑"/>
                <a:cs typeface="微软雅黑"/>
              </a:rPr>
              <a:t>58.18%</a:t>
            </a:r>
            <a:endParaRPr sz="1250">
              <a:latin typeface="微软雅黑"/>
              <a:cs typeface="微软雅黑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6496049" y="5543549"/>
            <a:ext cx="4981575" cy="590550"/>
            <a:chOff x="6496049" y="5543549"/>
            <a:chExt cx="4981575" cy="590550"/>
          </a:xfrm>
        </p:grpSpPr>
        <p:sp>
          <p:nvSpPr>
            <p:cNvPr id="46" name="object 46"/>
            <p:cNvSpPr/>
            <p:nvPr/>
          </p:nvSpPr>
          <p:spPr>
            <a:xfrm>
              <a:off x="6496049" y="5543549"/>
              <a:ext cx="4981575" cy="590550"/>
            </a:xfrm>
            <a:custGeom>
              <a:avLst/>
              <a:gdLst/>
              <a:ahLst/>
              <a:cxnLst/>
              <a:rect l="l" t="t" r="r" b="b"/>
              <a:pathLst>
                <a:path w="4981575" h="590550">
                  <a:moveTo>
                    <a:pt x="4946428" y="590549"/>
                  </a:moveTo>
                  <a:lnTo>
                    <a:pt x="35146" y="590549"/>
                  </a:lnTo>
                  <a:lnTo>
                    <a:pt x="28134" y="589906"/>
                  </a:lnTo>
                  <a:lnTo>
                    <a:pt x="643" y="562416"/>
                  </a:lnTo>
                  <a:lnTo>
                    <a:pt x="0" y="555403"/>
                  </a:lnTo>
                  <a:lnTo>
                    <a:pt x="0" y="35146"/>
                  </a:lnTo>
                  <a:lnTo>
                    <a:pt x="21654" y="2573"/>
                  </a:lnTo>
                  <a:lnTo>
                    <a:pt x="35146" y="0"/>
                  </a:lnTo>
                  <a:lnTo>
                    <a:pt x="4946428" y="0"/>
                  </a:lnTo>
                  <a:lnTo>
                    <a:pt x="4979001" y="21654"/>
                  </a:lnTo>
                  <a:lnTo>
                    <a:pt x="4981574" y="35146"/>
                  </a:lnTo>
                  <a:lnTo>
                    <a:pt x="4981574" y="555403"/>
                  </a:lnTo>
                  <a:lnTo>
                    <a:pt x="4959920" y="587975"/>
                  </a:lnTo>
                  <a:lnTo>
                    <a:pt x="4946428" y="5905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6496049" y="5543549"/>
              <a:ext cx="4981575" cy="590550"/>
            </a:xfrm>
            <a:custGeom>
              <a:avLst/>
              <a:gdLst/>
              <a:ahLst/>
              <a:cxnLst/>
              <a:rect l="l" t="t" r="r" b="b"/>
              <a:pathLst>
                <a:path w="4981575" h="590550">
                  <a:moveTo>
                    <a:pt x="4946428" y="590549"/>
                  </a:moveTo>
                  <a:lnTo>
                    <a:pt x="35146" y="590549"/>
                  </a:lnTo>
                  <a:lnTo>
                    <a:pt x="28134" y="589906"/>
                  </a:lnTo>
                  <a:lnTo>
                    <a:pt x="643" y="562416"/>
                  </a:lnTo>
                  <a:lnTo>
                    <a:pt x="0" y="555403"/>
                  </a:lnTo>
                  <a:lnTo>
                    <a:pt x="0" y="35146"/>
                  </a:lnTo>
                  <a:lnTo>
                    <a:pt x="21654" y="2573"/>
                  </a:lnTo>
                  <a:lnTo>
                    <a:pt x="35146" y="0"/>
                  </a:lnTo>
                  <a:lnTo>
                    <a:pt x="4946428" y="0"/>
                  </a:lnTo>
                  <a:lnTo>
                    <a:pt x="4953440" y="643"/>
                  </a:lnTo>
                  <a:lnTo>
                    <a:pt x="4959920" y="2573"/>
                  </a:lnTo>
                  <a:lnTo>
                    <a:pt x="4965866" y="5790"/>
                  </a:lnTo>
                  <a:lnTo>
                    <a:pt x="4970356" y="9524"/>
                  </a:lnTo>
                  <a:lnTo>
                    <a:pt x="31748" y="9524"/>
                  </a:lnTo>
                  <a:lnTo>
                    <a:pt x="28479" y="10174"/>
                  </a:lnTo>
                  <a:lnTo>
                    <a:pt x="9524" y="31748"/>
                  </a:lnTo>
                  <a:lnTo>
                    <a:pt x="9524" y="558800"/>
                  </a:lnTo>
                  <a:lnTo>
                    <a:pt x="31748" y="581024"/>
                  </a:lnTo>
                  <a:lnTo>
                    <a:pt x="4970356" y="581024"/>
                  </a:lnTo>
                  <a:lnTo>
                    <a:pt x="4965866" y="584759"/>
                  </a:lnTo>
                  <a:lnTo>
                    <a:pt x="4959919" y="587976"/>
                  </a:lnTo>
                  <a:lnTo>
                    <a:pt x="4953440" y="589906"/>
                  </a:lnTo>
                  <a:lnTo>
                    <a:pt x="4946428" y="590549"/>
                  </a:lnTo>
                  <a:close/>
                </a:path>
                <a:path w="4981575" h="590550">
                  <a:moveTo>
                    <a:pt x="4970356" y="581024"/>
                  </a:moveTo>
                  <a:lnTo>
                    <a:pt x="4949823" y="581024"/>
                  </a:lnTo>
                  <a:lnTo>
                    <a:pt x="4953092" y="580374"/>
                  </a:lnTo>
                  <a:lnTo>
                    <a:pt x="4959369" y="577773"/>
                  </a:lnTo>
                  <a:lnTo>
                    <a:pt x="4972048" y="558800"/>
                  </a:lnTo>
                  <a:lnTo>
                    <a:pt x="4972048" y="31748"/>
                  </a:lnTo>
                  <a:lnTo>
                    <a:pt x="4949823" y="9524"/>
                  </a:lnTo>
                  <a:lnTo>
                    <a:pt x="4970356" y="9524"/>
                  </a:lnTo>
                  <a:lnTo>
                    <a:pt x="4981574" y="555403"/>
                  </a:lnTo>
                  <a:lnTo>
                    <a:pt x="4980931" y="562416"/>
                  </a:lnTo>
                  <a:lnTo>
                    <a:pt x="4979001" y="568895"/>
                  </a:lnTo>
                  <a:lnTo>
                    <a:pt x="4975784" y="574842"/>
                  </a:lnTo>
                  <a:lnTo>
                    <a:pt x="4971280" y="580255"/>
                  </a:lnTo>
                  <a:lnTo>
                    <a:pt x="4970356" y="5810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10349" y="5686424"/>
              <a:ext cx="122932" cy="122932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6594226" y="5641168"/>
            <a:ext cx="4749165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94310">
              <a:lnSpc>
                <a:spcPct val="118400"/>
              </a:lnSpc>
              <a:spcBef>
                <a:spcPts val="95"/>
              </a:spcBef>
            </a:pPr>
            <a:r>
              <a:rPr sz="950" b="1" dirty="0">
                <a:solidFill>
                  <a:srgbClr val="D0D5DA"/>
                </a:solidFill>
                <a:latin typeface="微软雅黑"/>
                <a:cs typeface="微软雅黑"/>
              </a:rPr>
              <a:t>camel-ai/owl </a:t>
            </a:r>
            <a:r>
              <a:rPr sz="950" spc="-5" dirty="0">
                <a:solidFill>
                  <a:srgbClr val="D0D5DA"/>
                </a:solidFill>
                <a:latin typeface="微软雅黑"/>
                <a:cs typeface="微软雅黑"/>
              </a:rPr>
              <a:t>专门为研究设计，能够处理需要专业级逻辑推理和因果分析的复杂任</a:t>
            </a:r>
            <a:r>
              <a:rPr sz="950" spc="-25" dirty="0">
                <a:solidFill>
                  <a:srgbClr val="D0D5DA"/>
                </a:solidFill>
                <a:latin typeface="微软雅黑"/>
                <a:cs typeface="微软雅黑"/>
              </a:rPr>
              <a:t>务。</a:t>
            </a:r>
            <a:endParaRPr sz="950">
              <a:latin typeface="微软雅黑"/>
              <a:cs typeface="微软雅黑"/>
            </a:endParaRPr>
          </a:p>
        </p:txBody>
      </p:sp>
      <p:sp>
        <p:nvSpPr>
          <p:cNvPr id="50" name="object 5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925" y="215900"/>
            <a:ext cx="32162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联邦Agentic </a:t>
            </a:r>
            <a:r>
              <a:rPr spc="-25" dirty="0"/>
              <a:t>RAG</a:t>
            </a:r>
          </a:p>
        </p:txBody>
      </p:sp>
      <p:sp>
        <p:nvSpPr>
          <p:cNvPr id="3" name="object 3"/>
          <p:cNvSpPr/>
          <p:nvPr/>
        </p:nvSpPr>
        <p:spPr>
          <a:xfrm>
            <a:off x="428624" y="800099"/>
            <a:ext cx="1914525" cy="38100"/>
          </a:xfrm>
          <a:custGeom>
            <a:avLst/>
            <a:gdLst/>
            <a:ahLst/>
            <a:cxnLst/>
            <a:rect l="l" t="t" r="r" b="b"/>
            <a:pathLst>
              <a:path w="1914525" h="38100">
                <a:moveTo>
                  <a:pt x="1914524" y="38099"/>
                </a:moveTo>
                <a:lnTo>
                  <a:pt x="0" y="38099"/>
                </a:lnTo>
                <a:lnTo>
                  <a:pt x="0" y="0"/>
                </a:lnTo>
                <a:lnTo>
                  <a:pt x="1914524" y="0"/>
                </a:lnTo>
                <a:lnTo>
                  <a:pt x="1914524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419723" y="1666875"/>
            <a:ext cx="457200" cy="457200"/>
            <a:chOff x="5419723" y="1666875"/>
            <a:chExt cx="457200" cy="457200"/>
          </a:xfrm>
        </p:grpSpPr>
        <p:sp>
          <p:nvSpPr>
            <p:cNvPr id="5" name="object 5"/>
            <p:cNvSpPr/>
            <p:nvPr/>
          </p:nvSpPr>
          <p:spPr>
            <a:xfrm>
              <a:off x="5419723" y="16668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8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71196"/>
                  </a:lnTo>
                  <a:lnTo>
                    <a:pt x="457200" y="386003"/>
                  </a:lnTo>
                  <a:lnTo>
                    <a:pt x="441578" y="427494"/>
                  </a:lnTo>
                  <a:lnTo>
                    <a:pt x="405537" y="453314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EF4444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52404" y="1812131"/>
              <a:ext cx="191839" cy="166687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6014987" y="1635125"/>
            <a:ext cx="5629275" cy="808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FBA5A5"/>
                </a:solidFill>
                <a:latin typeface="微软雅黑"/>
                <a:cs typeface="微软雅黑"/>
              </a:rPr>
              <a:t>核心挑战：数据孤岛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465"/>
              </a:spcBef>
            </a:pPr>
            <a:r>
              <a:rPr sz="1200" spc="-20" dirty="0">
                <a:solidFill>
                  <a:srgbClr val="D0D5DA"/>
                </a:solidFill>
                <a:latin typeface="微软雅黑"/>
                <a:cs typeface="微软雅黑"/>
              </a:rPr>
              <a:t>高价值数据（如医疗、金融）往往分散在不同机构，受隐私法规（如</a:t>
            </a:r>
            <a:r>
              <a:rPr sz="1200" spc="-10" dirty="0">
                <a:solidFill>
                  <a:srgbClr val="D0D5DA"/>
                </a:solidFill>
                <a:latin typeface="微软雅黑"/>
                <a:cs typeface="微软雅黑"/>
              </a:rPr>
              <a:t>GDPR）</a:t>
            </a:r>
            <a:r>
              <a:rPr sz="1200" spc="-35" dirty="0">
                <a:solidFill>
                  <a:srgbClr val="D0D5DA"/>
                </a:solidFill>
                <a:latin typeface="微软雅黑"/>
                <a:cs typeface="微软雅黑"/>
              </a:rPr>
              <a:t>限制，</a:t>
            </a:r>
            <a:r>
              <a:rPr sz="1200" spc="-25" dirty="0">
                <a:solidFill>
                  <a:srgbClr val="D0D5DA"/>
                </a:solidFill>
                <a:latin typeface="微软雅黑"/>
                <a:cs typeface="微软雅黑"/>
              </a:rPr>
              <a:t>无法物理汇聚训练，导致知识共享受阻。</a:t>
            </a:r>
            <a:endParaRPr sz="1200">
              <a:latin typeface="微软雅黑"/>
              <a:cs typeface="微软雅黑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5419723" y="2809875"/>
            <a:ext cx="457200" cy="457200"/>
            <a:chOff x="5419723" y="2809875"/>
            <a:chExt cx="457200" cy="457200"/>
          </a:xfrm>
        </p:grpSpPr>
        <p:sp>
          <p:nvSpPr>
            <p:cNvPr id="9" name="object 9"/>
            <p:cNvSpPr/>
            <p:nvPr/>
          </p:nvSpPr>
          <p:spPr>
            <a:xfrm>
              <a:off x="5419723" y="2809875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7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4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71196"/>
                  </a:lnTo>
                  <a:lnTo>
                    <a:pt x="457200" y="386003"/>
                  </a:lnTo>
                  <a:lnTo>
                    <a:pt x="441578" y="427494"/>
                  </a:lnTo>
                  <a:lnTo>
                    <a:pt x="405537" y="453313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3B81F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53074" y="2943224"/>
              <a:ext cx="190499" cy="1904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6014987" y="2778125"/>
            <a:ext cx="5750560" cy="808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solidFill>
                  <a:srgbClr val="93C4FD"/>
                </a:solidFill>
                <a:latin typeface="微软雅黑"/>
                <a:cs typeface="微软雅黑"/>
              </a:rPr>
              <a:t>技术解法：加密联邦通道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465"/>
              </a:spcBef>
            </a:pPr>
            <a:r>
              <a:rPr sz="1200" dirty="0">
                <a:solidFill>
                  <a:srgbClr val="D0D5DA"/>
                </a:solidFill>
                <a:latin typeface="微软雅黑"/>
                <a:cs typeface="微软雅黑"/>
              </a:rPr>
              <a:t>构建联邦Agentic架构，使用加密通道在不同机构Agent</a:t>
            </a: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间传递中间推理结果或模型梯度，而非原始数据，实现“可用不可见”。</a:t>
            </a:r>
            <a:endParaRPr sz="1200">
              <a:latin typeface="微软雅黑"/>
              <a:cs typeface="微软雅黑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5419723" y="3952874"/>
            <a:ext cx="457200" cy="457200"/>
            <a:chOff x="5419723" y="3952874"/>
            <a:chExt cx="457200" cy="457200"/>
          </a:xfrm>
        </p:grpSpPr>
        <p:sp>
          <p:nvSpPr>
            <p:cNvPr id="13" name="object 13"/>
            <p:cNvSpPr/>
            <p:nvPr/>
          </p:nvSpPr>
          <p:spPr>
            <a:xfrm>
              <a:off x="5419723" y="39528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7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71196"/>
                  </a:lnTo>
                  <a:lnTo>
                    <a:pt x="457200" y="386003"/>
                  </a:lnTo>
                  <a:lnTo>
                    <a:pt x="441578" y="427494"/>
                  </a:lnTo>
                  <a:lnTo>
                    <a:pt x="405537" y="453313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0FB981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543549" y="4086224"/>
              <a:ext cx="214312" cy="190760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014987" y="3921125"/>
            <a:ext cx="5664200" cy="808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0" dirty="0">
                <a:solidFill>
                  <a:srgbClr val="6EE7B6"/>
                </a:solidFill>
                <a:latin typeface="微软雅黑"/>
                <a:cs typeface="微软雅黑"/>
              </a:rPr>
              <a:t>商业价值：安全协作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465"/>
              </a:spcBef>
            </a:pP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打破敏感数据场景的协作壁垒，特别适用于医疗诊断、银行业务风控等对数据隐私要求极高的领域，释放沉睡数据的价值。</a:t>
            </a:r>
            <a:endParaRPr sz="1200">
              <a:latin typeface="微软雅黑"/>
              <a:cs typeface="微软雅黑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419723" y="5095874"/>
            <a:ext cx="457200" cy="457200"/>
            <a:chOff x="5419723" y="5095874"/>
            <a:chExt cx="457200" cy="457200"/>
          </a:xfrm>
        </p:grpSpPr>
        <p:sp>
          <p:nvSpPr>
            <p:cNvPr id="17" name="object 17"/>
            <p:cNvSpPr/>
            <p:nvPr/>
          </p:nvSpPr>
          <p:spPr>
            <a:xfrm>
              <a:off x="5419723" y="5095874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386003" y="457199"/>
                  </a:moveTo>
                  <a:lnTo>
                    <a:pt x="71196" y="457199"/>
                  </a:lnTo>
                  <a:lnTo>
                    <a:pt x="66241" y="456711"/>
                  </a:lnTo>
                  <a:lnTo>
                    <a:pt x="29705" y="441577"/>
                  </a:lnTo>
                  <a:lnTo>
                    <a:pt x="3885" y="405537"/>
                  </a:lnTo>
                  <a:lnTo>
                    <a:pt x="0" y="386003"/>
                  </a:lnTo>
                  <a:lnTo>
                    <a:pt x="0" y="3809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86003" y="0"/>
                  </a:lnTo>
                  <a:lnTo>
                    <a:pt x="427494" y="15621"/>
                  </a:lnTo>
                  <a:lnTo>
                    <a:pt x="453314" y="51661"/>
                  </a:lnTo>
                  <a:lnTo>
                    <a:pt x="457200" y="71196"/>
                  </a:lnTo>
                  <a:lnTo>
                    <a:pt x="457200" y="386003"/>
                  </a:lnTo>
                  <a:lnTo>
                    <a:pt x="441578" y="427494"/>
                  </a:lnTo>
                  <a:lnTo>
                    <a:pt x="405537" y="453313"/>
                  </a:lnTo>
                  <a:lnTo>
                    <a:pt x="390958" y="456711"/>
                  </a:lnTo>
                  <a:lnTo>
                    <a:pt x="386003" y="457199"/>
                  </a:lnTo>
                  <a:close/>
                </a:path>
              </a:pathLst>
            </a:custGeom>
            <a:solidFill>
              <a:srgbClr val="8B5CF5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24499" y="5229224"/>
              <a:ext cx="238124" cy="190499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6014987" y="5064125"/>
            <a:ext cx="5687060" cy="808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solidFill>
                  <a:srgbClr val="C3B4FD"/>
                </a:solidFill>
                <a:latin typeface="微软雅黑"/>
                <a:cs typeface="微软雅黑"/>
              </a:rPr>
              <a:t>落地场景：多院协同科研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465"/>
              </a:spcBef>
            </a:pPr>
            <a:r>
              <a:rPr sz="1200" b="1" dirty="0">
                <a:solidFill>
                  <a:srgbClr val="FFFFFF"/>
                </a:solidFill>
                <a:latin typeface="微软雅黑"/>
                <a:cs typeface="微软雅黑"/>
              </a:rPr>
              <a:t>医院A医疗Agent</a:t>
            </a:r>
            <a:r>
              <a:rPr sz="1200" b="1" spc="-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D0D5DA"/>
                </a:solidFill>
                <a:latin typeface="微软雅黑"/>
                <a:cs typeface="微软雅黑"/>
              </a:rPr>
              <a:t>对接 </a:t>
            </a:r>
            <a:r>
              <a:rPr sz="1200" b="1" spc="-20" dirty="0">
                <a:solidFill>
                  <a:srgbClr val="FFFFFF"/>
                </a:solidFill>
                <a:latin typeface="微软雅黑"/>
                <a:cs typeface="微软雅黑"/>
              </a:rPr>
              <a:t>医院</a:t>
            </a:r>
            <a:r>
              <a:rPr sz="1200" b="1" spc="-10" dirty="0">
                <a:solidFill>
                  <a:srgbClr val="FFFFFF"/>
                </a:solidFill>
                <a:latin typeface="微软雅黑"/>
                <a:cs typeface="微软雅黑"/>
              </a:rPr>
              <a:t>B</a:t>
            </a:r>
            <a:r>
              <a:rPr sz="1200" b="1" spc="-20" dirty="0">
                <a:solidFill>
                  <a:srgbClr val="FFFFFF"/>
                </a:solidFill>
                <a:latin typeface="微软雅黑"/>
                <a:cs typeface="微软雅黑"/>
              </a:rPr>
              <a:t>研究</a:t>
            </a:r>
            <a:r>
              <a:rPr sz="1200" b="1" spc="-10" dirty="0">
                <a:solidFill>
                  <a:srgbClr val="FFFFFF"/>
                </a:solidFill>
                <a:latin typeface="微软雅黑"/>
                <a:cs typeface="微软雅黑"/>
              </a:rPr>
              <a:t>Agent</a:t>
            </a:r>
            <a:r>
              <a:rPr sz="1200" spc="-10" dirty="0">
                <a:solidFill>
                  <a:srgbClr val="D0D5DA"/>
                </a:solidFill>
                <a:latin typeface="微软雅黑"/>
                <a:cs typeface="微软雅黑"/>
              </a:rPr>
              <a:t>，在不交换病人隐私信息的前提下，共同训</a:t>
            </a: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练罕见病诊断模型，提升诊断准确率。</a:t>
            </a:r>
            <a:endParaRPr sz="1200">
              <a:latin typeface="微软雅黑"/>
              <a:cs typeface="微软雅黑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695449" y="5086349"/>
            <a:ext cx="2000250" cy="276225"/>
            <a:chOff x="1695449" y="5086349"/>
            <a:chExt cx="2000250" cy="276225"/>
          </a:xfrm>
        </p:grpSpPr>
        <p:sp>
          <p:nvSpPr>
            <p:cNvPr id="21" name="object 21"/>
            <p:cNvSpPr/>
            <p:nvPr/>
          </p:nvSpPr>
          <p:spPr>
            <a:xfrm>
              <a:off x="1695449" y="5086349"/>
              <a:ext cx="2000250" cy="276225"/>
            </a:xfrm>
            <a:custGeom>
              <a:avLst/>
              <a:gdLst/>
              <a:ahLst/>
              <a:cxnLst/>
              <a:rect l="l" t="t" r="r" b="b"/>
              <a:pathLst>
                <a:path w="2000250" h="276225">
                  <a:moveTo>
                    <a:pt x="1862137" y="276224"/>
                  </a:moveTo>
                  <a:lnTo>
                    <a:pt x="138112" y="276224"/>
                  </a:lnTo>
                  <a:lnTo>
                    <a:pt x="131327" y="276058"/>
                  </a:lnTo>
                  <a:lnTo>
                    <a:pt x="91591" y="268154"/>
                  </a:lnTo>
                  <a:lnTo>
                    <a:pt x="55831" y="249040"/>
                  </a:lnTo>
                  <a:lnTo>
                    <a:pt x="27183" y="220392"/>
                  </a:lnTo>
                  <a:lnTo>
                    <a:pt x="8069" y="184633"/>
                  </a:lnTo>
                  <a:lnTo>
                    <a:pt x="165" y="144897"/>
                  </a:lnTo>
                  <a:lnTo>
                    <a:pt x="0" y="138112"/>
                  </a:lnTo>
                  <a:lnTo>
                    <a:pt x="165" y="131327"/>
                  </a:lnTo>
                  <a:lnTo>
                    <a:pt x="8069" y="91590"/>
                  </a:lnTo>
                  <a:lnTo>
                    <a:pt x="27183" y="55831"/>
                  </a:lnTo>
                  <a:lnTo>
                    <a:pt x="55831" y="27183"/>
                  </a:lnTo>
                  <a:lnTo>
                    <a:pt x="91591" y="8069"/>
                  </a:lnTo>
                  <a:lnTo>
                    <a:pt x="131327" y="165"/>
                  </a:lnTo>
                  <a:lnTo>
                    <a:pt x="138112" y="0"/>
                  </a:lnTo>
                  <a:lnTo>
                    <a:pt x="1862137" y="0"/>
                  </a:lnTo>
                  <a:lnTo>
                    <a:pt x="1902229" y="5945"/>
                  </a:lnTo>
                  <a:lnTo>
                    <a:pt x="1938868" y="23275"/>
                  </a:lnTo>
                  <a:lnTo>
                    <a:pt x="1968900" y="50493"/>
                  </a:lnTo>
                  <a:lnTo>
                    <a:pt x="1989736" y="85258"/>
                  </a:lnTo>
                  <a:lnTo>
                    <a:pt x="1999586" y="124574"/>
                  </a:lnTo>
                  <a:lnTo>
                    <a:pt x="2000249" y="138112"/>
                  </a:lnTo>
                  <a:lnTo>
                    <a:pt x="2000083" y="144897"/>
                  </a:lnTo>
                  <a:lnTo>
                    <a:pt x="1992179" y="184633"/>
                  </a:lnTo>
                  <a:lnTo>
                    <a:pt x="1973065" y="220392"/>
                  </a:lnTo>
                  <a:lnTo>
                    <a:pt x="1944417" y="249040"/>
                  </a:lnTo>
                  <a:lnTo>
                    <a:pt x="1908658" y="268154"/>
                  </a:lnTo>
                  <a:lnTo>
                    <a:pt x="1868922" y="276058"/>
                  </a:lnTo>
                  <a:lnTo>
                    <a:pt x="1862137" y="27622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700212" y="5091112"/>
              <a:ext cx="1990725" cy="266700"/>
            </a:xfrm>
            <a:custGeom>
              <a:avLst/>
              <a:gdLst/>
              <a:ahLst/>
              <a:cxnLst/>
              <a:rect l="l" t="t" r="r" b="b"/>
              <a:pathLst>
                <a:path w="1990725" h="266700">
                  <a:moveTo>
                    <a:pt x="0" y="133349"/>
                  </a:moveTo>
                  <a:lnTo>
                    <a:pt x="5740" y="94639"/>
                  </a:lnTo>
                  <a:lnTo>
                    <a:pt x="22473" y="59264"/>
                  </a:lnTo>
                  <a:lnTo>
                    <a:pt x="48752" y="30267"/>
                  </a:lnTo>
                  <a:lnTo>
                    <a:pt x="82318" y="10150"/>
                  </a:lnTo>
                  <a:lnTo>
                    <a:pt x="120279" y="640"/>
                  </a:lnTo>
                  <a:lnTo>
                    <a:pt x="133349" y="0"/>
                  </a:lnTo>
                  <a:lnTo>
                    <a:pt x="1857374" y="0"/>
                  </a:lnTo>
                  <a:lnTo>
                    <a:pt x="1896084" y="5740"/>
                  </a:lnTo>
                  <a:lnTo>
                    <a:pt x="1931459" y="22473"/>
                  </a:lnTo>
                  <a:lnTo>
                    <a:pt x="1960456" y="48752"/>
                  </a:lnTo>
                  <a:lnTo>
                    <a:pt x="1980573" y="82318"/>
                  </a:lnTo>
                  <a:lnTo>
                    <a:pt x="1990084" y="120278"/>
                  </a:lnTo>
                  <a:lnTo>
                    <a:pt x="1990724" y="133349"/>
                  </a:lnTo>
                  <a:lnTo>
                    <a:pt x="1990564" y="139901"/>
                  </a:lnTo>
                  <a:lnTo>
                    <a:pt x="1982932" y="178266"/>
                  </a:lnTo>
                  <a:lnTo>
                    <a:pt x="1964478" y="212793"/>
                  </a:lnTo>
                  <a:lnTo>
                    <a:pt x="1936817" y="240453"/>
                  </a:lnTo>
                  <a:lnTo>
                    <a:pt x="1902291" y="258908"/>
                  </a:lnTo>
                  <a:lnTo>
                    <a:pt x="1863925" y="266539"/>
                  </a:lnTo>
                  <a:lnTo>
                    <a:pt x="1857374" y="266699"/>
                  </a:lnTo>
                  <a:lnTo>
                    <a:pt x="133349" y="266699"/>
                  </a:lnTo>
                  <a:lnTo>
                    <a:pt x="94639" y="260959"/>
                  </a:lnTo>
                  <a:lnTo>
                    <a:pt x="59264" y="244226"/>
                  </a:lnTo>
                  <a:lnTo>
                    <a:pt x="30267" y="217946"/>
                  </a:lnTo>
                  <a:lnTo>
                    <a:pt x="10150" y="184380"/>
                  </a:lnTo>
                  <a:lnTo>
                    <a:pt x="640" y="146420"/>
                  </a:lnTo>
                  <a:lnTo>
                    <a:pt x="0" y="133349"/>
                  </a:lnTo>
                  <a:close/>
                </a:path>
              </a:pathLst>
            </a:custGeom>
            <a:ln w="9524">
              <a:solidFill>
                <a:srgbClr val="1D4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57374" y="5162549"/>
              <a:ext cx="133349" cy="133349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2053332" y="5130800"/>
            <a:ext cx="149225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5" dirty="0">
                <a:solidFill>
                  <a:srgbClr val="93C4FD"/>
                </a:solidFill>
                <a:latin typeface="微软雅黑"/>
                <a:cs typeface="微软雅黑"/>
              </a:rPr>
              <a:t>数据不出域，知识可共享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428624" y="2190749"/>
            <a:ext cx="4533900" cy="1085850"/>
            <a:chOff x="428624" y="2190749"/>
            <a:chExt cx="4533900" cy="1085850"/>
          </a:xfrm>
        </p:grpSpPr>
        <p:sp>
          <p:nvSpPr>
            <p:cNvPr id="26" name="object 26"/>
            <p:cNvSpPr/>
            <p:nvPr/>
          </p:nvSpPr>
          <p:spPr>
            <a:xfrm>
              <a:off x="428624" y="2190749"/>
              <a:ext cx="4533900" cy="1085850"/>
            </a:xfrm>
            <a:custGeom>
              <a:avLst/>
              <a:gdLst/>
              <a:ahLst/>
              <a:cxnLst/>
              <a:rect l="l" t="t" r="r" b="b"/>
              <a:pathLst>
                <a:path w="4533900" h="1085850">
                  <a:moveTo>
                    <a:pt x="4419599" y="1085849"/>
                  </a:moveTo>
                  <a:lnTo>
                    <a:pt x="114299" y="1085849"/>
                  </a:lnTo>
                  <a:lnTo>
                    <a:pt x="103040" y="1085305"/>
                  </a:lnTo>
                  <a:lnTo>
                    <a:pt x="60364" y="1072337"/>
                  </a:lnTo>
                  <a:lnTo>
                    <a:pt x="25900" y="1044025"/>
                  </a:lnTo>
                  <a:lnTo>
                    <a:pt x="4893" y="1004679"/>
                  </a:lnTo>
                  <a:lnTo>
                    <a:pt x="0" y="9715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4419599" y="0"/>
                  </a:lnTo>
                  <a:lnTo>
                    <a:pt x="4463339" y="8700"/>
                  </a:lnTo>
                  <a:lnTo>
                    <a:pt x="4500421" y="33477"/>
                  </a:lnTo>
                  <a:lnTo>
                    <a:pt x="4525198" y="70559"/>
                  </a:lnTo>
                  <a:lnTo>
                    <a:pt x="4533899" y="114299"/>
                  </a:lnTo>
                  <a:lnTo>
                    <a:pt x="4533899" y="971549"/>
                  </a:lnTo>
                  <a:lnTo>
                    <a:pt x="4525198" y="1015290"/>
                  </a:lnTo>
                  <a:lnTo>
                    <a:pt x="4500421" y="1052372"/>
                  </a:lnTo>
                  <a:lnTo>
                    <a:pt x="4463339" y="1077149"/>
                  </a:lnTo>
                  <a:lnTo>
                    <a:pt x="4419599" y="10858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28624" y="2190749"/>
              <a:ext cx="4533900" cy="1085850"/>
            </a:xfrm>
            <a:custGeom>
              <a:avLst/>
              <a:gdLst/>
              <a:ahLst/>
              <a:cxnLst/>
              <a:rect l="l" t="t" r="r" b="b"/>
              <a:pathLst>
                <a:path w="4533900" h="1085850">
                  <a:moveTo>
                    <a:pt x="4419599" y="1085849"/>
                  </a:moveTo>
                  <a:lnTo>
                    <a:pt x="114299" y="1085849"/>
                  </a:lnTo>
                  <a:lnTo>
                    <a:pt x="103040" y="1085305"/>
                  </a:lnTo>
                  <a:lnTo>
                    <a:pt x="60364" y="1072337"/>
                  </a:lnTo>
                  <a:lnTo>
                    <a:pt x="25900" y="1044025"/>
                  </a:lnTo>
                  <a:lnTo>
                    <a:pt x="4893" y="1004679"/>
                  </a:lnTo>
                  <a:lnTo>
                    <a:pt x="0" y="9715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4419599" y="0"/>
                  </a:lnTo>
                  <a:lnTo>
                    <a:pt x="4463340" y="8700"/>
                  </a:lnTo>
                  <a:lnTo>
                    <a:pt x="4465087" y="9524"/>
                  </a:lnTo>
                  <a:lnTo>
                    <a:pt x="107420" y="9524"/>
                  </a:lnTo>
                  <a:lnTo>
                    <a:pt x="100606" y="10195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978429"/>
                  </a:lnTo>
                  <a:lnTo>
                    <a:pt x="20133" y="1018001"/>
                  </a:lnTo>
                  <a:lnTo>
                    <a:pt x="45077" y="1050501"/>
                  </a:lnTo>
                  <a:lnTo>
                    <a:pt x="80560" y="1070981"/>
                  </a:lnTo>
                  <a:lnTo>
                    <a:pt x="107420" y="1076324"/>
                  </a:lnTo>
                  <a:lnTo>
                    <a:pt x="4465087" y="1076324"/>
                  </a:lnTo>
                  <a:lnTo>
                    <a:pt x="4463340" y="1077149"/>
                  </a:lnTo>
                  <a:lnTo>
                    <a:pt x="4452729" y="1080955"/>
                  </a:lnTo>
                  <a:lnTo>
                    <a:pt x="4441902" y="1083674"/>
                  </a:lnTo>
                  <a:lnTo>
                    <a:pt x="4430859" y="1085305"/>
                  </a:lnTo>
                  <a:lnTo>
                    <a:pt x="4419599" y="1085849"/>
                  </a:lnTo>
                  <a:close/>
                </a:path>
                <a:path w="4533900" h="1085850">
                  <a:moveTo>
                    <a:pt x="4465087" y="1076324"/>
                  </a:moveTo>
                  <a:lnTo>
                    <a:pt x="4426479" y="1076324"/>
                  </a:lnTo>
                  <a:lnTo>
                    <a:pt x="4433292" y="1075653"/>
                  </a:lnTo>
                  <a:lnTo>
                    <a:pt x="4446787" y="1072969"/>
                  </a:lnTo>
                  <a:lnTo>
                    <a:pt x="4483529" y="1054844"/>
                  </a:lnTo>
                  <a:lnTo>
                    <a:pt x="4510538" y="1024039"/>
                  </a:lnTo>
                  <a:lnTo>
                    <a:pt x="4523703" y="985242"/>
                  </a:lnTo>
                  <a:lnTo>
                    <a:pt x="4524374" y="978429"/>
                  </a:lnTo>
                  <a:lnTo>
                    <a:pt x="4524374" y="107420"/>
                  </a:lnTo>
                  <a:lnTo>
                    <a:pt x="4513765" y="67848"/>
                  </a:lnTo>
                  <a:lnTo>
                    <a:pt x="4488821" y="35348"/>
                  </a:lnTo>
                  <a:lnTo>
                    <a:pt x="4453338" y="14867"/>
                  </a:lnTo>
                  <a:lnTo>
                    <a:pt x="4426479" y="9524"/>
                  </a:lnTo>
                  <a:lnTo>
                    <a:pt x="4465087" y="9524"/>
                  </a:lnTo>
                  <a:lnTo>
                    <a:pt x="4500422" y="33477"/>
                  </a:lnTo>
                  <a:lnTo>
                    <a:pt x="4525199" y="70559"/>
                  </a:lnTo>
                  <a:lnTo>
                    <a:pt x="4533899" y="114299"/>
                  </a:lnTo>
                  <a:lnTo>
                    <a:pt x="4533899" y="971549"/>
                  </a:lnTo>
                  <a:lnTo>
                    <a:pt x="4533355" y="982809"/>
                  </a:lnTo>
                  <a:lnTo>
                    <a:pt x="4520387" y="1025484"/>
                  </a:lnTo>
                  <a:lnTo>
                    <a:pt x="4492075" y="1059949"/>
                  </a:lnTo>
                  <a:lnTo>
                    <a:pt x="4473534" y="1072337"/>
                  </a:lnTo>
                  <a:lnTo>
                    <a:pt x="4465087" y="10763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666749" y="242887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1"/>
                  </a:lnTo>
                  <a:lnTo>
                    <a:pt x="216321" y="596475"/>
                  </a:lnTo>
                  <a:lnTo>
                    <a:pt x="174481" y="580336"/>
                  </a:lnTo>
                  <a:lnTo>
                    <a:pt x="135462" y="558231"/>
                  </a:lnTo>
                  <a:lnTo>
                    <a:pt x="100108" y="530641"/>
                  </a:lnTo>
                  <a:lnTo>
                    <a:pt x="69186" y="498162"/>
                  </a:lnTo>
                  <a:lnTo>
                    <a:pt x="43364" y="461498"/>
                  </a:lnTo>
                  <a:lnTo>
                    <a:pt x="23201" y="421441"/>
                  </a:lnTo>
                  <a:lnTo>
                    <a:pt x="9134" y="378860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6"/>
                  </a:lnTo>
                  <a:lnTo>
                    <a:pt x="17817" y="202115"/>
                  </a:lnTo>
                  <a:lnTo>
                    <a:pt x="35990" y="161118"/>
                  </a:lnTo>
                  <a:lnTo>
                    <a:pt x="59982" y="123230"/>
                  </a:lnTo>
                  <a:lnTo>
                    <a:pt x="89273" y="89273"/>
                  </a:lnTo>
                  <a:lnTo>
                    <a:pt x="123230" y="59982"/>
                  </a:lnTo>
                  <a:lnTo>
                    <a:pt x="161118" y="35990"/>
                  </a:lnTo>
                  <a:lnTo>
                    <a:pt x="202115" y="17817"/>
                  </a:lnTo>
                  <a:lnTo>
                    <a:pt x="245336" y="5856"/>
                  </a:lnTo>
                  <a:lnTo>
                    <a:pt x="289844" y="366"/>
                  </a:lnTo>
                  <a:lnTo>
                    <a:pt x="304799" y="0"/>
                  </a:lnTo>
                  <a:lnTo>
                    <a:pt x="319755" y="366"/>
                  </a:lnTo>
                  <a:lnTo>
                    <a:pt x="364263" y="5856"/>
                  </a:lnTo>
                  <a:lnTo>
                    <a:pt x="407483" y="17817"/>
                  </a:lnTo>
                  <a:lnTo>
                    <a:pt x="448481" y="35990"/>
                  </a:lnTo>
                  <a:lnTo>
                    <a:pt x="486369" y="59982"/>
                  </a:lnTo>
                  <a:lnTo>
                    <a:pt x="520326" y="89273"/>
                  </a:lnTo>
                  <a:lnTo>
                    <a:pt x="549617" y="123230"/>
                  </a:lnTo>
                  <a:lnTo>
                    <a:pt x="573609" y="161118"/>
                  </a:lnTo>
                  <a:lnTo>
                    <a:pt x="591782" y="202115"/>
                  </a:lnTo>
                  <a:lnTo>
                    <a:pt x="603743" y="245336"/>
                  </a:lnTo>
                  <a:lnTo>
                    <a:pt x="609233" y="289844"/>
                  </a:lnTo>
                  <a:lnTo>
                    <a:pt x="609599" y="304799"/>
                  </a:lnTo>
                  <a:lnTo>
                    <a:pt x="609233" y="319755"/>
                  </a:lnTo>
                  <a:lnTo>
                    <a:pt x="603743" y="364263"/>
                  </a:lnTo>
                  <a:lnTo>
                    <a:pt x="591782" y="407484"/>
                  </a:lnTo>
                  <a:lnTo>
                    <a:pt x="573609" y="448481"/>
                  </a:lnTo>
                  <a:lnTo>
                    <a:pt x="549617" y="486369"/>
                  </a:lnTo>
                  <a:lnTo>
                    <a:pt x="520326" y="520325"/>
                  </a:lnTo>
                  <a:lnTo>
                    <a:pt x="486369" y="549617"/>
                  </a:lnTo>
                  <a:lnTo>
                    <a:pt x="448481" y="573609"/>
                  </a:lnTo>
                  <a:lnTo>
                    <a:pt x="407483" y="591782"/>
                  </a:lnTo>
                  <a:lnTo>
                    <a:pt x="364263" y="603743"/>
                  </a:lnTo>
                  <a:lnTo>
                    <a:pt x="319755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8674" y="2619374"/>
              <a:ext cx="285750" cy="228600"/>
            </a:xfrm>
            <a:custGeom>
              <a:avLst/>
              <a:gdLst/>
              <a:ahLst/>
              <a:cxnLst/>
              <a:rect l="l" t="t" r="r" b="b"/>
              <a:pathLst>
                <a:path w="285750" h="228600">
                  <a:moveTo>
                    <a:pt x="121443" y="228600"/>
                  </a:moveTo>
                  <a:lnTo>
                    <a:pt x="85725" y="228600"/>
                  </a:lnTo>
                  <a:lnTo>
                    <a:pt x="85725" y="21431"/>
                  </a:lnTo>
                  <a:lnTo>
                    <a:pt x="87409" y="13091"/>
                  </a:lnTo>
                  <a:lnTo>
                    <a:pt x="92003" y="6278"/>
                  </a:lnTo>
                  <a:lnTo>
                    <a:pt x="98816" y="1684"/>
                  </a:lnTo>
                  <a:lnTo>
                    <a:pt x="107156" y="0"/>
                  </a:lnTo>
                  <a:lnTo>
                    <a:pt x="178593" y="0"/>
                  </a:lnTo>
                  <a:lnTo>
                    <a:pt x="186933" y="1684"/>
                  </a:lnTo>
                  <a:lnTo>
                    <a:pt x="193746" y="6278"/>
                  </a:lnTo>
                  <a:lnTo>
                    <a:pt x="198340" y="13091"/>
                  </a:lnTo>
                  <a:lnTo>
                    <a:pt x="200025" y="21431"/>
                  </a:lnTo>
                  <a:lnTo>
                    <a:pt x="200025" y="28575"/>
                  </a:lnTo>
                  <a:lnTo>
                    <a:pt x="135374" y="28575"/>
                  </a:lnTo>
                  <a:lnTo>
                    <a:pt x="132159" y="31789"/>
                  </a:lnTo>
                  <a:lnTo>
                    <a:pt x="132159" y="46434"/>
                  </a:lnTo>
                  <a:lnTo>
                    <a:pt x="117514" y="46434"/>
                  </a:lnTo>
                  <a:lnTo>
                    <a:pt x="114300" y="49649"/>
                  </a:lnTo>
                  <a:lnTo>
                    <a:pt x="114300" y="64650"/>
                  </a:lnTo>
                  <a:lnTo>
                    <a:pt x="117514" y="67865"/>
                  </a:lnTo>
                  <a:lnTo>
                    <a:pt x="132159" y="67865"/>
                  </a:lnTo>
                  <a:lnTo>
                    <a:pt x="132159" y="82510"/>
                  </a:lnTo>
                  <a:lnTo>
                    <a:pt x="135374" y="85725"/>
                  </a:lnTo>
                  <a:lnTo>
                    <a:pt x="200025" y="85725"/>
                  </a:lnTo>
                  <a:lnTo>
                    <a:pt x="200025" y="171450"/>
                  </a:lnTo>
                  <a:lnTo>
                    <a:pt x="142875" y="171450"/>
                  </a:lnTo>
                  <a:lnTo>
                    <a:pt x="134534" y="173134"/>
                  </a:lnTo>
                  <a:lnTo>
                    <a:pt x="127722" y="177728"/>
                  </a:lnTo>
                  <a:lnTo>
                    <a:pt x="123128" y="184541"/>
                  </a:lnTo>
                  <a:lnTo>
                    <a:pt x="121443" y="192881"/>
                  </a:lnTo>
                  <a:lnTo>
                    <a:pt x="121443" y="228600"/>
                  </a:lnTo>
                  <a:close/>
                </a:path>
                <a:path w="285750" h="228600">
                  <a:moveTo>
                    <a:pt x="200025" y="85725"/>
                  </a:moveTo>
                  <a:lnTo>
                    <a:pt x="150375" y="85725"/>
                  </a:lnTo>
                  <a:lnTo>
                    <a:pt x="153590" y="82510"/>
                  </a:lnTo>
                  <a:lnTo>
                    <a:pt x="153590" y="67865"/>
                  </a:lnTo>
                  <a:lnTo>
                    <a:pt x="168235" y="67865"/>
                  </a:lnTo>
                  <a:lnTo>
                    <a:pt x="171450" y="64650"/>
                  </a:lnTo>
                  <a:lnTo>
                    <a:pt x="171450" y="49649"/>
                  </a:lnTo>
                  <a:lnTo>
                    <a:pt x="168235" y="46434"/>
                  </a:lnTo>
                  <a:lnTo>
                    <a:pt x="153590" y="46434"/>
                  </a:lnTo>
                  <a:lnTo>
                    <a:pt x="153590" y="31789"/>
                  </a:lnTo>
                  <a:lnTo>
                    <a:pt x="150375" y="28575"/>
                  </a:lnTo>
                  <a:lnTo>
                    <a:pt x="200025" y="28575"/>
                  </a:lnTo>
                  <a:lnTo>
                    <a:pt x="200025" y="85725"/>
                  </a:lnTo>
                  <a:close/>
                </a:path>
                <a:path w="285750" h="228600">
                  <a:moveTo>
                    <a:pt x="200025" y="228600"/>
                  </a:moveTo>
                  <a:lnTo>
                    <a:pt x="164306" y="228600"/>
                  </a:lnTo>
                  <a:lnTo>
                    <a:pt x="164306" y="192881"/>
                  </a:lnTo>
                  <a:lnTo>
                    <a:pt x="162621" y="184541"/>
                  </a:lnTo>
                  <a:lnTo>
                    <a:pt x="158027" y="177728"/>
                  </a:lnTo>
                  <a:lnTo>
                    <a:pt x="151215" y="173134"/>
                  </a:lnTo>
                  <a:lnTo>
                    <a:pt x="142875" y="171450"/>
                  </a:lnTo>
                  <a:lnTo>
                    <a:pt x="200025" y="171450"/>
                  </a:lnTo>
                  <a:lnTo>
                    <a:pt x="200025" y="228600"/>
                  </a:lnTo>
                  <a:close/>
                </a:path>
                <a:path w="285750" h="228600">
                  <a:moveTo>
                    <a:pt x="71437" y="228600"/>
                  </a:moveTo>
                  <a:lnTo>
                    <a:pt x="21431" y="228600"/>
                  </a:lnTo>
                  <a:lnTo>
                    <a:pt x="13091" y="226915"/>
                  </a:lnTo>
                  <a:lnTo>
                    <a:pt x="6278" y="222321"/>
                  </a:lnTo>
                  <a:lnTo>
                    <a:pt x="1684" y="215508"/>
                  </a:lnTo>
                  <a:lnTo>
                    <a:pt x="0" y="207168"/>
                  </a:lnTo>
                  <a:lnTo>
                    <a:pt x="0" y="142875"/>
                  </a:lnTo>
                  <a:lnTo>
                    <a:pt x="39647" y="142875"/>
                  </a:lnTo>
                  <a:lnTo>
                    <a:pt x="42862" y="139660"/>
                  </a:lnTo>
                  <a:lnTo>
                    <a:pt x="42862" y="131802"/>
                  </a:lnTo>
                  <a:lnTo>
                    <a:pt x="39647" y="128587"/>
                  </a:lnTo>
                  <a:lnTo>
                    <a:pt x="0" y="128587"/>
                  </a:lnTo>
                  <a:lnTo>
                    <a:pt x="0" y="100012"/>
                  </a:lnTo>
                  <a:lnTo>
                    <a:pt x="39647" y="100012"/>
                  </a:lnTo>
                  <a:lnTo>
                    <a:pt x="42862" y="96797"/>
                  </a:lnTo>
                  <a:lnTo>
                    <a:pt x="42862" y="88939"/>
                  </a:lnTo>
                  <a:lnTo>
                    <a:pt x="39647" y="85725"/>
                  </a:lnTo>
                  <a:lnTo>
                    <a:pt x="0" y="85725"/>
                  </a:lnTo>
                  <a:lnTo>
                    <a:pt x="0" y="64293"/>
                  </a:lnTo>
                  <a:lnTo>
                    <a:pt x="1684" y="55953"/>
                  </a:lnTo>
                  <a:lnTo>
                    <a:pt x="6278" y="49141"/>
                  </a:lnTo>
                  <a:lnTo>
                    <a:pt x="13091" y="44547"/>
                  </a:lnTo>
                  <a:lnTo>
                    <a:pt x="21431" y="42862"/>
                  </a:lnTo>
                  <a:lnTo>
                    <a:pt x="71437" y="42862"/>
                  </a:lnTo>
                  <a:lnTo>
                    <a:pt x="71437" y="228600"/>
                  </a:lnTo>
                  <a:close/>
                </a:path>
                <a:path w="285750" h="228600">
                  <a:moveTo>
                    <a:pt x="264318" y="228600"/>
                  </a:moveTo>
                  <a:lnTo>
                    <a:pt x="214312" y="228600"/>
                  </a:lnTo>
                  <a:lnTo>
                    <a:pt x="214312" y="42862"/>
                  </a:lnTo>
                  <a:lnTo>
                    <a:pt x="264318" y="42862"/>
                  </a:lnTo>
                  <a:lnTo>
                    <a:pt x="272658" y="44547"/>
                  </a:lnTo>
                  <a:lnTo>
                    <a:pt x="279471" y="49141"/>
                  </a:lnTo>
                  <a:lnTo>
                    <a:pt x="284065" y="55953"/>
                  </a:lnTo>
                  <a:lnTo>
                    <a:pt x="285750" y="64293"/>
                  </a:lnTo>
                  <a:lnTo>
                    <a:pt x="285750" y="85725"/>
                  </a:lnTo>
                  <a:lnTo>
                    <a:pt x="246102" y="85725"/>
                  </a:lnTo>
                  <a:lnTo>
                    <a:pt x="242887" y="88939"/>
                  </a:lnTo>
                  <a:lnTo>
                    <a:pt x="242887" y="96797"/>
                  </a:lnTo>
                  <a:lnTo>
                    <a:pt x="246102" y="100012"/>
                  </a:lnTo>
                  <a:lnTo>
                    <a:pt x="285750" y="100012"/>
                  </a:lnTo>
                  <a:lnTo>
                    <a:pt x="285750" y="128587"/>
                  </a:lnTo>
                  <a:lnTo>
                    <a:pt x="246102" y="128587"/>
                  </a:lnTo>
                  <a:lnTo>
                    <a:pt x="242887" y="131802"/>
                  </a:lnTo>
                  <a:lnTo>
                    <a:pt x="242887" y="139660"/>
                  </a:lnTo>
                  <a:lnTo>
                    <a:pt x="246102" y="142875"/>
                  </a:lnTo>
                  <a:lnTo>
                    <a:pt x="285750" y="142875"/>
                  </a:lnTo>
                  <a:lnTo>
                    <a:pt x="285750" y="207168"/>
                  </a:lnTo>
                  <a:lnTo>
                    <a:pt x="284065" y="215508"/>
                  </a:lnTo>
                  <a:lnTo>
                    <a:pt x="279471" y="222321"/>
                  </a:lnTo>
                  <a:lnTo>
                    <a:pt x="272658" y="226915"/>
                  </a:lnTo>
                  <a:lnTo>
                    <a:pt x="264318" y="2286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1743074" y="3352799"/>
            <a:ext cx="1905000" cy="438150"/>
            <a:chOff x="1743074" y="3352799"/>
            <a:chExt cx="1905000" cy="438150"/>
          </a:xfrm>
        </p:grpSpPr>
        <p:sp>
          <p:nvSpPr>
            <p:cNvPr id="31" name="object 31"/>
            <p:cNvSpPr/>
            <p:nvPr/>
          </p:nvSpPr>
          <p:spPr>
            <a:xfrm>
              <a:off x="2705099" y="3352799"/>
              <a:ext cx="0" cy="438150"/>
            </a:xfrm>
            <a:custGeom>
              <a:avLst/>
              <a:gdLst/>
              <a:ahLst/>
              <a:cxnLst/>
              <a:rect l="l" t="t" r="r" b="b"/>
              <a:pathLst>
                <a:path h="438150">
                  <a:moveTo>
                    <a:pt x="0" y="0"/>
                  </a:moveTo>
                  <a:lnTo>
                    <a:pt x="0" y="438149"/>
                  </a:lnTo>
                </a:path>
              </a:pathLst>
            </a:custGeom>
            <a:ln w="19049">
              <a:solidFill>
                <a:srgbClr val="60A5FA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1747837" y="3357562"/>
              <a:ext cx="1895475" cy="428625"/>
            </a:xfrm>
            <a:custGeom>
              <a:avLst/>
              <a:gdLst/>
              <a:ahLst/>
              <a:cxnLst/>
              <a:rect l="l" t="t" r="r" b="b"/>
              <a:pathLst>
                <a:path w="1895475" h="428625">
                  <a:moveTo>
                    <a:pt x="1688181" y="428624"/>
                  </a:moveTo>
                  <a:lnTo>
                    <a:pt x="207293" y="428624"/>
                  </a:lnTo>
                  <a:lnTo>
                    <a:pt x="200291" y="428281"/>
                  </a:lnTo>
                  <a:lnTo>
                    <a:pt x="158817" y="421433"/>
                  </a:lnTo>
                  <a:lnTo>
                    <a:pt x="119476" y="406627"/>
                  </a:lnTo>
                  <a:lnTo>
                    <a:pt x="83779" y="384430"/>
                  </a:lnTo>
                  <a:lnTo>
                    <a:pt x="53099" y="355696"/>
                  </a:lnTo>
                  <a:lnTo>
                    <a:pt x="28614" y="321528"/>
                  </a:lnTo>
                  <a:lnTo>
                    <a:pt x="11265" y="283240"/>
                  </a:lnTo>
                  <a:lnTo>
                    <a:pt x="1719" y="242303"/>
                  </a:lnTo>
                  <a:lnTo>
                    <a:pt x="0" y="221331"/>
                  </a:lnTo>
                  <a:lnTo>
                    <a:pt x="0" y="214312"/>
                  </a:lnTo>
                  <a:lnTo>
                    <a:pt x="0" y="207293"/>
                  </a:lnTo>
                  <a:lnTo>
                    <a:pt x="5487" y="165617"/>
                  </a:lnTo>
                  <a:lnTo>
                    <a:pt x="18999" y="125813"/>
                  </a:lnTo>
                  <a:lnTo>
                    <a:pt x="40017" y="89410"/>
                  </a:lnTo>
                  <a:lnTo>
                    <a:pt x="67733" y="57807"/>
                  </a:lnTo>
                  <a:lnTo>
                    <a:pt x="101082" y="32218"/>
                  </a:lnTo>
                  <a:lnTo>
                    <a:pt x="138783" y="13627"/>
                  </a:lnTo>
                  <a:lnTo>
                    <a:pt x="179386" y="2748"/>
                  </a:lnTo>
                  <a:lnTo>
                    <a:pt x="207293" y="0"/>
                  </a:lnTo>
                  <a:lnTo>
                    <a:pt x="1688181" y="0"/>
                  </a:lnTo>
                  <a:lnTo>
                    <a:pt x="1729856" y="5487"/>
                  </a:lnTo>
                  <a:lnTo>
                    <a:pt x="1769660" y="18999"/>
                  </a:lnTo>
                  <a:lnTo>
                    <a:pt x="1806064" y="40017"/>
                  </a:lnTo>
                  <a:lnTo>
                    <a:pt x="1837667" y="67733"/>
                  </a:lnTo>
                  <a:lnTo>
                    <a:pt x="1863256" y="101082"/>
                  </a:lnTo>
                  <a:lnTo>
                    <a:pt x="1881846" y="138783"/>
                  </a:lnTo>
                  <a:lnTo>
                    <a:pt x="1892725" y="179386"/>
                  </a:lnTo>
                  <a:lnTo>
                    <a:pt x="1895474" y="207293"/>
                  </a:lnTo>
                  <a:lnTo>
                    <a:pt x="1895474" y="221331"/>
                  </a:lnTo>
                  <a:lnTo>
                    <a:pt x="1889987" y="263006"/>
                  </a:lnTo>
                  <a:lnTo>
                    <a:pt x="1876475" y="302810"/>
                  </a:lnTo>
                  <a:lnTo>
                    <a:pt x="1855457" y="339213"/>
                  </a:lnTo>
                  <a:lnTo>
                    <a:pt x="1827740" y="370817"/>
                  </a:lnTo>
                  <a:lnTo>
                    <a:pt x="1794391" y="396405"/>
                  </a:lnTo>
                  <a:lnTo>
                    <a:pt x="1756691" y="414996"/>
                  </a:lnTo>
                  <a:lnTo>
                    <a:pt x="1716088" y="425876"/>
                  </a:lnTo>
                  <a:lnTo>
                    <a:pt x="1695183" y="428281"/>
                  </a:lnTo>
                  <a:lnTo>
                    <a:pt x="1688181" y="428624"/>
                  </a:lnTo>
                  <a:close/>
                </a:path>
              </a:pathLst>
            </a:custGeom>
            <a:solidFill>
              <a:srgbClr val="1F2937">
                <a:alpha val="799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1747837" y="3357562"/>
              <a:ext cx="1895475" cy="428625"/>
            </a:xfrm>
            <a:custGeom>
              <a:avLst/>
              <a:gdLst/>
              <a:ahLst/>
              <a:cxnLst/>
              <a:rect l="l" t="t" r="r" b="b"/>
              <a:pathLst>
                <a:path w="1895475" h="428625">
                  <a:moveTo>
                    <a:pt x="0" y="214312"/>
                  </a:moveTo>
                  <a:lnTo>
                    <a:pt x="0" y="207293"/>
                  </a:lnTo>
                  <a:lnTo>
                    <a:pt x="344" y="200291"/>
                  </a:lnTo>
                  <a:lnTo>
                    <a:pt x="1032" y="193306"/>
                  </a:lnTo>
                  <a:lnTo>
                    <a:pt x="1719" y="186320"/>
                  </a:lnTo>
                  <a:lnTo>
                    <a:pt x="2748" y="179386"/>
                  </a:lnTo>
                  <a:lnTo>
                    <a:pt x="4118" y="172501"/>
                  </a:lnTo>
                  <a:lnTo>
                    <a:pt x="5487" y="165617"/>
                  </a:lnTo>
                  <a:lnTo>
                    <a:pt x="18999" y="125813"/>
                  </a:lnTo>
                  <a:lnTo>
                    <a:pt x="40017" y="89410"/>
                  </a:lnTo>
                  <a:lnTo>
                    <a:pt x="67733" y="57807"/>
                  </a:lnTo>
                  <a:lnTo>
                    <a:pt x="95246" y="36118"/>
                  </a:lnTo>
                  <a:lnTo>
                    <a:pt x="101082" y="32218"/>
                  </a:lnTo>
                  <a:lnTo>
                    <a:pt x="107095" y="28614"/>
                  </a:lnTo>
                  <a:lnTo>
                    <a:pt x="113286" y="25305"/>
                  </a:lnTo>
                  <a:lnTo>
                    <a:pt x="119476" y="21996"/>
                  </a:lnTo>
                  <a:lnTo>
                    <a:pt x="158817" y="7190"/>
                  </a:lnTo>
                  <a:lnTo>
                    <a:pt x="193306" y="1032"/>
                  </a:lnTo>
                  <a:lnTo>
                    <a:pt x="200291" y="344"/>
                  </a:lnTo>
                  <a:lnTo>
                    <a:pt x="207293" y="0"/>
                  </a:lnTo>
                  <a:lnTo>
                    <a:pt x="214312" y="0"/>
                  </a:lnTo>
                  <a:lnTo>
                    <a:pt x="1681162" y="0"/>
                  </a:lnTo>
                  <a:lnTo>
                    <a:pt x="1688181" y="0"/>
                  </a:lnTo>
                  <a:lnTo>
                    <a:pt x="1695183" y="344"/>
                  </a:lnTo>
                  <a:lnTo>
                    <a:pt x="1736656" y="7190"/>
                  </a:lnTo>
                  <a:lnTo>
                    <a:pt x="1763175" y="16313"/>
                  </a:lnTo>
                  <a:lnTo>
                    <a:pt x="1769660" y="18999"/>
                  </a:lnTo>
                  <a:lnTo>
                    <a:pt x="1775997" y="21996"/>
                  </a:lnTo>
                  <a:lnTo>
                    <a:pt x="1782188" y="25305"/>
                  </a:lnTo>
                  <a:lnTo>
                    <a:pt x="1788378" y="28614"/>
                  </a:lnTo>
                  <a:lnTo>
                    <a:pt x="1794391" y="32218"/>
                  </a:lnTo>
                  <a:lnTo>
                    <a:pt x="1800227" y="36118"/>
                  </a:lnTo>
                  <a:lnTo>
                    <a:pt x="1806064" y="40017"/>
                  </a:lnTo>
                  <a:lnTo>
                    <a:pt x="1811695" y="44193"/>
                  </a:lnTo>
                  <a:lnTo>
                    <a:pt x="1817120" y="48646"/>
                  </a:lnTo>
                  <a:lnTo>
                    <a:pt x="1822546" y="53099"/>
                  </a:lnTo>
                  <a:lnTo>
                    <a:pt x="1827740" y="57807"/>
                  </a:lnTo>
                  <a:lnTo>
                    <a:pt x="1832703" y="62770"/>
                  </a:lnTo>
                  <a:lnTo>
                    <a:pt x="1837667" y="67733"/>
                  </a:lnTo>
                  <a:lnTo>
                    <a:pt x="1842375" y="72928"/>
                  </a:lnTo>
                  <a:lnTo>
                    <a:pt x="1846827" y="78353"/>
                  </a:lnTo>
                  <a:lnTo>
                    <a:pt x="1851280" y="83779"/>
                  </a:lnTo>
                  <a:lnTo>
                    <a:pt x="1855456" y="89410"/>
                  </a:lnTo>
                  <a:lnTo>
                    <a:pt x="1859356" y="95246"/>
                  </a:lnTo>
                  <a:lnTo>
                    <a:pt x="1863256" y="101082"/>
                  </a:lnTo>
                  <a:lnTo>
                    <a:pt x="1881846" y="138783"/>
                  </a:lnTo>
                  <a:lnTo>
                    <a:pt x="1892725" y="179386"/>
                  </a:lnTo>
                  <a:lnTo>
                    <a:pt x="1894442" y="193306"/>
                  </a:lnTo>
                  <a:lnTo>
                    <a:pt x="1895130" y="200291"/>
                  </a:lnTo>
                  <a:lnTo>
                    <a:pt x="1895474" y="207293"/>
                  </a:lnTo>
                  <a:lnTo>
                    <a:pt x="1895474" y="214312"/>
                  </a:lnTo>
                  <a:lnTo>
                    <a:pt x="1895474" y="221331"/>
                  </a:lnTo>
                  <a:lnTo>
                    <a:pt x="1895130" y="228333"/>
                  </a:lnTo>
                  <a:lnTo>
                    <a:pt x="1894442" y="235318"/>
                  </a:lnTo>
                  <a:lnTo>
                    <a:pt x="1893754" y="242303"/>
                  </a:lnTo>
                  <a:lnTo>
                    <a:pt x="1884208" y="283240"/>
                  </a:lnTo>
                  <a:lnTo>
                    <a:pt x="1879161" y="296326"/>
                  </a:lnTo>
                  <a:lnTo>
                    <a:pt x="1876475" y="302810"/>
                  </a:lnTo>
                  <a:lnTo>
                    <a:pt x="1855457" y="339213"/>
                  </a:lnTo>
                  <a:lnTo>
                    <a:pt x="1846828" y="350270"/>
                  </a:lnTo>
                  <a:lnTo>
                    <a:pt x="1842375" y="355696"/>
                  </a:lnTo>
                  <a:lnTo>
                    <a:pt x="1837667" y="360890"/>
                  </a:lnTo>
                  <a:lnTo>
                    <a:pt x="1832703" y="365854"/>
                  </a:lnTo>
                  <a:lnTo>
                    <a:pt x="1827740" y="370817"/>
                  </a:lnTo>
                  <a:lnTo>
                    <a:pt x="1822546" y="375525"/>
                  </a:lnTo>
                  <a:lnTo>
                    <a:pt x="1817120" y="379978"/>
                  </a:lnTo>
                  <a:lnTo>
                    <a:pt x="1811695" y="384430"/>
                  </a:lnTo>
                  <a:lnTo>
                    <a:pt x="1806064" y="388606"/>
                  </a:lnTo>
                  <a:lnTo>
                    <a:pt x="1800227" y="392506"/>
                  </a:lnTo>
                  <a:lnTo>
                    <a:pt x="1794391" y="396405"/>
                  </a:lnTo>
                  <a:lnTo>
                    <a:pt x="1763175" y="412310"/>
                  </a:lnTo>
                  <a:lnTo>
                    <a:pt x="1756691" y="414996"/>
                  </a:lnTo>
                  <a:lnTo>
                    <a:pt x="1722972" y="424506"/>
                  </a:lnTo>
                  <a:lnTo>
                    <a:pt x="1716088" y="425876"/>
                  </a:lnTo>
                  <a:lnTo>
                    <a:pt x="1709153" y="426905"/>
                  </a:lnTo>
                  <a:lnTo>
                    <a:pt x="1702168" y="427593"/>
                  </a:lnTo>
                  <a:lnTo>
                    <a:pt x="1695183" y="428281"/>
                  </a:lnTo>
                  <a:lnTo>
                    <a:pt x="1688181" y="428624"/>
                  </a:lnTo>
                  <a:lnTo>
                    <a:pt x="1681162" y="428624"/>
                  </a:lnTo>
                  <a:lnTo>
                    <a:pt x="214312" y="428624"/>
                  </a:lnTo>
                  <a:lnTo>
                    <a:pt x="207293" y="428624"/>
                  </a:lnTo>
                  <a:lnTo>
                    <a:pt x="200291" y="428281"/>
                  </a:lnTo>
                  <a:lnTo>
                    <a:pt x="193306" y="427593"/>
                  </a:lnTo>
                  <a:lnTo>
                    <a:pt x="186321" y="426905"/>
                  </a:lnTo>
                  <a:lnTo>
                    <a:pt x="145384" y="417359"/>
                  </a:lnTo>
                  <a:lnTo>
                    <a:pt x="107095" y="400010"/>
                  </a:lnTo>
                  <a:lnTo>
                    <a:pt x="72928" y="375525"/>
                  </a:lnTo>
                  <a:lnTo>
                    <a:pt x="62770" y="365854"/>
                  </a:lnTo>
                  <a:lnTo>
                    <a:pt x="57807" y="360890"/>
                  </a:lnTo>
                  <a:lnTo>
                    <a:pt x="53099" y="355696"/>
                  </a:lnTo>
                  <a:lnTo>
                    <a:pt x="48646" y="350270"/>
                  </a:lnTo>
                  <a:lnTo>
                    <a:pt x="44193" y="344844"/>
                  </a:lnTo>
                  <a:lnTo>
                    <a:pt x="25305" y="315338"/>
                  </a:lnTo>
                  <a:lnTo>
                    <a:pt x="21997" y="309147"/>
                  </a:lnTo>
                  <a:lnTo>
                    <a:pt x="7190" y="269807"/>
                  </a:lnTo>
                  <a:lnTo>
                    <a:pt x="4118" y="256122"/>
                  </a:lnTo>
                  <a:lnTo>
                    <a:pt x="2748" y="249238"/>
                  </a:lnTo>
                  <a:lnTo>
                    <a:pt x="1719" y="242303"/>
                  </a:lnTo>
                  <a:lnTo>
                    <a:pt x="1032" y="235318"/>
                  </a:lnTo>
                  <a:lnTo>
                    <a:pt x="344" y="228333"/>
                  </a:lnTo>
                  <a:lnTo>
                    <a:pt x="0" y="221331"/>
                  </a:lnTo>
                  <a:lnTo>
                    <a:pt x="0" y="214312"/>
                  </a:lnTo>
                  <a:close/>
                </a:path>
              </a:pathLst>
            </a:custGeom>
            <a:ln w="9524">
              <a:solidFill>
                <a:srgbClr val="3B81F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987152" y="3476624"/>
              <a:ext cx="178593" cy="190202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416049" y="2399029"/>
            <a:ext cx="1487805" cy="57404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350" b="1" dirty="0">
                <a:solidFill>
                  <a:srgbClr val="BEDAFE"/>
                </a:solidFill>
                <a:latin typeface="微软雅黑"/>
                <a:cs typeface="微软雅黑"/>
              </a:rPr>
              <a:t>医院A</a:t>
            </a:r>
            <a:r>
              <a:rPr sz="1350" b="1" spc="-10" dirty="0">
                <a:solidFill>
                  <a:srgbClr val="BEDAFE"/>
                </a:solidFill>
                <a:latin typeface="微软雅黑"/>
                <a:cs typeface="微软雅黑"/>
              </a:rPr>
              <a:t> 医疗Agent</a:t>
            </a:r>
            <a:endParaRPr sz="13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050" spc="-5" dirty="0">
                <a:solidFill>
                  <a:srgbClr val="9CA2AF"/>
                </a:solidFill>
                <a:latin typeface="微软雅黑"/>
                <a:cs typeface="微软雅黑"/>
              </a:rPr>
              <a:t>原始病历数据 (本地保留)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28624" y="3867149"/>
            <a:ext cx="4533900" cy="1085850"/>
            <a:chOff x="428624" y="3867149"/>
            <a:chExt cx="4533900" cy="1085850"/>
          </a:xfrm>
        </p:grpSpPr>
        <p:sp>
          <p:nvSpPr>
            <p:cNvPr id="37" name="object 37"/>
            <p:cNvSpPr/>
            <p:nvPr/>
          </p:nvSpPr>
          <p:spPr>
            <a:xfrm>
              <a:off x="428624" y="3867149"/>
              <a:ext cx="4533900" cy="1085850"/>
            </a:xfrm>
            <a:custGeom>
              <a:avLst/>
              <a:gdLst/>
              <a:ahLst/>
              <a:cxnLst/>
              <a:rect l="l" t="t" r="r" b="b"/>
              <a:pathLst>
                <a:path w="4533900" h="1085850">
                  <a:moveTo>
                    <a:pt x="4419599" y="1085849"/>
                  </a:moveTo>
                  <a:lnTo>
                    <a:pt x="114299" y="1085849"/>
                  </a:lnTo>
                  <a:lnTo>
                    <a:pt x="103040" y="1085305"/>
                  </a:lnTo>
                  <a:lnTo>
                    <a:pt x="60364" y="1072337"/>
                  </a:lnTo>
                  <a:lnTo>
                    <a:pt x="25900" y="1044025"/>
                  </a:lnTo>
                  <a:lnTo>
                    <a:pt x="4893" y="1004679"/>
                  </a:lnTo>
                  <a:lnTo>
                    <a:pt x="0" y="9715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4419599" y="0"/>
                  </a:lnTo>
                  <a:lnTo>
                    <a:pt x="4463339" y="8700"/>
                  </a:lnTo>
                  <a:lnTo>
                    <a:pt x="4500421" y="33477"/>
                  </a:lnTo>
                  <a:lnTo>
                    <a:pt x="4525198" y="70558"/>
                  </a:lnTo>
                  <a:lnTo>
                    <a:pt x="4533899" y="114299"/>
                  </a:lnTo>
                  <a:lnTo>
                    <a:pt x="4533899" y="971549"/>
                  </a:lnTo>
                  <a:lnTo>
                    <a:pt x="4525198" y="1015290"/>
                  </a:lnTo>
                  <a:lnTo>
                    <a:pt x="4500421" y="1052371"/>
                  </a:lnTo>
                  <a:lnTo>
                    <a:pt x="4463339" y="1077148"/>
                  </a:lnTo>
                  <a:lnTo>
                    <a:pt x="4419599" y="1085849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8624" y="3867149"/>
              <a:ext cx="4533900" cy="1085850"/>
            </a:xfrm>
            <a:custGeom>
              <a:avLst/>
              <a:gdLst/>
              <a:ahLst/>
              <a:cxnLst/>
              <a:rect l="l" t="t" r="r" b="b"/>
              <a:pathLst>
                <a:path w="4533900" h="1085850">
                  <a:moveTo>
                    <a:pt x="4419599" y="1085849"/>
                  </a:moveTo>
                  <a:lnTo>
                    <a:pt x="114299" y="1085849"/>
                  </a:lnTo>
                  <a:lnTo>
                    <a:pt x="103040" y="1085305"/>
                  </a:lnTo>
                  <a:lnTo>
                    <a:pt x="60364" y="1072337"/>
                  </a:lnTo>
                  <a:lnTo>
                    <a:pt x="25900" y="1044025"/>
                  </a:lnTo>
                  <a:lnTo>
                    <a:pt x="4893" y="1004679"/>
                  </a:lnTo>
                  <a:lnTo>
                    <a:pt x="0" y="971549"/>
                  </a:lnTo>
                  <a:lnTo>
                    <a:pt x="0" y="114299"/>
                  </a:lnTo>
                  <a:lnTo>
                    <a:pt x="8700" y="70558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4419599" y="0"/>
                  </a:lnTo>
                  <a:lnTo>
                    <a:pt x="4463340" y="8700"/>
                  </a:lnTo>
                  <a:lnTo>
                    <a:pt x="4465086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978429"/>
                  </a:lnTo>
                  <a:lnTo>
                    <a:pt x="20133" y="1018001"/>
                  </a:lnTo>
                  <a:lnTo>
                    <a:pt x="45077" y="1050501"/>
                  </a:lnTo>
                  <a:lnTo>
                    <a:pt x="80560" y="1070981"/>
                  </a:lnTo>
                  <a:lnTo>
                    <a:pt x="107420" y="1076324"/>
                  </a:lnTo>
                  <a:lnTo>
                    <a:pt x="4465085" y="1076324"/>
                  </a:lnTo>
                  <a:lnTo>
                    <a:pt x="4463338" y="1077149"/>
                  </a:lnTo>
                  <a:lnTo>
                    <a:pt x="4452728" y="1080955"/>
                  </a:lnTo>
                  <a:lnTo>
                    <a:pt x="4441902" y="1083674"/>
                  </a:lnTo>
                  <a:lnTo>
                    <a:pt x="4430859" y="1085305"/>
                  </a:lnTo>
                  <a:lnTo>
                    <a:pt x="4419599" y="1085849"/>
                  </a:lnTo>
                  <a:close/>
                </a:path>
                <a:path w="4533900" h="1085850">
                  <a:moveTo>
                    <a:pt x="4465085" y="1076324"/>
                  </a:moveTo>
                  <a:lnTo>
                    <a:pt x="4426479" y="1076324"/>
                  </a:lnTo>
                  <a:lnTo>
                    <a:pt x="4433292" y="1075653"/>
                  </a:lnTo>
                  <a:lnTo>
                    <a:pt x="4446787" y="1072969"/>
                  </a:lnTo>
                  <a:lnTo>
                    <a:pt x="4483529" y="1054844"/>
                  </a:lnTo>
                  <a:lnTo>
                    <a:pt x="4510538" y="1024038"/>
                  </a:lnTo>
                  <a:lnTo>
                    <a:pt x="4523703" y="985242"/>
                  </a:lnTo>
                  <a:lnTo>
                    <a:pt x="4524374" y="978429"/>
                  </a:lnTo>
                  <a:lnTo>
                    <a:pt x="4524374" y="107420"/>
                  </a:lnTo>
                  <a:lnTo>
                    <a:pt x="4513765" y="67847"/>
                  </a:lnTo>
                  <a:lnTo>
                    <a:pt x="4488821" y="35347"/>
                  </a:lnTo>
                  <a:lnTo>
                    <a:pt x="4453338" y="14867"/>
                  </a:lnTo>
                  <a:lnTo>
                    <a:pt x="4426479" y="9524"/>
                  </a:lnTo>
                  <a:lnTo>
                    <a:pt x="4465086" y="9524"/>
                  </a:lnTo>
                  <a:lnTo>
                    <a:pt x="4500422" y="33477"/>
                  </a:lnTo>
                  <a:lnTo>
                    <a:pt x="4525199" y="70558"/>
                  </a:lnTo>
                  <a:lnTo>
                    <a:pt x="4533899" y="114299"/>
                  </a:lnTo>
                  <a:lnTo>
                    <a:pt x="4533899" y="971549"/>
                  </a:lnTo>
                  <a:lnTo>
                    <a:pt x="4533355" y="982809"/>
                  </a:lnTo>
                  <a:lnTo>
                    <a:pt x="4520387" y="1025484"/>
                  </a:lnTo>
                  <a:lnTo>
                    <a:pt x="4492075" y="1059948"/>
                  </a:lnTo>
                  <a:lnTo>
                    <a:pt x="4473534" y="1072337"/>
                  </a:lnTo>
                  <a:lnTo>
                    <a:pt x="4465085" y="10763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66749" y="4105274"/>
              <a:ext cx="609600" cy="609600"/>
            </a:xfrm>
            <a:custGeom>
              <a:avLst/>
              <a:gdLst/>
              <a:ahLst/>
              <a:cxnLst/>
              <a:rect l="l" t="t" r="r" b="b"/>
              <a:pathLst>
                <a:path w="609600" h="609600">
                  <a:moveTo>
                    <a:pt x="304799" y="609599"/>
                  </a:moveTo>
                  <a:lnTo>
                    <a:pt x="260076" y="606301"/>
                  </a:lnTo>
                  <a:lnTo>
                    <a:pt x="216321" y="596475"/>
                  </a:lnTo>
                  <a:lnTo>
                    <a:pt x="174481" y="580335"/>
                  </a:lnTo>
                  <a:lnTo>
                    <a:pt x="135462" y="558231"/>
                  </a:lnTo>
                  <a:lnTo>
                    <a:pt x="100108" y="530641"/>
                  </a:lnTo>
                  <a:lnTo>
                    <a:pt x="69186" y="498162"/>
                  </a:lnTo>
                  <a:lnTo>
                    <a:pt x="43364" y="461498"/>
                  </a:lnTo>
                  <a:lnTo>
                    <a:pt x="23201" y="421441"/>
                  </a:lnTo>
                  <a:lnTo>
                    <a:pt x="9134" y="378860"/>
                  </a:lnTo>
                  <a:lnTo>
                    <a:pt x="1467" y="334675"/>
                  </a:lnTo>
                  <a:lnTo>
                    <a:pt x="0" y="304799"/>
                  </a:lnTo>
                  <a:lnTo>
                    <a:pt x="366" y="289844"/>
                  </a:lnTo>
                  <a:lnTo>
                    <a:pt x="5856" y="245336"/>
                  </a:lnTo>
                  <a:lnTo>
                    <a:pt x="17817" y="202115"/>
                  </a:lnTo>
                  <a:lnTo>
                    <a:pt x="35990" y="161117"/>
                  </a:lnTo>
                  <a:lnTo>
                    <a:pt x="59982" y="123230"/>
                  </a:lnTo>
                  <a:lnTo>
                    <a:pt x="89273" y="89273"/>
                  </a:lnTo>
                  <a:lnTo>
                    <a:pt x="123230" y="59982"/>
                  </a:lnTo>
                  <a:lnTo>
                    <a:pt x="161118" y="35990"/>
                  </a:lnTo>
                  <a:lnTo>
                    <a:pt x="202115" y="17817"/>
                  </a:lnTo>
                  <a:lnTo>
                    <a:pt x="245336" y="5856"/>
                  </a:lnTo>
                  <a:lnTo>
                    <a:pt x="289844" y="367"/>
                  </a:lnTo>
                  <a:lnTo>
                    <a:pt x="304799" y="0"/>
                  </a:lnTo>
                  <a:lnTo>
                    <a:pt x="319755" y="367"/>
                  </a:lnTo>
                  <a:lnTo>
                    <a:pt x="364263" y="5856"/>
                  </a:lnTo>
                  <a:lnTo>
                    <a:pt x="407483" y="17817"/>
                  </a:lnTo>
                  <a:lnTo>
                    <a:pt x="448481" y="35990"/>
                  </a:lnTo>
                  <a:lnTo>
                    <a:pt x="486369" y="59982"/>
                  </a:lnTo>
                  <a:lnTo>
                    <a:pt x="520326" y="89273"/>
                  </a:lnTo>
                  <a:lnTo>
                    <a:pt x="549617" y="123230"/>
                  </a:lnTo>
                  <a:lnTo>
                    <a:pt x="573609" y="161117"/>
                  </a:lnTo>
                  <a:lnTo>
                    <a:pt x="591782" y="202115"/>
                  </a:lnTo>
                  <a:lnTo>
                    <a:pt x="603743" y="245336"/>
                  </a:lnTo>
                  <a:lnTo>
                    <a:pt x="609233" y="289844"/>
                  </a:lnTo>
                  <a:lnTo>
                    <a:pt x="609599" y="304799"/>
                  </a:lnTo>
                  <a:lnTo>
                    <a:pt x="609233" y="319755"/>
                  </a:lnTo>
                  <a:lnTo>
                    <a:pt x="603743" y="364263"/>
                  </a:lnTo>
                  <a:lnTo>
                    <a:pt x="591782" y="407483"/>
                  </a:lnTo>
                  <a:lnTo>
                    <a:pt x="573609" y="448481"/>
                  </a:lnTo>
                  <a:lnTo>
                    <a:pt x="549617" y="486368"/>
                  </a:lnTo>
                  <a:lnTo>
                    <a:pt x="520326" y="520325"/>
                  </a:lnTo>
                  <a:lnTo>
                    <a:pt x="486369" y="549617"/>
                  </a:lnTo>
                  <a:lnTo>
                    <a:pt x="448481" y="573609"/>
                  </a:lnTo>
                  <a:lnTo>
                    <a:pt x="407483" y="591782"/>
                  </a:lnTo>
                  <a:lnTo>
                    <a:pt x="364263" y="603743"/>
                  </a:lnTo>
                  <a:lnTo>
                    <a:pt x="319755" y="609233"/>
                  </a:lnTo>
                  <a:lnTo>
                    <a:pt x="304799" y="609599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0" name="object 40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76299" y="4295774"/>
              <a:ext cx="200025" cy="228600"/>
            </a:xfrm>
            <a:prstGeom prst="rect">
              <a:avLst/>
            </a:prstGeom>
          </p:spPr>
        </p:pic>
      </p:grpSp>
      <p:sp>
        <p:nvSpPr>
          <p:cNvPr id="41" name="object 41"/>
          <p:cNvSpPr txBox="1"/>
          <p:nvPr/>
        </p:nvSpPr>
        <p:spPr>
          <a:xfrm>
            <a:off x="1416049" y="4075429"/>
            <a:ext cx="1487805" cy="574040"/>
          </a:xfrm>
          <a:prstGeom prst="rect">
            <a:avLst/>
          </a:prstGeom>
        </p:spPr>
        <p:txBody>
          <a:bodyPr vert="horz" wrap="square" lIns="0" tIns="1155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0"/>
              </a:spcBef>
            </a:pPr>
            <a:r>
              <a:rPr sz="1350" b="1" spc="-20" dirty="0">
                <a:solidFill>
                  <a:srgbClr val="DDD5FE"/>
                </a:solidFill>
                <a:latin typeface="微软雅黑"/>
                <a:cs typeface="微软雅黑"/>
              </a:rPr>
              <a:t>医院</a:t>
            </a:r>
            <a:r>
              <a:rPr sz="1350" b="1" dirty="0">
                <a:solidFill>
                  <a:srgbClr val="DDD5FE"/>
                </a:solidFill>
                <a:latin typeface="微软雅黑"/>
                <a:cs typeface="微软雅黑"/>
              </a:rPr>
              <a:t>B</a:t>
            </a:r>
            <a:r>
              <a:rPr sz="1350" b="1" spc="-10" dirty="0">
                <a:solidFill>
                  <a:srgbClr val="DDD5FE"/>
                </a:solidFill>
                <a:latin typeface="微软雅黑"/>
                <a:cs typeface="微软雅黑"/>
              </a:rPr>
              <a:t> 研究Agent</a:t>
            </a:r>
            <a:endParaRPr sz="13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050" spc="-5" dirty="0">
                <a:solidFill>
                  <a:srgbClr val="9CA2AF"/>
                </a:solidFill>
                <a:latin typeface="微软雅黑"/>
                <a:cs typeface="微软雅黑"/>
              </a:rPr>
              <a:t>科研实验数据 (本地保留)</a:t>
            </a:r>
            <a:endParaRPr sz="1050">
              <a:latin typeface="微软雅黑"/>
              <a:cs typeface="微软雅黑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sp>
        <p:nvSpPr>
          <p:cNvPr id="42" name="object 42"/>
          <p:cNvSpPr txBox="1"/>
          <p:nvPr/>
        </p:nvSpPr>
        <p:spPr>
          <a:xfrm>
            <a:off x="2269430" y="3473450"/>
            <a:ext cx="11557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b="1" spc="-25" dirty="0">
                <a:solidFill>
                  <a:srgbClr val="FFFFFF"/>
                </a:solidFill>
                <a:latin typeface="微软雅黑"/>
                <a:cs typeface="微软雅黑"/>
              </a:rPr>
              <a:t>加密梯度/参数交换</a:t>
            </a:r>
            <a:endParaRPr sz="105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15925" y="215900"/>
            <a:ext cx="31070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" dirty="0"/>
              <a:t>AI</a:t>
            </a:r>
            <a:r>
              <a:rPr spc="-35" dirty="0"/>
              <a:t>代理协议标准化</a:t>
            </a:r>
          </a:p>
        </p:txBody>
      </p:sp>
      <p:sp>
        <p:nvSpPr>
          <p:cNvPr id="3" name="object 3"/>
          <p:cNvSpPr/>
          <p:nvPr/>
        </p:nvSpPr>
        <p:spPr>
          <a:xfrm>
            <a:off x="428624" y="800099"/>
            <a:ext cx="1847850" cy="38100"/>
          </a:xfrm>
          <a:custGeom>
            <a:avLst/>
            <a:gdLst/>
            <a:ahLst/>
            <a:cxnLst/>
            <a:rect l="l" t="t" r="r" b="b"/>
            <a:pathLst>
              <a:path w="1847850" h="38100">
                <a:moveTo>
                  <a:pt x="1847849" y="38099"/>
                </a:moveTo>
                <a:lnTo>
                  <a:pt x="0" y="38099"/>
                </a:lnTo>
                <a:lnTo>
                  <a:pt x="0" y="0"/>
                </a:lnTo>
                <a:lnTo>
                  <a:pt x="1847849" y="0"/>
                </a:lnTo>
                <a:lnTo>
                  <a:pt x="184784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85105" y="1497806"/>
            <a:ext cx="191839" cy="16668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7681" y="2828924"/>
            <a:ext cx="166687" cy="19049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09587" y="4171950"/>
            <a:ext cx="142874" cy="190499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720724" y="1327150"/>
            <a:ext cx="4256405" cy="364426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500" b="1" spc="-15" dirty="0">
                <a:solidFill>
                  <a:srgbClr val="FBA5A5"/>
                </a:solidFill>
                <a:latin typeface="微软雅黑"/>
                <a:cs typeface="微软雅黑"/>
              </a:rPr>
              <a:t>协作痛点</a:t>
            </a:r>
            <a:endParaRPr sz="1500">
              <a:latin typeface="微软雅黑"/>
              <a:cs typeface="微软雅黑"/>
            </a:endParaRPr>
          </a:p>
          <a:p>
            <a:pPr marL="12700" marR="71120">
              <a:lnSpc>
                <a:spcPct val="125000"/>
              </a:lnSpc>
              <a:spcBef>
                <a:spcPts val="495"/>
              </a:spcBef>
            </a:pPr>
            <a:r>
              <a:rPr sz="1350" spc="-20" dirty="0">
                <a:solidFill>
                  <a:srgbClr val="D0D5DA"/>
                </a:solidFill>
                <a:latin typeface="微软雅黑"/>
                <a:cs typeface="微软雅黑"/>
              </a:rPr>
              <a:t>当前</a:t>
            </a:r>
            <a:r>
              <a:rPr sz="1350" dirty="0">
                <a:solidFill>
                  <a:srgbClr val="D0D5DA"/>
                </a:solidFill>
                <a:latin typeface="微软雅黑"/>
                <a:cs typeface="微软雅黑"/>
              </a:rPr>
              <a:t>AI</a:t>
            </a:r>
            <a:r>
              <a:rPr sz="1350" spc="-5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350" dirty="0">
                <a:solidFill>
                  <a:srgbClr val="D0D5DA"/>
                </a:solidFill>
                <a:latin typeface="微软雅黑"/>
                <a:cs typeface="微软雅黑"/>
              </a:rPr>
              <a:t>Agent生态通信协议碎片化，不同框架（</a:t>
            </a:r>
            <a:r>
              <a:rPr sz="1350" spc="-50" dirty="0">
                <a:solidFill>
                  <a:srgbClr val="D0D5DA"/>
                </a:solidFill>
                <a:latin typeface="微软雅黑"/>
                <a:cs typeface="微软雅黑"/>
              </a:rPr>
              <a:t>如 </a:t>
            </a:r>
            <a:r>
              <a:rPr sz="1350" spc="-10" dirty="0">
                <a:solidFill>
                  <a:srgbClr val="D0D5DA"/>
                </a:solidFill>
                <a:latin typeface="微软雅黑"/>
                <a:cs typeface="微软雅黑"/>
              </a:rPr>
              <a:t>LangChain</a:t>
            </a:r>
            <a:r>
              <a:rPr sz="1350" spc="-20" dirty="0">
                <a:solidFill>
                  <a:srgbClr val="D0D5DA"/>
                </a:solidFill>
                <a:latin typeface="微软雅黑"/>
                <a:cs typeface="微软雅黑"/>
              </a:rPr>
              <a:t>、AutoGen）</a:t>
            </a:r>
            <a:r>
              <a:rPr sz="1350" spc="-25" dirty="0">
                <a:solidFill>
                  <a:srgbClr val="D0D5DA"/>
                </a:solidFill>
                <a:latin typeface="微软雅黑"/>
                <a:cs typeface="微软雅黑"/>
              </a:rPr>
              <a:t>采用各自的工具集成策略，导</a:t>
            </a:r>
            <a:r>
              <a:rPr sz="1350" spc="-5" dirty="0">
                <a:solidFill>
                  <a:srgbClr val="D0D5DA"/>
                </a:solidFill>
                <a:latin typeface="微软雅黑"/>
                <a:cs typeface="微软雅黑"/>
              </a:rPr>
              <a:t>致跨系统协作困难，资源难以复用。</a:t>
            </a:r>
            <a:endParaRPr sz="13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sz="1500" b="1" spc="-15" dirty="0">
                <a:solidFill>
                  <a:srgbClr val="93C4FD"/>
                </a:solidFill>
                <a:latin typeface="微软雅黑"/>
                <a:cs typeface="微软雅黑"/>
              </a:rPr>
              <a:t>解决方案</a:t>
            </a:r>
            <a:endParaRPr sz="1500">
              <a:latin typeface="微软雅黑"/>
              <a:cs typeface="微软雅黑"/>
            </a:endParaRPr>
          </a:p>
          <a:p>
            <a:pPr marL="12700" marR="5080" algn="just">
              <a:lnSpc>
                <a:spcPct val="125000"/>
              </a:lnSpc>
              <a:spcBef>
                <a:spcPts val="495"/>
              </a:spcBef>
            </a:pPr>
            <a:r>
              <a:rPr sz="1350" spc="-15" dirty="0">
                <a:solidFill>
                  <a:srgbClr val="D0D5DA"/>
                </a:solidFill>
                <a:latin typeface="微软雅黑"/>
                <a:cs typeface="微软雅黑"/>
              </a:rPr>
              <a:t>引入 </a:t>
            </a:r>
            <a:r>
              <a:rPr sz="1350" b="1" dirty="0">
                <a:solidFill>
                  <a:srgbClr val="D0D5DA"/>
                </a:solidFill>
                <a:latin typeface="微软雅黑"/>
                <a:cs typeface="微软雅黑"/>
              </a:rPr>
              <a:t>MCP</a:t>
            </a:r>
            <a:r>
              <a:rPr sz="1350" b="1" spc="-35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350" b="1" dirty="0">
                <a:solidFill>
                  <a:srgbClr val="D0D5DA"/>
                </a:solidFill>
                <a:latin typeface="微软雅黑"/>
                <a:cs typeface="微软雅黑"/>
              </a:rPr>
              <a:t>(Model</a:t>
            </a:r>
            <a:r>
              <a:rPr sz="1350" b="1" spc="-35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350" b="1" dirty="0">
                <a:solidFill>
                  <a:srgbClr val="D0D5DA"/>
                </a:solidFill>
                <a:latin typeface="微软雅黑"/>
                <a:cs typeface="微软雅黑"/>
              </a:rPr>
              <a:t>Context</a:t>
            </a:r>
            <a:r>
              <a:rPr sz="1350" b="1" spc="-35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350" b="1" dirty="0">
                <a:solidFill>
                  <a:srgbClr val="D0D5DA"/>
                </a:solidFill>
                <a:latin typeface="微软雅黑"/>
                <a:cs typeface="微软雅黑"/>
              </a:rPr>
              <a:t>Protocol)</a:t>
            </a:r>
            <a:r>
              <a:rPr sz="1350" b="1" spc="-40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350" spc="-20" dirty="0">
                <a:solidFill>
                  <a:srgbClr val="D0D5DA"/>
                </a:solidFill>
                <a:latin typeface="微软雅黑"/>
                <a:cs typeface="微软雅黑"/>
              </a:rPr>
              <a:t>及 </a:t>
            </a:r>
            <a:r>
              <a:rPr sz="1350" dirty="0">
                <a:solidFill>
                  <a:srgbClr val="D0D5DA"/>
                </a:solidFill>
                <a:latin typeface="微软雅黑"/>
                <a:cs typeface="微软雅黑"/>
              </a:rPr>
              <a:t>A2A</a:t>
            </a:r>
            <a:r>
              <a:rPr sz="1350" spc="-25" dirty="0">
                <a:solidFill>
                  <a:srgbClr val="D0D5DA"/>
                </a:solidFill>
                <a:latin typeface="微软雅黑"/>
                <a:cs typeface="微软雅黑"/>
              </a:rPr>
              <a:t> 等标准</a:t>
            </a:r>
            <a:r>
              <a:rPr sz="1350" spc="-20" dirty="0">
                <a:solidFill>
                  <a:srgbClr val="D0D5DA"/>
                </a:solidFill>
                <a:latin typeface="微软雅黑"/>
                <a:cs typeface="微软雅黑"/>
              </a:rPr>
              <a:t>化交互协议。</a:t>
            </a:r>
            <a:r>
              <a:rPr sz="1350" dirty="0">
                <a:solidFill>
                  <a:srgbClr val="D0D5DA"/>
                </a:solidFill>
                <a:latin typeface="微软雅黑"/>
                <a:cs typeface="微软雅黑"/>
              </a:rPr>
              <a:t>OpenAI</a:t>
            </a:r>
            <a:r>
              <a:rPr sz="1350" spc="-5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350" dirty="0">
                <a:solidFill>
                  <a:srgbClr val="D0D5DA"/>
                </a:solidFill>
                <a:latin typeface="微软雅黑"/>
                <a:cs typeface="微软雅黑"/>
              </a:rPr>
              <a:t>Agents</a:t>
            </a:r>
            <a:r>
              <a:rPr sz="1350" spc="-5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350" dirty="0">
                <a:solidFill>
                  <a:srgbClr val="D0D5DA"/>
                </a:solidFill>
                <a:latin typeface="微软雅黑"/>
                <a:cs typeface="微软雅黑"/>
              </a:rPr>
              <a:t>SDK</a:t>
            </a:r>
            <a:r>
              <a:rPr sz="1350" spc="-5" dirty="0">
                <a:solidFill>
                  <a:srgbClr val="D0D5DA"/>
                </a:solidFill>
                <a:latin typeface="微软雅黑"/>
                <a:cs typeface="微软雅黑"/>
              </a:rPr>
              <a:t> 已率先支持 </a:t>
            </a:r>
            <a:r>
              <a:rPr sz="1350" spc="-20" dirty="0">
                <a:solidFill>
                  <a:srgbClr val="D0D5DA"/>
                </a:solidFill>
                <a:latin typeface="微软雅黑"/>
                <a:cs typeface="微软雅黑"/>
              </a:rPr>
              <a:t>MCP，</a:t>
            </a:r>
            <a:r>
              <a:rPr sz="1350" spc="-5" dirty="0">
                <a:solidFill>
                  <a:srgbClr val="D0D5DA"/>
                </a:solidFill>
                <a:latin typeface="微软雅黑"/>
                <a:cs typeface="微软雅黑"/>
              </a:rPr>
              <a:t>建立统一的工具接入标准。</a:t>
            </a:r>
            <a:endParaRPr sz="13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205"/>
              </a:spcBef>
            </a:pPr>
            <a:r>
              <a:rPr sz="1500" b="1" spc="-15" dirty="0">
                <a:solidFill>
                  <a:srgbClr val="6EE7B6"/>
                </a:solidFill>
                <a:latin typeface="微软雅黑"/>
                <a:cs typeface="微软雅黑"/>
              </a:rPr>
              <a:t>核心价值</a:t>
            </a:r>
            <a:endParaRPr sz="1500">
              <a:latin typeface="微软雅黑"/>
              <a:cs typeface="微软雅黑"/>
            </a:endParaRPr>
          </a:p>
          <a:p>
            <a:pPr marL="12700" marR="128905">
              <a:lnSpc>
                <a:spcPct val="125000"/>
              </a:lnSpc>
              <a:spcBef>
                <a:spcPts val="495"/>
              </a:spcBef>
            </a:pPr>
            <a:r>
              <a:rPr sz="1350" spc="-20" dirty="0">
                <a:solidFill>
                  <a:srgbClr val="D0D5DA"/>
                </a:solidFill>
                <a:latin typeface="微软雅黑"/>
                <a:cs typeface="微软雅黑"/>
              </a:rPr>
              <a:t>实现</a:t>
            </a:r>
            <a:r>
              <a:rPr sz="1350" spc="-10" dirty="0">
                <a:solidFill>
                  <a:srgbClr val="D0D5DA"/>
                </a:solidFill>
                <a:latin typeface="微软雅黑"/>
                <a:cs typeface="微软雅黑"/>
              </a:rPr>
              <a:t>“USB</a:t>
            </a:r>
            <a:r>
              <a:rPr sz="1350" spc="-25" dirty="0">
                <a:solidFill>
                  <a:srgbClr val="D0D5DA"/>
                </a:solidFill>
                <a:latin typeface="微软雅黑"/>
                <a:cs typeface="微软雅黑"/>
              </a:rPr>
              <a:t>式”的通用连接能力。通过协议将模型与工</a:t>
            </a:r>
            <a:r>
              <a:rPr sz="1350" dirty="0">
                <a:solidFill>
                  <a:srgbClr val="D0D5DA"/>
                </a:solidFill>
                <a:latin typeface="微软雅黑"/>
                <a:cs typeface="微软雅黑"/>
              </a:rPr>
              <a:t>具、数据 </a:t>
            </a:r>
            <a:r>
              <a:rPr sz="1350" b="1" dirty="0">
                <a:solidFill>
                  <a:srgbClr val="D0D5DA"/>
                </a:solidFill>
                <a:latin typeface="微软雅黑"/>
                <a:cs typeface="微软雅黑"/>
              </a:rPr>
              <a:t>深度解耦</a:t>
            </a:r>
            <a:r>
              <a:rPr sz="1350" spc="-5" dirty="0">
                <a:solidFill>
                  <a:srgbClr val="D0D5DA"/>
                </a:solidFill>
                <a:latin typeface="微软雅黑"/>
                <a:cs typeface="微软雅黑"/>
              </a:rPr>
              <a:t>，大幅降低集成与切换成本。</a:t>
            </a:r>
            <a:endParaRPr sz="1350">
              <a:latin typeface="微软雅黑"/>
              <a:cs typeface="微软雅黑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2678" y="5293518"/>
            <a:ext cx="215503" cy="120215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720724" y="5099049"/>
            <a:ext cx="3968750" cy="95821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0"/>
              </a:spcBef>
            </a:pPr>
            <a:r>
              <a:rPr sz="1500" b="1" spc="-15" dirty="0">
                <a:solidFill>
                  <a:srgbClr val="C3B4FD"/>
                </a:solidFill>
                <a:latin typeface="微软雅黑"/>
                <a:cs typeface="微软雅黑"/>
              </a:rPr>
              <a:t>发展趋势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25000"/>
              </a:lnSpc>
              <a:spcBef>
                <a:spcPts val="495"/>
              </a:spcBef>
            </a:pPr>
            <a:r>
              <a:rPr sz="1350" spc="-5" dirty="0">
                <a:solidFill>
                  <a:srgbClr val="D0D5DA"/>
                </a:solidFill>
                <a:latin typeface="微软雅黑"/>
                <a:cs typeface="微软雅黑"/>
              </a:rPr>
              <a:t>从单点工具走向生态互联，标准化协议将打破框架壁</a:t>
            </a:r>
            <a:r>
              <a:rPr sz="1350" dirty="0">
                <a:solidFill>
                  <a:srgbClr val="D0D5DA"/>
                </a:solidFill>
                <a:latin typeface="微软雅黑"/>
                <a:cs typeface="微软雅黑"/>
              </a:rPr>
              <a:t>垒，使不同来源的Agent组件能够实现 </a:t>
            </a:r>
            <a:r>
              <a:rPr sz="1350" b="1" dirty="0">
                <a:solidFill>
                  <a:srgbClr val="D0D5DA"/>
                </a:solidFill>
                <a:latin typeface="微软雅黑"/>
                <a:cs typeface="微软雅黑"/>
              </a:rPr>
              <a:t>无缝协作</a:t>
            </a:r>
            <a:r>
              <a:rPr sz="1350" spc="-50" dirty="0">
                <a:solidFill>
                  <a:srgbClr val="D0D5DA"/>
                </a:solidFill>
                <a:latin typeface="微软雅黑"/>
                <a:cs typeface="微软雅黑"/>
              </a:rPr>
              <a:t>。</a:t>
            </a:r>
            <a:endParaRPr sz="1350">
              <a:latin typeface="微软雅黑"/>
              <a:cs typeface="微软雅黑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72100" y="1362074"/>
            <a:ext cx="6391275" cy="4419600"/>
            <a:chOff x="5372100" y="1362074"/>
            <a:chExt cx="6391275" cy="4419600"/>
          </a:xfrm>
        </p:grpSpPr>
        <p:sp>
          <p:nvSpPr>
            <p:cNvPr id="11" name="object 11"/>
            <p:cNvSpPr/>
            <p:nvPr/>
          </p:nvSpPr>
          <p:spPr>
            <a:xfrm>
              <a:off x="5372100" y="1362074"/>
              <a:ext cx="6391275" cy="4419600"/>
            </a:xfrm>
            <a:custGeom>
              <a:avLst/>
              <a:gdLst/>
              <a:ahLst/>
              <a:cxnLst/>
              <a:rect l="l" t="t" r="r" b="b"/>
              <a:pathLst>
                <a:path w="6391275" h="4419600">
                  <a:moveTo>
                    <a:pt x="6276980" y="4419599"/>
                  </a:moveTo>
                  <a:lnTo>
                    <a:pt x="114293" y="4419599"/>
                  </a:lnTo>
                  <a:lnTo>
                    <a:pt x="103039" y="4419055"/>
                  </a:lnTo>
                  <a:lnTo>
                    <a:pt x="60363" y="4406087"/>
                  </a:lnTo>
                  <a:lnTo>
                    <a:pt x="25899" y="4377775"/>
                  </a:lnTo>
                  <a:lnTo>
                    <a:pt x="4893" y="4338429"/>
                  </a:lnTo>
                  <a:lnTo>
                    <a:pt x="0" y="114286"/>
                  </a:lnTo>
                  <a:lnTo>
                    <a:pt x="542" y="103040"/>
                  </a:lnTo>
                  <a:lnTo>
                    <a:pt x="13510" y="60364"/>
                  </a:lnTo>
                  <a:lnTo>
                    <a:pt x="41822" y="25900"/>
                  </a:lnTo>
                  <a:lnTo>
                    <a:pt x="81168" y="4893"/>
                  </a:lnTo>
                  <a:lnTo>
                    <a:pt x="114299" y="0"/>
                  </a:lnTo>
                  <a:lnTo>
                    <a:pt x="6276974" y="0"/>
                  </a:lnTo>
                  <a:lnTo>
                    <a:pt x="6320714" y="8700"/>
                  </a:lnTo>
                  <a:lnTo>
                    <a:pt x="6357796" y="33477"/>
                  </a:lnTo>
                  <a:lnTo>
                    <a:pt x="6382572" y="70559"/>
                  </a:lnTo>
                  <a:lnTo>
                    <a:pt x="6391273" y="114286"/>
                  </a:lnTo>
                  <a:lnTo>
                    <a:pt x="6391273" y="4305313"/>
                  </a:lnTo>
                  <a:lnTo>
                    <a:pt x="6382573" y="4349040"/>
                  </a:lnTo>
                  <a:lnTo>
                    <a:pt x="6357796" y="4386121"/>
                  </a:lnTo>
                  <a:lnTo>
                    <a:pt x="6320713" y="4410898"/>
                  </a:lnTo>
                  <a:lnTo>
                    <a:pt x="6276980" y="4419599"/>
                  </a:lnTo>
                  <a:close/>
                </a:path>
              </a:pathLst>
            </a:custGeom>
            <a:solidFill>
              <a:srgbClr val="1D3A8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72100" y="1362074"/>
              <a:ext cx="6391275" cy="4419600"/>
            </a:xfrm>
            <a:custGeom>
              <a:avLst/>
              <a:gdLst/>
              <a:ahLst/>
              <a:cxnLst/>
              <a:rect l="l" t="t" r="r" b="b"/>
              <a:pathLst>
                <a:path w="6391275" h="4419600">
                  <a:moveTo>
                    <a:pt x="6276974" y="4419599"/>
                  </a:moveTo>
                  <a:lnTo>
                    <a:pt x="114299" y="4419599"/>
                  </a:lnTo>
                  <a:lnTo>
                    <a:pt x="103039" y="4419055"/>
                  </a:lnTo>
                  <a:lnTo>
                    <a:pt x="60363" y="4406087"/>
                  </a:lnTo>
                  <a:lnTo>
                    <a:pt x="25899" y="4377775"/>
                  </a:lnTo>
                  <a:lnTo>
                    <a:pt x="4893" y="4338429"/>
                  </a:lnTo>
                  <a:lnTo>
                    <a:pt x="0" y="430529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8" y="8700"/>
                  </a:lnTo>
                  <a:lnTo>
                    <a:pt x="114299" y="0"/>
                  </a:lnTo>
                  <a:lnTo>
                    <a:pt x="6276974" y="0"/>
                  </a:lnTo>
                  <a:lnTo>
                    <a:pt x="6320714" y="8700"/>
                  </a:lnTo>
                  <a:lnTo>
                    <a:pt x="6322461" y="9524"/>
                  </a:lnTo>
                  <a:lnTo>
                    <a:pt x="107419" y="9524"/>
                  </a:lnTo>
                  <a:lnTo>
                    <a:pt x="100606" y="10196"/>
                  </a:lnTo>
                  <a:lnTo>
                    <a:pt x="61809" y="23360"/>
                  </a:lnTo>
                  <a:lnTo>
                    <a:pt x="31004" y="50369"/>
                  </a:lnTo>
                  <a:lnTo>
                    <a:pt x="12879" y="87111"/>
                  </a:lnTo>
                  <a:lnTo>
                    <a:pt x="9524" y="107420"/>
                  </a:lnTo>
                  <a:lnTo>
                    <a:pt x="9524" y="4312179"/>
                  </a:lnTo>
                  <a:lnTo>
                    <a:pt x="20132" y="4351750"/>
                  </a:lnTo>
                  <a:lnTo>
                    <a:pt x="45076" y="4384251"/>
                  </a:lnTo>
                  <a:lnTo>
                    <a:pt x="80560" y="4404731"/>
                  </a:lnTo>
                  <a:lnTo>
                    <a:pt x="107419" y="4410074"/>
                  </a:lnTo>
                  <a:lnTo>
                    <a:pt x="6322460" y="4410074"/>
                  </a:lnTo>
                  <a:lnTo>
                    <a:pt x="6320713" y="4410898"/>
                  </a:lnTo>
                  <a:lnTo>
                    <a:pt x="6310103" y="4414705"/>
                  </a:lnTo>
                  <a:lnTo>
                    <a:pt x="6299277" y="4417424"/>
                  </a:lnTo>
                  <a:lnTo>
                    <a:pt x="6288234" y="4419055"/>
                  </a:lnTo>
                  <a:lnTo>
                    <a:pt x="6276974" y="4419599"/>
                  </a:lnTo>
                  <a:close/>
                </a:path>
                <a:path w="6391275" h="4419600">
                  <a:moveTo>
                    <a:pt x="6322460" y="4410074"/>
                  </a:moveTo>
                  <a:lnTo>
                    <a:pt x="6283852" y="4410074"/>
                  </a:lnTo>
                  <a:lnTo>
                    <a:pt x="6290666" y="4409403"/>
                  </a:lnTo>
                  <a:lnTo>
                    <a:pt x="6304162" y="4406718"/>
                  </a:lnTo>
                  <a:lnTo>
                    <a:pt x="6340902" y="4388594"/>
                  </a:lnTo>
                  <a:lnTo>
                    <a:pt x="6367912" y="4357788"/>
                  </a:lnTo>
                  <a:lnTo>
                    <a:pt x="6381077" y="4318992"/>
                  </a:lnTo>
                  <a:lnTo>
                    <a:pt x="6381747" y="4312179"/>
                  </a:lnTo>
                  <a:lnTo>
                    <a:pt x="6381747" y="107420"/>
                  </a:lnTo>
                  <a:lnTo>
                    <a:pt x="6371140" y="67848"/>
                  </a:lnTo>
                  <a:lnTo>
                    <a:pt x="6346195" y="35348"/>
                  </a:lnTo>
                  <a:lnTo>
                    <a:pt x="6310712" y="14867"/>
                  </a:lnTo>
                  <a:lnTo>
                    <a:pt x="6283852" y="9524"/>
                  </a:lnTo>
                  <a:lnTo>
                    <a:pt x="6322461" y="9524"/>
                  </a:lnTo>
                  <a:lnTo>
                    <a:pt x="6357796" y="33477"/>
                  </a:lnTo>
                  <a:lnTo>
                    <a:pt x="6382572" y="70559"/>
                  </a:lnTo>
                  <a:lnTo>
                    <a:pt x="6391274" y="114299"/>
                  </a:lnTo>
                  <a:lnTo>
                    <a:pt x="6391274" y="4305299"/>
                  </a:lnTo>
                  <a:lnTo>
                    <a:pt x="6390730" y="4316559"/>
                  </a:lnTo>
                  <a:lnTo>
                    <a:pt x="6377762" y="4359234"/>
                  </a:lnTo>
                  <a:lnTo>
                    <a:pt x="6349449" y="4393698"/>
                  </a:lnTo>
                  <a:lnTo>
                    <a:pt x="6330908" y="4406087"/>
                  </a:lnTo>
                  <a:lnTo>
                    <a:pt x="6322460" y="4410074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534024" y="1523999"/>
              <a:ext cx="6067425" cy="4095749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6867524" y="5924549"/>
            <a:ext cx="3400425" cy="257175"/>
          </a:xfrm>
          <a:custGeom>
            <a:avLst/>
            <a:gdLst/>
            <a:ahLst/>
            <a:cxnLst/>
            <a:rect l="l" t="t" r="r" b="b"/>
            <a:pathLst>
              <a:path w="3400425" h="257175">
                <a:moveTo>
                  <a:pt x="3280280" y="257174"/>
                </a:moveTo>
                <a:lnTo>
                  <a:pt x="120145" y="257174"/>
                </a:lnTo>
                <a:lnTo>
                  <a:pt x="111782" y="256351"/>
                </a:lnTo>
                <a:lnTo>
                  <a:pt x="71578" y="244154"/>
                </a:lnTo>
                <a:lnTo>
                  <a:pt x="31691" y="213542"/>
                </a:lnTo>
                <a:lnTo>
                  <a:pt x="6557" y="169995"/>
                </a:lnTo>
                <a:lnTo>
                  <a:pt x="0" y="137030"/>
                </a:lnTo>
                <a:lnTo>
                  <a:pt x="0" y="128587"/>
                </a:lnTo>
                <a:lnTo>
                  <a:pt x="0" y="120144"/>
                </a:lnTo>
                <a:lnTo>
                  <a:pt x="13018" y="71577"/>
                </a:lnTo>
                <a:lnTo>
                  <a:pt x="43632" y="31691"/>
                </a:lnTo>
                <a:lnTo>
                  <a:pt x="87179" y="6556"/>
                </a:lnTo>
                <a:lnTo>
                  <a:pt x="120145" y="0"/>
                </a:lnTo>
                <a:lnTo>
                  <a:pt x="3280280" y="0"/>
                </a:lnTo>
                <a:lnTo>
                  <a:pt x="3328844" y="13018"/>
                </a:lnTo>
                <a:lnTo>
                  <a:pt x="3368731" y="43632"/>
                </a:lnTo>
                <a:lnTo>
                  <a:pt x="3393866" y="87179"/>
                </a:lnTo>
                <a:lnTo>
                  <a:pt x="3400425" y="120144"/>
                </a:lnTo>
                <a:lnTo>
                  <a:pt x="3400425" y="137030"/>
                </a:lnTo>
                <a:lnTo>
                  <a:pt x="3387403" y="185596"/>
                </a:lnTo>
                <a:lnTo>
                  <a:pt x="3356791" y="225482"/>
                </a:lnTo>
                <a:lnTo>
                  <a:pt x="3313244" y="250616"/>
                </a:lnTo>
                <a:lnTo>
                  <a:pt x="3288642" y="256351"/>
                </a:lnTo>
                <a:lnTo>
                  <a:pt x="3280280" y="257174"/>
                </a:lnTo>
                <a:close/>
              </a:path>
            </a:pathLst>
          </a:custGeom>
          <a:solidFill>
            <a:srgbClr val="1D40AF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005141" y="5959474"/>
            <a:ext cx="312737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BEDAFE"/>
                </a:solidFill>
                <a:latin typeface="微软雅黑"/>
                <a:cs typeface="微软雅黑"/>
              </a:rPr>
              <a:t>图示：MCP</a:t>
            </a:r>
            <a:r>
              <a:rPr sz="1050" spc="-5" dirty="0">
                <a:solidFill>
                  <a:srgbClr val="BEDAFE"/>
                </a:solidFill>
                <a:latin typeface="微软雅黑"/>
                <a:cs typeface="微软雅黑"/>
              </a:rPr>
              <a:t>协议架构实现工具与数据源的标准化解耦</a:t>
            </a:r>
            <a:endParaRPr sz="1050">
              <a:latin typeface="微软雅黑"/>
              <a:cs typeface="微软雅黑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5925" y="215900"/>
            <a:ext cx="1549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spc="-15" dirty="0">
                <a:solidFill>
                  <a:srgbClr val="E4E7EB"/>
                </a:solidFill>
                <a:latin typeface="微软雅黑"/>
                <a:cs typeface="微软雅黑"/>
              </a:rPr>
              <a:t>第五部分</a:t>
            </a:r>
            <a:endParaRPr sz="3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8624" y="800099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914399" y="38099"/>
                </a:moveTo>
                <a:lnTo>
                  <a:pt x="0" y="38099"/>
                </a:lnTo>
                <a:lnTo>
                  <a:pt x="0" y="0"/>
                </a:lnTo>
                <a:lnTo>
                  <a:pt x="914399" y="0"/>
                </a:lnTo>
                <a:lnTo>
                  <a:pt x="9143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3295649" y="3000374"/>
            <a:ext cx="76200" cy="1524000"/>
          </a:xfrm>
          <a:custGeom>
            <a:avLst/>
            <a:gdLst/>
            <a:ahLst/>
            <a:cxnLst/>
            <a:rect l="l" t="t" r="r" b="b"/>
            <a:pathLst>
              <a:path w="76200" h="1524000">
                <a:moveTo>
                  <a:pt x="76199" y="1523999"/>
                </a:moveTo>
                <a:lnTo>
                  <a:pt x="0" y="1523999"/>
                </a:lnTo>
                <a:lnTo>
                  <a:pt x="0" y="0"/>
                </a:lnTo>
                <a:lnTo>
                  <a:pt x="76199" y="0"/>
                </a:lnTo>
                <a:lnTo>
                  <a:pt x="76199" y="1523999"/>
                </a:lnTo>
                <a:close/>
              </a:path>
            </a:pathLst>
          </a:custGeom>
          <a:solidFill>
            <a:srgbClr val="4A546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3814117" y="2692019"/>
            <a:ext cx="7095490" cy="1845310"/>
          </a:xfrm>
          <a:prstGeom prst="rect">
            <a:avLst/>
          </a:prstGeom>
        </p:spPr>
        <p:txBody>
          <a:bodyPr vert="horz" wrap="square" lIns="0" tIns="2317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25"/>
              </a:spcBef>
            </a:pPr>
            <a:r>
              <a:rPr sz="5400" b="1" spc="114" dirty="0">
                <a:solidFill>
                  <a:srgbClr val="FFFFFF"/>
                </a:solidFill>
                <a:latin typeface="微软雅黑"/>
                <a:cs typeface="微软雅黑"/>
              </a:rPr>
              <a:t>未来机会点与落地路径</a:t>
            </a:r>
            <a:endParaRPr sz="5400">
              <a:latin typeface="微软雅黑"/>
              <a:cs typeface="微软雅黑"/>
            </a:endParaRPr>
          </a:p>
          <a:p>
            <a:pPr marL="12700" marR="5080">
              <a:lnSpc>
                <a:spcPct val="100000"/>
              </a:lnSpc>
              <a:spcBef>
                <a:spcPts val="720"/>
              </a:spcBef>
              <a:tabLst>
                <a:tab pos="1323975" algn="l"/>
                <a:tab pos="3968115" algn="l"/>
                <a:tab pos="4324350" algn="l"/>
              </a:tabLst>
            </a:pPr>
            <a:r>
              <a:rPr sz="2250" b="0" spc="170" dirty="0">
                <a:solidFill>
                  <a:srgbClr val="BEDAFE"/>
                </a:solidFill>
                <a:latin typeface="微软雅黑 Light"/>
                <a:cs typeface="微软雅黑 Light"/>
              </a:rPr>
              <a:t>FUTURE</a:t>
            </a:r>
            <a:r>
              <a:rPr sz="2250" b="0" dirty="0">
                <a:solidFill>
                  <a:srgbClr val="BEDAFE"/>
                </a:solidFill>
                <a:latin typeface="微软雅黑 Light"/>
                <a:cs typeface="微软雅黑 Light"/>
              </a:rPr>
              <a:t>	</a:t>
            </a:r>
            <a:r>
              <a:rPr sz="2250" b="0" spc="190" dirty="0">
                <a:solidFill>
                  <a:srgbClr val="BEDAFE"/>
                </a:solidFill>
                <a:latin typeface="微软雅黑 Light"/>
                <a:cs typeface="微软雅黑 Light"/>
              </a:rPr>
              <a:t>OPPORTUNITIES</a:t>
            </a:r>
            <a:r>
              <a:rPr sz="2250" b="0" dirty="0">
                <a:solidFill>
                  <a:srgbClr val="BEDAFE"/>
                </a:solidFill>
                <a:latin typeface="微软雅黑 Light"/>
                <a:cs typeface="微软雅黑 Light"/>
              </a:rPr>
              <a:t>	</a:t>
            </a:r>
            <a:r>
              <a:rPr sz="2250" b="0" spc="-50" dirty="0">
                <a:solidFill>
                  <a:srgbClr val="BEDAFE"/>
                </a:solidFill>
                <a:latin typeface="微软雅黑 Light"/>
                <a:cs typeface="微软雅黑 Light"/>
              </a:rPr>
              <a:t>&amp;</a:t>
            </a:r>
            <a:r>
              <a:rPr sz="2250" b="0" dirty="0">
                <a:solidFill>
                  <a:srgbClr val="BEDAFE"/>
                </a:solidFill>
                <a:latin typeface="微软雅黑 Light"/>
                <a:cs typeface="微软雅黑 Light"/>
              </a:rPr>
              <a:t>	</a:t>
            </a:r>
            <a:r>
              <a:rPr sz="2250" b="0" spc="150" dirty="0">
                <a:solidFill>
                  <a:srgbClr val="BEDAFE"/>
                </a:solidFill>
                <a:latin typeface="微软雅黑 Light"/>
                <a:cs typeface="微软雅黑 Light"/>
              </a:rPr>
              <a:t>IMPLEMENTATION </a:t>
            </a:r>
            <a:r>
              <a:rPr sz="2250" b="0" spc="-20" dirty="0">
                <a:solidFill>
                  <a:srgbClr val="BEDAFE"/>
                </a:solidFill>
                <a:latin typeface="微软雅黑 Light"/>
                <a:cs typeface="微软雅黑 Light"/>
              </a:rPr>
              <a:t>PATH</a:t>
            </a:r>
            <a:endParaRPr sz="2250">
              <a:latin typeface="微软雅黑 Light"/>
              <a:cs typeface="微软雅黑 Ligh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23</a:t>
            </a:fld>
            <a:endParaRPr spc="-25" dirty="0"/>
          </a:p>
        </p:txBody>
      </p:sp>
      <p:sp>
        <p:nvSpPr>
          <p:cNvPr id="6" name="object 6"/>
          <p:cNvSpPr txBox="1"/>
          <p:nvPr/>
        </p:nvSpPr>
        <p:spPr>
          <a:xfrm>
            <a:off x="415925" y="2644774"/>
            <a:ext cx="2281555" cy="2219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400" b="1" spc="-25" dirty="0">
                <a:solidFill>
                  <a:srgbClr val="3B81F5"/>
                </a:solidFill>
                <a:latin typeface="微软雅黑"/>
                <a:cs typeface="微软雅黑"/>
              </a:rPr>
              <a:t>05</a:t>
            </a:r>
            <a:endParaRPr sz="144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3550" y="168275"/>
            <a:ext cx="2311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企业效率革命</a:t>
            </a:r>
          </a:p>
        </p:txBody>
      </p:sp>
      <p:sp>
        <p:nvSpPr>
          <p:cNvPr id="3" name="object 3"/>
          <p:cNvSpPr/>
          <p:nvPr/>
        </p:nvSpPr>
        <p:spPr>
          <a:xfrm>
            <a:off x="476249" y="752474"/>
            <a:ext cx="1371600" cy="38100"/>
          </a:xfrm>
          <a:custGeom>
            <a:avLst/>
            <a:gdLst/>
            <a:ahLst/>
            <a:cxnLst/>
            <a:rect l="l" t="t" r="r" b="b"/>
            <a:pathLst>
              <a:path w="1371600" h="38100">
                <a:moveTo>
                  <a:pt x="1371599" y="38099"/>
                </a:moveTo>
                <a:lnTo>
                  <a:pt x="0" y="38099"/>
                </a:lnTo>
                <a:lnTo>
                  <a:pt x="0" y="0"/>
                </a:lnTo>
                <a:lnTo>
                  <a:pt x="1371599" y="0"/>
                </a:lnTo>
                <a:lnTo>
                  <a:pt x="13715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5333999" y="1514474"/>
            <a:ext cx="6381750" cy="1209675"/>
            <a:chOff x="5333999" y="1514474"/>
            <a:chExt cx="6381750" cy="1209675"/>
          </a:xfrm>
        </p:grpSpPr>
        <p:sp>
          <p:nvSpPr>
            <p:cNvPr id="5" name="object 5"/>
            <p:cNvSpPr/>
            <p:nvPr/>
          </p:nvSpPr>
          <p:spPr>
            <a:xfrm>
              <a:off x="5333999" y="1514474"/>
              <a:ext cx="6381750" cy="1209675"/>
            </a:xfrm>
            <a:custGeom>
              <a:avLst/>
              <a:gdLst/>
              <a:ahLst/>
              <a:cxnLst/>
              <a:rect l="l" t="t" r="r" b="b"/>
              <a:pathLst>
                <a:path w="6381750" h="1209675">
                  <a:moveTo>
                    <a:pt x="6305549" y="1209674"/>
                  </a:moveTo>
                  <a:lnTo>
                    <a:pt x="76199" y="1209674"/>
                  </a:lnTo>
                  <a:lnTo>
                    <a:pt x="68693" y="1209312"/>
                  </a:lnTo>
                  <a:lnTo>
                    <a:pt x="27882" y="1192407"/>
                  </a:lnTo>
                  <a:lnTo>
                    <a:pt x="3262" y="1155561"/>
                  </a:lnTo>
                  <a:lnTo>
                    <a:pt x="0" y="113347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6305549" y="0"/>
                  </a:lnTo>
                  <a:lnTo>
                    <a:pt x="6347890" y="12829"/>
                  </a:lnTo>
                  <a:lnTo>
                    <a:pt x="6375946" y="47039"/>
                  </a:lnTo>
                  <a:lnTo>
                    <a:pt x="6381749" y="76199"/>
                  </a:lnTo>
                  <a:lnTo>
                    <a:pt x="6381749" y="1133474"/>
                  </a:lnTo>
                  <a:lnTo>
                    <a:pt x="6368917" y="1175817"/>
                  </a:lnTo>
                  <a:lnTo>
                    <a:pt x="6334708" y="1203874"/>
                  </a:lnTo>
                  <a:lnTo>
                    <a:pt x="6305549" y="120967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33999" y="1514474"/>
              <a:ext cx="6381750" cy="1209675"/>
            </a:xfrm>
            <a:custGeom>
              <a:avLst/>
              <a:gdLst/>
              <a:ahLst/>
              <a:cxnLst/>
              <a:rect l="l" t="t" r="r" b="b"/>
              <a:pathLst>
                <a:path w="6381750" h="1209675">
                  <a:moveTo>
                    <a:pt x="6305549" y="1209674"/>
                  </a:moveTo>
                  <a:lnTo>
                    <a:pt x="76199" y="1209674"/>
                  </a:lnTo>
                  <a:lnTo>
                    <a:pt x="68693" y="1209312"/>
                  </a:lnTo>
                  <a:lnTo>
                    <a:pt x="27882" y="1192407"/>
                  </a:lnTo>
                  <a:lnTo>
                    <a:pt x="3262" y="1155561"/>
                  </a:lnTo>
                  <a:lnTo>
                    <a:pt x="0" y="113347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6305549" y="0"/>
                  </a:lnTo>
                  <a:lnTo>
                    <a:pt x="6342369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1137852"/>
                  </a:lnTo>
                  <a:lnTo>
                    <a:pt x="23193" y="1174157"/>
                  </a:lnTo>
                  <a:lnTo>
                    <a:pt x="54728" y="1196749"/>
                  </a:lnTo>
                  <a:lnTo>
                    <a:pt x="71821" y="1200149"/>
                  </a:lnTo>
                  <a:lnTo>
                    <a:pt x="6342369" y="1200149"/>
                  </a:lnTo>
                  <a:lnTo>
                    <a:pt x="6341505" y="1200666"/>
                  </a:lnTo>
                  <a:lnTo>
                    <a:pt x="6334709" y="1203874"/>
                  </a:lnTo>
                  <a:lnTo>
                    <a:pt x="6327635" y="1206411"/>
                  </a:lnTo>
                  <a:lnTo>
                    <a:pt x="6320417" y="1208224"/>
                  </a:lnTo>
                  <a:lnTo>
                    <a:pt x="6313055" y="1209312"/>
                  </a:lnTo>
                  <a:lnTo>
                    <a:pt x="6305549" y="1209674"/>
                  </a:lnTo>
                  <a:close/>
                </a:path>
                <a:path w="6381750" h="1209675">
                  <a:moveTo>
                    <a:pt x="6342369" y="1200149"/>
                  </a:moveTo>
                  <a:lnTo>
                    <a:pt x="6309926" y="1200149"/>
                  </a:lnTo>
                  <a:lnTo>
                    <a:pt x="6314262" y="1199722"/>
                  </a:lnTo>
                  <a:lnTo>
                    <a:pt x="6322850" y="1198014"/>
                  </a:lnTo>
                  <a:lnTo>
                    <a:pt x="6355790" y="1177525"/>
                  </a:lnTo>
                  <a:lnTo>
                    <a:pt x="6371796" y="1142188"/>
                  </a:lnTo>
                  <a:lnTo>
                    <a:pt x="6372223" y="1137852"/>
                  </a:lnTo>
                  <a:lnTo>
                    <a:pt x="6372223" y="71821"/>
                  </a:lnTo>
                  <a:lnTo>
                    <a:pt x="6358554" y="35517"/>
                  </a:lnTo>
                  <a:lnTo>
                    <a:pt x="6327018" y="12924"/>
                  </a:lnTo>
                  <a:lnTo>
                    <a:pt x="6309926" y="9524"/>
                  </a:lnTo>
                  <a:lnTo>
                    <a:pt x="6342369" y="9524"/>
                  </a:lnTo>
                  <a:lnTo>
                    <a:pt x="6372739" y="40242"/>
                  </a:lnTo>
                  <a:lnTo>
                    <a:pt x="6381749" y="1133474"/>
                  </a:lnTo>
                  <a:lnTo>
                    <a:pt x="6381386" y="1140981"/>
                  </a:lnTo>
                  <a:lnTo>
                    <a:pt x="6364481" y="1181792"/>
                  </a:lnTo>
                  <a:lnTo>
                    <a:pt x="6347890" y="1196844"/>
                  </a:lnTo>
                  <a:lnTo>
                    <a:pt x="6342369" y="1200149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534024" y="1714499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8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0999" y="71196"/>
                  </a:lnTo>
                  <a:lnTo>
                    <a:pt x="380999" y="309803"/>
                  </a:lnTo>
                  <a:lnTo>
                    <a:pt x="365377" y="351294"/>
                  </a:lnTo>
                  <a:lnTo>
                    <a:pt x="329337" y="377114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29274" y="1829990"/>
              <a:ext cx="192881" cy="15001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6057850" y="1611992"/>
            <a:ext cx="5354320" cy="81851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500" b="1" spc="-5" dirty="0">
                <a:solidFill>
                  <a:srgbClr val="DAE9FE"/>
                </a:solidFill>
                <a:latin typeface="微软雅黑"/>
                <a:cs typeface="微软雅黑"/>
              </a:rPr>
              <a:t>场景：知识管理 + 自动报告生成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6900"/>
              </a:lnSpc>
              <a:spcBef>
                <a:spcPts val="135"/>
              </a:spcBef>
            </a:pP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融合 </a:t>
            </a:r>
            <a:r>
              <a:rPr sz="1050" b="1" dirty="0">
                <a:solidFill>
                  <a:srgbClr val="D0D5DA"/>
                </a:solidFill>
                <a:latin typeface="微软雅黑"/>
                <a:cs typeface="微软雅黑"/>
              </a:rPr>
              <a:t>LlamaIndex</a:t>
            </a:r>
            <a:r>
              <a:rPr sz="1050" b="1" spc="-20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企业知识库与 </a:t>
            </a:r>
            <a:r>
              <a:rPr sz="1050" b="1" spc="-10" dirty="0">
                <a:solidFill>
                  <a:srgbClr val="D0D5DA"/>
                </a:solidFill>
                <a:latin typeface="微软雅黑"/>
                <a:cs typeface="微软雅黑"/>
              </a:rPr>
              <a:t>GPT-Researcher</a:t>
            </a:r>
            <a:r>
              <a:rPr sz="1050" b="1" spc="-20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深度研究能力，实现从多源信息搜集、事实交叉验证到专业研报撰写的全链路自动化。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333999" y="2876549"/>
            <a:ext cx="6381750" cy="1219200"/>
            <a:chOff x="5333999" y="2876549"/>
            <a:chExt cx="6381750" cy="1219200"/>
          </a:xfrm>
        </p:grpSpPr>
        <p:sp>
          <p:nvSpPr>
            <p:cNvPr id="11" name="object 11"/>
            <p:cNvSpPr/>
            <p:nvPr/>
          </p:nvSpPr>
          <p:spPr>
            <a:xfrm>
              <a:off x="5333999" y="2876549"/>
              <a:ext cx="6381750" cy="1219200"/>
            </a:xfrm>
            <a:custGeom>
              <a:avLst/>
              <a:gdLst/>
              <a:ahLst/>
              <a:cxnLst/>
              <a:rect l="l" t="t" r="r" b="b"/>
              <a:pathLst>
                <a:path w="6381750" h="1219200">
                  <a:moveTo>
                    <a:pt x="6305549" y="1219199"/>
                  </a:moveTo>
                  <a:lnTo>
                    <a:pt x="76199" y="1219199"/>
                  </a:lnTo>
                  <a:lnTo>
                    <a:pt x="68693" y="1218837"/>
                  </a:lnTo>
                  <a:lnTo>
                    <a:pt x="27882" y="1201932"/>
                  </a:lnTo>
                  <a:lnTo>
                    <a:pt x="3262" y="1165086"/>
                  </a:lnTo>
                  <a:lnTo>
                    <a:pt x="0" y="11429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6305549" y="0"/>
                  </a:lnTo>
                  <a:lnTo>
                    <a:pt x="6347890" y="12829"/>
                  </a:lnTo>
                  <a:lnTo>
                    <a:pt x="6375946" y="47039"/>
                  </a:lnTo>
                  <a:lnTo>
                    <a:pt x="6381749" y="76199"/>
                  </a:lnTo>
                  <a:lnTo>
                    <a:pt x="6381749" y="1142999"/>
                  </a:lnTo>
                  <a:lnTo>
                    <a:pt x="6368917" y="1185341"/>
                  </a:lnTo>
                  <a:lnTo>
                    <a:pt x="6334708" y="1213399"/>
                  </a:lnTo>
                  <a:lnTo>
                    <a:pt x="6305549" y="1219199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333999" y="2876549"/>
              <a:ext cx="6381750" cy="1219200"/>
            </a:xfrm>
            <a:custGeom>
              <a:avLst/>
              <a:gdLst/>
              <a:ahLst/>
              <a:cxnLst/>
              <a:rect l="l" t="t" r="r" b="b"/>
              <a:pathLst>
                <a:path w="6381750" h="1219200">
                  <a:moveTo>
                    <a:pt x="6305549" y="1219199"/>
                  </a:moveTo>
                  <a:lnTo>
                    <a:pt x="76199" y="1219199"/>
                  </a:lnTo>
                  <a:lnTo>
                    <a:pt x="68693" y="1218837"/>
                  </a:lnTo>
                  <a:lnTo>
                    <a:pt x="27882" y="1201932"/>
                  </a:lnTo>
                  <a:lnTo>
                    <a:pt x="3262" y="1165086"/>
                  </a:lnTo>
                  <a:lnTo>
                    <a:pt x="0" y="11429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6305549" y="0"/>
                  </a:lnTo>
                  <a:lnTo>
                    <a:pt x="6342369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1147377"/>
                  </a:lnTo>
                  <a:lnTo>
                    <a:pt x="23193" y="1183682"/>
                  </a:lnTo>
                  <a:lnTo>
                    <a:pt x="54728" y="1206274"/>
                  </a:lnTo>
                  <a:lnTo>
                    <a:pt x="71821" y="1209674"/>
                  </a:lnTo>
                  <a:lnTo>
                    <a:pt x="6342369" y="1209674"/>
                  </a:lnTo>
                  <a:lnTo>
                    <a:pt x="6341505" y="1210191"/>
                  </a:lnTo>
                  <a:lnTo>
                    <a:pt x="6334709" y="1213399"/>
                  </a:lnTo>
                  <a:lnTo>
                    <a:pt x="6327635" y="1215937"/>
                  </a:lnTo>
                  <a:lnTo>
                    <a:pt x="6320417" y="1217749"/>
                  </a:lnTo>
                  <a:lnTo>
                    <a:pt x="6313055" y="1218837"/>
                  </a:lnTo>
                  <a:lnTo>
                    <a:pt x="6305549" y="1219199"/>
                  </a:lnTo>
                  <a:close/>
                </a:path>
                <a:path w="6381750" h="1219200">
                  <a:moveTo>
                    <a:pt x="6342369" y="1209674"/>
                  </a:moveTo>
                  <a:lnTo>
                    <a:pt x="6309926" y="1209674"/>
                  </a:lnTo>
                  <a:lnTo>
                    <a:pt x="6314262" y="1209247"/>
                  </a:lnTo>
                  <a:lnTo>
                    <a:pt x="6322850" y="1207539"/>
                  </a:lnTo>
                  <a:lnTo>
                    <a:pt x="6355790" y="1187050"/>
                  </a:lnTo>
                  <a:lnTo>
                    <a:pt x="6371796" y="1151713"/>
                  </a:lnTo>
                  <a:lnTo>
                    <a:pt x="6372223" y="1147377"/>
                  </a:lnTo>
                  <a:lnTo>
                    <a:pt x="6372223" y="71821"/>
                  </a:lnTo>
                  <a:lnTo>
                    <a:pt x="6358554" y="35517"/>
                  </a:lnTo>
                  <a:lnTo>
                    <a:pt x="6327018" y="12924"/>
                  </a:lnTo>
                  <a:lnTo>
                    <a:pt x="6309926" y="9524"/>
                  </a:lnTo>
                  <a:lnTo>
                    <a:pt x="6342369" y="9524"/>
                  </a:lnTo>
                  <a:lnTo>
                    <a:pt x="6372739" y="40242"/>
                  </a:lnTo>
                  <a:lnTo>
                    <a:pt x="6381749" y="1142999"/>
                  </a:lnTo>
                  <a:lnTo>
                    <a:pt x="6381386" y="1150506"/>
                  </a:lnTo>
                  <a:lnTo>
                    <a:pt x="6364481" y="1191317"/>
                  </a:lnTo>
                  <a:lnTo>
                    <a:pt x="6347890" y="1206369"/>
                  </a:lnTo>
                  <a:lnTo>
                    <a:pt x="6342369" y="1209674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534024" y="3076574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309803" y="380999"/>
                  </a:moveTo>
                  <a:lnTo>
                    <a:pt x="71196" y="380999"/>
                  </a:lnTo>
                  <a:lnTo>
                    <a:pt x="66241" y="380511"/>
                  </a:lnTo>
                  <a:lnTo>
                    <a:pt x="29705" y="365377"/>
                  </a:lnTo>
                  <a:lnTo>
                    <a:pt x="3885" y="329337"/>
                  </a:lnTo>
                  <a:lnTo>
                    <a:pt x="0" y="309803"/>
                  </a:lnTo>
                  <a:lnTo>
                    <a:pt x="0" y="304799"/>
                  </a:lnTo>
                  <a:lnTo>
                    <a:pt x="0" y="71196"/>
                  </a:lnTo>
                  <a:lnTo>
                    <a:pt x="15621" y="29705"/>
                  </a:lnTo>
                  <a:lnTo>
                    <a:pt x="51661" y="3885"/>
                  </a:lnTo>
                  <a:lnTo>
                    <a:pt x="71196" y="0"/>
                  </a:lnTo>
                  <a:lnTo>
                    <a:pt x="309803" y="0"/>
                  </a:lnTo>
                  <a:lnTo>
                    <a:pt x="351294" y="15621"/>
                  </a:lnTo>
                  <a:lnTo>
                    <a:pt x="377114" y="51661"/>
                  </a:lnTo>
                  <a:lnTo>
                    <a:pt x="380999" y="71196"/>
                  </a:lnTo>
                  <a:lnTo>
                    <a:pt x="380999" y="309803"/>
                  </a:lnTo>
                  <a:lnTo>
                    <a:pt x="365377" y="351294"/>
                  </a:lnTo>
                  <a:lnTo>
                    <a:pt x="329337" y="377114"/>
                  </a:lnTo>
                  <a:lnTo>
                    <a:pt x="314758" y="380511"/>
                  </a:lnTo>
                  <a:lnTo>
                    <a:pt x="309803" y="380999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29274" y="3192065"/>
              <a:ext cx="192881" cy="15001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6057850" y="2974067"/>
            <a:ext cx="5212715" cy="818515"/>
          </a:xfrm>
          <a:prstGeom prst="rect">
            <a:avLst/>
          </a:prstGeom>
        </p:spPr>
        <p:txBody>
          <a:bodyPr vert="horz" wrap="square" lIns="0" tIns="1212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5"/>
              </a:spcBef>
            </a:pPr>
            <a:r>
              <a:rPr sz="1500" b="1" spc="-15" dirty="0">
                <a:solidFill>
                  <a:srgbClr val="ECE8FE"/>
                </a:solidFill>
                <a:latin typeface="微软雅黑"/>
                <a:cs typeface="微软雅黑"/>
              </a:rPr>
              <a:t>技术</a:t>
            </a:r>
            <a:r>
              <a:rPr sz="1500" b="1" dirty="0">
                <a:solidFill>
                  <a:srgbClr val="ECE8FE"/>
                </a:solidFill>
                <a:latin typeface="微软雅黑"/>
                <a:cs typeface="微软雅黑"/>
              </a:rPr>
              <a:t>：LangGraph</a:t>
            </a:r>
            <a:r>
              <a:rPr sz="1500" b="1" spc="-30" dirty="0">
                <a:solidFill>
                  <a:srgbClr val="ECE8FE"/>
                </a:solidFill>
                <a:latin typeface="微软雅黑"/>
                <a:cs typeface="微软雅黑"/>
              </a:rPr>
              <a:t> 多智能体协作</a:t>
            </a:r>
            <a:endParaRPr sz="15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利用 </a:t>
            </a:r>
            <a:r>
              <a:rPr sz="1050" b="1" spc="-20" dirty="0">
                <a:solidFill>
                  <a:srgbClr val="D0D5DA"/>
                </a:solidFill>
                <a:latin typeface="微软雅黑"/>
                <a:cs typeface="微软雅黑"/>
              </a:rPr>
              <a:t>状态机</a:t>
            </a:r>
            <a:r>
              <a:rPr sz="1050" b="1" dirty="0">
                <a:solidFill>
                  <a:srgbClr val="D0D5DA"/>
                </a:solidFill>
                <a:latin typeface="微软雅黑"/>
                <a:cs typeface="微软雅黑"/>
              </a:rPr>
              <a:t>（State</a:t>
            </a:r>
            <a:r>
              <a:rPr sz="1050" b="1" spc="-10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050" b="1" dirty="0">
                <a:solidFill>
                  <a:srgbClr val="D0D5DA"/>
                </a:solidFill>
                <a:latin typeface="微软雅黑"/>
                <a:cs typeface="微软雅黑"/>
              </a:rPr>
              <a:t>Machine）</a:t>
            </a:r>
            <a:r>
              <a:rPr sz="1050" b="1" spc="-15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进行精确流转控制，协调 </a:t>
            </a:r>
            <a:r>
              <a:rPr sz="1050" dirty="0">
                <a:solidFill>
                  <a:srgbClr val="D0D5DA"/>
                </a:solidFill>
                <a:latin typeface="微软雅黑"/>
                <a:cs typeface="微软雅黑"/>
              </a:rPr>
              <a:t>Planner（规划）、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Retriever</a:t>
            </a:r>
            <a:endParaRPr sz="10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1050" dirty="0">
                <a:solidFill>
                  <a:srgbClr val="D0D5DA"/>
                </a:solidFill>
                <a:latin typeface="微软雅黑"/>
                <a:cs typeface="微软雅黑"/>
              </a:rPr>
              <a:t>（检索）、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Writer（</a:t>
            </a:r>
            <a:r>
              <a:rPr sz="1050" spc="-20" dirty="0">
                <a:solidFill>
                  <a:srgbClr val="D0D5DA"/>
                </a:solidFill>
                <a:latin typeface="微软雅黑"/>
                <a:cs typeface="微软雅黑"/>
              </a:rPr>
              <a:t>写作）</a:t>
            </a:r>
            <a:r>
              <a:rPr sz="1050" spc="-15" dirty="0">
                <a:solidFill>
                  <a:srgbClr val="D0D5DA"/>
                </a:solidFill>
                <a:latin typeface="微软雅黑"/>
                <a:cs typeface="微软雅黑"/>
              </a:rPr>
              <a:t>等多个专业 </a:t>
            </a:r>
            <a:r>
              <a:rPr sz="1050" dirty="0">
                <a:solidFill>
                  <a:srgbClr val="D0D5DA"/>
                </a:solidFill>
                <a:latin typeface="微软雅黑"/>
                <a:cs typeface="微软雅黑"/>
              </a:rPr>
              <a:t>Agent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 异步协作。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333999" y="4248149"/>
            <a:ext cx="6381750" cy="1038225"/>
            <a:chOff x="5333999" y="4248149"/>
            <a:chExt cx="6381750" cy="1038225"/>
          </a:xfrm>
        </p:grpSpPr>
        <p:sp>
          <p:nvSpPr>
            <p:cNvPr id="17" name="object 17"/>
            <p:cNvSpPr/>
            <p:nvPr/>
          </p:nvSpPr>
          <p:spPr>
            <a:xfrm>
              <a:off x="5333999" y="4248149"/>
              <a:ext cx="6381750" cy="1038225"/>
            </a:xfrm>
            <a:custGeom>
              <a:avLst/>
              <a:gdLst/>
              <a:ahLst/>
              <a:cxnLst/>
              <a:rect l="l" t="t" r="r" b="b"/>
              <a:pathLst>
                <a:path w="6381750" h="1038225">
                  <a:moveTo>
                    <a:pt x="6305549" y="1038224"/>
                  </a:moveTo>
                  <a:lnTo>
                    <a:pt x="76199" y="1038224"/>
                  </a:lnTo>
                  <a:lnTo>
                    <a:pt x="68693" y="1037862"/>
                  </a:lnTo>
                  <a:lnTo>
                    <a:pt x="27882" y="1020957"/>
                  </a:lnTo>
                  <a:lnTo>
                    <a:pt x="3262" y="984110"/>
                  </a:lnTo>
                  <a:lnTo>
                    <a:pt x="0" y="9620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6305549" y="0"/>
                  </a:lnTo>
                  <a:lnTo>
                    <a:pt x="6347890" y="12829"/>
                  </a:lnTo>
                  <a:lnTo>
                    <a:pt x="6375946" y="47038"/>
                  </a:lnTo>
                  <a:lnTo>
                    <a:pt x="6381749" y="76199"/>
                  </a:lnTo>
                  <a:lnTo>
                    <a:pt x="6381749" y="962024"/>
                  </a:lnTo>
                  <a:lnTo>
                    <a:pt x="6368917" y="1004366"/>
                  </a:lnTo>
                  <a:lnTo>
                    <a:pt x="6334708" y="1032423"/>
                  </a:lnTo>
                  <a:lnTo>
                    <a:pt x="6305549" y="1038224"/>
                  </a:lnTo>
                  <a:close/>
                </a:path>
              </a:pathLst>
            </a:custGeom>
            <a:solidFill>
              <a:srgbClr val="1D3A8A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33999" y="4248149"/>
              <a:ext cx="6381749" cy="1038224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333999" y="4248149"/>
              <a:ext cx="6381750" cy="1038225"/>
            </a:xfrm>
            <a:custGeom>
              <a:avLst/>
              <a:gdLst/>
              <a:ahLst/>
              <a:cxnLst/>
              <a:rect l="l" t="t" r="r" b="b"/>
              <a:pathLst>
                <a:path w="6381750" h="1038225">
                  <a:moveTo>
                    <a:pt x="6305549" y="1038224"/>
                  </a:moveTo>
                  <a:lnTo>
                    <a:pt x="76199" y="1038224"/>
                  </a:lnTo>
                  <a:lnTo>
                    <a:pt x="68693" y="1037862"/>
                  </a:lnTo>
                  <a:lnTo>
                    <a:pt x="27882" y="1020957"/>
                  </a:lnTo>
                  <a:lnTo>
                    <a:pt x="3262" y="984110"/>
                  </a:lnTo>
                  <a:lnTo>
                    <a:pt x="0" y="962024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6305549" y="0"/>
                  </a:lnTo>
                  <a:lnTo>
                    <a:pt x="6342368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7"/>
                  </a:lnTo>
                  <a:lnTo>
                    <a:pt x="9524" y="71821"/>
                  </a:lnTo>
                  <a:lnTo>
                    <a:pt x="9524" y="966402"/>
                  </a:lnTo>
                  <a:lnTo>
                    <a:pt x="23193" y="1002707"/>
                  </a:lnTo>
                  <a:lnTo>
                    <a:pt x="54728" y="1025299"/>
                  </a:lnTo>
                  <a:lnTo>
                    <a:pt x="71821" y="1028699"/>
                  </a:lnTo>
                  <a:lnTo>
                    <a:pt x="6342368" y="1028699"/>
                  </a:lnTo>
                  <a:lnTo>
                    <a:pt x="6341504" y="1029216"/>
                  </a:lnTo>
                  <a:lnTo>
                    <a:pt x="6334708" y="1032424"/>
                  </a:lnTo>
                  <a:lnTo>
                    <a:pt x="6327634" y="1034961"/>
                  </a:lnTo>
                  <a:lnTo>
                    <a:pt x="6320417" y="1036774"/>
                  </a:lnTo>
                  <a:lnTo>
                    <a:pt x="6313055" y="1037862"/>
                  </a:lnTo>
                  <a:lnTo>
                    <a:pt x="6305549" y="1038224"/>
                  </a:lnTo>
                  <a:close/>
                </a:path>
                <a:path w="6381750" h="1038225">
                  <a:moveTo>
                    <a:pt x="6342368" y="1028699"/>
                  </a:moveTo>
                  <a:lnTo>
                    <a:pt x="6309926" y="1028699"/>
                  </a:lnTo>
                  <a:lnTo>
                    <a:pt x="6314262" y="1028272"/>
                  </a:lnTo>
                  <a:lnTo>
                    <a:pt x="6322850" y="1026564"/>
                  </a:lnTo>
                  <a:lnTo>
                    <a:pt x="6355790" y="1006075"/>
                  </a:lnTo>
                  <a:lnTo>
                    <a:pt x="6371796" y="970738"/>
                  </a:lnTo>
                  <a:lnTo>
                    <a:pt x="6372223" y="966402"/>
                  </a:lnTo>
                  <a:lnTo>
                    <a:pt x="6372223" y="71821"/>
                  </a:lnTo>
                  <a:lnTo>
                    <a:pt x="6358554" y="35516"/>
                  </a:lnTo>
                  <a:lnTo>
                    <a:pt x="6327018" y="12924"/>
                  </a:lnTo>
                  <a:lnTo>
                    <a:pt x="6309926" y="9524"/>
                  </a:lnTo>
                  <a:lnTo>
                    <a:pt x="6342368" y="9524"/>
                  </a:lnTo>
                  <a:lnTo>
                    <a:pt x="6372739" y="40242"/>
                  </a:lnTo>
                  <a:lnTo>
                    <a:pt x="6381749" y="962024"/>
                  </a:lnTo>
                  <a:lnTo>
                    <a:pt x="6381386" y="969531"/>
                  </a:lnTo>
                  <a:lnTo>
                    <a:pt x="6364481" y="1010341"/>
                  </a:lnTo>
                  <a:lnTo>
                    <a:pt x="6347890" y="1025394"/>
                  </a:lnTo>
                  <a:lnTo>
                    <a:pt x="6342368" y="1028699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8515349" y="4457699"/>
              <a:ext cx="9525" cy="609600"/>
            </a:xfrm>
            <a:custGeom>
              <a:avLst/>
              <a:gdLst/>
              <a:ahLst/>
              <a:cxnLst/>
              <a:rect l="l" t="t" r="r" b="b"/>
              <a:pathLst>
                <a:path w="9525" h="609600">
                  <a:moveTo>
                    <a:pt x="9524" y="609599"/>
                  </a:moveTo>
                  <a:lnTo>
                    <a:pt x="0" y="609599"/>
                  </a:lnTo>
                  <a:lnTo>
                    <a:pt x="0" y="0"/>
                  </a:lnTo>
                  <a:lnTo>
                    <a:pt x="9524" y="0"/>
                  </a:lnTo>
                  <a:lnTo>
                    <a:pt x="9524" y="609599"/>
                  </a:lnTo>
                  <a:close/>
                </a:path>
              </a:pathLst>
            </a:custGeom>
            <a:solidFill>
              <a:srgbClr val="4A54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652269" y="4332876"/>
            <a:ext cx="825500" cy="72644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marL="41275">
              <a:lnSpc>
                <a:spcPct val="100000"/>
              </a:lnSpc>
              <a:spcBef>
                <a:spcPts val="830"/>
              </a:spcBef>
            </a:pPr>
            <a:r>
              <a:rPr sz="2700" b="1" spc="-25" dirty="0">
                <a:solidFill>
                  <a:srgbClr val="60A5FA"/>
                </a:solidFill>
                <a:latin typeface="微软雅黑"/>
                <a:cs typeface="微软雅黑"/>
              </a:rPr>
              <a:t>70%</a:t>
            </a:r>
            <a:endParaRPr sz="27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285"/>
              </a:spcBef>
            </a:pP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人工时间缩短</a:t>
            </a:r>
            <a:endParaRPr sz="1050">
              <a:latin typeface="微软雅黑"/>
              <a:cs typeface="微软雅黑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39200" y="4332876"/>
            <a:ext cx="1487805" cy="726440"/>
          </a:xfrm>
          <a:prstGeom prst="rect">
            <a:avLst/>
          </a:prstGeom>
        </p:spPr>
        <p:txBody>
          <a:bodyPr vert="horz" wrap="square" lIns="0" tIns="10541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830"/>
              </a:spcBef>
            </a:pPr>
            <a:r>
              <a:rPr sz="2700" b="1" spc="-25" dirty="0">
                <a:solidFill>
                  <a:srgbClr val="33D399"/>
                </a:solidFill>
                <a:latin typeface="微软雅黑"/>
                <a:cs typeface="微软雅黑"/>
              </a:rPr>
              <a:t>76%</a:t>
            </a:r>
            <a:endParaRPr sz="2700">
              <a:latin typeface="微软雅黑"/>
              <a:cs typeface="微软雅黑"/>
            </a:endParaRPr>
          </a:p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错误率降低 (端到端训练)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333999" y="5438774"/>
            <a:ext cx="6381750" cy="476250"/>
            <a:chOff x="5333999" y="5438774"/>
            <a:chExt cx="6381750" cy="476250"/>
          </a:xfrm>
        </p:grpSpPr>
        <p:sp>
          <p:nvSpPr>
            <p:cNvPr id="24" name="object 24"/>
            <p:cNvSpPr/>
            <p:nvPr/>
          </p:nvSpPr>
          <p:spPr>
            <a:xfrm>
              <a:off x="5333999" y="5438774"/>
              <a:ext cx="6381750" cy="476250"/>
            </a:xfrm>
            <a:custGeom>
              <a:avLst/>
              <a:gdLst/>
              <a:ahLst/>
              <a:cxnLst/>
              <a:rect l="l" t="t" r="r" b="b"/>
              <a:pathLst>
                <a:path w="6381750" h="476250">
                  <a:moveTo>
                    <a:pt x="6305549" y="476249"/>
                  </a:moveTo>
                  <a:lnTo>
                    <a:pt x="76199" y="476249"/>
                  </a:lnTo>
                  <a:lnTo>
                    <a:pt x="68693" y="475887"/>
                  </a:lnTo>
                  <a:lnTo>
                    <a:pt x="27882" y="458982"/>
                  </a:lnTo>
                  <a:lnTo>
                    <a:pt x="3262" y="422135"/>
                  </a:lnTo>
                  <a:lnTo>
                    <a:pt x="0" y="4000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6305549" y="0"/>
                  </a:lnTo>
                  <a:lnTo>
                    <a:pt x="6347890" y="12829"/>
                  </a:lnTo>
                  <a:lnTo>
                    <a:pt x="6375946" y="47038"/>
                  </a:lnTo>
                  <a:lnTo>
                    <a:pt x="6381749" y="76199"/>
                  </a:lnTo>
                  <a:lnTo>
                    <a:pt x="6381749" y="400049"/>
                  </a:lnTo>
                  <a:lnTo>
                    <a:pt x="6368917" y="442391"/>
                  </a:lnTo>
                  <a:lnTo>
                    <a:pt x="6334708" y="470449"/>
                  </a:lnTo>
                  <a:lnTo>
                    <a:pt x="6305549" y="476249"/>
                  </a:lnTo>
                  <a:close/>
                </a:path>
              </a:pathLst>
            </a:custGeom>
            <a:solidFill>
              <a:srgbClr val="054E3B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333999" y="5438774"/>
              <a:ext cx="6381750" cy="476250"/>
            </a:xfrm>
            <a:custGeom>
              <a:avLst/>
              <a:gdLst/>
              <a:ahLst/>
              <a:cxnLst/>
              <a:rect l="l" t="t" r="r" b="b"/>
              <a:pathLst>
                <a:path w="6381750" h="476250">
                  <a:moveTo>
                    <a:pt x="6305549" y="476249"/>
                  </a:moveTo>
                  <a:lnTo>
                    <a:pt x="76199" y="476249"/>
                  </a:lnTo>
                  <a:lnTo>
                    <a:pt x="68693" y="475887"/>
                  </a:lnTo>
                  <a:lnTo>
                    <a:pt x="27882" y="458982"/>
                  </a:lnTo>
                  <a:lnTo>
                    <a:pt x="3262" y="422135"/>
                  </a:lnTo>
                  <a:lnTo>
                    <a:pt x="0" y="40004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6305549" y="0"/>
                  </a:lnTo>
                  <a:lnTo>
                    <a:pt x="6342369" y="9524"/>
                  </a:lnTo>
                  <a:lnTo>
                    <a:pt x="71821" y="9524"/>
                  </a:lnTo>
                  <a:lnTo>
                    <a:pt x="67485" y="9951"/>
                  </a:lnTo>
                  <a:lnTo>
                    <a:pt x="32148" y="25957"/>
                  </a:lnTo>
                  <a:lnTo>
                    <a:pt x="11659" y="58898"/>
                  </a:lnTo>
                  <a:lnTo>
                    <a:pt x="9524" y="71821"/>
                  </a:lnTo>
                  <a:lnTo>
                    <a:pt x="9524" y="404427"/>
                  </a:lnTo>
                  <a:lnTo>
                    <a:pt x="23193" y="440731"/>
                  </a:lnTo>
                  <a:lnTo>
                    <a:pt x="54728" y="463324"/>
                  </a:lnTo>
                  <a:lnTo>
                    <a:pt x="71821" y="466724"/>
                  </a:lnTo>
                  <a:lnTo>
                    <a:pt x="6342368" y="466724"/>
                  </a:lnTo>
                  <a:lnTo>
                    <a:pt x="6341504" y="467241"/>
                  </a:lnTo>
                  <a:lnTo>
                    <a:pt x="6334708" y="470449"/>
                  </a:lnTo>
                  <a:lnTo>
                    <a:pt x="6327634" y="472987"/>
                  </a:lnTo>
                  <a:lnTo>
                    <a:pt x="6320416" y="474799"/>
                  </a:lnTo>
                  <a:lnTo>
                    <a:pt x="6313054" y="475887"/>
                  </a:lnTo>
                  <a:lnTo>
                    <a:pt x="6305549" y="476249"/>
                  </a:lnTo>
                  <a:close/>
                </a:path>
                <a:path w="6381750" h="476250">
                  <a:moveTo>
                    <a:pt x="6342368" y="466724"/>
                  </a:moveTo>
                  <a:lnTo>
                    <a:pt x="6309926" y="466724"/>
                  </a:lnTo>
                  <a:lnTo>
                    <a:pt x="6314262" y="466297"/>
                  </a:lnTo>
                  <a:lnTo>
                    <a:pt x="6322850" y="464589"/>
                  </a:lnTo>
                  <a:lnTo>
                    <a:pt x="6355790" y="444099"/>
                  </a:lnTo>
                  <a:lnTo>
                    <a:pt x="6371796" y="408763"/>
                  </a:lnTo>
                  <a:lnTo>
                    <a:pt x="6372223" y="404427"/>
                  </a:lnTo>
                  <a:lnTo>
                    <a:pt x="6372223" y="71821"/>
                  </a:lnTo>
                  <a:lnTo>
                    <a:pt x="6358554" y="35516"/>
                  </a:lnTo>
                  <a:lnTo>
                    <a:pt x="6327018" y="12924"/>
                  </a:lnTo>
                  <a:lnTo>
                    <a:pt x="6309926" y="9524"/>
                  </a:lnTo>
                  <a:lnTo>
                    <a:pt x="6342369" y="9524"/>
                  </a:lnTo>
                  <a:lnTo>
                    <a:pt x="6372739" y="40242"/>
                  </a:lnTo>
                  <a:lnTo>
                    <a:pt x="6381749" y="400049"/>
                  </a:lnTo>
                  <a:lnTo>
                    <a:pt x="6381386" y="407556"/>
                  </a:lnTo>
                  <a:lnTo>
                    <a:pt x="6364481" y="448366"/>
                  </a:lnTo>
                  <a:lnTo>
                    <a:pt x="6347890" y="463419"/>
                  </a:lnTo>
                  <a:lnTo>
                    <a:pt x="6342368" y="466724"/>
                  </a:lnTo>
                  <a:close/>
                </a:path>
              </a:pathLst>
            </a:custGeom>
            <a:solidFill>
              <a:srgbClr val="047857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34024" y="5581649"/>
              <a:ext cx="190499" cy="190499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5829250" y="5568950"/>
            <a:ext cx="465455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25" dirty="0">
                <a:solidFill>
                  <a:srgbClr val="D0FAE4"/>
                </a:solidFill>
                <a:latin typeface="微软雅黑"/>
                <a:cs typeface="微软雅黑"/>
              </a:rPr>
              <a:t>技术成熟度：高  </a:t>
            </a:r>
            <a:r>
              <a:rPr sz="1050" dirty="0">
                <a:solidFill>
                  <a:srgbClr val="D0D5DA"/>
                </a:solidFill>
                <a:latin typeface="微软雅黑"/>
                <a:cs typeface="微软雅黑"/>
              </a:rPr>
              <a:t>LlamaIndex/Haystack</a:t>
            </a:r>
            <a:r>
              <a:rPr sz="1050" spc="-5" dirty="0">
                <a:solidFill>
                  <a:srgbClr val="D0D5DA"/>
                </a:solidFill>
                <a:latin typeface="微软雅黑"/>
                <a:cs typeface="微软雅黑"/>
              </a:rPr>
              <a:t> 方案稳定，企业级 </a:t>
            </a:r>
            <a:r>
              <a:rPr sz="1050" dirty="0">
                <a:solidFill>
                  <a:srgbClr val="D0D5DA"/>
                </a:solidFill>
                <a:latin typeface="微软雅黑"/>
                <a:cs typeface="微软雅黑"/>
              </a:rPr>
              <a:t>ROI</a:t>
            </a:r>
            <a:r>
              <a:rPr sz="1050" spc="-10" dirty="0">
                <a:solidFill>
                  <a:srgbClr val="D0D5DA"/>
                </a:solidFill>
                <a:latin typeface="微软雅黑"/>
                <a:cs typeface="微软雅黑"/>
              </a:rPr>
              <a:t> 清晰可见。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76249" y="1514474"/>
            <a:ext cx="4552950" cy="4400550"/>
            <a:chOff x="476249" y="1514474"/>
            <a:chExt cx="4552950" cy="4400550"/>
          </a:xfrm>
        </p:grpSpPr>
        <p:sp>
          <p:nvSpPr>
            <p:cNvPr id="29" name="object 29"/>
            <p:cNvSpPr/>
            <p:nvPr/>
          </p:nvSpPr>
          <p:spPr>
            <a:xfrm>
              <a:off x="476249" y="1514474"/>
              <a:ext cx="4552950" cy="4400550"/>
            </a:xfrm>
            <a:custGeom>
              <a:avLst/>
              <a:gdLst/>
              <a:ahLst/>
              <a:cxnLst/>
              <a:rect l="l" t="t" r="r" b="b"/>
              <a:pathLst>
                <a:path w="4552950" h="4400550">
                  <a:moveTo>
                    <a:pt x="4438649" y="4400549"/>
                  </a:moveTo>
                  <a:lnTo>
                    <a:pt x="114299" y="4400549"/>
                  </a:lnTo>
                  <a:lnTo>
                    <a:pt x="103040" y="4400005"/>
                  </a:lnTo>
                  <a:lnTo>
                    <a:pt x="60364" y="4387037"/>
                  </a:lnTo>
                  <a:lnTo>
                    <a:pt x="25900" y="4358725"/>
                  </a:lnTo>
                  <a:lnTo>
                    <a:pt x="4894" y="4319379"/>
                  </a:lnTo>
                  <a:lnTo>
                    <a:pt x="0" y="42862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4438649" y="0"/>
                  </a:lnTo>
                  <a:lnTo>
                    <a:pt x="4482390" y="8700"/>
                  </a:lnTo>
                  <a:lnTo>
                    <a:pt x="4519471" y="33477"/>
                  </a:lnTo>
                  <a:lnTo>
                    <a:pt x="4544248" y="70559"/>
                  </a:lnTo>
                  <a:lnTo>
                    <a:pt x="4552949" y="114299"/>
                  </a:lnTo>
                  <a:lnTo>
                    <a:pt x="4552949" y="4286249"/>
                  </a:lnTo>
                  <a:lnTo>
                    <a:pt x="4544248" y="4329989"/>
                  </a:lnTo>
                  <a:lnTo>
                    <a:pt x="4519471" y="4367071"/>
                  </a:lnTo>
                  <a:lnTo>
                    <a:pt x="4482389" y="4391848"/>
                  </a:lnTo>
                  <a:lnTo>
                    <a:pt x="4438649" y="4400549"/>
                  </a:lnTo>
                  <a:close/>
                </a:path>
              </a:pathLst>
            </a:custGeom>
            <a:solidFill>
              <a:srgbClr val="1D3A8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76249" y="1514474"/>
              <a:ext cx="4552950" cy="4400550"/>
            </a:xfrm>
            <a:custGeom>
              <a:avLst/>
              <a:gdLst/>
              <a:ahLst/>
              <a:cxnLst/>
              <a:rect l="l" t="t" r="r" b="b"/>
              <a:pathLst>
                <a:path w="4552950" h="4400550">
                  <a:moveTo>
                    <a:pt x="4438649" y="4400549"/>
                  </a:moveTo>
                  <a:lnTo>
                    <a:pt x="114299" y="4400549"/>
                  </a:lnTo>
                  <a:lnTo>
                    <a:pt x="103040" y="4400005"/>
                  </a:lnTo>
                  <a:lnTo>
                    <a:pt x="60364" y="4387037"/>
                  </a:lnTo>
                  <a:lnTo>
                    <a:pt x="25900" y="4358725"/>
                  </a:lnTo>
                  <a:lnTo>
                    <a:pt x="4894" y="4319379"/>
                  </a:lnTo>
                  <a:lnTo>
                    <a:pt x="0" y="4286249"/>
                  </a:lnTo>
                  <a:lnTo>
                    <a:pt x="0" y="114299"/>
                  </a:lnTo>
                  <a:lnTo>
                    <a:pt x="8700" y="70559"/>
                  </a:lnTo>
                  <a:lnTo>
                    <a:pt x="33477" y="33477"/>
                  </a:lnTo>
                  <a:lnTo>
                    <a:pt x="70559" y="8700"/>
                  </a:lnTo>
                  <a:lnTo>
                    <a:pt x="114299" y="0"/>
                  </a:lnTo>
                  <a:lnTo>
                    <a:pt x="4438649" y="0"/>
                  </a:lnTo>
                  <a:lnTo>
                    <a:pt x="4482390" y="8700"/>
                  </a:lnTo>
                  <a:lnTo>
                    <a:pt x="4484137" y="9524"/>
                  </a:lnTo>
                  <a:lnTo>
                    <a:pt x="107420" y="9524"/>
                  </a:lnTo>
                  <a:lnTo>
                    <a:pt x="100606" y="10196"/>
                  </a:lnTo>
                  <a:lnTo>
                    <a:pt x="61810" y="23360"/>
                  </a:lnTo>
                  <a:lnTo>
                    <a:pt x="31004" y="50369"/>
                  </a:lnTo>
                  <a:lnTo>
                    <a:pt x="12880" y="87111"/>
                  </a:lnTo>
                  <a:lnTo>
                    <a:pt x="9524" y="107420"/>
                  </a:lnTo>
                  <a:lnTo>
                    <a:pt x="9524" y="4293129"/>
                  </a:lnTo>
                  <a:lnTo>
                    <a:pt x="20133" y="4332700"/>
                  </a:lnTo>
                  <a:lnTo>
                    <a:pt x="45077" y="4365200"/>
                  </a:lnTo>
                  <a:lnTo>
                    <a:pt x="80560" y="4385681"/>
                  </a:lnTo>
                  <a:lnTo>
                    <a:pt x="107420" y="4391024"/>
                  </a:lnTo>
                  <a:lnTo>
                    <a:pt x="4484136" y="4391024"/>
                  </a:lnTo>
                  <a:lnTo>
                    <a:pt x="4482389" y="4391849"/>
                  </a:lnTo>
                  <a:lnTo>
                    <a:pt x="4471778" y="4395655"/>
                  </a:lnTo>
                  <a:lnTo>
                    <a:pt x="4460952" y="4398374"/>
                  </a:lnTo>
                  <a:lnTo>
                    <a:pt x="4449909" y="4400005"/>
                  </a:lnTo>
                  <a:lnTo>
                    <a:pt x="4438649" y="4400549"/>
                  </a:lnTo>
                  <a:close/>
                </a:path>
                <a:path w="4552950" h="4400550">
                  <a:moveTo>
                    <a:pt x="4484136" y="4391024"/>
                  </a:moveTo>
                  <a:lnTo>
                    <a:pt x="4445529" y="4391024"/>
                  </a:lnTo>
                  <a:lnTo>
                    <a:pt x="4452342" y="4390353"/>
                  </a:lnTo>
                  <a:lnTo>
                    <a:pt x="4465837" y="4387668"/>
                  </a:lnTo>
                  <a:lnTo>
                    <a:pt x="4502579" y="4369543"/>
                  </a:lnTo>
                  <a:lnTo>
                    <a:pt x="4529587" y="4338738"/>
                  </a:lnTo>
                  <a:lnTo>
                    <a:pt x="4542753" y="4299942"/>
                  </a:lnTo>
                  <a:lnTo>
                    <a:pt x="4543424" y="4293129"/>
                  </a:lnTo>
                  <a:lnTo>
                    <a:pt x="4543424" y="107420"/>
                  </a:lnTo>
                  <a:lnTo>
                    <a:pt x="4532815" y="67848"/>
                  </a:lnTo>
                  <a:lnTo>
                    <a:pt x="4507871" y="35348"/>
                  </a:lnTo>
                  <a:lnTo>
                    <a:pt x="4472388" y="14867"/>
                  </a:lnTo>
                  <a:lnTo>
                    <a:pt x="4445529" y="9524"/>
                  </a:lnTo>
                  <a:lnTo>
                    <a:pt x="4484137" y="9524"/>
                  </a:lnTo>
                  <a:lnTo>
                    <a:pt x="4519471" y="33477"/>
                  </a:lnTo>
                  <a:lnTo>
                    <a:pt x="4544248" y="70559"/>
                  </a:lnTo>
                  <a:lnTo>
                    <a:pt x="4552949" y="114299"/>
                  </a:lnTo>
                  <a:lnTo>
                    <a:pt x="4552949" y="4286249"/>
                  </a:lnTo>
                  <a:lnTo>
                    <a:pt x="4552405" y="4297509"/>
                  </a:lnTo>
                  <a:lnTo>
                    <a:pt x="4539437" y="4340184"/>
                  </a:lnTo>
                  <a:lnTo>
                    <a:pt x="4511125" y="4374648"/>
                  </a:lnTo>
                  <a:lnTo>
                    <a:pt x="4492584" y="4387037"/>
                  </a:lnTo>
                  <a:lnTo>
                    <a:pt x="4484136" y="4391024"/>
                  </a:lnTo>
                  <a:close/>
                </a:path>
              </a:pathLst>
            </a:custGeom>
            <a:solidFill>
              <a:srgbClr val="1D40AF">
                <a:alpha val="501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593750" y="1682750"/>
            <a:ext cx="2321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93C4FD"/>
                </a:solidFill>
                <a:latin typeface="微软雅黑"/>
                <a:cs typeface="微软雅黑"/>
              </a:rPr>
              <a:t>Deep</a:t>
            </a:r>
            <a:r>
              <a:rPr sz="1200" b="1" spc="-45" dirty="0">
                <a:solidFill>
                  <a:srgbClr val="93C4FD"/>
                </a:solidFill>
                <a:latin typeface="微软雅黑"/>
                <a:cs typeface="微软雅黑"/>
              </a:rPr>
              <a:t> </a:t>
            </a:r>
            <a:r>
              <a:rPr sz="1200" b="1" dirty="0">
                <a:solidFill>
                  <a:srgbClr val="93C4FD"/>
                </a:solidFill>
                <a:latin typeface="微软雅黑"/>
                <a:cs typeface="微软雅黑"/>
              </a:rPr>
              <a:t>Research</a:t>
            </a:r>
            <a:r>
              <a:rPr sz="1200" b="1" spc="-40" dirty="0">
                <a:solidFill>
                  <a:srgbClr val="93C4FD"/>
                </a:solidFill>
                <a:latin typeface="微软雅黑"/>
                <a:cs typeface="微软雅黑"/>
              </a:rPr>
              <a:t> </a:t>
            </a:r>
            <a:r>
              <a:rPr sz="1200" b="1" dirty="0">
                <a:solidFill>
                  <a:srgbClr val="93C4FD"/>
                </a:solidFill>
                <a:latin typeface="微软雅黑"/>
                <a:cs typeface="微软雅黑"/>
              </a:rPr>
              <a:t>Agent</a:t>
            </a:r>
            <a:r>
              <a:rPr sz="1200" b="1" spc="-25" dirty="0">
                <a:solidFill>
                  <a:srgbClr val="93C4FD"/>
                </a:solidFill>
                <a:latin typeface="微软雅黑"/>
                <a:cs typeface="微软雅黑"/>
              </a:rPr>
              <a:t> 协作架构</a:t>
            </a:r>
            <a:endParaRPr sz="1200">
              <a:latin typeface="微软雅黑"/>
              <a:cs typeface="微软雅黑"/>
            </a:endParaRPr>
          </a:p>
        </p:txBody>
      </p:sp>
      <p:pic>
        <p:nvPicPr>
          <p:cNvPr id="32" name="object 3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8175" y="2057400"/>
            <a:ext cx="4229099" cy="342899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1255613" y="5597525"/>
            <a:ext cx="29972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9CA2AF"/>
                </a:solidFill>
                <a:latin typeface="微软雅黑"/>
                <a:cs typeface="微软雅黑"/>
              </a:rPr>
              <a:t>基于多智能体分工（规划、检索、生成）</a:t>
            </a:r>
            <a:r>
              <a:rPr sz="900" spc="-10" dirty="0">
                <a:solidFill>
                  <a:srgbClr val="9CA2AF"/>
                </a:solidFill>
                <a:latin typeface="微软雅黑"/>
                <a:cs typeface="微软雅黑"/>
              </a:rPr>
              <a:t>的自动化科研流程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24</a:t>
            </a:fld>
            <a:endParaRPr spc="-2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object 3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25</a:t>
            </a:fld>
            <a:endParaRPr spc="-25" dirty="0"/>
          </a:p>
        </p:txBody>
      </p:sp>
      <p:sp>
        <p:nvSpPr>
          <p:cNvPr id="37" name="object 4">
            <a:extLst>
              <a:ext uri="{FF2B5EF4-FFF2-40B4-BE49-F238E27FC236}">
                <a16:creationId xmlns:a16="http://schemas.microsoft.com/office/drawing/2014/main" id="{23F31DFB-2144-45D9-86B6-5EBCEA84A6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63550" y="196850"/>
            <a:ext cx="231140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科研范式变革</a:t>
            </a:r>
          </a:p>
        </p:txBody>
      </p:sp>
      <p:sp>
        <p:nvSpPr>
          <p:cNvPr id="38" name="object 5">
            <a:extLst>
              <a:ext uri="{FF2B5EF4-FFF2-40B4-BE49-F238E27FC236}">
                <a16:creationId xmlns:a16="http://schemas.microsoft.com/office/drawing/2014/main" id="{EEA1FF25-BC40-4C01-8EFA-F08E6B496273}"/>
              </a:ext>
            </a:extLst>
          </p:cNvPr>
          <p:cNvSpPr/>
          <p:nvPr/>
        </p:nvSpPr>
        <p:spPr>
          <a:xfrm>
            <a:off x="476249" y="733424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object 6">
            <a:extLst>
              <a:ext uri="{FF2B5EF4-FFF2-40B4-BE49-F238E27FC236}">
                <a16:creationId xmlns:a16="http://schemas.microsoft.com/office/drawing/2014/main" id="{B27118C7-64EA-4943-9429-F5F6CBE8A34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75823" y="990623"/>
            <a:ext cx="182265" cy="182270"/>
          </a:xfrm>
          <a:prstGeom prst="rect">
            <a:avLst/>
          </a:prstGeom>
        </p:spPr>
      </p:pic>
      <p:sp>
        <p:nvSpPr>
          <p:cNvPr id="40" name="object 7">
            <a:extLst>
              <a:ext uri="{FF2B5EF4-FFF2-40B4-BE49-F238E27FC236}">
                <a16:creationId xmlns:a16="http://schemas.microsoft.com/office/drawing/2014/main" id="{2469C929-6B5B-4436-B996-4AC233862EB2}"/>
              </a:ext>
            </a:extLst>
          </p:cNvPr>
          <p:cNvSpPr txBox="1"/>
          <p:nvPr/>
        </p:nvSpPr>
        <p:spPr>
          <a:xfrm>
            <a:off x="718194" y="948372"/>
            <a:ext cx="3555365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dirty="0">
                <a:solidFill>
                  <a:srgbClr val="93C4FD"/>
                </a:solidFill>
                <a:latin typeface="微软雅黑"/>
                <a:cs typeface="微软雅黑"/>
              </a:rPr>
              <a:t>价值跃迁：DeepResearch</a:t>
            </a:r>
            <a:r>
              <a:rPr sz="1400" b="1" spc="25" dirty="0">
                <a:solidFill>
                  <a:srgbClr val="93C4FD"/>
                </a:solidFill>
                <a:latin typeface="微软雅黑"/>
                <a:cs typeface="微软雅黑"/>
              </a:rPr>
              <a:t> 驱动的效率革命</a:t>
            </a:r>
            <a:endParaRPr sz="1400">
              <a:latin typeface="微软雅黑"/>
              <a:cs typeface="微软雅黑"/>
            </a:endParaRPr>
          </a:p>
        </p:txBody>
      </p:sp>
      <p:grpSp>
        <p:nvGrpSpPr>
          <p:cNvPr id="41" name="object 8">
            <a:extLst>
              <a:ext uri="{FF2B5EF4-FFF2-40B4-BE49-F238E27FC236}">
                <a16:creationId xmlns:a16="http://schemas.microsoft.com/office/drawing/2014/main" id="{B6C318C3-54D5-4947-91F7-E8C7BD225A41}"/>
              </a:ext>
            </a:extLst>
          </p:cNvPr>
          <p:cNvGrpSpPr/>
          <p:nvPr/>
        </p:nvGrpSpPr>
        <p:grpSpPr>
          <a:xfrm>
            <a:off x="476249" y="1314449"/>
            <a:ext cx="6334125" cy="1590675"/>
            <a:chOff x="476249" y="1314449"/>
            <a:chExt cx="6334125" cy="1590675"/>
          </a:xfrm>
        </p:grpSpPr>
        <p:sp>
          <p:nvSpPr>
            <p:cNvPr id="42" name="object 9">
              <a:extLst>
                <a:ext uri="{FF2B5EF4-FFF2-40B4-BE49-F238E27FC236}">
                  <a16:creationId xmlns:a16="http://schemas.microsoft.com/office/drawing/2014/main" id="{22D9E8DE-03BF-47F5-976C-51ACAF59CBC8}"/>
                </a:ext>
              </a:extLst>
            </p:cNvPr>
            <p:cNvSpPr/>
            <p:nvPr/>
          </p:nvSpPr>
          <p:spPr>
            <a:xfrm>
              <a:off x="481012" y="1319212"/>
              <a:ext cx="6324600" cy="1581150"/>
            </a:xfrm>
            <a:custGeom>
              <a:avLst/>
              <a:gdLst/>
              <a:ahLst/>
              <a:cxnLst/>
              <a:rect l="l" t="t" r="r" b="b"/>
              <a:pathLst>
                <a:path w="6324600" h="1581150">
                  <a:moveTo>
                    <a:pt x="6261022" y="1581149"/>
                  </a:moveTo>
                  <a:lnTo>
                    <a:pt x="63576" y="1581149"/>
                  </a:lnTo>
                  <a:lnTo>
                    <a:pt x="59151" y="1580713"/>
                  </a:lnTo>
                  <a:lnTo>
                    <a:pt x="23088" y="1564379"/>
                  </a:lnTo>
                  <a:lnTo>
                    <a:pt x="2179" y="1530762"/>
                  </a:lnTo>
                  <a:lnTo>
                    <a:pt x="0" y="1517573"/>
                  </a:lnTo>
                  <a:lnTo>
                    <a:pt x="0" y="1513105"/>
                  </a:lnTo>
                  <a:lnTo>
                    <a:pt x="0" y="63576"/>
                  </a:lnTo>
                  <a:lnTo>
                    <a:pt x="13949" y="26525"/>
                  </a:lnTo>
                  <a:lnTo>
                    <a:pt x="46132" y="3469"/>
                  </a:lnTo>
                  <a:lnTo>
                    <a:pt x="63576" y="0"/>
                  </a:lnTo>
                  <a:lnTo>
                    <a:pt x="6261022" y="0"/>
                  </a:lnTo>
                  <a:lnTo>
                    <a:pt x="6298072" y="13949"/>
                  </a:lnTo>
                  <a:lnTo>
                    <a:pt x="6321128" y="46132"/>
                  </a:lnTo>
                  <a:lnTo>
                    <a:pt x="6324598" y="63576"/>
                  </a:lnTo>
                  <a:lnTo>
                    <a:pt x="6324598" y="1517573"/>
                  </a:lnTo>
                  <a:lnTo>
                    <a:pt x="6310649" y="1554623"/>
                  </a:lnTo>
                  <a:lnTo>
                    <a:pt x="6278465" y="1577679"/>
                  </a:lnTo>
                  <a:lnTo>
                    <a:pt x="6265447" y="1580713"/>
                  </a:lnTo>
                  <a:lnTo>
                    <a:pt x="6261022" y="1581149"/>
                  </a:lnTo>
                  <a:close/>
                </a:path>
              </a:pathLst>
            </a:custGeom>
            <a:solidFill>
              <a:srgbClr val="1D3A8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10">
              <a:extLst>
                <a:ext uri="{FF2B5EF4-FFF2-40B4-BE49-F238E27FC236}">
                  <a16:creationId xmlns:a16="http://schemas.microsoft.com/office/drawing/2014/main" id="{2EE39B45-876C-4F19-9374-51AA908A4A09}"/>
                </a:ext>
              </a:extLst>
            </p:cNvPr>
            <p:cNvSpPr/>
            <p:nvPr/>
          </p:nvSpPr>
          <p:spPr>
            <a:xfrm>
              <a:off x="481012" y="1319212"/>
              <a:ext cx="6324600" cy="1581150"/>
            </a:xfrm>
            <a:custGeom>
              <a:avLst/>
              <a:gdLst/>
              <a:ahLst/>
              <a:cxnLst/>
              <a:rect l="l" t="t" r="r" b="b"/>
              <a:pathLst>
                <a:path w="6324600" h="1581150">
                  <a:moveTo>
                    <a:pt x="0" y="1513105"/>
                  </a:moveTo>
                  <a:lnTo>
                    <a:pt x="0" y="68043"/>
                  </a:lnTo>
                  <a:lnTo>
                    <a:pt x="0" y="63576"/>
                  </a:lnTo>
                  <a:lnTo>
                    <a:pt x="435" y="59151"/>
                  </a:lnTo>
                  <a:lnTo>
                    <a:pt x="1307" y="54769"/>
                  </a:lnTo>
                  <a:lnTo>
                    <a:pt x="2179" y="50387"/>
                  </a:lnTo>
                  <a:lnTo>
                    <a:pt x="3469" y="46132"/>
                  </a:lnTo>
                  <a:lnTo>
                    <a:pt x="5179" y="42004"/>
                  </a:lnTo>
                  <a:lnTo>
                    <a:pt x="6889" y="37876"/>
                  </a:lnTo>
                  <a:lnTo>
                    <a:pt x="8985" y="33955"/>
                  </a:lnTo>
                  <a:lnTo>
                    <a:pt x="11467" y="30240"/>
                  </a:lnTo>
                  <a:lnTo>
                    <a:pt x="13949" y="26525"/>
                  </a:lnTo>
                  <a:lnTo>
                    <a:pt x="16770" y="23088"/>
                  </a:lnTo>
                  <a:lnTo>
                    <a:pt x="19929" y="19929"/>
                  </a:lnTo>
                  <a:lnTo>
                    <a:pt x="23088" y="16770"/>
                  </a:lnTo>
                  <a:lnTo>
                    <a:pt x="54769" y="1307"/>
                  </a:lnTo>
                  <a:lnTo>
                    <a:pt x="59151" y="435"/>
                  </a:lnTo>
                  <a:lnTo>
                    <a:pt x="63576" y="0"/>
                  </a:lnTo>
                  <a:lnTo>
                    <a:pt x="68043" y="0"/>
                  </a:lnTo>
                  <a:lnTo>
                    <a:pt x="6256555" y="0"/>
                  </a:lnTo>
                  <a:lnTo>
                    <a:pt x="6261022" y="0"/>
                  </a:lnTo>
                  <a:lnTo>
                    <a:pt x="6265447" y="435"/>
                  </a:lnTo>
                  <a:lnTo>
                    <a:pt x="6269829" y="1307"/>
                  </a:lnTo>
                  <a:lnTo>
                    <a:pt x="6274211" y="2178"/>
                  </a:lnTo>
                  <a:lnTo>
                    <a:pt x="6294357" y="11467"/>
                  </a:lnTo>
                  <a:lnTo>
                    <a:pt x="6298072" y="13949"/>
                  </a:lnTo>
                  <a:lnTo>
                    <a:pt x="6321128" y="46132"/>
                  </a:lnTo>
                  <a:lnTo>
                    <a:pt x="6323290" y="54769"/>
                  </a:lnTo>
                  <a:lnTo>
                    <a:pt x="6324162" y="59151"/>
                  </a:lnTo>
                  <a:lnTo>
                    <a:pt x="6324598" y="63576"/>
                  </a:lnTo>
                  <a:lnTo>
                    <a:pt x="6324599" y="68043"/>
                  </a:lnTo>
                  <a:lnTo>
                    <a:pt x="6324599" y="1513105"/>
                  </a:lnTo>
                  <a:lnTo>
                    <a:pt x="6324598" y="1517573"/>
                  </a:lnTo>
                  <a:lnTo>
                    <a:pt x="6324162" y="1521998"/>
                  </a:lnTo>
                  <a:lnTo>
                    <a:pt x="6323290" y="1526379"/>
                  </a:lnTo>
                  <a:lnTo>
                    <a:pt x="6322419" y="1530762"/>
                  </a:lnTo>
                  <a:lnTo>
                    <a:pt x="6321128" y="1535017"/>
                  </a:lnTo>
                  <a:lnTo>
                    <a:pt x="6319419" y="1539144"/>
                  </a:lnTo>
                  <a:lnTo>
                    <a:pt x="6317709" y="1543272"/>
                  </a:lnTo>
                  <a:lnTo>
                    <a:pt x="6290642" y="1572164"/>
                  </a:lnTo>
                  <a:lnTo>
                    <a:pt x="6261022" y="1581149"/>
                  </a:lnTo>
                  <a:lnTo>
                    <a:pt x="6256555" y="1581149"/>
                  </a:lnTo>
                  <a:lnTo>
                    <a:pt x="68043" y="1581149"/>
                  </a:lnTo>
                  <a:lnTo>
                    <a:pt x="63576" y="1581149"/>
                  </a:lnTo>
                  <a:lnTo>
                    <a:pt x="59151" y="1580713"/>
                  </a:lnTo>
                  <a:lnTo>
                    <a:pt x="30240" y="1569682"/>
                  </a:lnTo>
                  <a:lnTo>
                    <a:pt x="26525" y="1567200"/>
                  </a:lnTo>
                  <a:lnTo>
                    <a:pt x="23088" y="1564379"/>
                  </a:lnTo>
                  <a:lnTo>
                    <a:pt x="19929" y="1561220"/>
                  </a:lnTo>
                  <a:lnTo>
                    <a:pt x="16770" y="1558060"/>
                  </a:lnTo>
                  <a:lnTo>
                    <a:pt x="13949" y="1554623"/>
                  </a:lnTo>
                  <a:lnTo>
                    <a:pt x="11467" y="1550908"/>
                  </a:lnTo>
                  <a:lnTo>
                    <a:pt x="8985" y="1547194"/>
                  </a:lnTo>
                  <a:lnTo>
                    <a:pt x="6889" y="1543272"/>
                  </a:lnTo>
                  <a:lnTo>
                    <a:pt x="5179" y="1539144"/>
                  </a:lnTo>
                  <a:lnTo>
                    <a:pt x="3469" y="1535017"/>
                  </a:lnTo>
                  <a:lnTo>
                    <a:pt x="2179" y="1530762"/>
                  </a:lnTo>
                  <a:lnTo>
                    <a:pt x="1307" y="1526379"/>
                  </a:lnTo>
                  <a:lnTo>
                    <a:pt x="435" y="1521998"/>
                  </a:lnTo>
                  <a:lnTo>
                    <a:pt x="0" y="1517573"/>
                  </a:lnTo>
                  <a:lnTo>
                    <a:pt x="0" y="1513105"/>
                  </a:lnTo>
                  <a:close/>
                </a:path>
              </a:pathLst>
            </a:custGeom>
            <a:ln w="9524">
              <a:solidFill>
                <a:srgbClr val="1D4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11">
            <a:extLst>
              <a:ext uri="{FF2B5EF4-FFF2-40B4-BE49-F238E27FC236}">
                <a16:creationId xmlns:a16="http://schemas.microsoft.com/office/drawing/2014/main" id="{958660AF-D6A7-47AD-B754-B2421A8A753D}"/>
              </a:ext>
            </a:extLst>
          </p:cNvPr>
          <p:cNvSpPr txBox="1"/>
          <p:nvPr/>
        </p:nvSpPr>
        <p:spPr>
          <a:xfrm>
            <a:off x="618628" y="1368346"/>
            <a:ext cx="3867785" cy="756285"/>
          </a:xfrm>
          <a:prstGeom prst="rect">
            <a:avLst/>
          </a:prstGeom>
        </p:spPr>
        <p:txBody>
          <a:bodyPr vert="horz" wrap="square" lIns="0" tIns="1301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25"/>
              </a:spcBef>
            </a:pPr>
            <a:r>
              <a:rPr sz="1250" b="1" spc="-10" dirty="0">
                <a:solidFill>
                  <a:srgbClr val="E4E7EB"/>
                </a:solidFill>
                <a:latin typeface="微软雅黑"/>
                <a:cs typeface="微软雅黑"/>
              </a:rPr>
              <a:t>文献综述自动化</a:t>
            </a:r>
            <a:endParaRPr sz="1250">
              <a:latin typeface="微软雅黑"/>
              <a:cs typeface="微软雅黑"/>
            </a:endParaRPr>
          </a:p>
          <a:p>
            <a:pPr marL="12700" marR="5080">
              <a:lnSpc>
                <a:spcPct val="118800"/>
              </a:lnSpc>
              <a:spcBef>
                <a:spcPts val="475"/>
              </a:spcBef>
            </a:pPr>
            <a:r>
              <a:rPr sz="1000" spc="-10" dirty="0">
                <a:solidFill>
                  <a:srgbClr val="9CA2AF"/>
                </a:solidFill>
                <a:latin typeface="微软雅黑"/>
                <a:cs typeface="微软雅黑"/>
              </a:rPr>
              <a:t>从繁重的信息搜集到智能化的知识合成，</a:t>
            </a:r>
            <a:r>
              <a:rPr sz="1000" dirty="0">
                <a:solidFill>
                  <a:srgbClr val="9CA2AF"/>
                </a:solidFill>
                <a:latin typeface="微软雅黑"/>
                <a:cs typeface="微软雅黑"/>
              </a:rPr>
              <a:t>AI </a:t>
            </a:r>
            <a:r>
              <a:rPr sz="1000" spc="-10" dirty="0">
                <a:solidFill>
                  <a:srgbClr val="9CA2AF"/>
                </a:solidFill>
                <a:latin typeface="微软雅黑"/>
                <a:cs typeface="微软雅黑"/>
              </a:rPr>
              <a:t>Agent</a:t>
            </a:r>
            <a:r>
              <a:rPr sz="1000" spc="-15" dirty="0">
                <a:solidFill>
                  <a:srgbClr val="9CA2AF"/>
                </a:solidFill>
                <a:latin typeface="微软雅黑"/>
                <a:cs typeface="微软雅黑"/>
              </a:rPr>
              <a:t>将科研人员从机械</a:t>
            </a:r>
            <a:r>
              <a:rPr sz="1000" spc="-20" dirty="0">
                <a:solidFill>
                  <a:srgbClr val="9CA2AF"/>
                </a:solidFill>
                <a:latin typeface="微软雅黑"/>
                <a:cs typeface="微软雅黑"/>
              </a:rPr>
              <a:t>劳动中解放。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45" name="object 12">
            <a:extLst>
              <a:ext uri="{FF2B5EF4-FFF2-40B4-BE49-F238E27FC236}">
                <a16:creationId xmlns:a16="http://schemas.microsoft.com/office/drawing/2014/main" id="{0B04595B-B2BD-4628-A346-269BD4A8CF04}"/>
              </a:ext>
            </a:extLst>
          </p:cNvPr>
          <p:cNvSpPr txBox="1"/>
          <p:nvPr/>
        </p:nvSpPr>
        <p:spPr>
          <a:xfrm>
            <a:off x="618628" y="2238241"/>
            <a:ext cx="680085" cy="51117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2150" b="1" spc="-25" dirty="0">
                <a:solidFill>
                  <a:srgbClr val="33D399"/>
                </a:solidFill>
                <a:latin typeface="微软雅黑"/>
                <a:cs typeface="微软雅黑"/>
              </a:rPr>
              <a:t>90%</a:t>
            </a:r>
            <a:endParaRPr sz="21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850" spc="-10" dirty="0">
                <a:solidFill>
                  <a:srgbClr val="9CA2AF"/>
                </a:solidFill>
                <a:latin typeface="微软雅黑"/>
                <a:cs typeface="微软雅黑"/>
              </a:rPr>
              <a:t>训练成本降低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46" name="object 13">
            <a:extLst>
              <a:ext uri="{FF2B5EF4-FFF2-40B4-BE49-F238E27FC236}">
                <a16:creationId xmlns:a16="http://schemas.microsoft.com/office/drawing/2014/main" id="{D72F3075-6624-48B9-BEED-2C8EE192231F}"/>
              </a:ext>
            </a:extLst>
          </p:cNvPr>
          <p:cNvSpPr txBox="1"/>
          <p:nvPr/>
        </p:nvSpPr>
        <p:spPr>
          <a:xfrm>
            <a:off x="1491505" y="2238241"/>
            <a:ext cx="680085" cy="511175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0"/>
              </a:spcBef>
            </a:pPr>
            <a:r>
              <a:rPr sz="2150" b="1" spc="-25" dirty="0">
                <a:solidFill>
                  <a:srgbClr val="60A5FA"/>
                </a:solidFill>
                <a:latin typeface="微软雅黑"/>
                <a:cs typeface="微软雅黑"/>
              </a:rPr>
              <a:t>70%</a:t>
            </a:r>
            <a:endParaRPr sz="215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70"/>
              </a:spcBef>
            </a:pPr>
            <a:r>
              <a:rPr sz="850" spc="-10" dirty="0">
                <a:solidFill>
                  <a:srgbClr val="9CA2AF"/>
                </a:solidFill>
                <a:latin typeface="微软雅黑"/>
                <a:cs typeface="微软雅黑"/>
              </a:rPr>
              <a:t>综述时间缩短</a:t>
            </a:r>
            <a:endParaRPr sz="850">
              <a:latin typeface="微软雅黑"/>
              <a:cs typeface="微软雅黑"/>
            </a:endParaRPr>
          </a:p>
        </p:txBody>
      </p:sp>
      <p:pic>
        <p:nvPicPr>
          <p:cNvPr id="47" name="object 14">
            <a:extLst>
              <a:ext uri="{FF2B5EF4-FFF2-40B4-BE49-F238E27FC236}">
                <a16:creationId xmlns:a16="http://schemas.microsoft.com/office/drawing/2014/main" id="{769ABF24-678C-499A-B091-D431D83F89D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5255" y="3228690"/>
            <a:ext cx="183821" cy="182152"/>
          </a:xfrm>
          <a:prstGeom prst="rect">
            <a:avLst/>
          </a:prstGeom>
        </p:spPr>
      </p:pic>
      <p:sp>
        <p:nvSpPr>
          <p:cNvPr id="48" name="object 15">
            <a:extLst>
              <a:ext uri="{FF2B5EF4-FFF2-40B4-BE49-F238E27FC236}">
                <a16:creationId xmlns:a16="http://schemas.microsoft.com/office/drawing/2014/main" id="{F3CA6DDE-CEB4-4BC1-903D-D6FD8E4D02E8}"/>
              </a:ext>
            </a:extLst>
          </p:cNvPr>
          <p:cNvSpPr txBox="1"/>
          <p:nvPr/>
        </p:nvSpPr>
        <p:spPr>
          <a:xfrm>
            <a:off x="718194" y="3186747"/>
            <a:ext cx="257175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spc="-5" dirty="0">
                <a:solidFill>
                  <a:srgbClr val="93C4FD"/>
                </a:solidFill>
                <a:latin typeface="微软雅黑"/>
                <a:cs typeface="微软雅黑"/>
              </a:rPr>
              <a:t>落地案例：上海交大科研自动化</a:t>
            </a:r>
            <a:endParaRPr sz="1400">
              <a:latin typeface="微软雅黑"/>
              <a:cs typeface="微软雅黑"/>
            </a:endParaRPr>
          </a:p>
        </p:txBody>
      </p:sp>
      <p:grpSp>
        <p:nvGrpSpPr>
          <p:cNvPr id="49" name="object 16">
            <a:extLst>
              <a:ext uri="{FF2B5EF4-FFF2-40B4-BE49-F238E27FC236}">
                <a16:creationId xmlns:a16="http://schemas.microsoft.com/office/drawing/2014/main" id="{0F567E8C-0BD4-4D3A-99E9-5CE603508557}"/>
              </a:ext>
            </a:extLst>
          </p:cNvPr>
          <p:cNvGrpSpPr/>
          <p:nvPr/>
        </p:nvGrpSpPr>
        <p:grpSpPr>
          <a:xfrm>
            <a:off x="476249" y="3552824"/>
            <a:ext cx="1885950" cy="657225"/>
            <a:chOff x="476249" y="3552824"/>
            <a:chExt cx="1885950" cy="657225"/>
          </a:xfrm>
        </p:grpSpPr>
        <p:sp>
          <p:nvSpPr>
            <p:cNvPr id="50" name="object 17">
              <a:extLst>
                <a:ext uri="{FF2B5EF4-FFF2-40B4-BE49-F238E27FC236}">
                  <a16:creationId xmlns:a16="http://schemas.microsoft.com/office/drawing/2014/main" id="{2CF71AC3-1DA7-45C7-BEAE-C1FDAB390113}"/>
                </a:ext>
              </a:extLst>
            </p:cNvPr>
            <p:cNvSpPr/>
            <p:nvPr/>
          </p:nvSpPr>
          <p:spPr>
            <a:xfrm>
              <a:off x="476249" y="3552824"/>
              <a:ext cx="1885950" cy="657225"/>
            </a:xfrm>
            <a:custGeom>
              <a:avLst/>
              <a:gdLst/>
              <a:ahLst/>
              <a:cxnLst/>
              <a:rect l="l" t="t" r="r" b="b"/>
              <a:pathLst>
                <a:path w="1885950" h="657225">
                  <a:moveTo>
                    <a:pt x="1854373" y="657224"/>
                  </a:moveTo>
                  <a:lnTo>
                    <a:pt x="31575" y="657224"/>
                  </a:lnTo>
                  <a:lnTo>
                    <a:pt x="26932" y="656300"/>
                  </a:lnTo>
                  <a:lnTo>
                    <a:pt x="0" y="625648"/>
                  </a:lnTo>
                  <a:lnTo>
                    <a:pt x="0" y="620821"/>
                  </a:lnTo>
                  <a:lnTo>
                    <a:pt x="0" y="31575"/>
                  </a:lnTo>
                  <a:lnTo>
                    <a:pt x="26932" y="923"/>
                  </a:lnTo>
                  <a:lnTo>
                    <a:pt x="31575" y="0"/>
                  </a:lnTo>
                  <a:lnTo>
                    <a:pt x="1854373" y="0"/>
                  </a:lnTo>
                  <a:lnTo>
                    <a:pt x="1885025" y="26931"/>
                  </a:lnTo>
                  <a:lnTo>
                    <a:pt x="1885949" y="31575"/>
                  </a:lnTo>
                  <a:lnTo>
                    <a:pt x="1885949" y="625648"/>
                  </a:lnTo>
                  <a:lnTo>
                    <a:pt x="1859017" y="656300"/>
                  </a:lnTo>
                  <a:lnTo>
                    <a:pt x="1854373" y="657224"/>
                  </a:lnTo>
                  <a:close/>
                </a:path>
              </a:pathLst>
            </a:custGeom>
            <a:solidFill>
              <a:srgbClr val="FFFFFF">
                <a:alpha val="1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1" name="object 18">
              <a:extLst>
                <a:ext uri="{FF2B5EF4-FFF2-40B4-BE49-F238E27FC236}">
                  <a16:creationId xmlns:a16="http://schemas.microsoft.com/office/drawing/2014/main" id="{3114ACDB-5DB2-47FA-BEEA-DF976F2EF910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1024" y="3667124"/>
              <a:ext cx="1666874" cy="438150"/>
            </a:xfrm>
            <a:prstGeom prst="rect">
              <a:avLst/>
            </a:prstGeom>
          </p:spPr>
        </p:pic>
      </p:grpSp>
      <p:sp>
        <p:nvSpPr>
          <p:cNvPr id="52" name="object 19">
            <a:extLst>
              <a:ext uri="{FF2B5EF4-FFF2-40B4-BE49-F238E27FC236}">
                <a16:creationId xmlns:a16="http://schemas.microsoft.com/office/drawing/2014/main" id="{59AE501F-1BC3-48D1-B7C2-FB3E66F582DC}"/>
              </a:ext>
            </a:extLst>
          </p:cNvPr>
          <p:cNvSpPr txBox="1"/>
          <p:nvPr/>
        </p:nvSpPr>
        <p:spPr>
          <a:xfrm>
            <a:off x="463550" y="4308544"/>
            <a:ext cx="6318250" cy="444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500"/>
              </a:lnSpc>
              <a:spcBef>
                <a:spcPts val="100"/>
              </a:spcBef>
            </a:pPr>
            <a:r>
              <a:rPr sz="1000" spc="-10" dirty="0">
                <a:solidFill>
                  <a:srgbClr val="D0D5DA"/>
                </a:solidFill>
                <a:latin typeface="微软雅黑"/>
                <a:cs typeface="微软雅黑"/>
              </a:rPr>
              <a:t>上海交大团队利用DeepResearch Agents</a:t>
            </a:r>
            <a:r>
              <a:rPr sz="1000" spc="-15" dirty="0">
                <a:solidFill>
                  <a:srgbClr val="D0D5DA"/>
                </a:solidFill>
                <a:latin typeface="微软雅黑"/>
                <a:cs typeface="微软雅黑"/>
              </a:rPr>
              <a:t>构建多智能体协同系统，实现了科研全流程自动化，包括规划、检索、</a:t>
            </a:r>
            <a:r>
              <a:rPr sz="1000" spc="-20" dirty="0">
                <a:solidFill>
                  <a:srgbClr val="D0D5DA"/>
                </a:solidFill>
                <a:latin typeface="微软雅黑"/>
                <a:cs typeface="微软雅黑"/>
              </a:rPr>
              <a:t>验证和写作。</a:t>
            </a:r>
            <a:endParaRPr sz="1000">
              <a:latin typeface="微软雅黑"/>
              <a:cs typeface="微软雅黑"/>
            </a:endParaRPr>
          </a:p>
        </p:txBody>
      </p:sp>
      <p:grpSp>
        <p:nvGrpSpPr>
          <p:cNvPr id="53" name="object 20">
            <a:extLst>
              <a:ext uri="{FF2B5EF4-FFF2-40B4-BE49-F238E27FC236}">
                <a16:creationId xmlns:a16="http://schemas.microsoft.com/office/drawing/2014/main" id="{20E199B9-8E85-41C3-A189-B053D49CAB1D}"/>
              </a:ext>
            </a:extLst>
          </p:cNvPr>
          <p:cNvGrpSpPr/>
          <p:nvPr/>
        </p:nvGrpSpPr>
        <p:grpSpPr>
          <a:xfrm>
            <a:off x="476249" y="4914899"/>
            <a:ext cx="3095625" cy="561975"/>
            <a:chOff x="476249" y="4914899"/>
            <a:chExt cx="3095625" cy="561975"/>
          </a:xfrm>
        </p:grpSpPr>
        <p:sp>
          <p:nvSpPr>
            <p:cNvPr id="54" name="object 21">
              <a:extLst>
                <a:ext uri="{FF2B5EF4-FFF2-40B4-BE49-F238E27FC236}">
                  <a16:creationId xmlns:a16="http://schemas.microsoft.com/office/drawing/2014/main" id="{AB34FFA8-AD86-4878-BDC8-39624419A775}"/>
                </a:ext>
              </a:extLst>
            </p:cNvPr>
            <p:cNvSpPr/>
            <p:nvPr/>
          </p:nvSpPr>
          <p:spPr>
            <a:xfrm>
              <a:off x="481012" y="4919662"/>
              <a:ext cx="3086100" cy="552450"/>
            </a:xfrm>
            <a:custGeom>
              <a:avLst/>
              <a:gdLst/>
              <a:ahLst/>
              <a:cxnLst/>
              <a:rect l="l" t="t" r="r" b="b"/>
              <a:pathLst>
                <a:path w="3086100" h="552450">
                  <a:moveTo>
                    <a:pt x="3058654" y="552449"/>
                  </a:moveTo>
                  <a:lnTo>
                    <a:pt x="27444" y="552449"/>
                  </a:lnTo>
                  <a:lnTo>
                    <a:pt x="23408" y="551646"/>
                  </a:lnTo>
                  <a:lnTo>
                    <a:pt x="0" y="525005"/>
                  </a:lnTo>
                  <a:lnTo>
                    <a:pt x="0" y="520809"/>
                  </a:lnTo>
                  <a:lnTo>
                    <a:pt x="0" y="27444"/>
                  </a:lnTo>
                  <a:lnTo>
                    <a:pt x="27444" y="0"/>
                  </a:lnTo>
                  <a:lnTo>
                    <a:pt x="3058654" y="0"/>
                  </a:lnTo>
                  <a:lnTo>
                    <a:pt x="3086099" y="27444"/>
                  </a:lnTo>
                  <a:lnTo>
                    <a:pt x="3086099" y="525005"/>
                  </a:lnTo>
                  <a:lnTo>
                    <a:pt x="3062690" y="551646"/>
                  </a:lnTo>
                  <a:lnTo>
                    <a:pt x="3058654" y="552449"/>
                  </a:lnTo>
                  <a:close/>
                </a:path>
              </a:pathLst>
            </a:custGeom>
            <a:solidFill>
              <a:srgbClr val="1D3A8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22">
              <a:extLst>
                <a:ext uri="{FF2B5EF4-FFF2-40B4-BE49-F238E27FC236}">
                  <a16:creationId xmlns:a16="http://schemas.microsoft.com/office/drawing/2014/main" id="{534E1407-CD0C-4E50-B0EF-223A6A348E23}"/>
                </a:ext>
              </a:extLst>
            </p:cNvPr>
            <p:cNvSpPr/>
            <p:nvPr/>
          </p:nvSpPr>
          <p:spPr>
            <a:xfrm>
              <a:off x="481012" y="4919662"/>
              <a:ext cx="3086100" cy="552450"/>
            </a:xfrm>
            <a:custGeom>
              <a:avLst/>
              <a:gdLst/>
              <a:ahLst/>
              <a:cxnLst/>
              <a:rect l="l" t="t" r="r" b="b"/>
              <a:pathLst>
                <a:path w="3086100" h="552450">
                  <a:moveTo>
                    <a:pt x="0" y="520809"/>
                  </a:moveTo>
                  <a:lnTo>
                    <a:pt x="0" y="31640"/>
                  </a:lnTo>
                  <a:lnTo>
                    <a:pt x="0" y="27444"/>
                  </a:lnTo>
                  <a:lnTo>
                    <a:pt x="802" y="23407"/>
                  </a:lnTo>
                  <a:lnTo>
                    <a:pt x="2408" y="19531"/>
                  </a:lnTo>
                  <a:lnTo>
                    <a:pt x="4014" y="15655"/>
                  </a:lnTo>
                  <a:lnTo>
                    <a:pt x="6300" y="12233"/>
                  </a:lnTo>
                  <a:lnTo>
                    <a:pt x="9267" y="9266"/>
                  </a:lnTo>
                  <a:lnTo>
                    <a:pt x="12234" y="6300"/>
                  </a:lnTo>
                  <a:lnTo>
                    <a:pt x="15655" y="4013"/>
                  </a:lnTo>
                  <a:lnTo>
                    <a:pt x="19532" y="2408"/>
                  </a:lnTo>
                  <a:lnTo>
                    <a:pt x="23408" y="802"/>
                  </a:lnTo>
                  <a:lnTo>
                    <a:pt x="27444" y="0"/>
                  </a:lnTo>
                  <a:lnTo>
                    <a:pt x="31640" y="0"/>
                  </a:lnTo>
                  <a:lnTo>
                    <a:pt x="3054458" y="0"/>
                  </a:lnTo>
                  <a:lnTo>
                    <a:pt x="3058654" y="0"/>
                  </a:lnTo>
                  <a:lnTo>
                    <a:pt x="3062690" y="802"/>
                  </a:lnTo>
                  <a:lnTo>
                    <a:pt x="3083690" y="19531"/>
                  </a:lnTo>
                  <a:lnTo>
                    <a:pt x="3085296" y="23407"/>
                  </a:lnTo>
                  <a:lnTo>
                    <a:pt x="3086099" y="27444"/>
                  </a:lnTo>
                  <a:lnTo>
                    <a:pt x="3086099" y="31640"/>
                  </a:lnTo>
                  <a:lnTo>
                    <a:pt x="3086099" y="520809"/>
                  </a:lnTo>
                  <a:lnTo>
                    <a:pt x="3086099" y="525005"/>
                  </a:lnTo>
                  <a:lnTo>
                    <a:pt x="3085296" y="529040"/>
                  </a:lnTo>
                  <a:lnTo>
                    <a:pt x="3083691" y="532916"/>
                  </a:lnTo>
                  <a:lnTo>
                    <a:pt x="3082085" y="536793"/>
                  </a:lnTo>
                  <a:lnTo>
                    <a:pt x="3054458" y="552449"/>
                  </a:lnTo>
                  <a:lnTo>
                    <a:pt x="31640" y="552449"/>
                  </a:lnTo>
                  <a:lnTo>
                    <a:pt x="9267" y="543181"/>
                  </a:lnTo>
                  <a:lnTo>
                    <a:pt x="6300" y="540215"/>
                  </a:lnTo>
                  <a:lnTo>
                    <a:pt x="4014" y="536793"/>
                  </a:lnTo>
                  <a:lnTo>
                    <a:pt x="2408" y="532917"/>
                  </a:lnTo>
                  <a:lnTo>
                    <a:pt x="802" y="529040"/>
                  </a:lnTo>
                  <a:lnTo>
                    <a:pt x="0" y="525005"/>
                  </a:lnTo>
                  <a:lnTo>
                    <a:pt x="0" y="520809"/>
                  </a:lnTo>
                  <a:close/>
                </a:path>
              </a:pathLst>
            </a:custGeom>
            <a:ln w="9524">
              <a:solidFill>
                <a:srgbClr val="1D4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23">
              <a:extLst>
                <a:ext uri="{FF2B5EF4-FFF2-40B4-BE49-F238E27FC236}">
                  <a16:creationId xmlns:a16="http://schemas.microsoft.com/office/drawing/2014/main" id="{3F289F2D-E2E1-41AE-ABFB-9DD8062DC4F6}"/>
                </a:ext>
              </a:extLst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0549" y="5114924"/>
              <a:ext cx="163710" cy="163710"/>
            </a:xfrm>
            <a:prstGeom prst="rect">
              <a:avLst/>
            </a:prstGeom>
          </p:spPr>
        </p:pic>
      </p:grpSp>
      <p:sp>
        <p:nvSpPr>
          <p:cNvPr id="57" name="object 24">
            <a:extLst>
              <a:ext uri="{FF2B5EF4-FFF2-40B4-BE49-F238E27FC236}">
                <a16:creationId xmlns:a16="http://schemas.microsoft.com/office/drawing/2014/main" id="{FEC32277-2456-451D-AE6D-282F08F28B28}"/>
              </a:ext>
            </a:extLst>
          </p:cNvPr>
          <p:cNvSpPr txBox="1"/>
          <p:nvPr/>
        </p:nvSpPr>
        <p:spPr>
          <a:xfrm>
            <a:off x="854967" y="5020814"/>
            <a:ext cx="1771014" cy="3479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000" b="1" spc="-10" dirty="0">
                <a:solidFill>
                  <a:srgbClr val="FFFFFF"/>
                </a:solidFill>
                <a:latin typeface="微软雅黑"/>
                <a:cs typeface="微软雅黑"/>
              </a:rPr>
              <a:t>规划 Agent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850" spc="-5" dirty="0">
                <a:solidFill>
                  <a:srgbClr val="9CA2AF"/>
                </a:solidFill>
                <a:latin typeface="微软雅黑"/>
                <a:cs typeface="微软雅黑"/>
              </a:rPr>
              <a:t>拆解科研目标，制定检索与分析策略</a:t>
            </a:r>
            <a:endParaRPr sz="850">
              <a:latin typeface="微软雅黑"/>
              <a:cs typeface="微软雅黑"/>
            </a:endParaRPr>
          </a:p>
        </p:txBody>
      </p:sp>
      <p:grpSp>
        <p:nvGrpSpPr>
          <p:cNvPr id="58" name="object 25">
            <a:extLst>
              <a:ext uri="{FF2B5EF4-FFF2-40B4-BE49-F238E27FC236}">
                <a16:creationId xmlns:a16="http://schemas.microsoft.com/office/drawing/2014/main" id="{264CBFF3-3271-42C1-A6E4-DF759C0B9572}"/>
              </a:ext>
            </a:extLst>
          </p:cNvPr>
          <p:cNvGrpSpPr/>
          <p:nvPr/>
        </p:nvGrpSpPr>
        <p:grpSpPr>
          <a:xfrm>
            <a:off x="3714749" y="4914899"/>
            <a:ext cx="3095625" cy="561975"/>
            <a:chOff x="3714749" y="4914899"/>
            <a:chExt cx="3095625" cy="561975"/>
          </a:xfrm>
        </p:grpSpPr>
        <p:sp>
          <p:nvSpPr>
            <p:cNvPr id="59" name="object 26">
              <a:extLst>
                <a:ext uri="{FF2B5EF4-FFF2-40B4-BE49-F238E27FC236}">
                  <a16:creationId xmlns:a16="http://schemas.microsoft.com/office/drawing/2014/main" id="{B8CA297B-F5C7-4E0B-A13D-D123A4AE603B}"/>
                </a:ext>
              </a:extLst>
            </p:cNvPr>
            <p:cNvSpPr/>
            <p:nvPr/>
          </p:nvSpPr>
          <p:spPr>
            <a:xfrm>
              <a:off x="3719512" y="4919662"/>
              <a:ext cx="3086100" cy="552450"/>
            </a:xfrm>
            <a:custGeom>
              <a:avLst/>
              <a:gdLst/>
              <a:ahLst/>
              <a:cxnLst/>
              <a:rect l="l" t="t" r="r" b="b"/>
              <a:pathLst>
                <a:path w="3086100" h="552450">
                  <a:moveTo>
                    <a:pt x="3058655" y="552449"/>
                  </a:moveTo>
                  <a:lnTo>
                    <a:pt x="27445" y="552449"/>
                  </a:lnTo>
                  <a:lnTo>
                    <a:pt x="23408" y="551646"/>
                  </a:lnTo>
                  <a:lnTo>
                    <a:pt x="0" y="525005"/>
                  </a:lnTo>
                  <a:lnTo>
                    <a:pt x="0" y="520809"/>
                  </a:lnTo>
                  <a:lnTo>
                    <a:pt x="0" y="27444"/>
                  </a:lnTo>
                  <a:lnTo>
                    <a:pt x="27445" y="0"/>
                  </a:lnTo>
                  <a:lnTo>
                    <a:pt x="3058655" y="0"/>
                  </a:lnTo>
                  <a:lnTo>
                    <a:pt x="3086099" y="27444"/>
                  </a:lnTo>
                  <a:lnTo>
                    <a:pt x="3086099" y="525005"/>
                  </a:lnTo>
                  <a:lnTo>
                    <a:pt x="3062691" y="551646"/>
                  </a:lnTo>
                  <a:lnTo>
                    <a:pt x="3058655" y="552449"/>
                  </a:lnTo>
                  <a:close/>
                </a:path>
              </a:pathLst>
            </a:custGeom>
            <a:solidFill>
              <a:srgbClr val="1D3A8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27">
              <a:extLst>
                <a:ext uri="{FF2B5EF4-FFF2-40B4-BE49-F238E27FC236}">
                  <a16:creationId xmlns:a16="http://schemas.microsoft.com/office/drawing/2014/main" id="{A8C692EF-CE9D-4338-BC80-D54BA9791A88}"/>
                </a:ext>
              </a:extLst>
            </p:cNvPr>
            <p:cNvSpPr/>
            <p:nvPr/>
          </p:nvSpPr>
          <p:spPr>
            <a:xfrm>
              <a:off x="3719512" y="4919662"/>
              <a:ext cx="3086100" cy="552450"/>
            </a:xfrm>
            <a:custGeom>
              <a:avLst/>
              <a:gdLst/>
              <a:ahLst/>
              <a:cxnLst/>
              <a:rect l="l" t="t" r="r" b="b"/>
              <a:pathLst>
                <a:path w="3086100" h="552450">
                  <a:moveTo>
                    <a:pt x="0" y="520809"/>
                  </a:moveTo>
                  <a:lnTo>
                    <a:pt x="0" y="31640"/>
                  </a:lnTo>
                  <a:lnTo>
                    <a:pt x="0" y="27444"/>
                  </a:lnTo>
                  <a:lnTo>
                    <a:pt x="802" y="23407"/>
                  </a:lnTo>
                  <a:lnTo>
                    <a:pt x="2408" y="19531"/>
                  </a:lnTo>
                  <a:lnTo>
                    <a:pt x="4014" y="15655"/>
                  </a:lnTo>
                  <a:lnTo>
                    <a:pt x="6300" y="12233"/>
                  </a:lnTo>
                  <a:lnTo>
                    <a:pt x="9267" y="9266"/>
                  </a:lnTo>
                  <a:lnTo>
                    <a:pt x="12234" y="6300"/>
                  </a:lnTo>
                  <a:lnTo>
                    <a:pt x="15655" y="4013"/>
                  </a:lnTo>
                  <a:lnTo>
                    <a:pt x="19532" y="2408"/>
                  </a:lnTo>
                  <a:lnTo>
                    <a:pt x="23408" y="802"/>
                  </a:lnTo>
                  <a:lnTo>
                    <a:pt x="27445" y="0"/>
                  </a:lnTo>
                  <a:lnTo>
                    <a:pt x="31641" y="0"/>
                  </a:lnTo>
                  <a:lnTo>
                    <a:pt x="3054459" y="0"/>
                  </a:lnTo>
                  <a:lnTo>
                    <a:pt x="3058655" y="0"/>
                  </a:lnTo>
                  <a:lnTo>
                    <a:pt x="3062691" y="802"/>
                  </a:lnTo>
                  <a:lnTo>
                    <a:pt x="3083690" y="19531"/>
                  </a:lnTo>
                  <a:lnTo>
                    <a:pt x="3085296" y="23407"/>
                  </a:lnTo>
                  <a:lnTo>
                    <a:pt x="3086099" y="27444"/>
                  </a:lnTo>
                  <a:lnTo>
                    <a:pt x="3086100" y="31640"/>
                  </a:lnTo>
                  <a:lnTo>
                    <a:pt x="3086100" y="520809"/>
                  </a:lnTo>
                  <a:lnTo>
                    <a:pt x="3086099" y="525005"/>
                  </a:lnTo>
                  <a:lnTo>
                    <a:pt x="3085296" y="529040"/>
                  </a:lnTo>
                  <a:lnTo>
                    <a:pt x="3083690" y="532916"/>
                  </a:lnTo>
                  <a:lnTo>
                    <a:pt x="3082085" y="536793"/>
                  </a:lnTo>
                  <a:lnTo>
                    <a:pt x="3054459" y="552449"/>
                  </a:lnTo>
                  <a:lnTo>
                    <a:pt x="31641" y="552449"/>
                  </a:lnTo>
                  <a:lnTo>
                    <a:pt x="9267" y="543181"/>
                  </a:lnTo>
                  <a:lnTo>
                    <a:pt x="6300" y="540215"/>
                  </a:lnTo>
                  <a:lnTo>
                    <a:pt x="4014" y="536793"/>
                  </a:lnTo>
                  <a:lnTo>
                    <a:pt x="2408" y="532917"/>
                  </a:lnTo>
                  <a:lnTo>
                    <a:pt x="802" y="529040"/>
                  </a:lnTo>
                  <a:lnTo>
                    <a:pt x="0" y="525005"/>
                  </a:lnTo>
                  <a:lnTo>
                    <a:pt x="0" y="520809"/>
                  </a:lnTo>
                  <a:close/>
                </a:path>
              </a:pathLst>
            </a:custGeom>
            <a:ln w="9524">
              <a:solidFill>
                <a:srgbClr val="1D4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1" name="object 28">
              <a:extLst>
                <a:ext uri="{FF2B5EF4-FFF2-40B4-BE49-F238E27FC236}">
                  <a16:creationId xmlns:a16="http://schemas.microsoft.com/office/drawing/2014/main" id="{47C4C9AC-1FFA-4F4D-B95E-954DB43418DF}"/>
                </a:ext>
              </a:extLst>
            </p:cNvPr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838575" y="5114924"/>
              <a:ext cx="164702" cy="164734"/>
            </a:xfrm>
            <a:prstGeom prst="rect">
              <a:avLst/>
            </a:prstGeom>
          </p:spPr>
        </p:pic>
      </p:grpSp>
      <p:sp>
        <p:nvSpPr>
          <p:cNvPr id="62" name="object 29">
            <a:extLst>
              <a:ext uri="{FF2B5EF4-FFF2-40B4-BE49-F238E27FC236}">
                <a16:creationId xmlns:a16="http://schemas.microsoft.com/office/drawing/2014/main" id="{18B9DB68-55D0-41E4-950B-5A17CF16C4EE}"/>
              </a:ext>
            </a:extLst>
          </p:cNvPr>
          <p:cNvSpPr txBox="1"/>
          <p:nvPr/>
        </p:nvSpPr>
        <p:spPr>
          <a:xfrm>
            <a:off x="4096146" y="5020814"/>
            <a:ext cx="1880235" cy="3479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000" b="1" spc="-10" dirty="0">
                <a:solidFill>
                  <a:srgbClr val="FFFFFF"/>
                </a:solidFill>
                <a:latin typeface="微软雅黑"/>
                <a:cs typeface="微软雅黑"/>
              </a:rPr>
              <a:t>检索 Agent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850" spc="-5" dirty="0">
                <a:solidFill>
                  <a:srgbClr val="9CA2AF"/>
                </a:solidFill>
                <a:latin typeface="微软雅黑"/>
                <a:cs typeface="微软雅黑"/>
              </a:rPr>
              <a:t>多源数据搜集，覆盖学术数据库与网络</a:t>
            </a:r>
            <a:endParaRPr sz="850">
              <a:latin typeface="微软雅黑"/>
              <a:cs typeface="微软雅黑"/>
            </a:endParaRPr>
          </a:p>
        </p:txBody>
      </p:sp>
      <p:grpSp>
        <p:nvGrpSpPr>
          <p:cNvPr id="63" name="object 30">
            <a:extLst>
              <a:ext uri="{FF2B5EF4-FFF2-40B4-BE49-F238E27FC236}">
                <a16:creationId xmlns:a16="http://schemas.microsoft.com/office/drawing/2014/main" id="{DBBA3FB2-A710-4EA1-8AA2-8B5BEEF094AF}"/>
              </a:ext>
            </a:extLst>
          </p:cNvPr>
          <p:cNvGrpSpPr/>
          <p:nvPr/>
        </p:nvGrpSpPr>
        <p:grpSpPr>
          <a:xfrm>
            <a:off x="476249" y="5629274"/>
            <a:ext cx="3095625" cy="561975"/>
            <a:chOff x="476249" y="5629274"/>
            <a:chExt cx="3095625" cy="561975"/>
          </a:xfrm>
        </p:grpSpPr>
        <p:sp>
          <p:nvSpPr>
            <p:cNvPr id="64" name="object 31">
              <a:extLst>
                <a:ext uri="{FF2B5EF4-FFF2-40B4-BE49-F238E27FC236}">
                  <a16:creationId xmlns:a16="http://schemas.microsoft.com/office/drawing/2014/main" id="{98A35DBC-02B0-459A-88F9-1083BC861A7A}"/>
                </a:ext>
              </a:extLst>
            </p:cNvPr>
            <p:cNvSpPr/>
            <p:nvPr/>
          </p:nvSpPr>
          <p:spPr>
            <a:xfrm>
              <a:off x="481012" y="5634037"/>
              <a:ext cx="3086100" cy="552450"/>
            </a:xfrm>
            <a:custGeom>
              <a:avLst/>
              <a:gdLst/>
              <a:ahLst/>
              <a:cxnLst/>
              <a:rect l="l" t="t" r="r" b="b"/>
              <a:pathLst>
                <a:path w="3086100" h="552450">
                  <a:moveTo>
                    <a:pt x="3058654" y="552449"/>
                  </a:moveTo>
                  <a:lnTo>
                    <a:pt x="27444" y="552449"/>
                  </a:lnTo>
                  <a:lnTo>
                    <a:pt x="23408" y="551646"/>
                  </a:lnTo>
                  <a:lnTo>
                    <a:pt x="0" y="525004"/>
                  </a:lnTo>
                  <a:lnTo>
                    <a:pt x="0" y="520809"/>
                  </a:lnTo>
                  <a:lnTo>
                    <a:pt x="0" y="27444"/>
                  </a:lnTo>
                  <a:lnTo>
                    <a:pt x="27444" y="0"/>
                  </a:lnTo>
                  <a:lnTo>
                    <a:pt x="3058654" y="0"/>
                  </a:lnTo>
                  <a:lnTo>
                    <a:pt x="3086099" y="27444"/>
                  </a:lnTo>
                  <a:lnTo>
                    <a:pt x="3086099" y="525004"/>
                  </a:lnTo>
                  <a:lnTo>
                    <a:pt x="3062690" y="551646"/>
                  </a:lnTo>
                  <a:lnTo>
                    <a:pt x="3058654" y="552449"/>
                  </a:lnTo>
                  <a:close/>
                </a:path>
              </a:pathLst>
            </a:custGeom>
            <a:solidFill>
              <a:srgbClr val="1D3A8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32">
              <a:extLst>
                <a:ext uri="{FF2B5EF4-FFF2-40B4-BE49-F238E27FC236}">
                  <a16:creationId xmlns:a16="http://schemas.microsoft.com/office/drawing/2014/main" id="{10B97129-DB7D-457E-BFD2-861840963F32}"/>
                </a:ext>
              </a:extLst>
            </p:cNvPr>
            <p:cNvSpPr/>
            <p:nvPr/>
          </p:nvSpPr>
          <p:spPr>
            <a:xfrm>
              <a:off x="481012" y="5634037"/>
              <a:ext cx="3086100" cy="552450"/>
            </a:xfrm>
            <a:custGeom>
              <a:avLst/>
              <a:gdLst/>
              <a:ahLst/>
              <a:cxnLst/>
              <a:rect l="l" t="t" r="r" b="b"/>
              <a:pathLst>
                <a:path w="3086100" h="552450">
                  <a:moveTo>
                    <a:pt x="0" y="520809"/>
                  </a:moveTo>
                  <a:lnTo>
                    <a:pt x="0" y="31640"/>
                  </a:lnTo>
                  <a:lnTo>
                    <a:pt x="0" y="27444"/>
                  </a:lnTo>
                  <a:lnTo>
                    <a:pt x="802" y="23407"/>
                  </a:lnTo>
                  <a:lnTo>
                    <a:pt x="2408" y="19531"/>
                  </a:lnTo>
                  <a:lnTo>
                    <a:pt x="4014" y="15654"/>
                  </a:lnTo>
                  <a:lnTo>
                    <a:pt x="6300" y="12233"/>
                  </a:lnTo>
                  <a:lnTo>
                    <a:pt x="9267" y="9266"/>
                  </a:lnTo>
                  <a:lnTo>
                    <a:pt x="12234" y="6300"/>
                  </a:lnTo>
                  <a:lnTo>
                    <a:pt x="15655" y="4013"/>
                  </a:lnTo>
                  <a:lnTo>
                    <a:pt x="19532" y="2408"/>
                  </a:lnTo>
                  <a:lnTo>
                    <a:pt x="23408" y="802"/>
                  </a:lnTo>
                  <a:lnTo>
                    <a:pt x="27444" y="0"/>
                  </a:lnTo>
                  <a:lnTo>
                    <a:pt x="31640" y="0"/>
                  </a:lnTo>
                  <a:lnTo>
                    <a:pt x="3054458" y="0"/>
                  </a:lnTo>
                  <a:lnTo>
                    <a:pt x="3058654" y="0"/>
                  </a:lnTo>
                  <a:lnTo>
                    <a:pt x="3062690" y="802"/>
                  </a:lnTo>
                  <a:lnTo>
                    <a:pt x="3083690" y="19531"/>
                  </a:lnTo>
                  <a:lnTo>
                    <a:pt x="3085296" y="23407"/>
                  </a:lnTo>
                  <a:lnTo>
                    <a:pt x="3086099" y="27444"/>
                  </a:lnTo>
                  <a:lnTo>
                    <a:pt x="3086099" y="31640"/>
                  </a:lnTo>
                  <a:lnTo>
                    <a:pt x="3086099" y="520809"/>
                  </a:lnTo>
                  <a:lnTo>
                    <a:pt x="3086099" y="525004"/>
                  </a:lnTo>
                  <a:lnTo>
                    <a:pt x="3085296" y="529040"/>
                  </a:lnTo>
                  <a:lnTo>
                    <a:pt x="3054458" y="552449"/>
                  </a:lnTo>
                  <a:lnTo>
                    <a:pt x="31640" y="552449"/>
                  </a:lnTo>
                  <a:lnTo>
                    <a:pt x="802" y="529040"/>
                  </a:lnTo>
                  <a:lnTo>
                    <a:pt x="0" y="525004"/>
                  </a:lnTo>
                  <a:lnTo>
                    <a:pt x="0" y="520809"/>
                  </a:lnTo>
                  <a:close/>
                </a:path>
              </a:pathLst>
            </a:custGeom>
            <a:ln w="9524">
              <a:solidFill>
                <a:srgbClr val="1D4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6" name="object 33">
              <a:extLst>
                <a:ext uri="{FF2B5EF4-FFF2-40B4-BE49-F238E27FC236}">
                  <a16:creationId xmlns:a16="http://schemas.microsoft.com/office/drawing/2014/main" id="{82F67BE4-27EF-4C55-BA5B-70128AA7D726}"/>
                </a:ext>
              </a:extLst>
            </p:cNvPr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90549" y="5829299"/>
              <a:ext cx="163710" cy="163710"/>
            </a:xfrm>
            <a:prstGeom prst="rect">
              <a:avLst/>
            </a:prstGeom>
          </p:spPr>
        </p:pic>
      </p:grpSp>
      <p:sp>
        <p:nvSpPr>
          <p:cNvPr id="67" name="object 34">
            <a:extLst>
              <a:ext uri="{FF2B5EF4-FFF2-40B4-BE49-F238E27FC236}">
                <a16:creationId xmlns:a16="http://schemas.microsoft.com/office/drawing/2014/main" id="{28766D68-7224-4E4F-9782-415858D33681}"/>
              </a:ext>
            </a:extLst>
          </p:cNvPr>
          <p:cNvSpPr txBox="1"/>
          <p:nvPr/>
        </p:nvSpPr>
        <p:spPr>
          <a:xfrm>
            <a:off x="854967" y="5725664"/>
            <a:ext cx="1662430" cy="3479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000" b="1" spc="-10" dirty="0">
                <a:solidFill>
                  <a:srgbClr val="FFFFFF"/>
                </a:solidFill>
                <a:latin typeface="微软雅黑"/>
                <a:cs typeface="微软雅黑"/>
              </a:rPr>
              <a:t>验证 Agent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850" spc="-5" dirty="0">
                <a:solidFill>
                  <a:srgbClr val="9CA2AF"/>
                </a:solidFill>
                <a:latin typeface="微软雅黑"/>
                <a:cs typeface="微软雅黑"/>
              </a:rPr>
              <a:t>来源可信度评分，矛盾检测与去伪</a:t>
            </a:r>
            <a:endParaRPr sz="850">
              <a:latin typeface="微软雅黑"/>
              <a:cs typeface="微软雅黑"/>
            </a:endParaRPr>
          </a:p>
        </p:txBody>
      </p:sp>
      <p:grpSp>
        <p:nvGrpSpPr>
          <p:cNvPr id="68" name="object 35">
            <a:extLst>
              <a:ext uri="{FF2B5EF4-FFF2-40B4-BE49-F238E27FC236}">
                <a16:creationId xmlns:a16="http://schemas.microsoft.com/office/drawing/2014/main" id="{BACC210F-7286-4DAB-B20E-937CE3E486DB}"/>
              </a:ext>
            </a:extLst>
          </p:cNvPr>
          <p:cNvGrpSpPr/>
          <p:nvPr/>
        </p:nvGrpSpPr>
        <p:grpSpPr>
          <a:xfrm>
            <a:off x="3714749" y="5629274"/>
            <a:ext cx="3095625" cy="561975"/>
            <a:chOff x="3714749" y="5629274"/>
            <a:chExt cx="3095625" cy="561975"/>
          </a:xfrm>
        </p:grpSpPr>
        <p:sp>
          <p:nvSpPr>
            <p:cNvPr id="69" name="object 36">
              <a:extLst>
                <a:ext uri="{FF2B5EF4-FFF2-40B4-BE49-F238E27FC236}">
                  <a16:creationId xmlns:a16="http://schemas.microsoft.com/office/drawing/2014/main" id="{1F09DA18-C9B0-4C30-83B0-1573C10347DD}"/>
                </a:ext>
              </a:extLst>
            </p:cNvPr>
            <p:cNvSpPr/>
            <p:nvPr/>
          </p:nvSpPr>
          <p:spPr>
            <a:xfrm>
              <a:off x="3719512" y="5634037"/>
              <a:ext cx="3086100" cy="552450"/>
            </a:xfrm>
            <a:custGeom>
              <a:avLst/>
              <a:gdLst/>
              <a:ahLst/>
              <a:cxnLst/>
              <a:rect l="l" t="t" r="r" b="b"/>
              <a:pathLst>
                <a:path w="3086100" h="552450">
                  <a:moveTo>
                    <a:pt x="3058655" y="552449"/>
                  </a:moveTo>
                  <a:lnTo>
                    <a:pt x="27445" y="552449"/>
                  </a:lnTo>
                  <a:lnTo>
                    <a:pt x="23408" y="551646"/>
                  </a:lnTo>
                  <a:lnTo>
                    <a:pt x="0" y="525004"/>
                  </a:lnTo>
                  <a:lnTo>
                    <a:pt x="0" y="520809"/>
                  </a:lnTo>
                  <a:lnTo>
                    <a:pt x="0" y="27444"/>
                  </a:lnTo>
                  <a:lnTo>
                    <a:pt x="27445" y="0"/>
                  </a:lnTo>
                  <a:lnTo>
                    <a:pt x="3058655" y="0"/>
                  </a:lnTo>
                  <a:lnTo>
                    <a:pt x="3086099" y="27444"/>
                  </a:lnTo>
                  <a:lnTo>
                    <a:pt x="3086099" y="525004"/>
                  </a:lnTo>
                  <a:lnTo>
                    <a:pt x="3062691" y="551646"/>
                  </a:lnTo>
                  <a:lnTo>
                    <a:pt x="3058655" y="552449"/>
                  </a:lnTo>
                  <a:close/>
                </a:path>
              </a:pathLst>
            </a:custGeom>
            <a:solidFill>
              <a:srgbClr val="1D3A8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0" name="object 37">
              <a:extLst>
                <a:ext uri="{FF2B5EF4-FFF2-40B4-BE49-F238E27FC236}">
                  <a16:creationId xmlns:a16="http://schemas.microsoft.com/office/drawing/2014/main" id="{CC60BCAB-AA48-4C29-A63A-806C55DBBBCE}"/>
                </a:ext>
              </a:extLst>
            </p:cNvPr>
            <p:cNvSpPr/>
            <p:nvPr/>
          </p:nvSpPr>
          <p:spPr>
            <a:xfrm>
              <a:off x="3719512" y="5634037"/>
              <a:ext cx="3086100" cy="552450"/>
            </a:xfrm>
            <a:custGeom>
              <a:avLst/>
              <a:gdLst/>
              <a:ahLst/>
              <a:cxnLst/>
              <a:rect l="l" t="t" r="r" b="b"/>
              <a:pathLst>
                <a:path w="3086100" h="552450">
                  <a:moveTo>
                    <a:pt x="0" y="520809"/>
                  </a:moveTo>
                  <a:lnTo>
                    <a:pt x="0" y="31640"/>
                  </a:lnTo>
                  <a:lnTo>
                    <a:pt x="0" y="27444"/>
                  </a:lnTo>
                  <a:lnTo>
                    <a:pt x="802" y="23407"/>
                  </a:lnTo>
                  <a:lnTo>
                    <a:pt x="2408" y="19531"/>
                  </a:lnTo>
                  <a:lnTo>
                    <a:pt x="4014" y="15654"/>
                  </a:lnTo>
                  <a:lnTo>
                    <a:pt x="6300" y="12233"/>
                  </a:lnTo>
                  <a:lnTo>
                    <a:pt x="9267" y="9266"/>
                  </a:lnTo>
                  <a:lnTo>
                    <a:pt x="12234" y="6300"/>
                  </a:lnTo>
                  <a:lnTo>
                    <a:pt x="15655" y="4013"/>
                  </a:lnTo>
                  <a:lnTo>
                    <a:pt x="19532" y="2408"/>
                  </a:lnTo>
                  <a:lnTo>
                    <a:pt x="23408" y="802"/>
                  </a:lnTo>
                  <a:lnTo>
                    <a:pt x="27445" y="0"/>
                  </a:lnTo>
                  <a:lnTo>
                    <a:pt x="31641" y="0"/>
                  </a:lnTo>
                  <a:lnTo>
                    <a:pt x="3054459" y="0"/>
                  </a:lnTo>
                  <a:lnTo>
                    <a:pt x="3058655" y="0"/>
                  </a:lnTo>
                  <a:lnTo>
                    <a:pt x="3062691" y="802"/>
                  </a:lnTo>
                  <a:lnTo>
                    <a:pt x="3083690" y="19531"/>
                  </a:lnTo>
                  <a:lnTo>
                    <a:pt x="3085296" y="23407"/>
                  </a:lnTo>
                  <a:lnTo>
                    <a:pt x="3086099" y="27444"/>
                  </a:lnTo>
                  <a:lnTo>
                    <a:pt x="3086100" y="31640"/>
                  </a:lnTo>
                  <a:lnTo>
                    <a:pt x="3086100" y="520809"/>
                  </a:lnTo>
                  <a:lnTo>
                    <a:pt x="3086099" y="525004"/>
                  </a:lnTo>
                  <a:lnTo>
                    <a:pt x="3085296" y="529040"/>
                  </a:lnTo>
                  <a:lnTo>
                    <a:pt x="3083690" y="532916"/>
                  </a:lnTo>
                  <a:lnTo>
                    <a:pt x="3082085" y="536792"/>
                  </a:lnTo>
                  <a:lnTo>
                    <a:pt x="3054459" y="552449"/>
                  </a:lnTo>
                  <a:lnTo>
                    <a:pt x="31641" y="552449"/>
                  </a:lnTo>
                  <a:lnTo>
                    <a:pt x="802" y="529040"/>
                  </a:lnTo>
                  <a:lnTo>
                    <a:pt x="0" y="525004"/>
                  </a:lnTo>
                  <a:lnTo>
                    <a:pt x="0" y="520809"/>
                  </a:lnTo>
                  <a:close/>
                </a:path>
              </a:pathLst>
            </a:custGeom>
            <a:ln w="9524">
              <a:solidFill>
                <a:srgbClr val="1D40A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1" name="object 38">
              <a:extLst>
                <a:ext uri="{FF2B5EF4-FFF2-40B4-BE49-F238E27FC236}">
                  <a16:creationId xmlns:a16="http://schemas.microsoft.com/office/drawing/2014/main" id="{2775531F-55A6-46BC-B8CF-9F2B566EB948}"/>
                </a:ext>
              </a:extLst>
            </p:cNvPr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839118" y="5829299"/>
              <a:ext cx="163167" cy="163167"/>
            </a:xfrm>
            <a:prstGeom prst="rect">
              <a:avLst/>
            </a:prstGeom>
          </p:spPr>
        </p:pic>
      </p:grpSp>
      <p:sp>
        <p:nvSpPr>
          <p:cNvPr id="72" name="object 39">
            <a:extLst>
              <a:ext uri="{FF2B5EF4-FFF2-40B4-BE49-F238E27FC236}">
                <a16:creationId xmlns:a16="http://schemas.microsoft.com/office/drawing/2014/main" id="{DC559823-1E58-4542-ACFF-D7E1801F3966}"/>
              </a:ext>
            </a:extLst>
          </p:cNvPr>
          <p:cNvSpPr txBox="1"/>
          <p:nvPr/>
        </p:nvSpPr>
        <p:spPr>
          <a:xfrm>
            <a:off x="4096146" y="5725664"/>
            <a:ext cx="1880235" cy="347980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000" b="1" spc="-10" dirty="0">
                <a:solidFill>
                  <a:srgbClr val="FFFFFF"/>
                </a:solidFill>
                <a:latin typeface="微软雅黑"/>
                <a:cs typeface="微软雅黑"/>
              </a:rPr>
              <a:t>写作 Agent</a:t>
            </a:r>
            <a:endParaRPr sz="1000">
              <a:latin typeface="微软雅黑"/>
              <a:cs typeface="微软雅黑"/>
            </a:endParaRPr>
          </a:p>
          <a:p>
            <a:pPr marL="12700">
              <a:lnSpc>
                <a:spcPct val="100000"/>
              </a:lnSpc>
              <a:spcBef>
                <a:spcPts val="150"/>
              </a:spcBef>
            </a:pPr>
            <a:r>
              <a:rPr sz="850" spc="-5" dirty="0">
                <a:solidFill>
                  <a:srgbClr val="9CA2AF"/>
                </a:solidFill>
                <a:latin typeface="微软雅黑"/>
                <a:cs typeface="微软雅黑"/>
              </a:rPr>
              <a:t>综合信息，自动生成带引用的综述报告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73" name="object 40">
            <a:extLst>
              <a:ext uri="{FF2B5EF4-FFF2-40B4-BE49-F238E27FC236}">
                <a16:creationId xmlns:a16="http://schemas.microsoft.com/office/drawing/2014/main" id="{57D38A0B-F877-4420-9EA8-A9F12DB5D967}"/>
              </a:ext>
            </a:extLst>
          </p:cNvPr>
          <p:cNvSpPr/>
          <p:nvPr/>
        </p:nvSpPr>
        <p:spPr>
          <a:xfrm>
            <a:off x="7172324" y="952499"/>
            <a:ext cx="9525" cy="5581650"/>
          </a:xfrm>
          <a:custGeom>
            <a:avLst/>
            <a:gdLst/>
            <a:ahLst/>
            <a:cxnLst/>
            <a:rect l="l" t="t" r="r" b="b"/>
            <a:pathLst>
              <a:path w="9525" h="5581650">
                <a:moveTo>
                  <a:pt x="9524" y="5581649"/>
                </a:moveTo>
                <a:lnTo>
                  <a:pt x="0" y="5581649"/>
                </a:lnTo>
                <a:lnTo>
                  <a:pt x="0" y="0"/>
                </a:lnTo>
                <a:lnTo>
                  <a:pt x="9524" y="0"/>
                </a:lnTo>
                <a:lnTo>
                  <a:pt x="9524" y="5581649"/>
                </a:lnTo>
                <a:close/>
              </a:path>
            </a:pathLst>
          </a:custGeom>
          <a:solidFill>
            <a:srgbClr val="374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4" name="object 41">
            <a:extLst>
              <a:ext uri="{FF2B5EF4-FFF2-40B4-BE49-F238E27FC236}">
                <a16:creationId xmlns:a16="http://schemas.microsoft.com/office/drawing/2014/main" id="{DD4CAC84-BCE9-449A-AA4D-F5A178D0C19E}"/>
              </a:ext>
            </a:extLst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53325" y="990629"/>
            <a:ext cx="227260" cy="181808"/>
          </a:xfrm>
          <a:prstGeom prst="rect">
            <a:avLst/>
          </a:prstGeom>
        </p:spPr>
      </p:pic>
      <p:sp>
        <p:nvSpPr>
          <p:cNvPr id="75" name="object 42">
            <a:extLst>
              <a:ext uri="{FF2B5EF4-FFF2-40B4-BE49-F238E27FC236}">
                <a16:creationId xmlns:a16="http://schemas.microsoft.com/office/drawing/2014/main" id="{C89EB103-A5A9-4D68-9CB8-37C1E5CB01B0}"/>
              </a:ext>
            </a:extLst>
          </p:cNvPr>
          <p:cNvSpPr txBox="1"/>
          <p:nvPr/>
        </p:nvSpPr>
        <p:spPr>
          <a:xfrm>
            <a:off x="7837685" y="948372"/>
            <a:ext cx="2766060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b="1" dirty="0">
                <a:solidFill>
                  <a:srgbClr val="93C4FD"/>
                </a:solidFill>
                <a:latin typeface="微软雅黑"/>
                <a:cs typeface="微软雅黑"/>
              </a:rPr>
              <a:t>技术架构：Deep</a:t>
            </a:r>
            <a:r>
              <a:rPr sz="1400" b="1" spc="105" dirty="0">
                <a:solidFill>
                  <a:srgbClr val="93C4FD"/>
                </a:solidFill>
                <a:latin typeface="微软雅黑"/>
                <a:cs typeface="微软雅黑"/>
              </a:rPr>
              <a:t> </a:t>
            </a:r>
            <a:r>
              <a:rPr sz="1400" b="1" dirty="0">
                <a:solidFill>
                  <a:srgbClr val="93C4FD"/>
                </a:solidFill>
                <a:latin typeface="微软雅黑"/>
                <a:cs typeface="微软雅黑"/>
              </a:rPr>
              <a:t>Research</a:t>
            </a:r>
            <a:r>
              <a:rPr sz="1400" b="1" spc="105" dirty="0">
                <a:solidFill>
                  <a:srgbClr val="93C4FD"/>
                </a:solidFill>
                <a:latin typeface="微软雅黑"/>
                <a:cs typeface="微软雅黑"/>
              </a:rPr>
              <a:t> </a:t>
            </a:r>
            <a:r>
              <a:rPr sz="1400" b="1" spc="-20" dirty="0">
                <a:solidFill>
                  <a:srgbClr val="93C4FD"/>
                </a:solidFill>
                <a:latin typeface="微软雅黑"/>
                <a:cs typeface="微软雅黑"/>
              </a:rPr>
              <a:t>Flow</a:t>
            </a:r>
            <a:endParaRPr sz="1400">
              <a:latin typeface="微软雅黑"/>
              <a:cs typeface="微软雅黑"/>
            </a:endParaRPr>
          </a:p>
        </p:txBody>
      </p:sp>
      <p:pic>
        <p:nvPicPr>
          <p:cNvPr id="76" name="object 43">
            <a:extLst>
              <a:ext uri="{FF2B5EF4-FFF2-40B4-BE49-F238E27FC236}">
                <a16:creationId xmlns:a16="http://schemas.microsoft.com/office/drawing/2014/main" id="{EEF791D1-F331-4310-994B-C1AD60D881CA}"/>
              </a:ext>
            </a:extLst>
          </p:cNvPr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8200" y="1466850"/>
            <a:ext cx="2009774" cy="1171574"/>
          </a:xfrm>
          <a:prstGeom prst="rect">
            <a:avLst/>
          </a:prstGeom>
        </p:spPr>
      </p:pic>
      <p:grpSp>
        <p:nvGrpSpPr>
          <p:cNvPr id="77" name="object 44">
            <a:extLst>
              <a:ext uri="{FF2B5EF4-FFF2-40B4-BE49-F238E27FC236}">
                <a16:creationId xmlns:a16="http://schemas.microsoft.com/office/drawing/2014/main" id="{F1A69817-4BFC-4C73-BCAE-B909D29F8204}"/>
              </a:ext>
            </a:extLst>
          </p:cNvPr>
          <p:cNvGrpSpPr/>
          <p:nvPr/>
        </p:nvGrpSpPr>
        <p:grpSpPr>
          <a:xfrm>
            <a:off x="7553323" y="1314449"/>
            <a:ext cx="4162425" cy="5219700"/>
            <a:chOff x="7553323" y="1314449"/>
            <a:chExt cx="4162425" cy="5219700"/>
          </a:xfrm>
        </p:grpSpPr>
        <p:sp>
          <p:nvSpPr>
            <p:cNvPr id="78" name="object 45">
              <a:extLst>
                <a:ext uri="{FF2B5EF4-FFF2-40B4-BE49-F238E27FC236}">
                  <a16:creationId xmlns:a16="http://schemas.microsoft.com/office/drawing/2014/main" id="{329878B7-B6A0-47E5-893B-1611F7D8DF81}"/>
                </a:ext>
              </a:extLst>
            </p:cNvPr>
            <p:cNvSpPr/>
            <p:nvPr/>
          </p:nvSpPr>
          <p:spPr>
            <a:xfrm>
              <a:off x="7553323" y="1314449"/>
              <a:ext cx="4162425" cy="5219700"/>
            </a:xfrm>
            <a:custGeom>
              <a:avLst/>
              <a:gdLst/>
              <a:ahLst/>
              <a:cxnLst/>
              <a:rect l="l" t="t" r="r" b="b"/>
              <a:pathLst>
                <a:path w="4162425" h="5219700">
                  <a:moveTo>
                    <a:pt x="4094399" y="5219699"/>
                  </a:moveTo>
                  <a:lnTo>
                    <a:pt x="68026" y="5219699"/>
                  </a:lnTo>
                  <a:lnTo>
                    <a:pt x="63291" y="5219232"/>
                  </a:lnTo>
                  <a:lnTo>
                    <a:pt x="24704" y="5201754"/>
                  </a:lnTo>
                  <a:lnTo>
                    <a:pt x="2331" y="5165784"/>
                  </a:lnTo>
                  <a:lnTo>
                    <a:pt x="0" y="5151672"/>
                  </a:lnTo>
                  <a:lnTo>
                    <a:pt x="0" y="5146892"/>
                  </a:lnTo>
                  <a:lnTo>
                    <a:pt x="0" y="68025"/>
                  </a:lnTo>
                  <a:lnTo>
                    <a:pt x="14925" y="28382"/>
                  </a:lnTo>
                  <a:lnTo>
                    <a:pt x="49360" y="3712"/>
                  </a:lnTo>
                  <a:lnTo>
                    <a:pt x="68026" y="0"/>
                  </a:lnTo>
                  <a:lnTo>
                    <a:pt x="4094399" y="0"/>
                  </a:lnTo>
                  <a:lnTo>
                    <a:pt x="4134040" y="14925"/>
                  </a:lnTo>
                  <a:lnTo>
                    <a:pt x="4158710" y="49361"/>
                  </a:lnTo>
                  <a:lnTo>
                    <a:pt x="4162424" y="68025"/>
                  </a:lnTo>
                  <a:lnTo>
                    <a:pt x="4162424" y="5151672"/>
                  </a:lnTo>
                  <a:lnTo>
                    <a:pt x="4147497" y="5191316"/>
                  </a:lnTo>
                  <a:lnTo>
                    <a:pt x="4113063" y="5215985"/>
                  </a:lnTo>
                  <a:lnTo>
                    <a:pt x="4099133" y="5219232"/>
                  </a:lnTo>
                  <a:lnTo>
                    <a:pt x="4094399" y="5219699"/>
                  </a:lnTo>
                  <a:close/>
                </a:path>
              </a:pathLst>
            </a:custGeom>
            <a:solidFill>
              <a:srgbClr val="000000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9" name="object 46">
              <a:extLst>
                <a:ext uri="{FF2B5EF4-FFF2-40B4-BE49-F238E27FC236}">
                  <a16:creationId xmlns:a16="http://schemas.microsoft.com/office/drawing/2014/main" id="{7767C487-334F-4F91-A768-7ACA55D6889B}"/>
                </a:ext>
              </a:extLst>
            </p:cNvPr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496299" y="1457324"/>
              <a:ext cx="2276474" cy="3495674"/>
            </a:xfrm>
            <a:prstGeom prst="rect">
              <a:avLst/>
            </a:prstGeom>
          </p:spPr>
        </p:pic>
        <p:sp>
          <p:nvSpPr>
            <p:cNvPr id="80" name="object 47">
              <a:extLst>
                <a:ext uri="{FF2B5EF4-FFF2-40B4-BE49-F238E27FC236}">
                  <a16:creationId xmlns:a16="http://schemas.microsoft.com/office/drawing/2014/main" id="{136C619D-A587-400D-B2C2-46B18F5E606A}"/>
                </a:ext>
              </a:extLst>
            </p:cNvPr>
            <p:cNvSpPr/>
            <p:nvPr/>
          </p:nvSpPr>
          <p:spPr>
            <a:xfrm>
              <a:off x="7696198" y="5191124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33526" y="57149"/>
                  </a:moveTo>
                  <a:lnTo>
                    <a:pt x="23624" y="57149"/>
                  </a:lnTo>
                  <a:lnTo>
                    <a:pt x="20149" y="56458"/>
                  </a:lnTo>
                  <a:lnTo>
                    <a:pt x="0" y="33525"/>
                  </a:lnTo>
                  <a:lnTo>
                    <a:pt x="0" y="29914"/>
                  </a:lnTo>
                  <a:lnTo>
                    <a:pt x="0" y="23623"/>
                  </a:lnTo>
                  <a:lnTo>
                    <a:pt x="23624" y="0"/>
                  </a:lnTo>
                  <a:lnTo>
                    <a:pt x="33526" y="0"/>
                  </a:lnTo>
                  <a:lnTo>
                    <a:pt x="57149" y="23623"/>
                  </a:lnTo>
                  <a:lnTo>
                    <a:pt x="57149" y="33525"/>
                  </a:lnTo>
                  <a:lnTo>
                    <a:pt x="37000" y="56458"/>
                  </a:lnTo>
                  <a:lnTo>
                    <a:pt x="33526" y="57149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1" name="object 48">
            <a:extLst>
              <a:ext uri="{FF2B5EF4-FFF2-40B4-BE49-F238E27FC236}">
                <a16:creationId xmlns:a16="http://schemas.microsoft.com/office/drawing/2014/main" id="{856635D5-D04C-40DE-94D2-5F00CCAEF954}"/>
              </a:ext>
            </a:extLst>
          </p:cNvPr>
          <p:cNvSpPr txBox="1"/>
          <p:nvPr/>
        </p:nvSpPr>
        <p:spPr>
          <a:xfrm>
            <a:off x="7846764" y="5066906"/>
            <a:ext cx="3658235" cy="3683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2400"/>
              </a:lnSpc>
              <a:spcBef>
                <a:spcPts val="95"/>
              </a:spcBef>
            </a:pPr>
            <a:r>
              <a:rPr sz="850" b="1" dirty="0">
                <a:solidFill>
                  <a:srgbClr val="FFFFFF"/>
                </a:solidFill>
                <a:latin typeface="微软雅黑"/>
                <a:cs typeface="微软雅黑"/>
              </a:rPr>
              <a:t>多步推理与规划： </a:t>
            </a:r>
            <a:r>
              <a:rPr sz="850" spc="-5" dirty="0">
                <a:solidFill>
                  <a:srgbClr val="D0D5DA"/>
                </a:solidFill>
                <a:latin typeface="微软雅黑"/>
                <a:cs typeface="微软雅黑"/>
              </a:rPr>
              <a:t>系统自动创建研究计划并进行策略检查，确保研究方向的</a:t>
            </a:r>
            <a:r>
              <a:rPr sz="850" spc="-15" dirty="0">
                <a:solidFill>
                  <a:srgbClr val="D0D5DA"/>
                </a:solidFill>
                <a:latin typeface="微软雅黑"/>
                <a:cs typeface="微软雅黑"/>
              </a:rPr>
              <a:t>正确性。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82" name="object 49">
            <a:extLst>
              <a:ext uri="{FF2B5EF4-FFF2-40B4-BE49-F238E27FC236}">
                <a16:creationId xmlns:a16="http://schemas.microsoft.com/office/drawing/2014/main" id="{687165A8-82DB-4747-BDCB-09B211389290}"/>
              </a:ext>
            </a:extLst>
          </p:cNvPr>
          <p:cNvSpPr/>
          <p:nvPr/>
        </p:nvSpPr>
        <p:spPr>
          <a:xfrm>
            <a:off x="7696187" y="5657849"/>
            <a:ext cx="57150" cy="514350"/>
          </a:xfrm>
          <a:custGeom>
            <a:avLst/>
            <a:gdLst/>
            <a:ahLst/>
            <a:cxnLst/>
            <a:rect l="l" t="t" r="r" b="b"/>
            <a:pathLst>
              <a:path w="57150" h="514350">
                <a:moveTo>
                  <a:pt x="57150" y="480834"/>
                </a:moveTo>
                <a:lnTo>
                  <a:pt x="33528" y="457200"/>
                </a:lnTo>
                <a:lnTo>
                  <a:pt x="23634" y="457200"/>
                </a:lnTo>
                <a:lnTo>
                  <a:pt x="0" y="480834"/>
                </a:lnTo>
                <a:lnTo>
                  <a:pt x="0" y="487121"/>
                </a:lnTo>
                <a:lnTo>
                  <a:pt x="0" y="490728"/>
                </a:lnTo>
                <a:lnTo>
                  <a:pt x="23634" y="514350"/>
                </a:lnTo>
                <a:lnTo>
                  <a:pt x="33528" y="514350"/>
                </a:lnTo>
                <a:lnTo>
                  <a:pt x="57150" y="490728"/>
                </a:lnTo>
                <a:lnTo>
                  <a:pt x="57150" y="480834"/>
                </a:lnTo>
                <a:close/>
              </a:path>
              <a:path w="57150" h="514350">
                <a:moveTo>
                  <a:pt x="57150" y="20662"/>
                </a:moveTo>
                <a:lnTo>
                  <a:pt x="36499" y="0"/>
                </a:lnTo>
                <a:lnTo>
                  <a:pt x="20662" y="0"/>
                </a:lnTo>
                <a:lnTo>
                  <a:pt x="0" y="20662"/>
                </a:lnTo>
                <a:lnTo>
                  <a:pt x="0" y="23812"/>
                </a:lnTo>
                <a:lnTo>
                  <a:pt x="0" y="26974"/>
                </a:lnTo>
                <a:lnTo>
                  <a:pt x="20662" y="47625"/>
                </a:lnTo>
                <a:lnTo>
                  <a:pt x="36499" y="47625"/>
                </a:lnTo>
                <a:lnTo>
                  <a:pt x="57150" y="26974"/>
                </a:lnTo>
                <a:lnTo>
                  <a:pt x="57150" y="20662"/>
                </a:lnTo>
                <a:close/>
              </a:path>
            </a:pathLst>
          </a:custGeom>
          <a:solidFill>
            <a:srgbClr val="60A5F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50">
            <a:extLst>
              <a:ext uri="{FF2B5EF4-FFF2-40B4-BE49-F238E27FC236}">
                <a16:creationId xmlns:a16="http://schemas.microsoft.com/office/drawing/2014/main" id="{B2BA4272-67DD-4957-A2D7-CF0DCA85EA38}"/>
              </a:ext>
            </a:extLst>
          </p:cNvPr>
          <p:cNvSpPr txBox="1"/>
          <p:nvPr/>
        </p:nvSpPr>
        <p:spPr>
          <a:xfrm>
            <a:off x="7846764" y="5514581"/>
            <a:ext cx="3658235" cy="387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9700"/>
              </a:lnSpc>
              <a:spcBef>
                <a:spcPts val="95"/>
              </a:spcBef>
            </a:pPr>
            <a:r>
              <a:rPr sz="850" b="1" dirty="0">
                <a:solidFill>
                  <a:srgbClr val="FFFFFF"/>
                </a:solidFill>
                <a:latin typeface="微软雅黑"/>
                <a:cs typeface="微软雅黑"/>
              </a:rPr>
              <a:t>知识提取与合成： </a:t>
            </a:r>
            <a:r>
              <a:rPr sz="850" spc="-5" dirty="0">
                <a:solidFill>
                  <a:srgbClr val="D0D5DA"/>
                </a:solidFill>
                <a:latin typeface="微软雅黑"/>
                <a:cs typeface="微软雅黑"/>
              </a:rPr>
              <a:t>自动从大量非结构化文本中提取关键结论，并合成最终结</a:t>
            </a:r>
            <a:r>
              <a:rPr sz="850" spc="-25" dirty="0">
                <a:solidFill>
                  <a:srgbClr val="D0D5DA"/>
                </a:solidFill>
                <a:latin typeface="微软雅黑"/>
                <a:cs typeface="微软雅黑"/>
              </a:rPr>
              <a:t>果。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84" name="object 51">
            <a:extLst>
              <a:ext uri="{FF2B5EF4-FFF2-40B4-BE49-F238E27FC236}">
                <a16:creationId xmlns:a16="http://schemas.microsoft.com/office/drawing/2014/main" id="{525BAA4B-1312-4AEE-BB0C-BB68F05DBA92}"/>
              </a:ext>
            </a:extLst>
          </p:cNvPr>
          <p:cNvSpPr txBox="1"/>
          <p:nvPr/>
        </p:nvSpPr>
        <p:spPr>
          <a:xfrm>
            <a:off x="7846764" y="5981306"/>
            <a:ext cx="3549650" cy="387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39700"/>
              </a:lnSpc>
              <a:spcBef>
                <a:spcPts val="95"/>
              </a:spcBef>
            </a:pPr>
            <a:r>
              <a:rPr sz="850" b="1" dirty="0">
                <a:solidFill>
                  <a:srgbClr val="FFFFFF"/>
                </a:solidFill>
                <a:latin typeface="微软雅黑"/>
                <a:cs typeface="微软雅黑"/>
              </a:rPr>
              <a:t>增强验证机制： </a:t>
            </a:r>
            <a:r>
              <a:rPr sz="850" dirty="0">
                <a:solidFill>
                  <a:srgbClr val="D0D5DA"/>
                </a:solidFill>
                <a:latin typeface="微软雅黑"/>
                <a:cs typeface="微软雅黑"/>
              </a:rPr>
              <a:t>特别增加了引用生成和来源可信度验证，解决</a:t>
            </a:r>
            <a:r>
              <a:rPr sz="850" spc="-10" dirty="0">
                <a:solidFill>
                  <a:srgbClr val="D0D5DA"/>
                </a:solidFill>
                <a:latin typeface="微软雅黑"/>
                <a:cs typeface="微软雅黑"/>
              </a:rPr>
              <a:t>LLM</a:t>
            </a:r>
            <a:r>
              <a:rPr sz="850" spc="-20" dirty="0">
                <a:solidFill>
                  <a:srgbClr val="D0D5DA"/>
                </a:solidFill>
                <a:latin typeface="微软雅黑"/>
                <a:cs typeface="微软雅黑"/>
              </a:rPr>
              <a:t>幻觉问</a:t>
            </a:r>
            <a:r>
              <a:rPr sz="850" spc="-25" dirty="0">
                <a:solidFill>
                  <a:srgbClr val="D0D5DA"/>
                </a:solidFill>
                <a:latin typeface="微软雅黑"/>
                <a:cs typeface="微软雅黑"/>
              </a:rPr>
              <a:t>题。</a:t>
            </a:r>
            <a:endParaRPr sz="850">
              <a:latin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24399672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" y="0"/>
            <a:ext cx="12115800" cy="6858000"/>
          </a:xfrm>
          <a:custGeom>
            <a:avLst/>
            <a:gdLst/>
            <a:ahLst/>
            <a:cxnLst/>
            <a:rect l="l" t="t" r="r" b="b"/>
            <a:pathLst>
              <a:path w="12115800" h="6858000">
                <a:moveTo>
                  <a:pt x="0" y="6857999"/>
                </a:moveTo>
                <a:lnTo>
                  <a:pt x="12115799" y="6857999"/>
                </a:lnTo>
                <a:lnTo>
                  <a:pt x="121157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1A2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315199" y="0"/>
            <a:ext cx="4876800" cy="6858000"/>
          </a:xfrm>
          <a:custGeom>
            <a:avLst/>
            <a:gdLst/>
            <a:ahLst/>
            <a:cxnLst/>
            <a:rect l="l" t="t" r="r" b="b"/>
            <a:pathLst>
              <a:path w="4876800" h="6858000">
                <a:moveTo>
                  <a:pt x="4876799" y="6857999"/>
                </a:moveTo>
                <a:lnTo>
                  <a:pt x="0" y="6857999"/>
                </a:lnTo>
                <a:lnTo>
                  <a:pt x="975359" y="0"/>
                </a:lnTo>
                <a:lnTo>
                  <a:pt x="4876799" y="0"/>
                </a:lnTo>
                <a:lnTo>
                  <a:pt x="4876799" y="6857999"/>
                </a:lnTo>
                <a:close/>
              </a:path>
            </a:pathLst>
          </a:custGeom>
          <a:solidFill>
            <a:srgbClr val="4A54A5">
              <a:alpha val="148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76199" y="0"/>
                </a:lnTo>
                <a:lnTo>
                  <a:pt x="76199" y="685799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58800" y="240664"/>
            <a:ext cx="2585720" cy="4648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850" spc="-10" dirty="0"/>
              <a:t>新商业模式创新</a:t>
            </a:r>
            <a:endParaRPr sz="2850"/>
          </a:p>
        </p:txBody>
      </p:sp>
      <p:sp>
        <p:nvSpPr>
          <p:cNvPr id="6" name="object 6"/>
          <p:cNvSpPr/>
          <p:nvPr/>
        </p:nvSpPr>
        <p:spPr>
          <a:xfrm>
            <a:off x="571499" y="828674"/>
            <a:ext cx="762000" cy="38100"/>
          </a:xfrm>
          <a:custGeom>
            <a:avLst/>
            <a:gdLst/>
            <a:ahLst/>
            <a:cxnLst/>
            <a:rect l="l" t="t" r="r" b="b"/>
            <a:pathLst>
              <a:path w="762000" h="38100">
                <a:moveTo>
                  <a:pt x="761999" y="38099"/>
                </a:moveTo>
                <a:lnTo>
                  <a:pt x="0" y="38099"/>
                </a:lnTo>
                <a:lnTo>
                  <a:pt x="0" y="0"/>
                </a:lnTo>
                <a:lnTo>
                  <a:pt x="761999" y="0"/>
                </a:lnTo>
                <a:lnTo>
                  <a:pt x="76199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5400674" y="1362074"/>
            <a:ext cx="304800" cy="304800"/>
            <a:chOff x="5400674" y="1362074"/>
            <a:chExt cx="304800" cy="304800"/>
          </a:xfrm>
        </p:grpSpPr>
        <p:sp>
          <p:nvSpPr>
            <p:cNvPr id="8" name="object 8"/>
            <p:cNvSpPr/>
            <p:nvPr/>
          </p:nvSpPr>
          <p:spPr>
            <a:xfrm>
              <a:off x="5400674" y="13620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71752" y="304799"/>
                  </a:moveTo>
                  <a:lnTo>
                    <a:pt x="33047" y="304799"/>
                  </a:lnTo>
                  <a:lnTo>
                    <a:pt x="28187" y="303833"/>
                  </a:lnTo>
                  <a:lnTo>
                    <a:pt x="966" y="276612"/>
                  </a:lnTo>
                  <a:lnTo>
                    <a:pt x="0" y="271752"/>
                  </a:lnTo>
                  <a:lnTo>
                    <a:pt x="0" y="2666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2" y="0"/>
                  </a:lnTo>
                  <a:lnTo>
                    <a:pt x="303832" y="28187"/>
                  </a:lnTo>
                  <a:lnTo>
                    <a:pt x="304799" y="33047"/>
                  </a:lnTo>
                  <a:lnTo>
                    <a:pt x="304799" y="271752"/>
                  </a:lnTo>
                  <a:lnTo>
                    <a:pt x="276611" y="303833"/>
                  </a:lnTo>
                  <a:lnTo>
                    <a:pt x="271752" y="304799"/>
                  </a:lnTo>
                  <a:close/>
                </a:path>
              </a:pathLst>
            </a:custGeom>
            <a:solidFill>
              <a:srgbClr val="256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86399" y="1447799"/>
              <a:ext cx="133350" cy="133350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5803949" y="1387475"/>
            <a:ext cx="5781675" cy="82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solidFill>
                  <a:srgbClr val="FFFFFF"/>
                </a:solidFill>
                <a:latin typeface="微软雅黑"/>
                <a:cs typeface="微软雅黑"/>
              </a:rPr>
              <a:t>场景：动态舆情与趋势监测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615"/>
              </a:spcBef>
            </a:pPr>
            <a:r>
              <a:rPr sz="1200" dirty="0">
                <a:solidFill>
                  <a:srgbClr val="D0D5DA"/>
                </a:solidFill>
                <a:latin typeface="微软雅黑"/>
                <a:cs typeface="微软雅黑"/>
              </a:rPr>
              <a:t>针对新闻监测和社交媒体分析场景，利用流处理技术（Stream</a:t>
            </a:r>
            <a:r>
              <a:rPr sz="1200" spc="-85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200" spc="-10" dirty="0">
                <a:solidFill>
                  <a:srgbClr val="D0D5DA"/>
                </a:solidFill>
                <a:latin typeface="微软雅黑"/>
                <a:cs typeface="微软雅黑"/>
              </a:rPr>
              <a:t>Processing）</a:t>
            </a:r>
            <a:r>
              <a:rPr sz="1200" spc="-15" dirty="0">
                <a:solidFill>
                  <a:srgbClr val="D0D5DA"/>
                </a:solidFill>
                <a:latin typeface="微软雅黑"/>
                <a:cs typeface="微软雅黑"/>
              </a:rPr>
              <a:t>实时摄入</a:t>
            </a: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多源异构数据，系统能够自动追踪突发事件并即时更新分析语境。</a:t>
            </a:r>
            <a:endParaRPr sz="1200">
              <a:latin typeface="微软雅黑"/>
              <a:cs typeface="微软雅黑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5400674" y="2543174"/>
            <a:ext cx="304800" cy="304800"/>
            <a:chOff x="5400674" y="2543174"/>
            <a:chExt cx="304800" cy="304800"/>
          </a:xfrm>
        </p:grpSpPr>
        <p:sp>
          <p:nvSpPr>
            <p:cNvPr id="12" name="object 12"/>
            <p:cNvSpPr/>
            <p:nvPr/>
          </p:nvSpPr>
          <p:spPr>
            <a:xfrm>
              <a:off x="5400674" y="25431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71752" y="304799"/>
                  </a:moveTo>
                  <a:lnTo>
                    <a:pt x="33047" y="304799"/>
                  </a:lnTo>
                  <a:lnTo>
                    <a:pt x="28187" y="303832"/>
                  </a:lnTo>
                  <a:lnTo>
                    <a:pt x="966" y="276612"/>
                  </a:lnTo>
                  <a:lnTo>
                    <a:pt x="0" y="271752"/>
                  </a:lnTo>
                  <a:lnTo>
                    <a:pt x="0" y="2666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2" y="0"/>
                  </a:lnTo>
                  <a:lnTo>
                    <a:pt x="303832" y="28187"/>
                  </a:lnTo>
                  <a:lnTo>
                    <a:pt x="304799" y="33047"/>
                  </a:lnTo>
                  <a:lnTo>
                    <a:pt x="304799" y="271752"/>
                  </a:lnTo>
                  <a:lnTo>
                    <a:pt x="276611" y="303832"/>
                  </a:lnTo>
                  <a:lnTo>
                    <a:pt x="271752" y="304799"/>
                  </a:lnTo>
                  <a:close/>
                </a:path>
              </a:pathLst>
            </a:custGeom>
            <a:solidFill>
              <a:srgbClr val="4E45E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86399" y="2628899"/>
              <a:ext cx="133350" cy="133350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5803949" y="2568575"/>
            <a:ext cx="5742940" cy="865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15" dirty="0">
                <a:solidFill>
                  <a:srgbClr val="FFFFFF"/>
                </a:solidFill>
                <a:latin typeface="微软雅黑"/>
                <a:cs typeface="微软雅黑"/>
              </a:rPr>
              <a:t>技术</a:t>
            </a: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：Agentic</a:t>
            </a:r>
            <a:r>
              <a:rPr sz="1500" b="1" spc="-3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1500" b="1" dirty="0">
                <a:solidFill>
                  <a:srgbClr val="FFFFFF"/>
                </a:solidFill>
                <a:latin typeface="微软雅黑"/>
                <a:cs typeface="微软雅黑"/>
              </a:rPr>
              <a:t>RAG</a:t>
            </a:r>
            <a:r>
              <a:rPr sz="1500" b="1" spc="-25" dirty="0">
                <a:solidFill>
                  <a:srgbClr val="FFFFFF"/>
                </a:solidFill>
                <a:latin typeface="微软雅黑"/>
                <a:cs typeface="微软雅黑"/>
              </a:rPr>
              <a:t> + 混合检索</a:t>
            </a:r>
            <a:endParaRPr sz="1500">
              <a:latin typeface="微软雅黑"/>
              <a:cs typeface="微软雅黑"/>
            </a:endParaRPr>
          </a:p>
          <a:p>
            <a:pPr marL="123825" indent="-111125">
              <a:lnSpc>
                <a:spcPct val="100000"/>
              </a:lnSpc>
              <a:spcBef>
                <a:spcPts val="1125"/>
              </a:spcBef>
              <a:buChar char="•"/>
              <a:tabLst>
                <a:tab pos="123825" algn="l"/>
              </a:tabLst>
            </a:pPr>
            <a:r>
              <a:rPr sz="1200" dirty="0">
                <a:solidFill>
                  <a:srgbClr val="60A5FA"/>
                </a:solidFill>
                <a:latin typeface="微软雅黑"/>
                <a:cs typeface="微软雅黑"/>
              </a:rPr>
              <a:t>动态机制：</a:t>
            </a: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引入动态决策引擎、多轮反思机制与验证闭环，突破静态检索限制。</a:t>
            </a:r>
            <a:endParaRPr sz="1200">
              <a:latin typeface="微软雅黑"/>
              <a:cs typeface="微软雅黑"/>
            </a:endParaRPr>
          </a:p>
          <a:p>
            <a:pPr marL="123825" indent="-111125">
              <a:lnSpc>
                <a:spcPct val="100000"/>
              </a:lnSpc>
              <a:spcBef>
                <a:spcPts val="810"/>
              </a:spcBef>
              <a:buChar char="•"/>
              <a:tabLst>
                <a:tab pos="123825" algn="l"/>
              </a:tabLst>
            </a:pPr>
            <a:r>
              <a:rPr sz="1200" dirty="0">
                <a:solidFill>
                  <a:srgbClr val="60A5FA"/>
                </a:solidFill>
                <a:latin typeface="微软雅黑"/>
                <a:cs typeface="微软雅黑"/>
              </a:rPr>
              <a:t>混合搜索：</a:t>
            </a:r>
            <a:r>
              <a:rPr sz="1200" dirty="0">
                <a:solidFill>
                  <a:srgbClr val="D0D5DA"/>
                </a:solidFill>
                <a:latin typeface="微软雅黑"/>
                <a:cs typeface="微软雅黑"/>
              </a:rPr>
              <a:t>结合向量搜索与BM25</a:t>
            </a: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关键词搜索，加权融合以提升复杂查询的精准度。</a:t>
            </a:r>
            <a:endParaRPr sz="1200">
              <a:latin typeface="微软雅黑"/>
              <a:cs typeface="微软雅黑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86399" y="3856434"/>
            <a:ext cx="133350" cy="116681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5803949" y="3787775"/>
            <a:ext cx="5827395" cy="8274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solidFill>
                  <a:srgbClr val="FFFFFF"/>
                </a:solidFill>
                <a:latin typeface="微软雅黑"/>
                <a:cs typeface="微软雅黑"/>
              </a:rPr>
              <a:t>价值：构建实时决策支持平台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615"/>
              </a:spcBef>
            </a:pPr>
            <a:r>
              <a:rPr sz="1200" spc="-20" dirty="0">
                <a:solidFill>
                  <a:srgbClr val="D0D5DA"/>
                </a:solidFill>
                <a:latin typeface="微软雅黑"/>
                <a:cs typeface="微软雅黑"/>
              </a:rPr>
              <a:t>通过端到端训练方法</a:t>
            </a:r>
            <a:r>
              <a:rPr sz="1200" spc="-10" dirty="0">
                <a:solidFill>
                  <a:srgbClr val="D0D5DA"/>
                </a:solidFill>
                <a:latin typeface="微软雅黑"/>
                <a:cs typeface="微软雅黑"/>
              </a:rPr>
              <a:t>（End-to-</a:t>
            </a:r>
            <a:r>
              <a:rPr sz="1200" dirty="0">
                <a:solidFill>
                  <a:srgbClr val="D0D5DA"/>
                </a:solidFill>
                <a:latin typeface="微软雅黑"/>
                <a:cs typeface="微软雅黑"/>
              </a:rPr>
              <a:t>end </a:t>
            </a:r>
            <a:r>
              <a:rPr sz="1200" spc="-25" dirty="0">
                <a:solidFill>
                  <a:srgbClr val="D0D5DA"/>
                </a:solidFill>
                <a:latin typeface="微软雅黑"/>
                <a:cs typeface="微软雅黑"/>
              </a:rPr>
              <a:t>Training），</a:t>
            </a:r>
            <a:r>
              <a:rPr sz="1200" spc="-20" dirty="0">
                <a:solidFill>
                  <a:srgbClr val="D0D5DA"/>
                </a:solidFill>
                <a:latin typeface="微软雅黑"/>
                <a:cs typeface="微软雅黑"/>
              </a:rPr>
              <a:t>将任务错误率大幅降低 </a:t>
            </a:r>
            <a:r>
              <a:rPr sz="1200" b="1" dirty="0">
                <a:solidFill>
                  <a:srgbClr val="D0D5DA"/>
                </a:solidFill>
                <a:latin typeface="微软雅黑"/>
                <a:cs typeface="微软雅黑"/>
              </a:rPr>
              <a:t>76%</a:t>
            </a:r>
            <a:r>
              <a:rPr sz="1200" spc="-15" dirty="0">
                <a:solidFill>
                  <a:srgbClr val="D0D5DA"/>
                </a:solidFill>
                <a:latin typeface="微软雅黑"/>
                <a:cs typeface="微软雅黑"/>
              </a:rPr>
              <a:t>。系统具</a:t>
            </a: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备主动探索、来源可信度评分与矛盾检测能力，提供专业级研究报告。</a:t>
            </a:r>
            <a:endParaRPr sz="1200">
              <a:latin typeface="微软雅黑"/>
              <a:cs typeface="微软雅黑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400674" y="4943474"/>
            <a:ext cx="304800" cy="304800"/>
            <a:chOff x="5400674" y="4943474"/>
            <a:chExt cx="304800" cy="304800"/>
          </a:xfrm>
        </p:grpSpPr>
        <p:sp>
          <p:nvSpPr>
            <p:cNvPr id="18" name="object 18"/>
            <p:cNvSpPr/>
            <p:nvPr/>
          </p:nvSpPr>
          <p:spPr>
            <a:xfrm>
              <a:off x="5400674" y="4943474"/>
              <a:ext cx="304800" cy="304800"/>
            </a:xfrm>
            <a:custGeom>
              <a:avLst/>
              <a:gdLst/>
              <a:ahLst/>
              <a:cxnLst/>
              <a:rect l="l" t="t" r="r" b="b"/>
              <a:pathLst>
                <a:path w="304800" h="304800">
                  <a:moveTo>
                    <a:pt x="271752" y="304799"/>
                  </a:moveTo>
                  <a:lnTo>
                    <a:pt x="33047" y="304799"/>
                  </a:lnTo>
                  <a:lnTo>
                    <a:pt x="28187" y="303832"/>
                  </a:lnTo>
                  <a:lnTo>
                    <a:pt x="966" y="276612"/>
                  </a:lnTo>
                  <a:lnTo>
                    <a:pt x="0" y="271752"/>
                  </a:lnTo>
                  <a:lnTo>
                    <a:pt x="0" y="26669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271752" y="0"/>
                  </a:lnTo>
                  <a:lnTo>
                    <a:pt x="303832" y="28186"/>
                  </a:lnTo>
                  <a:lnTo>
                    <a:pt x="304799" y="33047"/>
                  </a:lnTo>
                  <a:lnTo>
                    <a:pt x="304799" y="271752"/>
                  </a:lnTo>
                  <a:lnTo>
                    <a:pt x="276611" y="303832"/>
                  </a:lnTo>
                  <a:lnTo>
                    <a:pt x="271752" y="304799"/>
                  </a:lnTo>
                  <a:close/>
                </a:path>
              </a:pathLst>
            </a:custGeom>
            <a:solidFill>
              <a:srgbClr val="7C3A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467349" y="5029199"/>
              <a:ext cx="166687" cy="13335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5803949" y="4968875"/>
            <a:ext cx="5816600" cy="1075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spc="-5" dirty="0">
                <a:solidFill>
                  <a:srgbClr val="FFFFFF"/>
                </a:solidFill>
                <a:latin typeface="微软雅黑"/>
                <a:cs typeface="微软雅黑"/>
              </a:rPr>
              <a:t>机会：联邦协作等新兴模式</a:t>
            </a:r>
            <a:endParaRPr sz="1500">
              <a:latin typeface="微软雅黑"/>
              <a:cs typeface="微软雅黑"/>
            </a:endParaRPr>
          </a:p>
          <a:p>
            <a:pPr marL="12700" marR="5080">
              <a:lnSpc>
                <a:spcPct val="135400"/>
              </a:lnSpc>
              <a:spcBef>
                <a:spcPts val="615"/>
              </a:spcBef>
            </a:pPr>
            <a:r>
              <a:rPr sz="1200" spc="-10" dirty="0">
                <a:solidFill>
                  <a:srgbClr val="D0D5DA"/>
                </a:solidFill>
                <a:latin typeface="微软雅黑"/>
                <a:cs typeface="微软雅黑"/>
              </a:rPr>
              <a:t>基于 </a:t>
            </a:r>
            <a:r>
              <a:rPr sz="1200" b="1" spc="-10" dirty="0">
                <a:solidFill>
                  <a:srgbClr val="A68BFA"/>
                </a:solidFill>
                <a:latin typeface="微软雅黑"/>
                <a:cs typeface="微软雅黑"/>
              </a:rPr>
              <a:t>联邦 </a:t>
            </a:r>
            <a:r>
              <a:rPr sz="1200" b="1" dirty="0">
                <a:solidFill>
                  <a:srgbClr val="A68BFA"/>
                </a:solidFill>
                <a:latin typeface="微软雅黑"/>
                <a:cs typeface="微软雅黑"/>
              </a:rPr>
              <a:t>Agentic</a:t>
            </a:r>
            <a:r>
              <a:rPr sz="1200" b="1" spc="-20" dirty="0">
                <a:solidFill>
                  <a:srgbClr val="A68BFA"/>
                </a:solidFill>
                <a:latin typeface="微软雅黑"/>
                <a:cs typeface="微软雅黑"/>
              </a:rPr>
              <a:t> </a:t>
            </a:r>
            <a:r>
              <a:rPr sz="1200" b="1" dirty="0">
                <a:solidFill>
                  <a:srgbClr val="A68BFA"/>
                </a:solidFill>
                <a:latin typeface="微软雅黑"/>
                <a:cs typeface="微软雅黑"/>
              </a:rPr>
              <a:t>RAG</a:t>
            </a:r>
            <a:r>
              <a:rPr sz="1200" b="1" spc="-25" dirty="0">
                <a:solidFill>
                  <a:srgbClr val="A68BFA"/>
                </a:solidFill>
                <a:latin typeface="微软雅黑"/>
                <a:cs typeface="微软雅黑"/>
              </a:rPr>
              <a:t> </a:t>
            </a:r>
            <a:r>
              <a:rPr sz="1200" dirty="0">
                <a:solidFill>
                  <a:srgbClr val="D0D5DA"/>
                </a:solidFill>
                <a:latin typeface="微软雅黑"/>
                <a:cs typeface="微软雅黑"/>
              </a:rPr>
              <a:t>架构，支持跨机构（如医院A与医院B）</a:t>
            </a:r>
            <a:r>
              <a:rPr sz="1200" spc="-10" dirty="0">
                <a:solidFill>
                  <a:srgbClr val="D0D5DA"/>
                </a:solidFill>
                <a:latin typeface="微软雅黑"/>
                <a:cs typeface="微软雅黑"/>
              </a:rPr>
              <a:t>在加密通道中协作。</a:t>
            </a:r>
            <a:r>
              <a:rPr sz="1200" spc="-5" dirty="0">
                <a:solidFill>
                  <a:srgbClr val="D0D5DA"/>
                </a:solidFill>
                <a:latin typeface="微软雅黑"/>
                <a:cs typeface="微软雅黑"/>
              </a:rPr>
              <a:t>在医疗诊断、金融风控等敏感数据领域，实现“数据不动模型动”的知识共享新商业闭</a:t>
            </a:r>
            <a:r>
              <a:rPr sz="1200" spc="-25" dirty="0">
                <a:solidFill>
                  <a:srgbClr val="D0D5DA"/>
                </a:solidFill>
                <a:latin typeface="微软雅黑"/>
                <a:cs typeface="微软雅黑"/>
              </a:rPr>
              <a:t>环。</a:t>
            </a:r>
            <a:endParaRPr sz="1200">
              <a:latin typeface="微软雅黑"/>
              <a:cs typeface="微软雅黑"/>
            </a:endParaRPr>
          </a:p>
        </p:txBody>
      </p:sp>
      <p:pic>
        <p:nvPicPr>
          <p:cNvPr id="21" name="object 21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71500" y="1104899"/>
            <a:ext cx="4448174" cy="521969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2209601" y="1597025"/>
            <a:ext cx="11557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80" dirty="0">
                <a:solidFill>
                  <a:srgbClr val="BEDAFE"/>
                </a:solidFill>
                <a:latin typeface="微软雅黑"/>
                <a:cs typeface="微软雅黑"/>
              </a:rPr>
              <a:t>INPUT</a:t>
            </a:r>
            <a:r>
              <a:rPr sz="1050" spc="210" dirty="0">
                <a:solidFill>
                  <a:srgbClr val="BEDAFE"/>
                </a:solidFill>
                <a:latin typeface="微软雅黑"/>
                <a:cs typeface="微软雅黑"/>
              </a:rPr>
              <a:t> </a:t>
            </a:r>
            <a:r>
              <a:rPr sz="1050" spc="75" dirty="0">
                <a:solidFill>
                  <a:srgbClr val="BEDAFE"/>
                </a:solidFill>
                <a:latin typeface="微软雅黑"/>
                <a:cs typeface="微软雅黑"/>
              </a:rPr>
              <a:t>STREAM</a:t>
            </a:r>
            <a:endParaRPr sz="1050">
              <a:latin typeface="微软雅黑"/>
              <a:cs typeface="微软雅黑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002135" y="1997075"/>
            <a:ext cx="156019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5" dirty="0">
                <a:solidFill>
                  <a:srgbClr val="FFFFFF"/>
                </a:solidFill>
                <a:latin typeface="微软雅黑"/>
                <a:cs typeface="微软雅黑"/>
              </a:rPr>
              <a:t>实时舆情 / 社媒数据流</a:t>
            </a:r>
            <a:endParaRPr sz="1200">
              <a:latin typeface="微软雅黑"/>
              <a:cs typeface="微软雅黑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816100" y="4587875"/>
            <a:ext cx="1943100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80" dirty="0">
                <a:solidFill>
                  <a:srgbClr val="BEDAFE"/>
                </a:solidFill>
                <a:latin typeface="微软雅黑"/>
                <a:cs typeface="微软雅黑"/>
              </a:rPr>
              <a:t>FEDERATED</a:t>
            </a:r>
            <a:r>
              <a:rPr sz="1050" spc="210" dirty="0">
                <a:solidFill>
                  <a:srgbClr val="BEDAFE"/>
                </a:solidFill>
                <a:latin typeface="微软雅黑"/>
                <a:cs typeface="微软雅黑"/>
              </a:rPr>
              <a:t> </a:t>
            </a:r>
            <a:r>
              <a:rPr sz="1050" spc="75" dirty="0">
                <a:solidFill>
                  <a:srgbClr val="BEDAFE"/>
                </a:solidFill>
                <a:latin typeface="微软雅黑"/>
                <a:cs typeface="微软雅黑"/>
              </a:rPr>
              <a:t>APPLICATION</a:t>
            </a:r>
            <a:endParaRPr sz="1050">
              <a:latin typeface="微软雅黑"/>
              <a:cs typeface="微软雅黑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31987" y="5216525"/>
            <a:ext cx="3683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D0D5DA"/>
                </a:solidFill>
                <a:latin typeface="微软雅黑"/>
                <a:cs typeface="微软雅黑"/>
              </a:rPr>
              <a:t>医院 </a:t>
            </a:r>
            <a:r>
              <a:rPr sz="900" spc="-50" dirty="0">
                <a:solidFill>
                  <a:srgbClr val="D0D5DA"/>
                </a:solidFill>
                <a:latin typeface="微软雅黑"/>
                <a:cs typeface="微软雅黑"/>
              </a:rPr>
              <a:t>A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92227" y="5216525"/>
            <a:ext cx="36004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D0D5DA"/>
                </a:solidFill>
                <a:latin typeface="微软雅黑"/>
                <a:cs typeface="微软雅黑"/>
              </a:rPr>
              <a:t>医院 </a:t>
            </a:r>
            <a:r>
              <a:rPr sz="900" spc="-50" dirty="0">
                <a:solidFill>
                  <a:srgbClr val="D0D5DA"/>
                </a:solidFill>
                <a:latin typeface="微软雅黑"/>
                <a:cs typeface="微软雅黑"/>
              </a:rPr>
              <a:t>B</a:t>
            </a:r>
            <a:endParaRPr sz="900">
              <a:latin typeface="微软雅黑"/>
              <a:cs typeface="微软雅黑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152600" y="5635625"/>
            <a:ext cx="128270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5" dirty="0">
                <a:latin typeface="微软雅黑"/>
                <a:cs typeface="微软雅黑"/>
              </a:rPr>
              <a:t>知识共享不泄露原始数据</a:t>
            </a:r>
            <a:endParaRPr sz="900">
              <a:latin typeface="微软雅黑"/>
              <a:cs typeface="微软雅黑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09625" y="2876549"/>
            <a:ext cx="3971925" cy="1181100"/>
            <a:chOff x="809625" y="2876549"/>
            <a:chExt cx="3971925" cy="1181100"/>
          </a:xfrm>
        </p:grpSpPr>
        <p:sp>
          <p:nvSpPr>
            <p:cNvPr id="29" name="object 29"/>
            <p:cNvSpPr/>
            <p:nvPr/>
          </p:nvSpPr>
          <p:spPr>
            <a:xfrm>
              <a:off x="809612" y="2876561"/>
              <a:ext cx="3971925" cy="1181100"/>
            </a:xfrm>
            <a:custGeom>
              <a:avLst/>
              <a:gdLst/>
              <a:ahLst/>
              <a:cxnLst/>
              <a:rect l="l" t="t" r="r" b="b"/>
              <a:pathLst>
                <a:path w="3971925" h="1181100">
                  <a:moveTo>
                    <a:pt x="19050" y="951738"/>
                  </a:moveTo>
                  <a:lnTo>
                    <a:pt x="0" y="951738"/>
                  </a:lnTo>
                  <a:lnTo>
                    <a:pt x="0" y="1008888"/>
                  </a:lnTo>
                  <a:lnTo>
                    <a:pt x="19050" y="1008888"/>
                  </a:lnTo>
                  <a:lnTo>
                    <a:pt x="19050" y="951738"/>
                  </a:lnTo>
                  <a:close/>
                </a:path>
                <a:path w="3971925" h="1181100">
                  <a:moveTo>
                    <a:pt x="19050" y="856132"/>
                  </a:moveTo>
                  <a:lnTo>
                    <a:pt x="0" y="856132"/>
                  </a:lnTo>
                  <a:lnTo>
                    <a:pt x="0" y="913282"/>
                  </a:lnTo>
                  <a:lnTo>
                    <a:pt x="19050" y="913282"/>
                  </a:lnTo>
                  <a:lnTo>
                    <a:pt x="19050" y="856132"/>
                  </a:lnTo>
                  <a:close/>
                </a:path>
                <a:path w="3971925" h="1181100">
                  <a:moveTo>
                    <a:pt x="19050" y="760514"/>
                  </a:moveTo>
                  <a:lnTo>
                    <a:pt x="0" y="760514"/>
                  </a:lnTo>
                  <a:lnTo>
                    <a:pt x="0" y="817664"/>
                  </a:lnTo>
                  <a:lnTo>
                    <a:pt x="19050" y="817664"/>
                  </a:lnTo>
                  <a:lnTo>
                    <a:pt x="19050" y="760514"/>
                  </a:lnTo>
                  <a:close/>
                </a:path>
                <a:path w="3971925" h="1181100">
                  <a:moveTo>
                    <a:pt x="19050" y="664908"/>
                  </a:moveTo>
                  <a:lnTo>
                    <a:pt x="0" y="664908"/>
                  </a:lnTo>
                  <a:lnTo>
                    <a:pt x="0" y="722058"/>
                  </a:lnTo>
                  <a:lnTo>
                    <a:pt x="19050" y="722058"/>
                  </a:lnTo>
                  <a:lnTo>
                    <a:pt x="19050" y="664908"/>
                  </a:lnTo>
                  <a:close/>
                </a:path>
                <a:path w="3971925" h="1181100">
                  <a:moveTo>
                    <a:pt x="19050" y="569290"/>
                  </a:moveTo>
                  <a:lnTo>
                    <a:pt x="0" y="569290"/>
                  </a:lnTo>
                  <a:lnTo>
                    <a:pt x="0" y="626440"/>
                  </a:lnTo>
                  <a:lnTo>
                    <a:pt x="19050" y="626440"/>
                  </a:lnTo>
                  <a:lnTo>
                    <a:pt x="19050" y="569290"/>
                  </a:lnTo>
                  <a:close/>
                </a:path>
                <a:path w="3971925" h="1181100">
                  <a:moveTo>
                    <a:pt x="19050" y="473684"/>
                  </a:moveTo>
                  <a:lnTo>
                    <a:pt x="0" y="473684"/>
                  </a:lnTo>
                  <a:lnTo>
                    <a:pt x="0" y="530834"/>
                  </a:lnTo>
                  <a:lnTo>
                    <a:pt x="19050" y="530834"/>
                  </a:lnTo>
                  <a:lnTo>
                    <a:pt x="19050" y="473684"/>
                  </a:lnTo>
                  <a:close/>
                </a:path>
                <a:path w="3971925" h="1181100">
                  <a:moveTo>
                    <a:pt x="19050" y="378066"/>
                  </a:moveTo>
                  <a:lnTo>
                    <a:pt x="0" y="378066"/>
                  </a:lnTo>
                  <a:lnTo>
                    <a:pt x="0" y="435216"/>
                  </a:lnTo>
                  <a:lnTo>
                    <a:pt x="19050" y="435216"/>
                  </a:lnTo>
                  <a:lnTo>
                    <a:pt x="19050" y="378066"/>
                  </a:lnTo>
                  <a:close/>
                </a:path>
                <a:path w="3971925" h="1181100">
                  <a:moveTo>
                    <a:pt x="19050" y="282448"/>
                  </a:moveTo>
                  <a:lnTo>
                    <a:pt x="0" y="282448"/>
                  </a:lnTo>
                  <a:lnTo>
                    <a:pt x="0" y="339598"/>
                  </a:lnTo>
                  <a:lnTo>
                    <a:pt x="19050" y="339598"/>
                  </a:lnTo>
                  <a:lnTo>
                    <a:pt x="19050" y="282448"/>
                  </a:lnTo>
                  <a:close/>
                </a:path>
                <a:path w="3971925" h="1181100">
                  <a:moveTo>
                    <a:pt x="19050" y="186842"/>
                  </a:moveTo>
                  <a:lnTo>
                    <a:pt x="0" y="186842"/>
                  </a:lnTo>
                  <a:lnTo>
                    <a:pt x="0" y="243992"/>
                  </a:lnTo>
                  <a:lnTo>
                    <a:pt x="19050" y="243992"/>
                  </a:lnTo>
                  <a:lnTo>
                    <a:pt x="19050" y="186842"/>
                  </a:lnTo>
                  <a:close/>
                </a:path>
                <a:path w="3971925" h="1181100">
                  <a:moveTo>
                    <a:pt x="21323" y="93878"/>
                  </a:moveTo>
                  <a:lnTo>
                    <a:pt x="2730" y="89789"/>
                  </a:lnTo>
                  <a:lnTo>
                    <a:pt x="2184" y="91986"/>
                  </a:lnTo>
                  <a:lnTo>
                    <a:pt x="546" y="103035"/>
                  </a:lnTo>
                  <a:lnTo>
                    <a:pt x="0" y="114300"/>
                  </a:lnTo>
                  <a:lnTo>
                    <a:pt x="0" y="148374"/>
                  </a:lnTo>
                  <a:lnTo>
                    <a:pt x="19050" y="148374"/>
                  </a:lnTo>
                  <a:lnTo>
                    <a:pt x="19050" y="114300"/>
                  </a:lnTo>
                  <a:lnTo>
                    <a:pt x="19507" y="104914"/>
                  </a:lnTo>
                  <a:lnTo>
                    <a:pt x="20866" y="95707"/>
                  </a:lnTo>
                  <a:lnTo>
                    <a:pt x="21323" y="93878"/>
                  </a:lnTo>
                  <a:close/>
                </a:path>
                <a:path w="3971925" h="1181100">
                  <a:moveTo>
                    <a:pt x="25298" y="1100429"/>
                  </a:moveTo>
                  <a:lnTo>
                    <a:pt x="23139" y="1094397"/>
                  </a:lnTo>
                  <a:lnTo>
                    <a:pt x="20866" y="1085380"/>
                  </a:lnTo>
                  <a:lnTo>
                    <a:pt x="19507" y="1076172"/>
                  </a:lnTo>
                  <a:lnTo>
                    <a:pt x="19050" y="1066800"/>
                  </a:lnTo>
                  <a:lnTo>
                    <a:pt x="19050" y="1047356"/>
                  </a:lnTo>
                  <a:lnTo>
                    <a:pt x="0" y="1047356"/>
                  </a:lnTo>
                  <a:lnTo>
                    <a:pt x="0" y="1066800"/>
                  </a:lnTo>
                  <a:lnTo>
                    <a:pt x="546" y="1078052"/>
                  </a:lnTo>
                  <a:lnTo>
                    <a:pt x="2184" y="1089101"/>
                  </a:lnTo>
                  <a:lnTo>
                    <a:pt x="4902" y="1099921"/>
                  </a:lnTo>
                  <a:lnTo>
                    <a:pt x="7493" y="1107160"/>
                  </a:lnTo>
                  <a:lnTo>
                    <a:pt x="25298" y="1100429"/>
                  </a:lnTo>
                  <a:close/>
                </a:path>
                <a:path w="3971925" h="1181100">
                  <a:moveTo>
                    <a:pt x="74701" y="27787"/>
                  </a:moveTo>
                  <a:lnTo>
                    <a:pt x="66776" y="10477"/>
                  </a:lnTo>
                  <a:lnTo>
                    <a:pt x="60375" y="13500"/>
                  </a:lnTo>
                  <a:lnTo>
                    <a:pt x="50787" y="19240"/>
                  </a:lnTo>
                  <a:lnTo>
                    <a:pt x="41833" y="25895"/>
                  </a:lnTo>
                  <a:lnTo>
                    <a:pt x="33489" y="33477"/>
                  </a:lnTo>
                  <a:lnTo>
                    <a:pt x="25908" y="41821"/>
                  </a:lnTo>
                  <a:lnTo>
                    <a:pt x="19240" y="50800"/>
                  </a:lnTo>
                  <a:lnTo>
                    <a:pt x="35090" y="61379"/>
                  </a:lnTo>
                  <a:lnTo>
                    <a:pt x="40640" y="53898"/>
                  </a:lnTo>
                  <a:lnTo>
                    <a:pt x="46951" y="46939"/>
                  </a:lnTo>
                  <a:lnTo>
                    <a:pt x="53911" y="40627"/>
                  </a:lnTo>
                  <a:lnTo>
                    <a:pt x="61379" y="35077"/>
                  </a:lnTo>
                  <a:lnTo>
                    <a:pt x="69354" y="30302"/>
                  </a:lnTo>
                  <a:lnTo>
                    <a:pt x="74701" y="27787"/>
                  </a:lnTo>
                  <a:close/>
                </a:path>
                <a:path w="3971925" h="1181100">
                  <a:moveTo>
                    <a:pt x="87426" y="1158151"/>
                  </a:moveTo>
                  <a:lnTo>
                    <a:pt x="46951" y="1134148"/>
                  </a:lnTo>
                  <a:lnTo>
                    <a:pt x="43472" y="1130312"/>
                  </a:lnTo>
                  <a:lnTo>
                    <a:pt x="29298" y="1143012"/>
                  </a:lnTo>
                  <a:lnTo>
                    <a:pt x="60375" y="1167587"/>
                  </a:lnTo>
                  <a:lnTo>
                    <a:pt x="82054" y="1176413"/>
                  </a:lnTo>
                  <a:lnTo>
                    <a:pt x="87426" y="1158151"/>
                  </a:lnTo>
                  <a:close/>
                </a:path>
                <a:path w="3971925" h="1181100">
                  <a:moveTo>
                    <a:pt x="171450" y="0"/>
                  </a:moveTo>
                  <a:lnTo>
                    <a:pt x="114300" y="0"/>
                  </a:lnTo>
                  <a:lnTo>
                    <a:pt x="107670" y="317"/>
                  </a:lnTo>
                  <a:lnTo>
                    <a:pt x="108775" y="19316"/>
                  </a:lnTo>
                  <a:lnTo>
                    <a:pt x="114300" y="19050"/>
                  </a:lnTo>
                  <a:lnTo>
                    <a:pt x="171450" y="19050"/>
                  </a:lnTo>
                  <a:lnTo>
                    <a:pt x="171450" y="0"/>
                  </a:lnTo>
                  <a:close/>
                </a:path>
                <a:path w="3971925" h="1181100">
                  <a:moveTo>
                    <a:pt x="179730" y="1162050"/>
                  </a:moveTo>
                  <a:lnTo>
                    <a:pt x="122580" y="1162050"/>
                  </a:lnTo>
                  <a:lnTo>
                    <a:pt x="122580" y="1181100"/>
                  </a:lnTo>
                  <a:lnTo>
                    <a:pt x="179730" y="1181100"/>
                  </a:lnTo>
                  <a:lnTo>
                    <a:pt x="179730" y="1162050"/>
                  </a:lnTo>
                  <a:close/>
                </a:path>
                <a:path w="3971925" h="1181100">
                  <a:moveTo>
                    <a:pt x="267068" y="0"/>
                  </a:moveTo>
                  <a:lnTo>
                    <a:pt x="209918" y="0"/>
                  </a:lnTo>
                  <a:lnTo>
                    <a:pt x="209918" y="19050"/>
                  </a:lnTo>
                  <a:lnTo>
                    <a:pt x="267068" y="19050"/>
                  </a:lnTo>
                  <a:lnTo>
                    <a:pt x="267068" y="0"/>
                  </a:lnTo>
                  <a:close/>
                </a:path>
                <a:path w="3971925" h="1181100">
                  <a:moveTo>
                    <a:pt x="275336" y="1162050"/>
                  </a:moveTo>
                  <a:lnTo>
                    <a:pt x="218186" y="1162050"/>
                  </a:lnTo>
                  <a:lnTo>
                    <a:pt x="218186" y="1181100"/>
                  </a:lnTo>
                  <a:lnTo>
                    <a:pt x="275336" y="1181100"/>
                  </a:lnTo>
                  <a:lnTo>
                    <a:pt x="275336" y="1162050"/>
                  </a:lnTo>
                  <a:close/>
                </a:path>
                <a:path w="3971925" h="1181100">
                  <a:moveTo>
                    <a:pt x="362686" y="0"/>
                  </a:moveTo>
                  <a:lnTo>
                    <a:pt x="305536" y="0"/>
                  </a:lnTo>
                  <a:lnTo>
                    <a:pt x="305536" y="19050"/>
                  </a:lnTo>
                  <a:lnTo>
                    <a:pt x="362686" y="19050"/>
                  </a:lnTo>
                  <a:lnTo>
                    <a:pt x="362686" y="0"/>
                  </a:lnTo>
                  <a:close/>
                </a:path>
                <a:path w="3971925" h="1181100">
                  <a:moveTo>
                    <a:pt x="370954" y="1162050"/>
                  </a:moveTo>
                  <a:lnTo>
                    <a:pt x="313804" y="1162050"/>
                  </a:lnTo>
                  <a:lnTo>
                    <a:pt x="313804" y="1181100"/>
                  </a:lnTo>
                  <a:lnTo>
                    <a:pt x="370954" y="1181100"/>
                  </a:lnTo>
                  <a:lnTo>
                    <a:pt x="370954" y="1162050"/>
                  </a:lnTo>
                  <a:close/>
                </a:path>
                <a:path w="3971925" h="1181100">
                  <a:moveTo>
                    <a:pt x="458292" y="0"/>
                  </a:moveTo>
                  <a:lnTo>
                    <a:pt x="401142" y="0"/>
                  </a:lnTo>
                  <a:lnTo>
                    <a:pt x="401142" y="19050"/>
                  </a:lnTo>
                  <a:lnTo>
                    <a:pt x="458292" y="19050"/>
                  </a:lnTo>
                  <a:lnTo>
                    <a:pt x="458292" y="0"/>
                  </a:lnTo>
                  <a:close/>
                </a:path>
                <a:path w="3971925" h="1181100">
                  <a:moveTo>
                    <a:pt x="466559" y="1162050"/>
                  </a:moveTo>
                  <a:lnTo>
                    <a:pt x="409409" y="1162050"/>
                  </a:lnTo>
                  <a:lnTo>
                    <a:pt x="409409" y="1181100"/>
                  </a:lnTo>
                  <a:lnTo>
                    <a:pt x="466559" y="1181100"/>
                  </a:lnTo>
                  <a:lnTo>
                    <a:pt x="466559" y="1162050"/>
                  </a:lnTo>
                  <a:close/>
                </a:path>
                <a:path w="3971925" h="1181100">
                  <a:moveTo>
                    <a:pt x="553910" y="0"/>
                  </a:moveTo>
                  <a:lnTo>
                    <a:pt x="496760" y="0"/>
                  </a:lnTo>
                  <a:lnTo>
                    <a:pt x="496760" y="19050"/>
                  </a:lnTo>
                  <a:lnTo>
                    <a:pt x="553910" y="19050"/>
                  </a:lnTo>
                  <a:lnTo>
                    <a:pt x="553910" y="0"/>
                  </a:lnTo>
                  <a:close/>
                </a:path>
                <a:path w="3971925" h="1181100">
                  <a:moveTo>
                    <a:pt x="562178" y="1162050"/>
                  </a:moveTo>
                  <a:lnTo>
                    <a:pt x="505028" y="1162050"/>
                  </a:lnTo>
                  <a:lnTo>
                    <a:pt x="505028" y="1181100"/>
                  </a:lnTo>
                  <a:lnTo>
                    <a:pt x="562178" y="1181100"/>
                  </a:lnTo>
                  <a:lnTo>
                    <a:pt x="562178" y="1162050"/>
                  </a:lnTo>
                  <a:close/>
                </a:path>
                <a:path w="3971925" h="1181100">
                  <a:moveTo>
                    <a:pt x="649516" y="0"/>
                  </a:moveTo>
                  <a:lnTo>
                    <a:pt x="592366" y="0"/>
                  </a:lnTo>
                  <a:lnTo>
                    <a:pt x="592366" y="19050"/>
                  </a:lnTo>
                  <a:lnTo>
                    <a:pt x="649516" y="19050"/>
                  </a:lnTo>
                  <a:lnTo>
                    <a:pt x="649516" y="0"/>
                  </a:lnTo>
                  <a:close/>
                </a:path>
                <a:path w="3971925" h="1181100">
                  <a:moveTo>
                    <a:pt x="657783" y="1162050"/>
                  </a:moveTo>
                  <a:lnTo>
                    <a:pt x="600633" y="1162050"/>
                  </a:lnTo>
                  <a:lnTo>
                    <a:pt x="600633" y="1181100"/>
                  </a:lnTo>
                  <a:lnTo>
                    <a:pt x="657783" y="1181100"/>
                  </a:lnTo>
                  <a:lnTo>
                    <a:pt x="657783" y="1162050"/>
                  </a:lnTo>
                  <a:close/>
                </a:path>
                <a:path w="3971925" h="1181100">
                  <a:moveTo>
                    <a:pt x="745134" y="0"/>
                  </a:moveTo>
                  <a:lnTo>
                    <a:pt x="687984" y="0"/>
                  </a:lnTo>
                  <a:lnTo>
                    <a:pt x="687984" y="19050"/>
                  </a:lnTo>
                  <a:lnTo>
                    <a:pt x="745134" y="19050"/>
                  </a:lnTo>
                  <a:lnTo>
                    <a:pt x="745134" y="0"/>
                  </a:lnTo>
                  <a:close/>
                </a:path>
                <a:path w="3971925" h="1181100">
                  <a:moveTo>
                    <a:pt x="753402" y="1162050"/>
                  </a:moveTo>
                  <a:lnTo>
                    <a:pt x="696252" y="1162050"/>
                  </a:lnTo>
                  <a:lnTo>
                    <a:pt x="696252" y="1181100"/>
                  </a:lnTo>
                  <a:lnTo>
                    <a:pt x="753402" y="1181100"/>
                  </a:lnTo>
                  <a:lnTo>
                    <a:pt x="753402" y="1162050"/>
                  </a:lnTo>
                  <a:close/>
                </a:path>
                <a:path w="3971925" h="1181100">
                  <a:moveTo>
                    <a:pt x="840740" y="0"/>
                  </a:moveTo>
                  <a:lnTo>
                    <a:pt x="783590" y="0"/>
                  </a:lnTo>
                  <a:lnTo>
                    <a:pt x="783590" y="19050"/>
                  </a:lnTo>
                  <a:lnTo>
                    <a:pt x="840740" y="19050"/>
                  </a:lnTo>
                  <a:lnTo>
                    <a:pt x="840740" y="0"/>
                  </a:lnTo>
                  <a:close/>
                </a:path>
                <a:path w="3971925" h="1181100">
                  <a:moveTo>
                    <a:pt x="849020" y="1162050"/>
                  </a:moveTo>
                  <a:lnTo>
                    <a:pt x="791870" y="1162050"/>
                  </a:lnTo>
                  <a:lnTo>
                    <a:pt x="791870" y="1181100"/>
                  </a:lnTo>
                  <a:lnTo>
                    <a:pt x="849020" y="1181100"/>
                  </a:lnTo>
                  <a:lnTo>
                    <a:pt x="849020" y="1162050"/>
                  </a:lnTo>
                  <a:close/>
                </a:path>
                <a:path w="3971925" h="1181100">
                  <a:moveTo>
                    <a:pt x="936358" y="0"/>
                  </a:moveTo>
                  <a:lnTo>
                    <a:pt x="879208" y="0"/>
                  </a:lnTo>
                  <a:lnTo>
                    <a:pt x="879208" y="19050"/>
                  </a:lnTo>
                  <a:lnTo>
                    <a:pt x="936358" y="19050"/>
                  </a:lnTo>
                  <a:lnTo>
                    <a:pt x="936358" y="0"/>
                  </a:lnTo>
                  <a:close/>
                </a:path>
                <a:path w="3971925" h="1181100">
                  <a:moveTo>
                    <a:pt x="944626" y="1162050"/>
                  </a:moveTo>
                  <a:lnTo>
                    <a:pt x="887476" y="1162050"/>
                  </a:lnTo>
                  <a:lnTo>
                    <a:pt x="887476" y="1181100"/>
                  </a:lnTo>
                  <a:lnTo>
                    <a:pt x="944626" y="1181100"/>
                  </a:lnTo>
                  <a:lnTo>
                    <a:pt x="944626" y="1162050"/>
                  </a:lnTo>
                  <a:close/>
                </a:path>
                <a:path w="3971925" h="1181100">
                  <a:moveTo>
                    <a:pt x="1031976" y="0"/>
                  </a:moveTo>
                  <a:lnTo>
                    <a:pt x="974826" y="0"/>
                  </a:lnTo>
                  <a:lnTo>
                    <a:pt x="974826" y="19050"/>
                  </a:lnTo>
                  <a:lnTo>
                    <a:pt x="1031976" y="19050"/>
                  </a:lnTo>
                  <a:lnTo>
                    <a:pt x="1031976" y="0"/>
                  </a:lnTo>
                  <a:close/>
                </a:path>
                <a:path w="3971925" h="1181100">
                  <a:moveTo>
                    <a:pt x="1040244" y="1162050"/>
                  </a:moveTo>
                  <a:lnTo>
                    <a:pt x="983094" y="1162050"/>
                  </a:lnTo>
                  <a:lnTo>
                    <a:pt x="983094" y="1181100"/>
                  </a:lnTo>
                  <a:lnTo>
                    <a:pt x="1040244" y="1181100"/>
                  </a:lnTo>
                  <a:lnTo>
                    <a:pt x="1040244" y="1162050"/>
                  </a:lnTo>
                  <a:close/>
                </a:path>
                <a:path w="3971925" h="1181100">
                  <a:moveTo>
                    <a:pt x="1127582" y="0"/>
                  </a:moveTo>
                  <a:lnTo>
                    <a:pt x="1070432" y="0"/>
                  </a:lnTo>
                  <a:lnTo>
                    <a:pt x="1070432" y="19050"/>
                  </a:lnTo>
                  <a:lnTo>
                    <a:pt x="1127582" y="19050"/>
                  </a:lnTo>
                  <a:lnTo>
                    <a:pt x="1127582" y="0"/>
                  </a:lnTo>
                  <a:close/>
                </a:path>
                <a:path w="3971925" h="1181100">
                  <a:moveTo>
                    <a:pt x="1135849" y="1162050"/>
                  </a:moveTo>
                  <a:lnTo>
                    <a:pt x="1078699" y="1162050"/>
                  </a:lnTo>
                  <a:lnTo>
                    <a:pt x="1078699" y="1181100"/>
                  </a:lnTo>
                  <a:lnTo>
                    <a:pt x="1135849" y="1181100"/>
                  </a:lnTo>
                  <a:lnTo>
                    <a:pt x="1135849" y="1162050"/>
                  </a:lnTo>
                  <a:close/>
                </a:path>
                <a:path w="3971925" h="1181100">
                  <a:moveTo>
                    <a:pt x="1223200" y="0"/>
                  </a:moveTo>
                  <a:lnTo>
                    <a:pt x="1166050" y="0"/>
                  </a:lnTo>
                  <a:lnTo>
                    <a:pt x="1166050" y="19050"/>
                  </a:lnTo>
                  <a:lnTo>
                    <a:pt x="1223200" y="19050"/>
                  </a:lnTo>
                  <a:lnTo>
                    <a:pt x="1223200" y="0"/>
                  </a:lnTo>
                  <a:close/>
                </a:path>
                <a:path w="3971925" h="1181100">
                  <a:moveTo>
                    <a:pt x="1231468" y="1162050"/>
                  </a:moveTo>
                  <a:lnTo>
                    <a:pt x="1174318" y="1162050"/>
                  </a:lnTo>
                  <a:lnTo>
                    <a:pt x="1174318" y="1181100"/>
                  </a:lnTo>
                  <a:lnTo>
                    <a:pt x="1231468" y="1181100"/>
                  </a:lnTo>
                  <a:lnTo>
                    <a:pt x="1231468" y="1162050"/>
                  </a:lnTo>
                  <a:close/>
                </a:path>
                <a:path w="3971925" h="1181100">
                  <a:moveTo>
                    <a:pt x="1318806" y="0"/>
                  </a:moveTo>
                  <a:lnTo>
                    <a:pt x="1261656" y="0"/>
                  </a:lnTo>
                  <a:lnTo>
                    <a:pt x="1261656" y="19050"/>
                  </a:lnTo>
                  <a:lnTo>
                    <a:pt x="1318806" y="19050"/>
                  </a:lnTo>
                  <a:lnTo>
                    <a:pt x="1318806" y="0"/>
                  </a:lnTo>
                  <a:close/>
                </a:path>
                <a:path w="3971925" h="1181100">
                  <a:moveTo>
                    <a:pt x="1327073" y="1162050"/>
                  </a:moveTo>
                  <a:lnTo>
                    <a:pt x="1269923" y="1162050"/>
                  </a:lnTo>
                  <a:lnTo>
                    <a:pt x="1269923" y="1181100"/>
                  </a:lnTo>
                  <a:lnTo>
                    <a:pt x="1327073" y="1181100"/>
                  </a:lnTo>
                  <a:lnTo>
                    <a:pt x="1327073" y="1162050"/>
                  </a:lnTo>
                  <a:close/>
                </a:path>
                <a:path w="3971925" h="1181100">
                  <a:moveTo>
                    <a:pt x="1414424" y="0"/>
                  </a:moveTo>
                  <a:lnTo>
                    <a:pt x="1357274" y="0"/>
                  </a:lnTo>
                  <a:lnTo>
                    <a:pt x="1357274" y="19050"/>
                  </a:lnTo>
                  <a:lnTo>
                    <a:pt x="1414424" y="19050"/>
                  </a:lnTo>
                  <a:lnTo>
                    <a:pt x="1414424" y="0"/>
                  </a:lnTo>
                  <a:close/>
                </a:path>
                <a:path w="3971925" h="1181100">
                  <a:moveTo>
                    <a:pt x="1422692" y="1162050"/>
                  </a:moveTo>
                  <a:lnTo>
                    <a:pt x="1365542" y="1162050"/>
                  </a:lnTo>
                  <a:lnTo>
                    <a:pt x="1365542" y="1181100"/>
                  </a:lnTo>
                  <a:lnTo>
                    <a:pt x="1422692" y="1181100"/>
                  </a:lnTo>
                  <a:lnTo>
                    <a:pt x="1422692" y="1162050"/>
                  </a:lnTo>
                  <a:close/>
                </a:path>
                <a:path w="3971925" h="1181100">
                  <a:moveTo>
                    <a:pt x="1510030" y="0"/>
                  </a:moveTo>
                  <a:lnTo>
                    <a:pt x="1452880" y="0"/>
                  </a:lnTo>
                  <a:lnTo>
                    <a:pt x="1452880" y="19050"/>
                  </a:lnTo>
                  <a:lnTo>
                    <a:pt x="1510030" y="19050"/>
                  </a:lnTo>
                  <a:lnTo>
                    <a:pt x="1510030" y="0"/>
                  </a:lnTo>
                  <a:close/>
                </a:path>
                <a:path w="3971925" h="1181100">
                  <a:moveTo>
                    <a:pt x="1518310" y="1162050"/>
                  </a:moveTo>
                  <a:lnTo>
                    <a:pt x="1461160" y="1162050"/>
                  </a:lnTo>
                  <a:lnTo>
                    <a:pt x="1461160" y="1181100"/>
                  </a:lnTo>
                  <a:lnTo>
                    <a:pt x="1518310" y="1181100"/>
                  </a:lnTo>
                  <a:lnTo>
                    <a:pt x="1518310" y="1162050"/>
                  </a:lnTo>
                  <a:close/>
                </a:path>
                <a:path w="3971925" h="1181100">
                  <a:moveTo>
                    <a:pt x="1605648" y="0"/>
                  </a:moveTo>
                  <a:lnTo>
                    <a:pt x="1548498" y="0"/>
                  </a:lnTo>
                  <a:lnTo>
                    <a:pt x="1548498" y="19050"/>
                  </a:lnTo>
                  <a:lnTo>
                    <a:pt x="1605648" y="19050"/>
                  </a:lnTo>
                  <a:lnTo>
                    <a:pt x="1605648" y="0"/>
                  </a:lnTo>
                  <a:close/>
                </a:path>
                <a:path w="3971925" h="1181100">
                  <a:moveTo>
                    <a:pt x="1613916" y="1162050"/>
                  </a:moveTo>
                  <a:lnTo>
                    <a:pt x="1556766" y="1162050"/>
                  </a:lnTo>
                  <a:lnTo>
                    <a:pt x="1556766" y="1181100"/>
                  </a:lnTo>
                  <a:lnTo>
                    <a:pt x="1613916" y="1181100"/>
                  </a:lnTo>
                  <a:lnTo>
                    <a:pt x="1613916" y="1162050"/>
                  </a:lnTo>
                  <a:close/>
                </a:path>
                <a:path w="3971925" h="1181100">
                  <a:moveTo>
                    <a:pt x="1701266" y="0"/>
                  </a:moveTo>
                  <a:lnTo>
                    <a:pt x="1644116" y="0"/>
                  </a:lnTo>
                  <a:lnTo>
                    <a:pt x="1644116" y="19050"/>
                  </a:lnTo>
                  <a:lnTo>
                    <a:pt x="1701266" y="19050"/>
                  </a:lnTo>
                  <a:lnTo>
                    <a:pt x="1701266" y="0"/>
                  </a:lnTo>
                  <a:close/>
                </a:path>
                <a:path w="3971925" h="1181100">
                  <a:moveTo>
                    <a:pt x="1709534" y="1162050"/>
                  </a:moveTo>
                  <a:lnTo>
                    <a:pt x="1652384" y="1162050"/>
                  </a:lnTo>
                  <a:lnTo>
                    <a:pt x="1652384" y="1181100"/>
                  </a:lnTo>
                  <a:lnTo>
                    <a:pt x="1709534" y="1181100"/>
                  </a:lnTo>
                  <a:lnTo>
                    <a:pt x="1709534" y="1162050"/>
                  </a:lnTo>
                  <a:close/>
                </a:path>
                <a:path w="3971925" h="1181100">
                  <a:moveTo>
                    <a:pt x="1796872" y="0"/>
                  </a:moveTo>
                  <a:lnTo>
                    <a:pt x="1739722" y="0"/>
                  </a:lnTo>
                  <a:lnTo>
                    <a:pt x="1739722" y="19050"/>
                  </a:lnTo>
                  <a:lnTo>
                    <a:pt x="1796872" y="19050"/>
                  </a:lnTo>
                  <a:lnTo>
                    <a:pt x="1796872" y="0"/>
                  </a:lnTo>
                  <a:close/>
                </a:path>
                <a:path w="3971925" h="1181100">
                  <a:moveTo>
                    <a:pt x="1805139" y="1162050"/>
                  </a:moveTo>
                  <a:lnTo>
                    <a:pt x="1747989" y="1162050"/>
                  </a:lnTo>
                  <a:lnTo>
                    <a:pt x="1747989" y="1181100"/>
                  </a:lnTo>
                  <a:lnTo>
                    <a:pt x="1805139" y="1181100"/>
                  </a:lnTo>
                  <a:lnTo>
                    <a:pt x="1805139" y="1162050"/>
                  </a:lnTo>
                  <a:close/>
                </a:path>
                <a:path w="3971925" h="1181100">
                  <a:moveTo>
                    <a:pt x="1892490" y="0"/>
                  </a:moveTo>
                  <a:lnTo>
                    <a:pt x="1835340" y="0"/>
                  </a:lnTo>
                  <a:lnTo>
                    <a:pt x="1835340" y="19050"/>
                  </a:lnTo>
                  <a:lnTo>
                    <a:pt x="1892490" y="19050"/>
                  </a:lnTo>
                  <a:lnTo>
                    <a:pt x="1892490" y="0"/>
                  </a:lnTo>
                  <a:close/>
                </a:path>
                <a:path w="3971925" h="1181100">
                  <a:moveTo>
                    <a:pt x="1900758" y="1162050"/>
                  </a:moveTo>
                  <a:lnTo>
                    <a:pt x="1843608" y="1162050"/>
                  </a:lnTo>
                  <a:lnTo>
                    <a:pt x="1843608" y="1181100"/>
                  </a:lnTo>
                  <a:lnTo>
                    <a:pt x="1900758" y="1181100"/>
                  </a:lnTo>
                  <a:lnTo>
                    <a:pt x="1900758" y="1162050"/>
                  </a:lnTo>
                  <a:close/>
                </a:path>
                <a:path w="3971925" h="1181100">
                  <a:moveTo>
                    <a:pt x="1988096" y="0"/>
                  </a:moveTo>
                  <a:lnTo>
                    <a:pt x="1930946" y="0"/>
                  </a:lnTo>
                  <a:lnTo>
                    <a:pt x="1930946" y="19050"/>
                  </a:lnTo>
                  <a:lnTo>
                    <a:pt x="1988096" y="19050"/>
                  </a:lnTo>
                  <a:lnTo>
                    <a:pt x="1988096" y="0"/>
                  </a:lnTo>
                  <a:close/>
                </a:path>
                <a:path w="3971925" h="1181100">
                  <a:moveTo>
                    <a:pt x="1996363" y="1162050"/>
                  </a:moveTo>
                  <a:lnTo>
                    <a:pt x="1939213" y="1162050"/>
                  </a:lnTo>
                  <a:lnTo>
                    <a:pt x="1939213" y="1181100"/>
                  </a:lnTo>
                  <a:lnTo>
                    <a:pt x="1996363" y="1181100"/>
                  </a:lnTo>
                  <a:lnTo>
                    <a:pt x="1996363" y="1162050"/>
                  </a:lnTo>
                  <a:close/>
                </a:path>
                <a:path w="3971925" h="1181100">
                  <a:moveTo>
                    <a:pt x="2083714" y="0"/>
                  </a:moveTo>
                  <a:lnTo>
                    <a:pt x="2026564" y="0"/>
                  </a:lnTo>
                  <a:lnTo>
                    <a:pt x="2026564" y="19050"/>
                  </a:lnTo>
                  <a:lnTo>
                    <a:pt x="2083714" y="19050"/>
                  </a:lnTo>
                  <a:lnTo>
                    <a:pt x="2083714" y="0"/>
                  </a:lnTo>
                  <a:close/>
                </a:path>
                <a:path w="3971925" h="1181100">
                  <a:moveTo>
                    <a:pt x="2091982" y="1162050"/>
                  </a:moveTo>
                  <a:lnTo>
                    <a:pt x="2034832" y="1162050"/>
                  </a:lnTo>
                  <a:lnTo>
                    <a:pt x="2034832" y="1181100"/>
                  </a:lnTo>
                  <a:lnTo>
                    <a:pt x="2091982" y="1181100"/>
                  </a:lnTo>
                  <a:lnTo>
                    <a:pt x="2091982" y="1162050"/>
                  </a:lnTo>
                  <a:close/>
                </a:path>
                <a:path w="3971925" h="1181100">
                  <a:moveTo>
                    <a:pt x="2179320" y="0"/>
                  </a:moveTo>
                  <a:lnTo>
                    <a:pt x="2122170" y="0"/>
                  </a:lnTo>
                  <a:lnTo>
                    <a:pt x="2122170" y="19050"/>
                  </a:lnTo>
                  <a:lnTo>
                    <a:pt x="2179320" y="19050"/>
                  </a:lnTo>
                  <a:lnTo>
                    <a:pt x="2179320" y="0"/>
                  </a:lnTo>
                  <a:close/>
                </a:path>
                <a:path w="3971925" h="1181100">
                  <a:moveTo>
                    <a:pt x="2187600" y="1162050"/>
                  </a:moveTo>
                  <a:lnTo>
                    <a:pt x="2130450" y="1162050"/>
                  </a:lnTo>
                  <a:lnTo>
                    <a:pt x="2130450" y="1181100"/>
                  </a:lnTo>
                  <a:lnTo>
                    <a:pt x="2187600" y="1181100"/>
                  </a:lnTo>
                  <a:lnTo>
                    <a:pt x="2187600" y="1162050"/>
                  </a:lnTo>
                  <a:close/>
                </a:path>
                <a:path w="3971925" h="1181100">
                  <a:moveTo>
                    <a:pt x="2274938" y="0"/>
                  </a:moveTo>
                  <a:lnTo>
                    <a:pt x="2217788" y="0"/>
                  </a:lnTo>
                  <a:lnTo>
                    <a:pt x="2217788" y="19050"/>
                  </a:lnTo>
                  <a:lnTo>
                    <a:pt x="2274938" y="19050"/>
                  </a:lnTo>
                  <a:lnTo>
                    <a:pt x="2274938" y="0"/>
                  </a:lnTo>
                  <a:close/>
                </a:path>
                <a:path w="3971925" h="1181100">
                  <a:moveTo>
                    <a:pt x="2283206" y="1162050"/>
                  </a:moveTo>
                  <a:lnTo>
                    <a:pt x="2226056" y="1162050"/>
                  </a:lnTo>
                  <a:lnTo>
                    <a:pt x="2226056" y="1181100"/>
                  </a:lnTo>
                  <a:lnTo>
                    <a:pt x="2283206" y="1181100"/>
                  </a:lnTo>
                  <a:lnTo>
                    <a:pt x="2283206" y="1162050"/>
                  </a:lnTo>
                  <a:close/>
                </a:path>
                <a:path w="3971925" h="1181100">
                  <a:moveTo>
                    <a:pt x="2370556" y="0"/>
                  </a:moveTo>
                  <a:lnTo>
                    <a:pt x="2313406" y="0"/>
                  </a:lnTo>
                  <a:lnTo>
                    <a:pt x="2313406" y="19050"/>
                  </a:lnTo>
                  <a:lnTo>
                    <a:pt x="2370556" y="19050"/>
                  </a:lnTo>
                  <a:lnTo>
                    <a:pt x="2370556" y="0"/>
                  </a:lnTo>
                  <a:close/>
                </a:path>
                <a:path w="3971925" h="1181100">
                  <a:moveTo>
                    <a:pt x="2378824" y="1162050"/>
                  </a:moveTo>
                  <a:lnTo>
                    <a:pt x="2321674" y="1162050"/>
                  </a:lnTo>
                  <a:lnTo>
                    <a:pt x="2321674" y="1181100"/>
                  </a:lnTo>
                  <a:lnTo>
                    <a:pt x="2378824" y="1181100"/>
                  </a:lnTo>
                  <a:lnTo>
                    <a:pt x="2378824" y="1162050"/>
                  </a:lnTo>
                  <a:close/>
                </a:path>
                <a:path w="3971925" h="1181100">
                  <a:moveTo>
                    <a:pt x="2466162" y="0"/>
                  </a:moveTo>
                  <a:lnTo>
                    <a:pt x="2409012" y="0"/>
                  </a:lnTo>
                  <a:lnTo>
                    <a:pt x="2409012" y="19050"/>
                  </a:lnTo>
                  <a:lnTo>
                    <a:pt x="2466162" y="19050"/>
                  </a:lnTo>
                  <a:lnTo>
                    <a:pt x="2466162" y="0"/>
                  </a:lnTo>
                  <a:close/>
                </a:path>
                <a:path w="3971925" h="1181100">
                  <a:moveTo>
                    <a:pt x="2474430" y="1162050"/>
                  </a:moveTo>
                  <a:lnTo>
                    <a:pt x="2417280" y="1162050"/>
                  </a:lnTo>
                  <a:lnTo>
                    <a:pt x="2417280" y="1181100"/>
                  </a:lnTo>
                  <a:lnTo>
                    <a:pt x="2474430" y="1181100"/>
                  </a:lnTo>
                  <a:lnTo>
                    <a:pt x="2474430" y="1162050"/>
                  </a:lnTo>
                  <a:close/>
                </a:path>
                <a:path w="3971925" h="1181100">
                  <a:moveTo>
                    <a:pt x="2561780" y="0"/>
                  </a:moveTo>
                  <a:lnTo>
                    <a:pt x="2504630" y="0"/>
                  </a:lnTo>
                  <a:lnTo>
                    <a:pt x="2504630" y="19050"/>
                  </a:lnTo>
                  <a:lnTo>
                    <a:pt x="2561780" y="19050"/>
                  </a:lnTo>
                  <a:lnTo>
                    <a:pt x="2561780" y="0"/>
                  </a:lnTo>
                  <a:close/>
                </a:path>
                <a:path w="3971925" h="1181100">
                  <a:moveTo>
                    <a:pt x="2570048" y="1162050"/>
                  </a:moveTo>
                  <a:lnTo>
                    <a:pt x="2512898" y="1162050"/>
                  </a:lnTo>
                  <a:lnTo>
                    <a:pt x="2512898" y="1181100"/>
                  </a:lnTo>
                  <a:lnTo>
                    <a:pt x="2570048" y="1181100"/>
                  </a:lnTo>
                  <a:lnTo>
                    <a:pt x="2570048" y="1162050"/>
                  </a:lnTo>
                  <a:close/>
                </a:path>
                <a:path w="3971925" h="1181100">
                  <a:moveTo>
                    <a:pt x="2657386" y="0"/>
                  </a:moveTo>
                  <a:lnTo>
                    <a:pt x="2600236" y="0"/>
                  </a:lnTo>
                  <a:lnTo>
                    <a:pt x="2600236" y="19050"/>
                  </a:lnTo>
                  <a:lnTo>
                    <a:pt x="2657386" y="19050"/>
                  </a:lnTo>
                  <a:lnTo>
                    <a:pt x="2657386" y="0"/>
                  </a:lnTo>
                  <a:close/>
                </a:path>
                <a:path w="3971925" h="1181100">
                  <a:moveTo>
                    <a:pt x="2665653" y="1162050"/>
                  </a:moveTo>
                  <a:lnTo>
                    <a:pt x="2608503" y="1162050"/>
                  </a:lnTo>
                  <a:lnTo>
                    <a:pt x="2608503" y="1181100"/>
                  </a:lnTo>
                  <a:lnTo>
                    <a:pt x="2665653" y="1181100"/>
                  </a:lnTo>
                  <a:lnTo>
                    <a:pt x="2665653" y="1162050"/>
                  </a:lnTo>
                  <a:close/>
                </a:path>
                <a:path w="3971925" h="1181100">
                  <a:moveTo>
                    <a:pt x="2753004" y="0"/>
                  </a:moveTo>
                  <a:lnTo>
                    <a:pt x="2695854" y="0"/>
                  </a:lnTo>
                  <a:lnTo>
                    <a:pt x="2695854" y="19050"/>
                  </a:lnTo>
                  <a:lnTo>
                    <a:pt x="2753004" y="19050"/>
                  </a:lnTo>
                  <a:lnTo>
                    <a:pt x="2753004" y="0"/>
                  </a:lnTo>
                  <a:close/>
                </a:path>
                <a:path w="3971925" h="1181100">
                  <a:moveTo>
                    <a:pt x="2761272" y="1162050"/>
                  </a:moveTo>
                  <a:lnTo>
                    <a:pt x="2704122" y="1162050"/>
                  </a:lnTo>
                  <a:lnTo>
                    <a:pt x="2704122" y="1181100"/>
                  </a:lnTo>
                  <a:lnTo>
                    <a:pt x="2761272" y="1181100"/>
                  </a:lnTo>
                  <a:lnTo>
                    <a:pt x="2761272" y="1162050"/>
                  </a:lnTo>
                  <a:close/>
                </a:path>
                <a:path w="3971925" h="1181100">
                  <a:moveTo>
                    <a:pt x="2848610" y="0"/>
                  </a:moveTo>
                  <a:lnTo>
                    <a:pt x="2791460" y="0"/>
                  </a:lnTo>
                  <a:lnTo>
                    <a:pt x="2791460" y="19050"/>
                  </a:lnTo>
                  <a:lnTo>
                    <a:pt x="2848610" y="19050"/>
                  </a:lnTo>
                  <a:lnTo>
                    <a:pt x="2848610" y="0"/>
                  </a:lnTo>
                  <a:close/>
                </a:path>
                <a:path w="3971925" h="1181100">
                  <a:moveTo>
                    <a:pt x="2856890" y="1162050"/>
                  </a:moveTo>
                  <a:lnTo>
                    <a:pt x="2799740" y="1162050"/>
                  </a:lnTo>
                  <a:lnTo>
                    <a:pt x="2799740" y="1181100"/>
                  </a:lnTo>
                  <a:lnTo>
                    <a:pt x="2856890" y="1181100"/>
                  </a:lnTo>
                  <a:lnTo>
                    <a:pt x="2856890" y="1162050"/>
                  </a:lnTo>
                  <a:close/>
                </a:path>
                <a:path w="3971925" h="1181100">
                  <a:moveTo>
                    <a:pt x="2944228" y="0"/>
                  </a:moveTo>
                  <a:lnTo>
                    <a:pt x="2887078" y="0"/>
                  </a:lnTo>
                  <a:lnTo>
                    <a:pt x="2887078" y="19050"/>
                  </a:lnTo>
                  <a:lnTo>
                    <a:pt x="2944228" y="19050"/>
                  </a:lnTo>
                  <a:lnTo>
                    <a:pt x="2944228" y="0"/>
                  </a:lnTo>
                  <a:close/>
                </a:path>
                <a:path w="3971925" h="1181100">
                  <a:moveTo>
                    <a:pt x="2952496" y="1162050"/>
                  </a:moveTo>
                  <a:lnTo>
                    <a:pt x="2895346" y="1162050"/>
                  </a:lnTo>
                  <a:lnTo>
                    <a:pt x="2895346" y="1181100"/>
                  </a:lnTo>
                  <a:lnTo>
                    <a:pt x="2952496" y="1181100"/>
                  </a:lnTo>
                  <a:lnTo>
                    <a:pt x="2952496" y="1162050"/>
                  </a:lnTo>
                  <a:close/>
                </a:path>
                <a:path w="3971925" h="1181100">
                  <a:moveTo>
                    <a:pt x="3039846" y="0"/>
                  </a:moveTo>
                  <a:lnTo>
                    <a:pt x="2982696" y="0"/>
                  </a:lnTo>
                  <a:lnTo>
                    <a:pt x="2982696" y="19050"/>
                  </a:lnTo>
                  <a:lnTo>
                    <a:pt x="3039846" y="19050"/>
                  </a:lnTo>
                  <a:lnTo>
                    <a:pt x="3039846" y="0"/>
                  </a:lnTo>
                  <a:close/>
                </a:path>
                <a:path w="3971925" h="1181100">
                  <a:moveTo>
                    <a:pt x="3048114" y="1162050"/>
                  </a:moveTo>
                  <a:lnTo>
                    <a:pt x="2990964" y="1162050"/>
                  </a:lnTo>
                  <a:lnTo>
                    <a:pt x="2990964" y="1181100"/>
                  </a:lnTo>
                  <a:lnTo>
                    <a:pt x="3048114" y="1181100"/>
                  </a:lnTo>
                  <a:lnTo>
                    <a:pt x="3048114" y="1162050"/>
                  </a:lnTo>
                  <a:close/>
                </a:path>
                <a:path w="3971925" h="1181100">
                  <a:moveTo>
                    <a:pt x="3135452" y="0"/>
                  </a:moveTo>
                  <a:lnTo>
                    <a:pt x="3078302" y="0"/>
                  </a:lnTo>
                  <a:lnTo>
                    <a:pt x="3078302" y="19050"/>
                  </a:lnTo>
                  <a:lnTo>
                    <a:pt x="3135452" y="19050"/>
                  </a:lnTo>
                  <a:lnTo>
                    <a:pt x="3135452" y="0"/>
                  </a:lnTo>
                  <a:close/>
                </a:path>
                <a:path w="3971925" h="1181100">
                  <a:moveTo>
                    <a:pt x="3143720" y="1162050"/>
                  </a:moveTo>
                  <a:lnTo>
                    <a:pt x="3086570" y="1162050"/>
                  </a:lnTo>
                  <a:lnTo>
                    <a:pt x="3086570" y="1181100"/>
                  </a:lnTo>
                  <a:lnTo>
                    <a:pt x="3143720" y="1181100"/>
                  </a:lnTo>
                  <a:lnTo>
                    <a:pt x="3143720" y="1162050"/>
                  </a:lnTo>
                  <a:close/>
                </a:path>
                <a:path w="3971925" h="1181100">
                  <a:moveTo>
                    <a:pt x="3231070" y="0"/>
                  </a:moveTo>
                  <a:lnTo>
                    <a:pt x="3173920" y="0"/>
                  </a:lnTo>
                  <a:lnTo>
                    <a:pt x="3173920" y="19050"/>
                  </a:lnTo>
                  <a:lnTo>
                    <a:pt x="3231070" y="19050"/>
                  </a:lnTo>
                  <a:lnTo>
                    <a:pt x="3231070" y="0"/>
                  </a:lnTo>
                  <a:close/>
                </a:path>
                <a:path w="3971925" h="1181100">
                  <a:moveTo>
                    <a:pt x="3239338" y="1162050"/>
                  </a:moveTo>
                  <a:lnTo>
                    <a:pt x="3182188" y="1162050"/>
                  </a:lnTo>
                  <a:lnTo>
                    <a:pt x="3182188" y="1181100"/>
                  </a:lnTo>
                  <a:lnTo>
                    <a:pt x="3239338" y="1181100"/>
                  </a:lnTo>
                  <a:lnTo>
                    <a:pt x="3239338" y="1162050"/>
                  </a:lnTo>
                  <a:close/>
                </a:path>
                <a:path w="3971925" h="1181100">
                  <a:moveTo>
                    <a:pt x="3326676" y="0"/>
                  </a:moveTo>
                  <a:lnTo>
                    <a:pt x="3269526" y="0"/>
                  </a:lnTo>
                  <a:lnTo>
                    <a:pt x="3269526" y="19050"/>
                  </a:lnTo>
                  <a:lnTo>
                    <a:pt x="3326676" y="19050"/>
                  </a:lnTo>
                  <a:lnTo>
                    <a:pt x="3326676" y="0"/>
                  </a:lnTo>
                  <a:close/>
                </a:path>
                <a:path w="3971925" h="1181100">
                  <a:moveTo>
                    <a:pt x="3334943" y="1162050"/>
                  </a:moveTo>
                  <a:lnTo>
                    <a:pt x="3277793" y="1162050"/>
                  </a:lnTo>
                  <a:lnTo>
                    <a:pt x="3277793" y="1181100"/>
                  </a:lnTo>
                  <a:lnTo>
                    <a:pt x="3334943" y="1181100"/>
                  </a:lnTo>
                  <a:lnTo>
                    <a:pt x="3334943" y="1162050"/>
                  </a:lnTo>
                  <a:close/>
                </a:path>
                <a:path w="3971925" h="1181100">
                  <a:moveTo>
                    <a:pt x="3422294" y="0"/>
                  </a:moveTo>
                  <a:lnTo>
                    <a:pt x="3365144" y="0"/>
                  </a:lnTo>
                  <a:lnTo>
                    <a:pt x="3365144" y="19050"/>
                  </a:lnTo>
                  <a:lnTo>
                    <a:pt x="3422294" y="19050"/>
                  </a:lnTo>
                  <a:lnTo>
                    <a:pt x="3422294" y="0"/>
                  </a:lnTo>
                  <a:close/>
                </a:path>
                <a:path w="3971925" h="1181100">
                  <a:moveTo>
                    <a:pt x="3430562" y="1162050"/>
                  </a:moveTo>
                  <a:lnTo>
                    <a:pt x="3373412" y="1162050"/>
                  </a:lnTo>
                  <a:lnTo>
                    <a:pt x="3373412" y="1181100"/>
                  </a:lnTo>
                  <a:lnTo>
                    <a:pt x="3430562" y="1181100"/>
                  </a:lnTo>
                  <a:lnTo>
                    <a:pt x="3430562" y="1162050"/>
                  </a:lnTo>
                  <a:close/>
                </a:path>
                <a:path w="3971925" h="1181100">
                  <a:moveTo>
                    <a:pt x="3517900" y="0"/>
                  </a:moveTo>
                  <a:lnTo>
                    <a:pt x="3460750" y="0"/>
                  </a:lnTo>
                  <a:lnTo>
                    <a:pt x="3460750" y="19050"/>
                  </a:lnTo>
                  <a:lnTo>
                    <a:pt x="3517900" y="19050"/>
                  </a:lnTo>
                  <a:lnTo>
                    <a:pt x="3517900" y="0"/>
                  </a:lnTo>
                  <a:close/>
                </a:path>
                <a:path w="3971925" h="1181100">
                  <a:moveTo>
                    <a:pt x="3526180" y="1162050"/>
                  </a:moveTo>
                  <a:lnTo>
                    <a:pt x="3469030" y="1162050"/>
                  </a:lnTo>
                  <a:lnTo>
                    <a:pt x="3469030" y="1181100"/>
                  </a:lnTo>
                  <a:lnTo>
                    <a:pt x="3526180" y="1181100"/>
                  </a:lnTo>
                  <a:lnTo>
                    <a:pt x="3526180" y="1162050"/>
                  </a:lnTo>
                  <a:close/>
                </a:path>
                <a:path w="3971925" h="1181100">
                  <a:moveTo>
                    <a:pt x="3613518" y="0"/>
                  </a:moveTo>
                  <a:lnTo>
                    <a:pt x="3556368" y="0"/>
                  </a:lnTo>
                  <a:lnTo>
                    <a:pt x="3556368" y="19050"/>
                  </a:lnTo>
                  <a:lnTo>
                    <a:pt x="3613518" y="19050"/>
                  </a:lnTo>
                  <a:lnTo>
                    <a:pt x="3613518" y="0"/>
                  </a:lnTo>
                  <a:close/>
                </a:path>
                <a:path w="3971925" h="1181100">
                  <a:moveTo>
                    <a:pt x="3621786" y="1162050"/>
                  </a:moveTo>
                  <a:lnTo>
                    <a:pt x="3564636" y="1162050"/>
                  </a:lnTo>
                  <a:lnTo>
                    <a:pt x="3564636" y="1181100"/>
                  </a:lnTo>
                  <a:lnTo>
                    <a:pt x="3621786" y="1181100"/>
                  </a:lnTo>
                  <a:lnTo>
                    <a:pt x="3621786" y="1162050"/>
                  </a:lnTo>
                  <a:close/>
                </a:path>
                <a:path w="3971925" h="1181100">
                  <a:moveTo>
                    <a:pt x="3709136" y="0"/>
                  </a:moveTo>
                  <a:lnTo>
                    <a:pt x="3651986" y="0"/>
                  </a:lnTo>
                  <a:lnTo>
                    <a:pt x="3651986" y="19050"/>
                  </a:lnTo>
                  <a:lnTo>
                    <a:pt x="3709136" y="19050"/>
                  </a:lnTo>
                  <a:lnTo>
                    <a:pt x="3709136" y="0"/>
                  </a:lnTo>
                  <a:close/>
                </a:path>
                <a:path w="3971925" h="1181100">
                  <a:moveTo>
                    <a:pt x="3717404" y="1162050"/>
                  </a:moveTo>
                  <a:lnTo>
                    <a:pt x="3660254" y="1162050"/>
                  </a:lnTo>
                  <a:lnTo>
                    <a:pt x="3660254" y="1181100"/>
                  </a:lnTo>
                  <a:lnTo>
                    <a:pt x="3717404" y="1181100"/>
                  </a:lnTo>
                  <a:lnTo>
                    <a:pt x="3717404" y="1162050"/>
                  </a:lnTo>
                  <a:close/>
                </a:path>
                <a:path w="3971925" h="1181100">
                  <a:moveTo>
                    <a:pt x="3804742" y="0"/>
                  </a:moveTo>
                  <a:lnTo>
                    <a:pt x="3747592" y="0"/>
                  </a:lnTo>
                  <a:lnTo>
                    <a:pt x="3747592" y="19050"/>
                  </a:lnTo>
                  <a:lnTo>
                    <a:pt x="3804742" y="19050"/>
                  </a:lnTo>
                  <a:lnTo>
                    <a:pt x="3804742" y="0"/>
                  </a:lnTo>
                  <a:close/>
                </a:path>
                <a:path w="3971925" h="1181100">
                  <a:moveTo>
                    <a:pt x="3813010" y="1162050"/>
                  </a:moveTo>
                  <a:lnTo>
                    <a:pt x="3755860" y="1162050"/>
                  </a:lnTo>
                  <a:lnTo>
                    <a:pt x="3755860" y="1181100"/>
                  </a:lnTo>
                  <a:lnTo>
                    <a:pt x="3813010" y="1181100"/>
                  </a:lnTo>
                  <a:lnTo>
                    <a:pt x="3813010" y="1162050"/>
                  </a:lnTo>
                  <a:close/>
                </a:path>
                <a:path w="3971925" h="1181100">
                  <a:moveTo>
                    <a:pt x="3903103" y="9512"/>
                  </a:moveTo>
                  <a:lnTo>
                    <a:pt x="3857625" y="0"/>
                  </a:lnTo>
                  <a:lnTo>
                    <a:pt x="3843210" y="0"/>
                  </a:lnTo>
                  <a:lnTo>
                    <a:pt x="3843210" y="19050"/>
                  </a:lnTo>
                  <a:lnTo>
                    <a:pt x="3857625" y="19050"/>
                  </a:lnTo>
                  <a:lnTo>
                    <a:pt x="3867010" y="19494"/>
                  </a:lnTo>
                  <a:lnTo>
                    <a:pt x="3876217" y="20853"/>
                  </a:lnTo>
                  <a:lnTo>
                    <a:pt x="3885234" y="23126"/>
                  </a:lnTo>
                  <a:lnTo>
                    <a:pt x="3894086" y="26289"/>
                  </a:lnTo>
                  <a:lnTo>
                    <a:pt x="3895521" y="26974"/>
                  </a:lnTo>
                  <a:lnTo>
                    <a:pt x="3903103" y="9512"/>
                  </a:lnTo>
                  <a:close/>
                </a:path>
                <a:path w="3971925" h="1181100">
                  <a:moveTo>
                    <a:pt x="3911193" y="1167752"/>
                  </a:moveTo>
                  <a:lnTo>
                    <a:pt x="3902265" y="1150924"/>
                  </a:lnTo>
                  <a:lnTo>
                    <a:pt x="3894086" y="1154798"/>
                  </a:lnTo>
                  <a:lnTo>
                    <a:pt x="3885234" y="1157960"/>
                  </a:lnTo>
                  <a:lnTo>
                    <a:pt x="3876217" y="1160233"/>
                  </a:lnTo>
                  <a:lnTo>
                    <a:pt x="3867010" y="1161592"/>
                  </a:lnTo>
                  <a:lnTo>
                    <a:pt x="3857625" y="1162050"/>
                  </a:lnTo>
                  <a:lnTo>
                    <a:pt x="3851478" y="1162050"/>
                  </a:lnTo>
                  <a:lnTo>
                    <a:pt x="3851478" y="1181100"/>
                  </a:lnTo>
                  <a:lnTo>
                    <a:pt x="3857637" y="1181100"/>
                  </a:lnTo>
                  <a:lnTo>
                    <a:pt x="3868890" y="1180553"/>
                  </a:lnTo>
                  <a:lnTo>
                    <a:pt x="3879939" y="1178915"/>
                  </a:lnTo>
                  <a:lnTo>
                    <a:pt x="3890759" y="1176197"/>
                  </a:lnTo>
                  <a:lnTo>
                    <a:pt x="3901376" y="1172387"/>
                  </a:lnTo>
                  <a:lnTo>
                    <a:pt x="3911193" y="1167752"/>
                  </a:lnTo>
                  <a:close/>
                </a:path>
                <a:path w="3971925" h="1181100">
                  <a:moveTo>
                    <a:pt x="3968635" y="87503"/>
                  </a:moveTo>
                  <a:lnTo>
                    <a:pt x="3952684" y="50774"/>
                  </a:lnTo>
                  <a:lnTo>
                    <a:pt x="3937978" y="33045"/>
                  </a:lnTo>
                  <a:lnTo>
                    <a:pt x="3924592" y="46583"/>
                  </a:lnTo>
                  <a:lnTo>
                    <a:pt x="3924985" y="46939"/>
                  </a:lnTo>
                  <a:lnTo>
                    <a:pt x="3931297" y="53898"/>
                  </a:lnTo>
                  <a:lnTo>
                    <a:pt x="3950131" y="91973"/>
                  </a:lnTo>
                  <a:lnTo>
                    <a:pt x="3968635" y="87503"/>
                  </a:lnTo>
                  <a:close/>
                </a:path>
                <a:path w="3971925" h="1181100">
                  <a:moveTo>
                    <a:pt x="3970413" y="1084643"/>
                  </a:moveTo>
                  <a:lnTo>
                    <a:pt x="3951617" y="1081659"/>
                  </a:lnTo>
                  <a:lnTo>
                    <a:pt x="3951071" y="1085380"/>
                  </a:lnTo>
                  <a:lnTo>
                    <a:pt x="3948798" y="1094397"/>
                  </a:lnTo>
                  <a:lnTo>
                    <a:pt x="3929786" y="1128864"/>
                  </a:lnTo>
                  <a:lnTo>
                    <a:pt x="3944213" y="1141272"/>
                  </a:lnTo>
                  <a:lnTo>
                    <a:pt x="3967035" y="1099921"/>
                  </a:lnTo>
                  <a:lnTo>
                    <a:pt x="3969753" y="1089101"/>
                  </a:lnTo>
                  <a:lnTo>
                    <a:pt x="3970413" y="1084643"/>
                  </a:lnTo>
                  <a:close/>
                </a:path>
                <a:path w="3971925" h="1181100">
                  <a:moveTo>
                    <a:pt x="3971925" y="988098"/>
                  </a:moveTo>
                  <a:lnTo>
                    <a:pt x="3952875" y="988098"/>
                  </a:lnTo>
                  <a:lnTo>
                    <a:pt x="3952875" y="1045248"/>
                  </a:lnTo>
                  <a:lnTo>
                    <a:pt x="3971925" y="1045248"/>
                  </a:lnTo>
                  <a:lnTo>
                    <a:pt x="3971925" y="988098"/>
                  </a:lnTo>
                  <a:close/>
                </a:path>
                <a:path w="3971925" h="1181100">
                  <a:moveTo>
                    <a:pt x="3971925" y="892479"/>
                  </a:moveTo>
                  <a:lnTo>
                    <a:pt x="3952875" y="892479"/>
                  </a:lnTo>
                  <a:lnTo>
                    <a:pt x="3952875" y="949629"/>
                  </a:lnTo>
                  <a:lnTo>
                    <a:pt x="3971925" y="949629"/>
                  </a:lnTo>
                  <a:lnTo>
                    <a:pt x="3971925" y="892479"/>
                  </a:lnTo>
                  <a:close/>
                </a:path>
                <a:path w="3971925" h="1181100">
                  <a:moveTo>
                    <a:pt x="3971925" y="796861"/>
                  </a:moveTo>
                  <a:lnTo>
                    <a:pt x="3952875" y="796861"/>
                  </a:lnTo>
                  <a:lnTo>
                    <a:pt x="3952875" y="854011"/>
                  </a:lnTo>
                  <a:lnTo>
                    <a:pt x="3971925" y="854011"/>
                  </a:lnTo>
                  <a:lnTo>
                    <a:pt x="3971925" y="796861"/>
                  </a:lnTo>
                  <a:close/>
                </a:path>
                <a:path w="3971925" h="1181100">
                  <a:moveTo>
                    <a:pt x="3971925" y="701255"/>
                  </a:moveTo>
                  <a:lnTo>
                    <a:pt x="3952875" y="701255"/>
                  </a:lnTo>
                  <a:lnTo>
                    <a:pt x="3952875" y="758405"/>
                  </a:lnTo>
                  <a:lnTo>
                    <a:pt x="3971925" y="758405"/>
                  </a:lnTo>
                  <a:lnTo>
                    <a:pt x="3971925" y="701255"/>
                  </a:lnTo>
                  <a:close/>
                </a:path>
                <a:path w="3971925" h="1181100">
                  <a:moveTo>
                    <a:pt x="3971925" y="605637"/>
                  </a:moveTo>
                  <a:lnTo>
                    <a:pt x="3952875" y="605637"/>
                  </a:lnTo>
                  <a:lnTo>
                    <a:pt x="3952875" y="662787"/>
                  </a:lnTo>
                  <a:lnTo>
                    <a:pt x="3971925" y="662787"/>
                  </a:lnTo>
                  <a:lnTo>
                    <a:pt x="3971925" y="605637"/>
                  </a:lnTo>
                  <a:close/>
                </a:path>
                <a:path w="3971925" h="1181100">
                  <a:moveTo>
                    <a:pt x="3971925" y="510032"/>
                  </a:moveTo>
                  <a:lnTo>
                    <a:pt x="3952875" y="510032"/>
                  </a:lnTo>
                  <a:lnTo>
                    <a:pt x="3952875" y="567182"/>
                  </a:lnTo>
                  <a:lnTo>
                    <a:pt x="3971925" y="567182"/>
                  </a:lnTo>
                  <a:lnTo>
                    <a:pt x="3971925" y="510032"/>
                  </a:lnTo>
                  <a:close/>
                </a:path>
                <a:path w="3971925" h="1181100">
                  <a:moveTo>
                    <a:pt x="3971925" y="414413"/>
                  </a:moveTo>
                  <a:lnTo>
                    <a:pt x="3952875" y="414413"/>
                  </a:lnTo>
                  <a:lnTo>
                    <a:pt x="3952875" y="471563"/>
                  </a:lnTo>
                  <a:lnTo>
                    <a:pt x="3971925" y="471563"/>
                  </a:lnTo>
                  <a:lnTo>
                    <a:pt x="3971925" y="414413"/>
                  </a:lnTo>
                  <a:close/>
                </a:path>
                <a:path w="3971925" h="1181100">
                  <a:moveTo>
                    <a:pt x="3971925" y="318808"/>
                  </a:moveTo>
                  <a:lnTo>
                    <a:pt x="3952875" y="318808"/>
                  </a:lnTo>
                  <a:lnTo>
                    <a:pt x="3952875" y="375958"/>
                  </a:lnTo>
                  <a:lnTo>
                    <a:pt x="3971925" y="375958"/>
                  </a:lnTo>
                  <a:lnTo>
                    <a:pt x="3971925" y="318808"/>
                  </a:lnTo>
                  <a:close/>
                </a:path>
                <a:path w="3971925" h="1181100">
                  <a:moveTo>
                    <a:pt x="3971925" y="223189"/>
                  </a:moveTo>
                  <a:lnTo>
                    <a:pt x="3952875" y="223189"/>
                  </a:lnTo>
                  <a:lnTo>
                    <a:pt x="3952875" y="280339"/>
                  </a:lnTo>
                  <a:lnTo>
                    <a:pt x="3971925" y="280339"/>
                  </a:lnTo>
                  <a:lnTo>
                    <a:pt x="3971925" y="223189"/>
                  </a:lnTo>
                  <a:close/>
                </a:path>
                <a:path w="3971925" h="1181100">
                  <a:moveTo>
                    <a:pt x="3971925" y="127571"/>
                  </a:moveTo>
                  <a:lnTo>
                    <a:pt x="3952875" y="127571"/>
                  </a:lnTo>
                  <a:lnTo>
                    <a:pt x="3952875" y="184721"/>
                  </a:lnTo>
                  <a:lnTo>
                    <a:pt x="3971925" y="184721"/>
                  </a:lnTo>
                  <a:lnTo>
                    <a:pt x="3971925" y="127571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85837" y="3052762"/>
              <a:ext cx="3619500" cy="352425"/>
            </a:xfrm>
            <a:custGeom>
              <a:avLst/>
              <a:gdLst/>
              <a:ahLst/>
              <a:cxnLst/>
              <a:rect l="l" t="t" r="r" b="b"/>
              <a:pathLst>
                <a:path w="3619500" h="352425">
                  <a:moveTo>
                    <a:pt x="3590582" y="352424"/>
                  </a:moveTo>
                  <a:lnTo>
                    <a:pt x="28916" y="352424"/>
                  </a:lnTo>
                  <a:lnTo>
                    <a:pt x="24664" y="351578"/>
                  </a:lnTo>
                  <a:lnTo>
                    <a:pt x="0" y="323508"/>
                  </a:lnTo>
                  <a:lnTo>
                    <a:pt x="0" y="3190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3590582" y="0"/>
                  </a:lnTo>
                  <a:lnTo>
                    <a:pt x="3619499" y="28916"/>
                  </a:lnTo>
                  <a:lnTo>
                    <a:pt x="3619499" y="323508"/>
                  </a:lnTo>
                  <a:lnTo>
                    <a:pt x="3594834" y="351578"/>
                  </a:lnTo>
                  <a:lnTo>
                    <a:pt x="3590582" y="352424"/>
                  </a:lnTo>
                  <a:close/>
                </a:path>
              </a:pathLst>
            </a:custGeom>
            <a:solidFill>
              <a:srgbClr val="1D40AF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985837" y="3052762"/>
              <a:ext cx="3619500" cy="352425"/>
            </a:xfrm>
            <a:custGeom>
              <a:avLst/>
              <a:gdLst/>
              <a:ahLst/>
              <a:cxnLst/>
              <a:rect l="l" t="t" r="r" b="b"/>
              <a:pathLst>
                <a:path w="3619500" h="352425">
                  <a:moveTo>
                    <a:pt x="0" y="3190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90"/>
                  </a:lnTo>
                  <a:lnTo>
                    <a:pt x="9764" y="9764"/>
                  </a:lnTo>
                  <a:lnTo>
                    <a:pt x="12890" y="6638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3586162" y="0"/>
                  </a:lnTo>
                  <a:lnTo>
                    <a:pt x="3590582" y="0"/>
                  </a:lnTo>
                  <a:lnTo>
                    <a:pt x="3594834" y="845"/>
                  </a:lnTo>
                  <a:lnTo>
                    <a:pt x="3598919" y="2537"/>
                  </a:lnTo>
                  <a:lnTo>
                    <a:pt x="3603003" y="4229"/>
                  </a:lnTo>
                  <a:lnTo>
                    <a:pt x="3616961" y="20579"/>
                  </a:lnTo>
                  <a:lnTo>
                    <a:pt x="3618653" y="24663"/>
                  </a:lnTo>
                  <a:lnTo>
                    <a:pt x="3619499" y="28916"/>
                  </a:lnTo>
                  <a:lnTo>
                    <a:pt x="3619499" y="33337"/>
                  </a:lnTo>
                  <a:lnTo>
                    <a:pt x="3619499" y="319087"/>
                  </a:lnTo>
                  <a:lnTo>
                    <a:pt x="3619499" y="323508"/>
                  </a:lnTo>
                  <a:lnTo>
                    <a:pt x="3618653" y="327760"/>
                  </a:lnTo>
                  <a:lnTo>
                    <a:pt x="3616961" y="331844"/>
                  </a:lnTo>
                  <a:lnTo>
                    <a:pt x="3615269" y="335929"/>
                  </a:lnTo>
                  <a:lnTo>
                    <a:pt x="3586162" y="352424"/>
                  </a:lnTo>
                  <a:lnTo>
                    <a:pt x="33337" y="352424"/>
                  </a:lnTo>
                  <a:lnTo>
                    <a:pt x="2537" y="331844"/>
                  </a:lnTo>
                  <a:lnTo>
                    <a:pt x="845" y="327760"/>
                  </a:lnTo>
                  <a:lnTo>
                    <a:pt x="0" y="323508"/>
                  </a:lnTo>
                  <a:lnTo>
                    <a:pt x="0" y="319087"/>
                  </a:lnTo>
                  <a:close/>
                </a:path>
              </a:pathLst>
            </a:custGeom>
            <a:ln w="9524">
              <a:solidFill>
                <a:srgbClr val="2562E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066799" y="3152774"/>
              <a:ext cx="153322" cy="153352"/>
            </a:xfrm>
            <a:prstGeom prst="rect">
              <a:avLst/>
            </a:prstGeom>
          </p:spPr>
        </p:pic>
      </p:grpSp>
      <p:sp>
        <p:nvSpPr>
          <p:cNvPr id="33" name="object 33"/>
          <p:cNvSpPr txBox="1"/>
          <p:nvPr/>
        </p:nvSpPr>
        <p:spPr>
          <a:xfrm>
            <a:off x="1282699" y="3130550"/>
            <a:ext cx="1644014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spc="-10" dirty="0">
                <a:solidFill>
                  <a:srgbClr val="E4E7EB"/>
                </a:solidFill>
                <a:latin typeface="微软雅黑"/>
                <a:cs typeface="微软雅黑"/>
              </a:rPr>
              <a:t>混合检索 (Vector + BM25)</a:t>
            </a:r>
            <a:endParaRPr sz="1050">
              <a:latin typeface="微软雅黑"/>
              <a:cs typeface="微软雅黑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981074" y="3524249"/>
            <a:ext cx="3629025" cy="361950"/>
            <a:chOff x="981074" y="3524249"/>
            <a:chExt cx="3629025" cy="361950"/>
          </a:xfrm>
        </p:grpSpPr>
        <p:sp>
          <p:nvSpPr>
            <p:cNvPr id="35" name="object 35"/>
            <p:cNvSpPr/>
            <p:nvPr/>
          </p:nvSpPr>
          <p:spPr>
            <a:xfrm>
              <a:off x="985837" y="3529012"/>
              <a:ext cx="3619500" cy="352425"/>
            </a:xfrm>
            <a:custGeom>
              <a:avLst/>
              <a:gdLst/>
              <a:ahLst/>
              <a:cxnLst/>
              <a:rect l="l" t="t" r="r" b="b"/>
              <a:pathLst>
                <a:path w="3619500" h="352425">
                  <a:moveTo>
                    <a:pt x="3590582" y="352424"/>
                  </a:moveTo>
                  <a:lnTo>
                    <a:pt x="28916" y="352424"/>
                  </a:lnTo>
                  <a:lnTo>
                    <a:pt x="24664" y="351578"/>
                  </a:lnTo>
                  <a:lnTo>
                    <a:pt x="0" y="323507"/>
                  </a:lnTo>
                  <a:lnTo>
                    <a:pt x="0" y="3190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3590582" y="0"/>
                  </a:lnTo>
                  <a:lnTo>
                    <a:pt x="3619499" y="28916"/>
                  </a:lnTo>
                  <a:lnTo>
                    <a:pt x="3619499" y="323507"/>
                  </a:lnTo>
                  <a:lnTo>
                    <a:pt x="3594834" y="351578"/>
                  </a:lnTo>
                  <a:lnTo>
                    <a:pt x="3590582" y="352424"/>
                  </a:lnTo>
                  <a:close/>
                </a:path>
              </a:pathLst>
            </a:custGeom>
            <a:solidFill>
              <a:srgbClr val="372FA2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985837" y="3529012"/>
              <a:ext cx="3619500" cy="352425"/>
            </a:xfrm>
            <a:custGeom>
              <a:avLst/>
              <a:gdLst/>
              <a:ahLst/>
              <a:cxnLst/>
              <a:rect l="l" t="t" r="r" b="b"/>
              <a:pathLst>
                <a:path w="3619500" h="352425">
                  <a:moveTo>
                    <a:pt x="0" y="3190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3"/>
                  </a:lnTo>
                  <a:lnTo>
                    <a:pt x="2537" y="20579"/>
                  </a:lnTo>
                  <a:lnTo>
                    <a:pt x="4229" y="16495"/>
                  </a:lnTo>
                  <a:lnTo>
                    <a:pt x="6638" y="12890"/>
                  </a:lnTo>
                  <a:lnTo>
                    <a:pt x="9764" y="9764"/>
                  </a:lnTo>
                  <a:lnTo>
                    <a:pt x="12890" y="6638"/>
                  </a:lnTo>
                  <a:lnTo>
                    <a:pt x="16495" y="4229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3586162" y="0"/>
                  </a:lnTo>
                  <a:lnTo>
                    <a:pt x="3590582" y="0"/>
                  </a:lnTo>
                  <a:lnTo>
                    <a:pt x="3594834" y="845"/>
                  </a:lnTo>
                  <a:lnTo>
                    <a:pt x="3598919" y="2537"/>
                  </a:lnTo>
                  <a:lnTo>
                    <a:pt x="3603003" y="4229"/>
                  </a:lnTo>
                  <a:lnTo>
                    <a:pt x="3619499" y="33337"/>
                  </a:lnTo>
                  <a:lnTo>
                    <a:pt x="3619499" y="319087"/>
                  </a:lnTo>
                  <a:lnTo>
                    <a:pt x="3619499" y="323507"/>
                  </a:lnTo>
                  <a:lnTo>
                    <a:pt x="3618653" y="327760"/>
                  </a:lnTo>
                  <a:lnTo>
                    <a:pt x="3616961" y="331844"/>
                  </a:lnTo>
                  <a:lnTo>
                    <a:pt x="3615269" y="335928"/>
                  </a:lnTo>
                  <a:lnTo>
                    <a:pt x="3598919" y="349886"/>
                  </a:lnTo>
                  <a:lnTo>
                    <a:pt x="3594834" y="351578"/>
                  </a:lnTo>
                  <a:lnTo>
                    <a:pt x="3590582" y="352424"/>
                  </a:lnTo>
                  <a:lnTo>
                    <a:pt x="3586162" y="352424"/>
                  </a:lnTo>
                  <a:lnTo>
                    <a:pt x="33337" y="352424"/>
                  </a:lnTo>
                  <a:lnTo>
                    <a:pt x="28916" y="352424"/>
                  </a:lnTo>
                  <a:lnTo>
                    <a:pt x="24664" y="351578"/>
                  </a:lnTo>
                  <a:lnTo>
                    <a:pt x="20579" y="349886"/>
                  </a:lnTo>
                  <a:lnTo>
                    <a:pt x="16495" y="348195"/>
                  </a:lnTo>
                  <a:lnTo>
                    <a:pt x="12890" y="345786"/>
                  </a:lnTo>
                  <a:lnTo>
                    <a:pt x="9764" y="342660"/>
                  </a:lnTo>
                  <a:lnTo>
                    <a:pt x="6638" y="339534"/>
                  </a:lnTo>
                  <a:lnTo>
                    <a:pt x="4229" y="335928"/>
                  </a:lnTo>
                  <a:lnTo>
                    <a:pt x="2537" y="331844"/>
                  </a:lnTo>
                  <a:lnTo>
                    <a:pt x="845" y="327760"/>
                  </a:lnTo>
                  <a:lnTo>
                    <a:pt x="0" y="323507"/>
                  </a:lnTo>
                  <a:lnTo>
                    <a:pt x="0" y="319087"/>
                  </a:lnTo>
                  <a:close/>
                </a:path>
              </a:pathLst>
            </a:custGeom>
            <a:ln w="9524">
              <a:solidFill>
                <a:srgbClr val="4E45E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7" name="object 37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66799" y="3629024"/>
              <a:ext cx="152399" cy="152399"/>
            </a:xfrm>
            <a:prstGeom prst="rect">
              <a:avLst/>
            </a:prstGeom>
          </p:spPr>
        </p:pic>
      </p:grpSp>
      <p:sp>
        <p:nvSpPr>
          <p:cNvPr id="38" name="object 38"/>
          <p:cNvSpPr txBox="1"/>
          <p:nvPr/>
        </p:nvSpPr>
        <p:spPr>
          <a:xfrm>
            <a:off x="1282699" y="3606800"/>
            <a:ext cx="1287145" cy="185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50" dirty="0">
                <a:solidFill>
                  <a:srgbClr val="E4E7EB"/>
                </a:solidFill>
                <a:latin typeface="微软雅黑"/>
                <a:cs typeface="微软雅黑"/>
              </a:rPr>
              <a:t>动态决策 &amp;</a:t>
            </a:r>
            <a:r>
              <a:rPr sz="1050" spc="-10" dirty="0">
                <a:solidFill>
                  <a:srgbClr val="E4E7EB"/>
                </a:solidFill>
                <a:latin typeface="微软雅黑"/>
                <a:cs typeface="微软雅黑"/>
              </a:rPr>
              <a:t> 反思闭环</a:t>
            </a:r>
            <a:endParaRPr sz="1050">
              <a:latin typeface="微软雅黑"/>
              <a:cs typeface="微软雅黑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981074" y="2781299"/>
            <a:ext cx="1247775" cy="152400"/>
          </a:xfrm>
          <a:custGeom>
            <a:avLst/>
            <a:gdLst/>
            <a:ahLst/>
            <a:cxnLst/>
            <a:rect l="l" t="t" r="r" b="b"/>
            <a:pathLst>
              <a:path w="1247775" h="152400">
                <a:moveTo>
                  <a:pt x="1214727" y="152399"/>
                </a:moveTo>
                <a:lnTo>
                  <a:pt x="33047" y="152399"/>
                </a:lnTo>
                <a:lnTo>
                  <a:pt x="28187" y="151432"/>
                </a:lnTo>
                <a:lnTo>
                  <a:pt x="966" y="124212"/>
                </a:lnTo>
                <a:lnTo>
                  <a:pt x="0" y="119352"/>
                </a:lnTo>
                <a:lnTo>
                  <a:pt x="0" y="114299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214727" y="0"/>
                </a:lnTo>
                <a:lnTo>
                  <a:pt x="1246807" y="28187"/>
                </a:lnTo>
                <a:lnTo>
                  <a:pt x="1247774" y="33047"/>
                </a:lnTo>
                <a:lnTo>
                  <a:pt x="1247774" y="119352"/>
                </a:lnTo>
                <a:lnTo>
                  <a:pt x="1219587" y="151432"/>
                </a:lnTo>
                <a:lnTo>
                  <a:pt x="1214727" y="152399"/>
                </a:lnTo>
                <a:close/>
              </a:path>
            </a:pathLst>
          </a:custGeom>
          <a:solidFill>
            <a:srgbClr val="1D40A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1044575" y="2778125"/>
            <a:ext cx="112331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dirty="0">
                <a:solidFill>
                  <a:srgbClr val="FFFFFF"/>
                </a:solidFill>
                <a:latin typeface="微软雅黑"/>
                <a:cs typeface="微软雅黑"/>
              </a:rPr>
              <a:t>Agentic</a:t>
            </a:r>
            <a:r>
              <a:rPr sz="900" spc="-20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900" dirty="0">
                <a:solidFill>
                  <a:srgbClr val="FFFFFF"/>
                </a:solidFill>
                <a:latin typeface="微软雅黑"/>
                <a:cs typeface="微软雅黑"/>
              </a:rPr>
              <a:t>RAG</a:t>
            </a:r>
            <a:r>
              <a:rPr sz="900" spc="-15" dirty="0">
                <a:solidFill>
                  <a:srgbClr val="FFFFFF"/>
                </a:solidFill>
                <a:latin typeface="微软雅黑"/>
                <a:cs typeface="微软雅黑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微软雅黑"/>
                <a:cs typeface="微软雅黑"/>
              </a:rPr>
              <a:t>Engine</a:t>
            </a:r>
            <a:endParaRPr sz="900">
              <a:latin typeface="微软雅黑"/>
              <a:cs typeface="微软雅黑"/>
            </a:endParaRPr>
          </a:p>
        </p:txBody>
      </p:sp>
      <p:pic>
        <p:nvPicPr>
          <p:cNvPr id="41" name="object 4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413646" y="3655212"/>
            <a:ext cx="107133" cy="100006"/>
          </a:xfrm>
          <a:prstGeom prst="rect">
            <a:avLst/>
          </a:prstGeom>
        </p:spPr>
      </p:pic>
      <p:sp>
        <p:nvSpPr>
          <p:cNvPr id="42" name="object 4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" y="0"/>
            <a:ext cx="12115800" cy="6858000"/>
          </a:xfrm>
          <a:custGeom>
            <a:avLst/>
            <a:gdLst/>
            <a:ahLst/>
            <a:cxnLst/>
            <a:rect l="l" t="t" r="r" b="b"/>
            <a:pathLst>
              <a:path w="12115800" h="6858000">
                <a:moveTo>
                  <a:pt x="0" y="6857999"/>
                </a:moveTo>
                <a:lnTo>
                  <a:pt x="12115799" y="6857999"/>
                </a:lnTo>
                <a:lnTo>
                  <a:pt x="121157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1A2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315199" y="0"/>
            <a:ext cx="4876800" cy="6858000"/>
          </a:xfrm>
          <a:custGeom>
            <a:avLst/>
            <a:gdLst/>
            <a:ahLst/>
            <a:cxnLst/>
            <a:rect l="l" t="t" r="r" b="b"/>
            <a:pathLst>
              <a:path w="4876800" h="6858000">
                <a:moveTo>
                  <a:pt x="4876799" y="6857999"/>
                </a:moveTo>
                <a:lnTo>
                  <a:pt x="0" y="6857999"/>
                </a:lnTo>
                <a:lnTo>
                  <a:pt x="1219199" y="0"/>
                </a:lnTo>
                <a:lnTo>
                  <a:pt x="4876799" y="0"/>
                </a:lnTo>
                <a:lnTo>
                  <a:pt x="4876799" y="6857999"/>
                </a:lnTo>
                <a:close/>
              </a:path>
            </a:pathLst>
          </a:custGeom>
          <a:solidFill>
            <a:srgbClr val="4A54A5">
              <a:alpha val="101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76199" y="0"/>
                </a:lnTo>
                <a:lnTo>
                  <a:pt x="76199" y="68579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15925" y="185420"/>
            <a:ext cx="3042285" cy="4279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600" spc="-10" dirty="0"/>
              <a:t>落地路径与投入建议</a:t>
            </a:r>
            <a:endParaRPr sz="2600"/>
          </a:p>
        </p:txBody>
      </p:sp>
      <p:sp>
        <p:nvSpPr>
          <p:cNvPr id="6" name="object 6"/>
          <p:cNvSpPr/>
          <p:nvPr/>
        </p:nvSpPr>
        <p:spPr>
          <a:xfrm>
            <a:off x="428624" y="685799"/>
            <a:ext cx="1809750" cy="38100"/>
          </a:xfrm>
          <a:custGeom>
            <a:avLst/>
            <a:gdLst/>
            <a:ahLst/>
            <a:cxnLst/>
            <a:rect l="l" t="t" r="r" b="b"/>
            <a:pathLst>
              <a:path w="1809750" h="38100">
                <a:moveTo>
                  <a:pt x="1809749" y="38099"/>
                </a:moveTo>
                <a:lnTo>
                  <a:pt x="0" y="38099"/>
                </a:lnTo>
                <a:lnTo>
                  <a:pt x="0" y="0"/>
                </a:lnTo>
                <a:lnTo>
                  <a:pt x="1809749" y="0"/>
                </a:lnTo>
                <a:lnTo>
                  <a:pt x="1809749" y="380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28624" y="1285874"/>
            <a:ext cx="3629025" cy="9525"/>
          </a:xfrm>
          <a:custGeom>
            <a:avLst/>
            <a:gdLst/>
            <a:ahLst/>
            <a:cxnLst/>
            <a:rect l="l" t="t" r="r" b="b"/>
            <a:pathLst>
              <a:path w="3629025" h="9525">
                <a:moveTo>
                  <a:pt x="3629024" y="9524"/>
                </a:moveTo>
                <a:lnTo>
                  <a:pt x="0" y="9524"/>
                </a:lnTo>
                <a:lnTo>
                  <a:pt x="0" y="0"/>
                </a:lnTo>
                <a:lnTo>
                  <a:pt x="3629024" y="0"/>
                </a:lnTo>
                <a:lnTo>
                  <a:pt x="3629024" y="9524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428624" y="981074"/>
            <a:ext cx="409575" cy="247650"/>
          </a:xfrm>
          <a:custGeom>
            <a:avLst/>
            <a:gdLst/>
            <a:ahLst/>
            <a:cxnLst/>
            <a:rect l="l" t="t" r="r" b="b"/>
            <a:pathLst>
              <a:path w="409575" h="247650">
                <a:moveTo>
                  <a:pt x="377601" y="247649"/>
                </a:moveTo>
                <a:lnTo>
                  <a:pt x="31972" y="247649"/>
                </a:lnTo>
                <a:lnTo>
                  <a:pt x="27270" y="246714"/>
                </a:lnTo>
                <a:lnTo>
                  <a:pt x="0" y="215677"/>
                </a:lnTo>
                <a:lnTo>
                  <a:pt x="0" y="210789"/>
                </a:lnTo>
                <a:lnTo>
                  <a:pt x="0" y="31972"/>
                </a:lnTo>
                <a:lnTo>
                  <a:pt x="27270" y="935"/>
                </a:lnTo>
                <a:lnTo>
                  <a:pt x="31972" y="0"/>
                </a:lnTo>
                <a:lnTo>
                  <a:pt x="377601" y="0"/>
                </a:lnTo>
                <a:lnTo>
                  <a:pt x="408639" y="27270"/>
                </a:lnTo>
                <a:lnTo>
                  <a:pt x="409574" y="31972"/>
                </a:lnTo>
                <a:lnTo>
                  <a:pt x="409574" y="215677"/>
                </a:lnTo>
                <a:lnTo>
                  <a:pt x="382303" y="246714"/>
                </a:lnTo>
                <a:lnTo>
                  <a:pt x="377601" y="247649"/>
                </a:lnTo>
                <a:close/>
              </a:path>
            </a:pathLst>
          </a:custGeom>
          <a:solidFill>
            <a:srgbClr val="256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489594" y="955611"/>
            <a:ext cx="224472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1009" algn="l"/>
              </a:tabLst>
            </a:pPr>
            <a:r>
              <a:rPr sz="1000" b="1" dirty="0">
                <a:solidFill>
                  <a:srgbClr val="FFFFFF"/>
                </a:solidFill>
                <a:latin typeface="微软雅黑"/>
                <a:cs typeface="微软雅黑"/>
              </a:rPr>
              <a:t>短</a:t>
            </a:r>
            <a:r>
              <a:rPr sz="1000" b="1" spc="-50" dirty="0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sz="1000" b="1" dirty="0">
                <a:solidFill>
                  <a:srgbClr val="FFFFFF"/>
                </a:solidFill>
                <a:latin typeface="微软雅黑"/>
                <a:cs typeface="微软雅黑"/>
              </a:rPr>
              <a:t>	</a:t>
            </a:r>
            <a:r>
              <a:rPr sz="1450" b="1" spc="-20" dirty="0">
                <a:solidFill>
                  <a:srgbClr val="FFFFFF"/>
                </a:solidFill>
                <a:latin typeface="微软雅黑"/>
                <a:cs typeface="微软雅黑"/>
              </a:rPr>
              <a:t>1</a:t>
            </a:r>
            <a:r>
              <a:rPr sz="1450" b="1" spc="-10" dirty="0">
                <a:solidFill>
                  <a:srgbClr val="FFFFFF"/>
                </a:solidFill>
                <a:latin typeface="微软雅黑"/>
                <a:cs typeface="微软雅黑"/>
              </a:rPr>
              <a:t>年内：聚焦内部效</a:t>
            </a:r>
            <a:r>
              <a:rPr sz="1450" b="1" spc="-50" dirty="0">
                <a:solidFill>
                  <a:srgbClr val="FFFFFF"/>
                </a:solidFill>
                <a:latin typeface="微软雅黑"/>
                <a:cs typeface="微软雅黑"/>
              </a:rPr>
              <a:t>率</a:t>
            </a:r>
            <a:endParaRPr sz="1450">
              <a:latin typeface="微软雅黑"/>
              <a:cs typeface="微软雅黑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428624" y="1409699"/>
            <a:ext cx="3629025" cy="3686175"/>
            <a:chOff x="428624" y="1409699"/>
            <a:chExt cx="3629025" cy="3686175"/>
          </a:xfrm>
        </p:grpSpPr>
        <p:sp>
          <p:nvSpPr>
            <p:cNvPr id="11" name="object 11"/>
            <p:cNvSpPr/>
            <p:nvPr/>
          </p:nvSpPr>
          <p:spPr>
            <a:xfrm>
              <a:off x="428624" y="1409699"/>
              <a:ext cx="3629025" cy="3686175"/>
            </a:xfrm>
            <a:custGeom>
              <a:avLst/>
              <a:gdLst/>
              <a:ahLst/>
              <a:cxnLst/>
              <a:rect l="l" t="t" r="r" b="b"/>
              <a:pathLst>
                <a:path w="3629025" h="3686175">
                  <a:moveTo>
                    <a:pt x="3560143" y="3686174"/>
                  </a:moveTo>
                  <a:lnTo>
                    <a:pt x="68881" y="3686174"/>
                  </a:lnTo>
                  <a:lnTo>
                    <a:pt x="64087" y="3685702"/>
                  </a:lnTo>
                  <a:lnTo>
                    <a:pt x="28739" y="3671060"/>
                  </a:lnTo>
                  <a:lnTo>
                    <a:pt x="3759" y="3636192"/>
                  </a:lnTo>
                  <a:lnTo>
                    <a:pt x="0" y="3617293"/>
                  </a:lnTo>
                  <a:lnTo>
                    <a:pt x="0" y="3612453"/>
                  </a:lnTo>
                  <a:lnTo>
                    <a:pt x="0" y="68881"/>
                  </a:lnTo>
                  <a:lnTo>
                    <a:pt x="15113" y="28739"/>
                  </a:lnTo>
                  <a:lnTo>
                    <a:pt x="49981" y="3759"/>
                  </a:lnTo>
                  <a:lnTo>
                    <a:pt x="68881" y="0"/>
                  </a:lnTo>
                  <a:lnTo>
                    <a:pt x="3560143" y="0"/>
                  </a:lnTo>
                  <a:lnTo>
                    <a:pt x="3600284" y="15113"/>
                  </a:lnTo>
                  <a:lnTo>
                    <a:pt x="3625264" y="49981"/>
                  </a:lnTo>
                  <a:lnTo>
                    <a:pt x="3629024" y="68881"/>
                  </a:lnTo>
                  <a:lnTo>
                    <a:pt x="3629024" y="3617293"/>
                  </a:lnTo>
                  <a:lnTo>
                    <a:pt x="3613910" y="3657434"/>
                  </a:lnTo>
                  <a:lnTo>
                    <a:pt x="3579042" y="3682415"/>
                  </a:lnTo>
                  <a:lnTo>
                    <a:pt x="3564937" y="3685702"/>
                  </a:lnTo>
                  <a:lnTo>
                    <a:pt x="3560143" y="368617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71499" y="1552574"/>
              <a:ext cx="3343275" cy="1181100"/>
            </a:xfrm>
            <a:custGeom>
              <a:avLst/>
              <a:gdLst/>
              <a:ahLst/>
              <a:cxnLst/>
              <a:rect l="l" t="t" r="r" b="b"/>
              <a:pathLst>
                <a:path w="3343275" h="1181100">
                  <a:moveTo>
                    <a:pt x="3311301" y="1181099"/>
                  </a:moveTo>
                  <a:lnTo>
                    <a:pt x="31972" y="1181099"/>
                  </a:lnTo>
                  <a:lnTo>
                    <a:pt x="27270" y="1180164"/>
                  </a:lnTo>
                  <a:lnTo>
                    <a:pt x="0" y="1149126"/>
                  </a:lnTo>
                  <a:lnTo>
                    <a:pt x="0" y="1144239"/>
                  </a:lnTo>
                  <a:lnTo>
                    <a:pt x="0" y="31972"/>
                  </a:lnTo>
                  <a:lnTo>
                    <a:pt x="27270" y="935"/>
                  </a:lnTo>
                  <a:lnTo>
                    <a:pt x="31972" y="0"/>
                  </a:lnTo>
                  <a:lnTo>
                    <a:pt x="3311301" y="0"/>
                  </a:lnTo>
                  <a:lnTo>
                    <a:pt x="3342339" y="27270"/>
                  </a:lnTo>
                  <a:lnTo>
                    <a:pt x="3343274" y="31972"/>
                  </a:lnTo>
                  <a:lnTo>
                    <a:pt x="3343274" y="1149126"/>
                  </a:lnTo>
                  <a:lnTo>
                    <a:pt x="3316003" y="1180164"/>
                  </a:lnTo>
                  <a:lnTo>
                    <a:pt x="3311301" y="1181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24024" y="1628774"/>
              <a:ext cx="1038224" cy="1028699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1572" y="2924174"/>
              <a:ext cx="165648" cy="165794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1499" y="3744188"/>
              <a:ext cx="207168" cy="145018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563264" y="2888519"/>
            <a:ext cx="3247390" cy="1034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105"/>
              </a:spcBef>
            </a:pPr>
            <a:r>
              <a:rPr sz="1300" b="1" spc="-20" dirty="0">
                <a:solidFill>
                  <a:srgbClr val="93C4FD"/>
                </a:solidFill>
                <a:latin typeface="微软雅黑"/>
                <a:cs typeface="微软雅黑"/>
              </a:rPr>
              <a:t>核心目标</a:t>
            </a:r>
            <a:endParaRPr sz="1300">
              <a:latin typeface="微软雅黑"/>
              <a:cs typeface="微软雅黑"/>
            </a:endParaRPr>
          </a:p>
          <a:p>
            <a:pPr marL="12700" marR="5080">
              <a:lnSpc>
                <a:spcPct val="125000"/>
              </a:lnSpc>
              <a:spcBef>
                <a:spcPts val="615"/>
              </a:spcBef>
            </a:pP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建立认知锚点，快速验证价值，将生成式AI</a:t>
            </a:r>
            <a:r>
              <a:rPr sz="1000" spc="-10" dirty="0">
                <a:solidFill>
                  <a:srgbClr val="D0D5DA"/>
                </a:solidFill>
                <a:latin typeface="微软雅黑"/>
                <a:cs typeface="微软雅黑"/>
              </a:rPr>
              <a:t>转化为单点生</a:t>
            </a:r>
            <a:r>
              <a:rPr sz="1000" spc="-20" dirty="0">
                <a:solidFill>
                  <a:srgbClr val="D0D5DA"/>
                </a:solidFill>
                <a:latin typeface="微软雅黑"/>
                <a:cs typeface="微软雅黑"/>
              </a:rPr>
              <a:t>产力。</a:t>
            </a:r>
            <a:endParaRPr sz="1000">
              <a:latin typeface="微软雅黑"/>
              <a:cs typeface="微软雅黑"/>
            </a:endParaRPr>
          </a:p>
          <a:p>
            <a:pPr marL="293370">
              <a:lnSpc>
                <a:spcPct val="100000"/>
              </a:lnSpc>
              <a:spcBef>
                <a:spcPts val="1200"/>
              </a:spcBef>
            </a:pPr>
            <a:r>
              <a:rPr sz="1300" b="1" spc="-20" dirty="0">
                <a:solidFill>
                  <a:srgbClr val="93C4FD"/>
                </a:solidFill>
                <a:latin typeface="微软雅黑"/>
                <a:cs typeface="微软雅黑"/>
              </a:rPr>
              <a:t>落地与选型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276724" y="1285874"/>
            <a:ext cx="3638550" cy="9525"/>
          </a:xfrm>
          <a:custGeom>
            <a:avLst/>
            <a:gdLst/>
            <a:ahLst/>
            <a:cxnLst/>
            <a:rect l="l" t="t" r="r" b="b"/>
            <a:pathLst>
              <a:path w="3638550" h="9525">
                <a:moveTo>
                  <a:pt x="3638549" y="9524"/>
                </a:moveTo>
                <a:lnTo>
                  <a:pt x="0" y="9524"/>
                </a:lnTo>
                <a:lnTo>
                  <a:pt x="0" y="0"/>
                </a:lnTo>
                <a:lnTo>
                  <a:pt x="3638549" y="0"/>
                </a:lnTo>
                <a:lnTo>
                  <a:pt x="3638549" y="9524"/>
                </a:lnTo>
                <a:close/>
              </a:path>
            </a:pathLst>
          </a:custGeom>
          <a:solidFill>
            <a:srgbClr val="8B5C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276724" y="981074"/>
            <a:ext cx="409575" cy="247650"/>
          </a:xfrm>
          <a:custGeom>
            <a:avLst/>
            <a:gdLst/>
            <a:ahLst/>
            <a:cxnLst/>
            <a:rect l="l" t="t" r="r" b="b"/>
            <a:pathLst>
              <a:path w="409575" h="247650">
                <a:moveTo>
                  <a:pt x="377602" y="247649"/>
                </a:moveTo>
                <a:lnTo>
                  <a:pt x="31972" y="247649"/>
                </a:lnTo>
                <a:lnTo>
                  <a:pt x="27270" y="246714"/>
                </a:lnTo>
                <a:lnTo>
                  <a:pt x="0" y="215677"/>
                </a:lnTo>
                <a:lnTo>
                  <a:pt x="0" y="210789"/>
                </a:lnTo>
                <a:lnTo>
                  <a:pt x="0" y="31972"/>
                </a:lnTo>
                <a:lnTo>
                  <a:pt x="27270" y="935"/>
                </a:lnTo>
                <a:lnTo>
                  <a:pt x="31972" y="0"/>
                </a:lnTo>
                <a:lnTo>
                  <a:pt x="377602" y="0"/>
                </a:lnTo>
                <a:lnTo>
                  <a:pt x="408639" y="27270"/>
                </a:lnTo>
                <a:lnTo>
                  <a:pt x="409574" y="31972"/>
                </a:lnTo>
                <a:lnTo>
                  <a:pt x="409574" y="215677"/>
                </a:lnTo>
                <a:lnTo>
                  <a:pt x="382304" y="246714"/>
                </a:lnTo>
                <a:lnTo>
                  <a:pt x="377602" y="247649"/>
                </a:lnTo>
                <a:close/>
              </a:path>
            </a:pathLst>
          </a:custGeom>
          <a:solidFill>
            <a:srgbClr val="7C3A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341564" y="955611"/>
            <a:ext cx="262318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1009" algn="l"/>
              </a:tabLst>
            </a:pPr>
            <a:r>
              <a:rPr sz="1000" b="1" dirty="0">
                <a:solidFill>
                  <a:srgbClr val="FFFFFF"/>
                </a:solidFill>
                <a:latin typeface="微软雅黑"/>
                <a:cs typeface="微软雅黑"/>
              </a:rPr>
              <a:t>中</a:t>
            </a:r>
            <a:r>
              <a:rPr sz="1000" b="1" spc="-50" dirty="0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sz="1000" b="1" dirty="0">
                <a:solidFill>
                  <a:srgbClr val="FFFFFF"/>
                </a:solidFill>
                <a:latin typeface="微软雅黑"/>
                <a:cs typeface="微软雅黑"/>
              </a:rPr>
              <a:t>	</a:t>
            </a:r>
            <a:r>
              <a:rPr sz="1450" b="1" spc="-20" dirty="0">
                <a:solidFill>
                  <a:srgbClr val="FFFFFF"/>
                </a:solidFill>
                <a:latin typeface="微软雅黑"/>
                <a:cs typeface="微软雅黑"/>
              </a:rPr>
              <a:t>1-3</a:t>
            </a:r>
            <a:r>
              <a:rPr sz="1450" b="1" spc="-10" dirty="0">
                <a:solidFill>
                  <a:srgbClr val="FFFFFF"/>
                </a:solidFill>
                <a:latin typeface="微软雅黑"/>
                <a:cs typeface="微软雅黑"/>
              </a:rPr>
              <a:t>年：跨部门流程自动</a:t>
            </a:r>
            <a:r>
              <a:rPr sz="1450" b="1" spc="-50" dirty="0">
                <a:solidFill>
                  <a:srgbClr val="FFFFFF"/>
                </a:solidFill>
                <a:latin typeface="微软雅黑"/>
                <a:cs typeface="微软雅黑"/>
              </a:rPr>
              <a:t>化</a:t>
            </a:r>
            <a:endParaRPr sz="1450">
              <a:latin typeface="微软雅黑"/>
              <a:cs typeface="微软雅黑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276724" y="1409699"/>
            <a:ext cx="3638550" cy="3686175"/>
            <a:chOff x="4276724" y="1409699"/>
            <a:chExt cx="3638550" cy="3686175"/>
          </a:xfrm>
        </p:grpSpPr>
        <p:sp>
          <p:nvSpPr>
            <p:cNvPr id="21" name="object 21"/>
            <p:cNvSpPr/>
            <p:nvPr/>
          </p:nvSpPr>
          <p:spPr>
            <a:xfrm>
              <a:off x="4276724" y="1409699"/>
              <a:ext cx="3638550" cy="3686175"/>
            </a:xfrm>
            <a:custGeom>
              <a:avLst/>
              <a:gdLst/>
              <a:ahLst/>
              <a:cxnLst/>
              <a:rect l="l" t="t" r="r" b="b"/>
              <a:pathLst>
                <a:path w="3638550" h="3686175">
                  <a:moveTo>
                    <a:pt x="3569669" y="3686174"/>
                  </a:moveTo>
                  <a:lnTo>
                    <a:pt x="68881" y="3686174"/>
                  </a:lnTo>
                  <a:lnTo>
                    <a:pt x="64087" y="3685702"/>
                  </a:lnTo>
                  <a:lnTo>
                    <a:pt x="28739" y="3671060"/>
                  </a:lnTo>
                  <a:lnTo>
                    <a:pt x="3759" y="3636192"/>
                  </a:lnTo>
                  <a:lnTo>
                    <a:pt x="0" y="3617293"/>
                  </a:lnTo>
                  <a:lnTo>
                    <a:pt x="0" y="3612453"/>
                  </a:lnTo>
                  <a:lnTo>
                    <a:pt x="0" y="68881"/>
                  </a:lnTo>
                  <a:lnTo>
                    <a:pt x="15113" y="28739"/>
                  </a:lnTo>
                  <a:lnTo>
                    <a:pt x="49981" y="3759"/>
                  </a:lnTo>
                  <a:lnTo>
                    <a:pt x="68881" y="0"/>
                  </a:lnTo>
                  <a:lnTo>
                    <a:pt x="3569669" y="0"/>
                  </a:lnTo>
                  <a:lnTo>
                    <a:pt x="3609809" y="15113"/>
                  </a:lnTo>
                  <a:lnTo>
                    <a:pt x="3634789" y="49981"/>
                  </a:lnTo>
                  <a:lnTo>
                    <a:pt x="3638549" y="68881"/>
                  </a:lnTo>
                  <a:lnTo>
                    <a:pt x="3638549" y="3617293"/>
                  </a:lnTo>
                  <a:lnTo>
                    <a:pt x="3623435" y="3657434"/>
                  </a:lnTo>
                  <a:lnTo>
                    <a:pt x="3588567" y="3682415"/>
                  </a:lnTo>
                  <a:lnTo>
                    <a:pt x="3574463" y="3685702"/>
                  </a:lnTo>
                  <a:lnTo>
                    <a:pt x="3569669" y="368617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29124" y="1552574"/>
              <a:ext cx="3333750" cy="1181100"/>
            </a:xfrm>
            <a:custGeom>
              <a:avLst/>
              <a:gdLst/>
              <a:ahLst/>
              <a:cxnLst/>
              <a:rect l="l" t="t" r="r" b="b"/>
              <a:pathLst>
                <a:path w="3333750" h="1181100">
                  <a:moveTo>
                    <a:pt x="3301776" y="1181099"/>
                  </a:moveTo>
                  <a:lnTo>
                    <a:pt x="31972" y="1181099"/>
                  </a:lnTo>
                  <a:lnTo>
                    <a:pt x="27270" y="1180164"/>
                  </a:lnTo>
                  <a:lnTo>
                    <a:pt x="0" y="1149126"/>
                  </a:lnTo>
                  <a:lnTo>
                    <a:pt x="0" y="1144239"/>
                  </a:lnTo>
                  <a:lnTo>
                    <a:pt x="0" y="31972"/>
                  </a:lnTo>
                  <a:lnTo>
                    <a:pt x="27270" y="935"/>
                  </a:lnTo>
                  <a:lnTo>
                    <a:pt x="31972" y="0"/>
                  </a:lnTo>
                  <a:lnTo>
                    <a:pt x="3301776" y="0"/>
                  </a:lnTo>
                  <a:lnTo>
                    <a:pt x="3332813" y="27270"/>
                  </a:lnTo>
                  <a:lnTo>
                    <a:pt x="3333749" y="31972"/>
                  </a:lnTo>
                  <a:lnTo>
                    <a:pt x="3333749" y="1149126"/>
                  </a:lnTo>
                  <a:lnTo>
                    <a:pt x="3306478" y="1180164"/>
                  </a:lnTo>
                  <a:lnTo>
                    <a:pt x="3301776" y="1181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43549" y="1628774"/>
              <a:ext cx="1104899" cy="1028699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429124" y="2934551"/>
              <a:ext cx="186481" cy="145041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4428347" y="3733022"/>
              <a:ext cx="167575" cy="167575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4415234" y="2888519"/>
            <a:ext cx="3242945" cy="1034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72415">
              <a:lnSpc>
                <a:spcPct val="100000"/>
              </a:lnSpc>
              <a:spcBef>
                <a:spcPts val="105"/>
              </a:spcBef>
            </a:pPr>
            <a:r>
              <a:rPr sz="1300" b="1" spc="-20" dirty="0">
                <a:solidFill>
                  <a:srgbClr val="C3B4FD"/>
                </a:solidFill>
                <a:latin typeface="微软雅黑"/>
                <a:cs typeface="微软雅黑"/>
              </a:rPr>
              <a:t>核心目标</a:t>
            </a:r>
            <a:endParaRPr sz="1300">
              <a:latin typeface="微软雅黑"/>
              <a:cs typeface="微软雅黑"/>
            </a:endParaRPr>
          </a:p>
          <a:p>
            <a:pPr marL="12700" marR="5080">
              <a:lnSpc>
                <a:spcPct val="125000"/>
              </a:lnSpc>
              <a:spcBef>
                <a:spcPts val="615"/>
              </a:spcBef>
            </a:pP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从单点任务走向“Agentic AI</a:t>
            </a: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”，实现多角色协作与复杂</a:t>
            </a:r>
            <a:r>
              <a:rPr sz="1000" spc="-10" dirty="0">
                <a:solidFill>
                  <a:srgbClr val="D0D5DA"/>
                </a:solidFill>
                <a:latin typeface="微软雅黑"/>
                <a:cs typeface="微软雅黑"/>
              </a:rPr>
              <a:t>任务编排。</a:t>
            </a:r>
            <a:endParaRPr sz="1000">
              <a:latin typeface="微软雅黑"/>
              <a:cs typeface="微软雅黑"/>
            </a:endParaRPr>
          </a:p>
          <a:p>
            <a:pPr marL="252095">
              <a:lnSpc>
                <a:spcPct val="100000"/>
              </a:lnSpc>
              <a:spcBef>
                <a:spcPts val="1200"/>
              </a:spcBef>
            </a:pPr>
            <a:r>
              <a:rPr sz="1300" b="1" spc="-20" dirty="0">
                <a:solidFill>
                  <a:srgbClr val="C3B4FD"/>
                </a:solidFill>
                <a:latin typeface="微软雅黑"/>
                <a:cs typeface="微软雅黑"/>
              </a:rPr>
              <a:t>落地与选型</a:t>
            </a:r>
            <a:endParaRPr sz="1300">
              <a:latin typeface="微软雅黑"/>
              <a:cs typeface="微软雅黑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8134349" y="1285874"/>
            <a:ext cx="3629025" cy="9525"/>
          </a:xfrm>
          <a:custGeom>
            <a:avLst/>
            <a:gdLst/>
            <a:ahLst/>
            <a:cxnLst/>
            <a:rect l="l" t="t" r="r" b="b"/>
            <a:pathLst>
              <a:path w="3629025" h="9525">
                <a:moveTo>
                  <a:pt x="3629024" y="9524"/>
                </a:moveTo>
                <a:lnTo>
                  <a:pt x="0" y="9524"/>
                </a:lnTo>
                <a:lnTo>
                  <a:pt x="0" y="0"/>
                </a:lnTo>
                <a:lnTo>
                  <a:pt x="3629024" y="0"/>
                </a:lnTo>
                <a:lnTo>
                  <a:pt x="3629024" y="9524"/>
                </a:lnTo>
                <a:close/>
              </a:path>
            </a:pathLst>
          </a:custGeom>
          <a:solidFill>
            <a:srgbClr val="0FB98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134348" y="981074"/>
            <a:ext cx="400050" cy="247650"/>
          </a:xfrm>
          <a:custGeom>
            <a:avLst/>
            <a:gdLst/>
            <a:ahLst/>
            <a:cxnLst/>
            <a:rect l="l" t="t" r="r" b="b"/>
            <a:pathLst>
              <a:path w="400050" h="247650">
                <a:moveTo>
                  <a:pt x="368076" y="247649"/>
                </a:moveTo>
                <a:lnTo>
                  <a:pt x="31973" y="247649"/>
                </a:lnTo>
                <a:lnTo>
                  <a:pt x="27271" y="246714"/>
                </a:lnTo>
                <a:lnTo>
                  <a:pt x="0" y="215677"/>
                </a:lnTo>
                <a:lnTo>
                  <a:pt x="0" y="210789"/>
                </a:lnTo>
                <a:lnTo>
                  <a:pt x="0" y="31972"/>
                </a:lnTo>
                <a:lnTo>
                  <a:pt x="27271" y="935"/>
                </a:lnTo>
                <a:lnTo>
                  <a:pt x="31973" y="0"/>
                </a:lnTo>
                <a:lnTo>
                  <a:pt x="368076" y="0"/>
                </a:lnTo>
                <a:lnTo>
                  <a:pt x="399113" y="27270"/>
                </a:lnTo>
                <a:lnTo>
                  <a:pt x="400049" y="31972"/>
                </a:lnTo>
                <a:lnTo>
                  <a:pt x="400049" y="215677"/>
                </a:lnTo>
                <a:lnTo>
                  <a:pt x="372778" y="246714"/>
                </a:lnTo>
                <a:lnTo>
                  <a:pt x="368076" y="247649"/>
                </a:lnTo>
                <a:close/>
              </a:path>
            </a:pathLst>
          </a:custGeom>
          <a:solidFill>
            <a:srgbClr val="04956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8193533" y="955611"/>
            <a:ext cx="2439035" cy="247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1009" algn="l"/>
              </a:tabLst>
            </a:pPr>
            <a:r>
              <a:rPr sz="1000" b="1" dirty="0">
                <a:solidFill>
                  <a:srgbClr val="FFFFFF"/>
                </a:solidFill>
                <a:latin typeface="微软雅黑"/>
                <a:cs typeface="微软雅黑"/>
              </a:rPr>
              <a:t>长</a:t>
            </a:r>
            <a:r>
              <a:rPr sz="1000" b="1" spc="-50" dirty="0">
                <a:solidFill>
                  <a:srgbClr val="FFFFFF"/>
                </a:solidFill>
                <a:latin typeface="微软雅黑"/>
                <a:cs typeface="微软雅黑"/>
              </a:rPr>
              <a:t>期</a:t>
            </a:r>
            <a:r>
              <a:rPr sz="1000" b="1" dirty="0">
                <a:solidFill>
                  <a:srgbClr val="FFFFFF"/>
                </a:solidFill>
                <a:latin typeface="微软雅黑"/>
                <a:cs typeface="微软雅黑"/>
              </a:rPr>
              <a:t>	</a:t>
            </a:r>
            <a:r>
              <a:rPr sz="1450" b="1" spc="-20" dirty="0">
                <a:solidFill>
                  <a:srgbClr val="FFFFFF"/>
                </a:solidFill>
                <a:latin typeface="微软雅黑"/>
                <a:cs typeface="微软雅黑"/>
              </a:rPr>
              <a:t>3-5</a:t>
            </a:r>
            <a:r>
              <a:rPr sz="1450" b="1" spc="-10" dirty="0">
                <a:solidFill>
                  <a:srgbClr val="FFFFFF"/>
                </a:solidFill>
                <a:latin typeface="微软雅黑"/>
                <a:cs typeface="微软雅黑"/>
              </a:rPr>
              <a:t>年：行业级智能协</a:t>
            </a:r>
            <a:r>
              <a:rPr sz="1450" b="1" spc="-50" dirty="0">
                <a:solidFill>
                  <a:srgbClr val="FFFFFF"/>
                </a:solidFill>
                <a:latin typeface="微软雅黑"/>
                <a:cs typeface="微软雅黑"/>
              </a:rPr>
              <a:t>作</a:t>
            </a:r>
            <a:endParaRPr sz="1450">
              <a:latin typeface="微软雅黑"/>
              <a:cs typeface="微软雅黑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8134348" y="1409699"/>
            <a:ext cx="3629025" cy="3686175"/>
            <a:chOff x="8134348" y="1409699"/>
            <a:chExt cx="3629025" cy="3686175"/>
          </a:xfrm>
        </p:grpSpPr>
        <p:sp>
          <p:nvSpPr>
            <p:cNvPr id="31" name="object 31"/>
            <p:cNvSpPr/>
            <p:nvPr/>
          </p:nvSpPr>
          <p:spPr>
            <a:xfrm>
              <a:off x="8134348" y="1409699"/>
              <a:ext cx="3629025" cy="3686175"/>
            </a:xfrm>
            <a:custGeom>
              <a:avLst/>
              <a:gdLst/>
              <a:ahLst/>
              <a:cxnLst/>
              <a:rect l="l" t="t" r="r" b="b"/>
              <a:pathLst>
                <a:path w="3629025" h="3686175">
                  <a:moveTo>
                    <a:pt x="3560143" y="3686174"/>
                  </a:moveTo>
                  <a:lnTo>
                    <a:pt x="68881" y="3686174"/>
                  </a:lnTo>
                  <a:lnTo>
                    <a:pt x="64086" y="3685702"/>
                  </a:lnTo>
                  <a:lnTo>
                    <a:pt x="28738" y="3671060"/>
                  </a:lnTo>
                  <a:lnTo>
                    <a:pt x="3759" y="3636192"/>
                  </a:lnTo>
                  <a:lnTo>
                    <a:pt x="0" y="3617293"/>
                  </a:lnTo>
                  <a:lnTo>
                    <a:pt x="0" y="3612453"/>
                  </a:lnTo>
                  <a:lnTo>
                    <a:pt x="0" y="68881"/>
                  </a:lnTo>
                  <a:lnTo>
                    <a:pt x="15113" y="28739"/>
                  </a:lnTo>
                  <a:lnTo>
                    <a:pt x="49980" y="3759"/>
                  </a:lnTo>
                  <a:lnTo>
                    <a:pt x="68881" y="0"/>
                  </a:lnTo>
                  <a:lnTo>
                    <a:pt x="3560143" y="0"/>
                  </a:lnTo>
                  <a:lnTo>
                    <a:pt x="3600286" y="15113"/>
                  </a:lnTo>
                  <a:lnTo>
                    <a:pt x="3625263" y="49981"/>
                  </a:lnTo>
                  <a:lnTo>
                    <a:pt x="3629025" y="68881"/>
                  </a:lnTo>
                  <a:lnTo>
                    <a:pt x="3629025" y="3617293"/>
                  </a:lnTo>
                  <a:lnTo>
                    <a:pt x="3613911" y="3657434"/>
                  </a:lnTo>
                  <a:lnTo>
                    <a:pt x="3579042" y="3682415"/>
                  </a:lnTo>
                  <a:lnTo>
                    <a:pt x="3564937" y="3685702"/>
                  </a:lnTo>
                  <a:lnTo>
                    <a:pt x="3560143" y="3686174"/>
                  </a:lnTo>
                  <a:close/>
                </a:path>
              </a:pathLst>
            </a:custGeom>
            <a:solidFill>
              <a:srgbClr val="FFFFFF">
                <a:alpha val="50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8277223" y="1552574"/>
              <a:ext cx="3343275" cy="1181100"/>
            </a:xfrm>
            <a:custGeom>
              <a:avLst/>
              <a:gdLst/>
              <a:ahLst/>
              <a:cxnLst/>
              <a:rect l="l" t="t" r="r" b="b"/>
              <a:pathLst>
                <a:path w="3343275" h="1181100">
                  <a:moveTo>
                    <a:pt x="3311301" y="1181099"/>
                  </a:moveTo>
                  <a:lnTo>
                    <a:pt x="31973" y="1181099"/>
                  </a:lnTo>
                  <a:lnTo>
                    <a:pt x="27270" y="1180164"/>
                  </a:lnTo>
                  <a:lnTo>
                    <a:pt x="0" y="1149126"/>
                  </a:lnTo>
                  <a:lnTo>
                    <a:pt x="0" y="1144239"/>
                  </a:lnTo>
                  <a:lnTo>
                    <a:pt x="0" y="31972"/>
                  </a:lnTo>
                  <a:lnTo>
                    <a:pt x="27271" y="935"/>
                  </a:lnTo>
                  <a:lnTo>
                    <a:pt x="31973" y="0"/>
                  </a:lnTo>
                  <a:lnTo>
                    <a:pt x="3311301" y="0"/>
                  </a:lnTo>
                  <a:lnTo>
                    <a:pt x="3342339" y="27270"/>
                  </a:lnTo>
                  <a:lnTo>
                    <a:pt x="3343274" y="31972"/>
                  </a:lnTo>
                  <a:lnTo>
                    <a:pt x="3343274" y="1149126"/>
                  </a:lnTo>
                  <a:lnTo>
                    <a:pt x="3316003" y="1180164"/>
                  </a:lnTo>
                  <a:lnTo>
                    <a:pt x="3311301" y="11810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544049" y="1628774"/>
              <a:ext cx="809624" cy="1028699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8277224" y="2924174"/>
              <a:ext cx="165794" cy="165794"/>
            </a:xfrm>
            <a:prstGeom prst="rect">
              <a:avLst/>
            </a:prstGeom>
          </p:spPr>
        </p:pic>
        <p:pic>
          <p:nvPicPr>
            <p:cNvPr id="35" name="object 3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277224" y="3733829"/>
              <a:ext cx="207168" cy="165734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8267203" y="2888519"/>
            <a:ext cx="3119120" cy="10344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52095">
              <a:lnSpc>
                <a:spcPct val="100000"/>
              </a:lnSpc>
              <a:spcBef>
                <a:spcPts val="105"/>
              </a:spcBef>
            </a:pPr>
            <a:r>
              <a:rPr sz="1300" b="1" spc="-20" dirty="0">
                <a:solidFill>
                  <a:srgbClr val="6EE7B6"/>
                </a:solidFill>
                <a:latin typeface="微软雅黑"/>
                <a:cs typeface="微软雅黑"/>
              </a:rPr>
              <a:t>核心目标</a:t>
            </a:r>
            <a:endParaRPr sz="1300">
              <a:latin typeface="微软雅黑"/>
              <a:cs typeface="微软雅黑"/>
            </a:endParaRPr>
          </a:p>
          <a:p>
            <a:pPr marL="12700" marR="5080">
              <a:lnSpc>
                <a:spcPct val="125000"/>
              </a:lnSpc>
              <a:spcBef>
                <a:spcPts val="615"/>
              </a:spcBef>
            </a:pP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重构产业链，打破数据孤岛，实现跨机构的安全知识共</a:t>
            </a:r>
            <a:r>
              <a:rPr sz="1000" spc="-25" dirty="0">
                <a:solidFill>
                  <a:srgbClr val="D0D5DA"/>
                </a:solidFill>
                <a:latin typeface="微软雅黑"/>
                <a:cs typeface="微软雅黑"/>
              </a:rPr>
              <a:t>享。</a:t>
            </a:r>
            <a:endParaRPr sz="1000">
              <a:latin typeface="微软雅黑"/>
              <a:cs typeface="微软雅黑"/>
            </a:endParaRPr>
          </a:p>
          <a:p>
            <a:pPr marL="293370">
              <a:lnSpc>
                <a:spcPct val="100000"/>
              </a:lnSpc>
              <a:spcBef>
                <a:spcPts val="1200"/>
              </a:spcBef>
            </a:pPr>
            <a:r>
              <a:rPr sz="1300" b="1" spc="-20" dirty="0">
                <a:solidFill>
                  <a:srgbClr val="6EE7B6"/>
                </a:solidFill>
                <a:latin typeface="微软雅黑"/>
                <a:cs typeface="微软雅黑"/>
              </a:rPr>
              <a:t>落地与选型</a:t>
            </a:r>
            <a:endParaRPr sz="1300">
              <a:latin typeface="微软雅黑"/>
              <a:cs typeface="微软雅黑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28624" y="5324474"/>
            <a:ext cx="11334750" cy="1190625"/>
            <a:chOff x="428624" y="5324474"/>
            <a:chExt cx="11334750" cy="1190625"/>
          </a:xfrm>
        </p:grpSpPr>
        <p:sp>
          <p:nvSpPr>
            <p:cNvPr id="38" name="object 38"/>
            <p:cNvSpPr/>
            <p:nvPr/>
          </p:nvSpPr>
          <p:spPr>
            <a:xfrm>
              <a:off x="433387" y="5329237"/>
              <a:ext cx="11325225" cy="1181100"/>
            </a:xfrm>
            <a:custGeom>
              <a:avLst/>
              <a:gdLst/>
              <a:ahLst/>
              <a:cxnLst/>
              <a:rect l="l" t="t" r="r" b="b"/>
              <a:pathLst>
                <a:path w="11325225" h="1181100">
                  <a:moveTo>
                    <a:pt x="11260791" y="1181099"/>
                  </a:moveTo>
                  <a:lnTo>
                    <a:pt x="64431" y="1181099"/>
                  </a:lnTo>
                  <a:lnTo>
                    <a:pt x="59947" y="1180657"/>
                  </a:lnTo>
                  <a:lnTo>
                    <a:pt x="23399" y="1164103"/>
                  </a:lnTo>
                  <a:lnTo>
                    <a:pt x="2208" y="1130034"/>
                  </a:lnTo>
                  <a:lnTo>
                    <a:pt x="0" y="1116669"/>
                  </a:lnTo>
                  <a:lnTo>
                    <a:pt x="0" y="1112140"/>
                  </a:lnTo>
                  <a:lnTo>
                    <a:pt x="0" y="64430"/>
                  </a:lnTo>
                  <a:lnTo>
                    <a:pt x="14137" y="26882"/>
                  </a:lnTo>
                  <a:lnTo>
                    <a:pt x="46753" y="3516"/>
                  </a:lnTo>
                  <a:lnTo>
                    <a:pt x="64431" y="0"/>
                  </a:lnTo>
                  <a:lnTo>
                    <a:pt x="11260791" y="0"/>
                  </a:lnTo>
                  <a:lnTo>
                    <a:pt x="11298339" y="14136"/>
                  </a:lnTo>
                  <a:lnTo>
                    <a:pt x="11321705" y="46751"/>
                  </a:lnTo>
                  <a:lnTo>
                    <a:pt x="11325222" y="64430"/>
                  </a:lnTo>
                  <a:lnTo>
                    <a:pt x="11325222" y="1116669"/>
                  </a:lnTo>
                  <a:lnTo>
                    <a:pt x="11311086" y="1154215"/>
                  </a:lnTo>
                  <a:lnTo>
                    <a:pt x="11278470" y="1177583"/>
                  </a:lnTo>
                  <a:lnTo>
                    <a:pt x="11265276" y="1180657"/>
                  </a:lnTo>
                  <a:lnTo>
                    <a:pt x="11260791" y="1181099"/>
                  </a:lnTo>
                  <a:close/>
                </a:path>
              </a:pathLst>
            </a:custGeom>
            <a:solidFill>
              <a:srgbClr val="1D3A8A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433387" y="5329237"/>
              <a:ext cx="11325225" cy="1181100"/>
            </a:xfrm>
            <a:custGeom>
              <a:avLst/>
              <a:gdLst/>
              <a:ahLst/>
              <a:cxnLst/>
              <a:rect l="l" t="t" r="r" b="b"/>
              <a:pathLst>
                <a:path w="11325225" h="1181100">
                  <a:moveTo>
                    <a:pt x="0" y="1112140"/>
                  </a:moveTo>
                  <a:lnTo>
                    <a:pt x="0" y="68959"/>
                  </a:lnTo>
                  <a:lnTo>
                    <a:pt x="0" y="64430"/>
                  </a:lnTo>
                  <a:lnTo>
                    <a:pt x="441" y="59946"/>
                  </a:lnTo>
                  <a:lnTo>
                    <a:pt x="16996" y="23399"/>
                  </a:lnTo>
                  <a:lnTo>
                    <a:pt x="20197" y="20197"/>
                  </a:lnTo>
                  <a:lnTo>
                    <a:pt x="23399" y="16996"/>
                  </a:lnTo>
                  <a:lnTo>
                    <a:pt x="26882" y="14136"/>
                  </a:lnTo>
                  <a:lnTo>
                    <a:pt x="30647" y="11621"/>
                  </a:lnTo>
                  <a:lnTo>
                    <a:pt x="34412" y="9105"/>
                  </a:lnTo>
                  <a:lnTo>
                    <a:pt x="64431" y="0"/>
                  </a:lnTo>
                  <a:lnTo>
                    <a:pt x="68959" y="0"/>
                  </a:lnTo>
                  <a:lnTo>
                    <a:pt x="11256264" y="0"/>
                  </a:lnTo>
                  <a:lnTo>
                    <a:pt x="11260791" y="0"/>
                  </a:lnTo>
                  <a:lnTo>
                    <a:pt x="11265276" y="441"/>
                  </a:lnTo>
                  <a:lnTo>
                    <a:pt x="11294573" y="11620"/>
                  </a:lnTo>
                  <a:lnTo>
                    <a:pt x="11298339" y="14136"/>
                  </a:lnTo>
                  <a:lnTo>
                    <a:pt x="11301823" y="16994"/>
                  </a:lnTo>
                  <a:lnTo>
                    <a:pt x="11305024" y="20196"/>
                  </a:lnTo>
                  <a:lnTo>
                    <a:pt x="11308225" y="23398"/>
                  </a:lnTo>
                  <a:lnTo>
                    <a:pt x="11324781" y="59946"/>
                  </a:lnTo>
                  <a:lnTo>
                    <a:pt x="11325224" y="68959"/>
                  </a:lnTo>
                  <a:lnTo>
                    <a:pt x="11325224" y="1112140"/>
                  </a:lnTo>
                  <a:lnTo>
                    <a:pt x="11313601" y="1150451"/>
                  </a:lnTo>
                  <a:lnTo>
                    <a:pt x="11282653" y="1175850"/>
                  </a:lnTo>
                  <a:lnTo>
                    <a:pt x="11256264" y="1181099"/>
                  </a:lnTo>
                  <a:lnTo>
                    <a:pt x="68959" y="1181099"/>
                  </a:lnTo>
                  <a:lnTo>
                    <a:pt x="42569" y="1175850"/>
                  </a:lnTo>
                  <a:lnTo>
                    <a:pt x="38386" y="1174117"/>
                  </a:lnTo>
                  <a:lnTo>
                    <a:pt x="9106" y="1146686"/>
                  </a:lnTo>
                  <a:lnTo>
                    <a:pt x="5249" y="1138529"/>
                  </a:lnTo>
                  <a:lnTo>
                    <a:pt x="3516" y="1134346"/>
                  </a:lnTo>
                  <a:lnTo>
                    <a:pt x="2208" y="1130034"/>
                  </a:lnTo>
                  <a:lnTo>
                    <a:pt x="1325" y="1125593"/>
                  </a:lnTo>
                  <a:lnTo>
                    <a:pt x="441" y="1121152"/>
                  </a:lnTo>
                  <a:lnTo>
                    <a:pt x="0" y="1116669"/>
                  </a:lnTo>
                  <a:lnTo>
                    <a:pt x="0" y="1112140"/>
                  </a:lnTo>
                  <a:close/>
                </a:path>
              </a:pathLst>
            </a:custGeom>
            <a:ln w="9524">
              <a:solidFill>
                <a:srgbClr val="1C4ED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581024" y="5476874"/>
              <a:ext cx="28575" cy="219075"/>
            </a:xfrm>
            <a:custGeom>
              <a:avLst/>
              <a:gdLst/>
              <a:ahLst/>
              <a:cxnLst/>
              <a:rect l="l" t="t" r="r" b="b"/>
              <a:pathLst>
                <a:path w="28575" h="219075">
                  <a:moveTo>
                    <a:pt x="28574" y="219074"/>
                  </a:moveTo>
                  <a:lnTo>
                    <a:pt x="0" y="219074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219074"/>
                  </a:lnTo>
                  <a:close/>
                </a:path>
              </a:pathLst>
            </a:custGeom>
            <a:solidFill>
              <a:srgbClr val="60A5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1" name="object 41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581025" y="5886449"/>
              <a:ext cx="184249" cy="184249"/>
            </a:xfrm>
            <a:prstGeom prst="rect">
              <a:avLst/>
            </a:prstGeom>
          </p:spPr>
        </p:pic>
      </p:grpSp>
      <p:sp>
        <p:nvSpPr>
          <p:cNvPr id="42" name="object 42"/>
          <p:cNvSpPr txBox="1"/>
          <p:nvPr/>
        </p:nvSpPr>
        <p:spPr>
          <a:xfrm>
            <a:off x="711944" y="5478748"/>
            <a:ext cx="3384550" cy="89026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150" b="1" spc="-15" dirty="0">
                <a:solidFill>
                  <a:srgbClr val="BEDAFE"/>
                </a:solidFill>
                <a:latin typeface="微软雅黑"/>
                <a:cs typeface="微软雅黑"/>
              </a:rPr>
              <a:t>成功落地的关键依赖要素</a:t>
            </a:r>
            <a:endParaRPr sz="1150">
              <a:latin typeface="微软雅黑"/>
              <a:cs typeface="微软雅黑"/>
            </a:endParaRPr>
          </a:p>
          <a:p>
            <a:pPr marL="168275">
              <a:lnSpc>
                <a:spcPct val="100000"/>
              </a:lnSpc>
              <a:spcBef>
                <a:spcPts val="1245"/>
              </a:spcBef>
            </a:pPr>
            <a:r>
              <a:rPr sz="1150" b="1" spc="-20" dirty="0">
                <a:solidFill>
                  <a:srgbClr val="FFFFFF"/>
                </a:solidFill>
                <a:latin typeface="微软雅黑"/>
                <a:cs typeface="微软雅黑"/>
              </a:rPr>
              <a:t>技术成熟度</a:t>
            </a:r>
            <a:endParaRPr sz="1150">
              <a:latin typeface="微软雅黑"/>
              <a:cs typeface="微软雅黑"/>
            </a:endParaRPr>
          </a:p>
          <a:p>
            <a:pPr marL="168275" marR="5080">
              <a:lnSpc>
                <a:spcPct val="117600"/>
              </a:lnSpc>
              <a:spcBef>
                <a:spcPts val="390"/>
              </a:spcBef>
            </a:pPr>
            <a:r>
              <a:rPr sz="850" dirty="0">
                <a:solidFill>
                  <a:srgbClr val="D0D5DA"/>
                </a:solidFill>
                <a:latin typeface="微软雅黑"/>
                <a:cs typeface="微软雅黑"/>
              </a:rPr>
              <a:t>解决LLM幻觉（神经符号融合）、提升移动端任务稳定性（</a:t>
            </a:r>
            <a:r>
              <a:rPr sz="850" spc="-20" dirty="0">
                <a:solidFill>
                  <a:srgbClr val="D0D5DA"/>
                </a:solidFill>
                <a:latin typeface="微软雅黑"/>
                <a:cs typeface="微软雅黑"/>
              </a:rPr>
              <a:t>端到端</a:t>
            </a:r>
            <a:r>
              <a:rPr sz="850" dirty="0">
                <a:solidFill>
                  <a:srgbClr val="D0D5DA"/>
                </a:solidFill>
                <a:latin typeface="微软雅黑"/>
                <a:cs typeface="微软雅黑"/>
              </a:rPr>
              <a:t>强化学习）</a:t>
            </a:r>
            <a:r>
              <a:rPr sz="850" spc="-50" dirty="0">
                <a:solidFill>
                  <a:srgbClr val="D0D5DA"/>
                </a:solidFill>
                <a:latin typeface="微软雅黑"/>
                <a:cs typeface="微软雅黑"/>
              </a:rPr>
              <a:t>。</a:t>
            </a:r>
            <a:endParaRPr sz="850">
              <a:latin typeface="微软雅黑"/>
              <a:cs typeface="微软雅黑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4333875" y="5886471"/>
            <a:ext cx="3973829" cy="184785"/>
            <a:chOff x="4333875" y="5886471"/>
            <a:chExt cx="3973829" cy="184785"/>
          </a:xfrm>
        </p:grpSpPr>
        <p:pic>
          <p:nvPicPr>
            <p:cNvPr id="44" name="object 44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333875" y="5886471"/>
              <a:ext cx="161180" cy="184206"/>
            </a:xfrm>
            <a:prstGeom prst="rect">
              <a:avLst/>
            </a:prstGeom>
          </p:spPr>
        </p:pic>
        <p:pic>
          <p:nvPicPr>
            <p:cNvPr id="45" name="object 45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8077200" y="5886479"/>
              <a:ext cx="230165" cy="184189"/>
            </a:xfrm>
            <a:prstGeom prst="rect">
              <a:avLst/>
            </a:prstGeom>
          </p:spPr>
        </p:pic>
      </p:grpSp>
      <p:sp>
        <p:nvSpPr>
          <p:cNvPr id="46" name="object 46"/>
          <p:cNvSpPr txBox="1"/>
          <p:nvPr/>
        </p:nvSpPr>
        <p:spPr>
          <a:xfrm>
            <a:off x="4591893" y="5719316"/>
            <a:ext cx="3230245" cy="64960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150" b="1" spc="-20" dirty="0">
                <a:solidFill>
                  <a:srgbClr val="FFFFFF"/>
                </a:solidFill>
                <a:latin typeface="微软雅黑"/>
                <a:cs typeface="微软雅黑"/>
              </a:rPr>
              <a:t>数据质量与治理</a:t>
            </a:r>
            <a:endParaRPr sz="1150">
              <a:latin typeface="微软雅黑"/>
              <a:cs typeface="微软雅黑"/>
            </a:endParaRPr>
          </a:p>
          <a:p>
            <a:pPr marL="12700" marR="5080">
              <a:lnSpc>
                <a:spcPct val="117600"/>
              </a:lnSpc>
              <a:spcBef>
                <a:spcPts val="390"/>
              </a:spcBef>
            </a:pPr>
            <a:r>
              <a:rPr sz="850" dirty="0">
                <a:solidFill>
                  <a:srgbClr val="D0D5DA"/>
                </a:solidFill>
                <a:latin typeface="微软雅黑"/>
                <a:cs typeface="微软雅黑"/>
              </a:rPr>
              <a:t>利用GraphRAG</a:t>
            </a:r>
            <a:r>
              <a:rPr sz="850" spc="-5" dirty="0">
                <a:solidFill>
                  <a:srgbClr val="D0D5DA"/>
                </a:solidFill>
                <a:latin typeface="微软雅黑"/>
                <a:cs typeface="微软雅黑"/>
              </a:rPr>
              <a:t>增强多跳推理能力，深化对非结构化复杂文档的理</a:t>
            </a:r>
            <a:r>
              <a:rPr sz="850" spc="-25" dirty="0">
                <a:solidFill>
                  <a:srgbClr val="D0D5DA"/>
                </a:solidFill>
                <a:latin typeface="微软雅黑"/>
                <a:cs typeface="微软雅黑"/>
              </a:rPr>
              <a:t>解。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55880">
              <a:lnSpc>
                <a:spcPct val="100000"/>
              </a:lnSpc>
              <a:spcBef>
                <a:spcPts val="815"/>
              </a:spcBef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sp>
        <p:nvSpPr>
          <p:cNvPr id="47" name="object 47"/>
          <p:cNvSpPr txBox="1"/>
          <p:nvPr/>
        </p:nvSpPr>
        <p:spPr>
          <a:xfrm>
            <a:off x="8408292" y="5719316"/>
            <a:ext cx="3106420" cy="64960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sz="1150" b="1" spc="-20" dirty="0">
                <a:solidFill>
                  <a:srgbClr val="FFFFFF"/>
                </a:solidFill>
                <a:latin typeface="微软雅黑"/>
                <a:cs typeface="微软雅黑"/>
              </a:rPr>
              <a:t>组织适配</a:t>
            </a:r>
            <a:endParaRPr sz="1150">
              <a:latin typeface="微软雅黑"/>
              <a:cs typeface="微软雅黑"/>
            </a:endParaRPr>
          </a:p>
          <a:p>
            <a:pPr marL="12700" marR="5080">
              <a:lnSpc>
                <a:spcPct val="117600"/>
              </a:lnSpc>
              <a:spcBef>
                <a:spcPts val="390"/>
              </a:spcBef>
            </a:pPr>
            <a:r>
              <a:rPr sz="850" dirty="0">
                <a:solidFill>
                  <a:srgbClr val="D0D5DA"/>
                </a:solidFill>
                <a:latin typeface="微软雅黑"/>
                <a:cs typeface="微软雅黑"/>
              </a:rPr>
              <a:t>明确责任归属，建立人机协作互信，将Agent</a:t>
            </a:r>
            <a:r>
              <a:rPr sz="850" spc="-10" dirty="0">
                <a:solidFill>
                  <a:srgbClr val="D0D5DA"/>
                </a:solidFill>
                <a:latin typeface="微软雅黑"/>
                <a:cs typeface="微软雅黑"/>
              </a:rPr>
              <a:t>视为合作伙伴而非单纯软件。</a:t>
            </a:r>
            <a:endParaRPr sz="850">
              <a:latin typeface="微软雅黑"/>
              <a:cs typeface="微软雅黑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63264" y="3975493"/>
            <a:ext cx="3183255" cy="9017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7005" marR="31750" indent="-154940">
              <a:lnSpc>
                <a:spcPct val="125000"/>
              </a:lnSpc>
              <a:spcBef>
                <a:spcPts val="95"/>
              </a:spcBef>
              <a:buClr>
                <a:srgbClr val="60A5FA"/>
              </a:buClr>
              <a:buChar char="·"/>
              <a:tabLst>
                <a:tab pos="167005" algn="l"/>
              </a:tabLst>
            </a:pPr>
            <a:r>
              <a:rPr sz="1000" b="1" dirty="0">
                <a:solidFill>
                  <a:srgbClr val="D0D5DA"/>
                </a:solidFill>
                <a:latin typeface="微软雅黑"/>
                <a:cs typeface="微软雅黑"/>
              </a:rPr>
              <a:t>场景：</a:t>
            </a: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知识库RAG</a:t>
            </a: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问答、自动报告生成、智能会议协</a:t>
            </a:r>
            <a:r>
              <a:rPr sz="1000" spc="-25" dirty="0">
                <a:solidFill>
                  <a:srgbClr val="D0D5DA"/>
                </a:solidFill>
                <a:latin typeface="微软雅黑"/>
                <a:cs typeface="微软雅黑"/>
              </a:rPr>
              <a:t>调。</a:t>
            </a:r>
            <a:endParaRPr sz="1000">
              <a:latin typeface="微软雅黑"/>
              <a:cs typeface="微软雅黑"/>
            </a:endParaRPr>
          </a:p>
          <a:p>
            <a:pPr marL="167640" indent="-154940">
              <a:lnSpc>
                <a:spcPct val="100000"/>
              </a:lnSpc>
              <a:spcBef>
                <a:spcPts val="750"/>
              </a:spcBef>
              <a:buClr>
                <a:srgbClr val="60A5FA"/>
              </a:buClr>
              <a:buChar char="·"/>
              <a:tabLst>
                <a:tab pos="167640" algn="l"/>
              </a:tabLst>
            </a:pPr>
            <a:r>
              <a:rPr sz="1000" b="1" dirty="0">
                <a:solidFill>
                  <a:srgbClr val="D0D5DA"/>
                </a:solidFill>
                <a:latin typeface="微软雅黑"/>
                <a:cs typeface="微软雅黑"/>
              </a:rPr>
              <a:t>框架：</a:t>
            </a: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LlamaIndex</a:t>
            </a: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 (知识检索)、</a:t>
            </a: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Dify</a:t>
            </a:r>
            <a:r>
              <a:rPr sz="1000" spc="-10" dirty="0">
                <a:solidFill>
                  <a:srgbClr val="D0D5DA"/>
                </a:solidFill>
                <a:latin typeface="微软雅黑"/>
                <a:cs typeface="微软雅黑"/>
              </a:rPr>
              <a:t> (低代码验证)。</a:t>
            </a:r>
            <a:endParaRPr sz="1000">
              <a:latin typeface="微软雅黑"/>
              <a:cs typeface="微软雅黑"/>
            </a:endParaRPr>
          </a:p>
          <a:p>
            <a:pPr marL="167640" indent="-154940">
              <a:lnSpc>
                <a:spcPct val="100000"/>
              </a:lnSpc>
              <a:spcBef>
                <a:spcPts val="750"/>
              </a:spcBef>
              <a:buClr>
                <a:srgbClr val="60A5FA"/>
              </a:buClr>
              <a:buChar char="·"/>
              <a:tabLst>
                <a:tab pos="167640" algn="l"/>
              </a:tabLst>
            </a:pPr>
            <a:r>
              <a:rPr sz="1000" b="1" dirty="0">
                <a:solidFill>
                  <a:srgbClr val="D0D5DA"/>
                </a:solidFill>
                <a:latin typeface="微软雅黑"/>
                <a:cs typeface="微软雅黑"/>
              </a:rPr>
              <a:t>组合：</a:t>
            </a: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Dify</a:t>
            </a:r>
            <a:r>
              <a:rPr sz="1000" spc="20" dirty="0">
                <a:solidFill>
                  <a:srgbClr val="D0D5DA"/>
                </a:solidFill>
                <a:latin typeface="微软雅黑"/>
                <a:cs typeface="微软雅黑"/>
              </a:rPr>
              <a:t> + 标准</a:t>
            </a: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RAG</a:t>
            </a: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组件，</a:t>
            </a:r>
            <a:r>
              <a:rPr sz="1000" spc="-10" dirty="0">
                <a:solidFill>
                  <a:srgbClr val="D0D5DA"/>
                </a:solidFill>
                <a:latin typeface="微软雅黑"/>
                <a:cs typeface="微软雅黑"/>
              </a:rPr>
              <a:t>ROI</a:t>
            </a:r>
            <a:r>
              <a:rPr sz="1000" spc="-20" dirty="0">
                <a:solidFill>
                  <a:srgbClr val="D0D5DA"/>
                </a:solidFill>
                <a:latin typeface="微软雅黑"/>
                <a:cs typeface="微软雅黑"/>
              </a:rPr>
              <a:t>明确。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4415234" y="4011231"/>
            <a:ext cx="3329304" cy="68516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67640" indent="-154940">
              <a:lnSpc>
                <a:spcPct val="100000"/>
              </a:lnSpc>
              <a:spcBef>
                <a:spcPts val="114"/>
              </a:spcBef>
              <a:buClr>
                <a:srgbClr val="60A5FA"/>
              </a:buClr>
              <a:buChar char="·"/>
              <a:tabLst>
                <a:tab pos="167640" algn="l"/>
              </a:tabLst>
            </a:pPr>
            <a:r>
              <a:rPr sz="1000" b="1" dirty="0">
                <a:solidFill>
                  <a:srgbClr val="D0D5DA"/>
                </a:solidFill>
                <a:latin typeface="微软雅黑"/>
                <a:cs typeface="微软雅黑"/>
              </a:rPr>
              <a:t>场景：</a:t>
            </a: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深度研报自动化、法律审查、供应链协调。</a:t>
            </a:r>
            <a:endParaRPr sz="1000">
              <a:latin typeface="微软雅黑"/>
              <a:cs typeface="微软雅黑"/>
            </a:endParaRPr>
          </a:p>
          <a:p>
            <a:pPr marL="167640" indent="-154940">
              <a:lnSpc>
                <a:spcPct val="100000"/>
              </a:lnSpc>
              <a:spcBef>
                <a:spcPts val="750"/>
              </a:spcBef>
              <a:buClr>
                <a:srgbClr val="60A5FA"/>
              </a:buClr>
              <a:buChar char="·"/>
              <a:tabLst>
                <a:tab pos="167640" algn="l"/>
              </a:tabLst>
            </a:pPr>
            <a:r>
              <a:rPr sz="1000" b="1" dirty="0">
                <a:solidFill>
                  <a:srgbClr val="D0D5DA"/>
                </a:solidFill>
                <a:latin typeface="微软雅黑"/>
                <a:cs typeface="微软雅黑"/>
              </a:rPr>
              <a:t>框架：</a:t>
            </a: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LangGraph</a:t>
            </a: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 (状态机编排)、</a:t>
            </a: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AutoGen</a:t>
            </a: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 (多角色)。</a:t>
            </a:r>
            <a:endParaRPr sz="1000">
              <a:latin typeface="微软雅黑"/>
              <a:cs typeface="微软雅黑"/>
            </a:endParaRPr>
          </a:p>
          <a:p>
            <a:pPr marL="167640" indent="-154940">
              <a:lnSpc>
                <a:spcPct val="100000"/>
              </a:lnSpc>
              <a:spcBef>
                <a:spcPts val="825"/>
              </a:spcBef>
              <a:buClr>
                <a:srgbClr val="60A5FA"/>
              </a:buClr>
              <a:buChar char="·"/>
              <a:tabLst>
                <a:tab pos="167640" algn="l"/>
              </a:tabLst>
            </a:pPr>
            <a:r>
              <a:rPr sz="1000" b="1" dirty="0">
                <a:solidFill>
                  <a:srgbClr val="D0D5DA"/>
                </a:solidFill>
                <a:latin typeface="微软雅黑"/>
                <a:cs typeface="微软雅黑"/>
              </a:rPr>
              <a:t>技术：</a:t>
            </a: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Agentic</a:t>
            </a:r>
            <a:r>
              <a:rPr sz="1000" spc="100" dirty="0">
                <a:solidFill>
                  <a:srgbClr val="D0D5DA"/>
                </a:solidFill>
                <a:latin typeface="微软雅黑"/>
                <a:cs typeface="微软雅黑"/>
              </a:rPr>
              <a:t> </a:t>
            </a: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RAG</a:t>
            </a: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引入动态决策与反思闭环。</a:t>
            </a:r>
            <a:endParaRPr sz="1000">
              <a:latin typeface="微软雅黑"/>
              <a:cs typeface="微软雅黑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8267203" y="4011231"/>
            <a:ext cx="3180080" cy="8661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67640" indent="-154940">
              <a:lnSpc>
                <a:spcPct val="100000"/>
              </a:lnSpc>
              <a:spcBef>
                <a:spcPts val="114"/>
              </a:spcBef>
              <a:buClr>
                <a:srgbClr val="60A5FA"/>
              </a:buClr>
              <a:buChar char="·"/>
              <a:tabLst>
                <a:tab pos="167640" algn="l"/>
              </a:tabLst>
            </a:pPr>
            <a:r>
              <a:rPr sz="1000" b="1" dirty="0">
                <a:solidFill>
                  <a:srgbClr val="D0D5DA"/>
                </a:solidFill>
                <a:latin typeface="微软雅黑"/>
                <a:cs typeface="微软雅黑"/>
              </a:rPr>
              <a:t>场景：</a:t>
            </a: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跨机构协作诊断、全行业生态协同。</a:t>
            </a:r>
            <a:endParaRPr sz="1000">
              <a:latin typeface="微软雅黑"/>
              <a:cs typeface="微软雅黑"/>
            </a:endParaRPr>
          </a:p>
          <a:p>
            <a:pPr marL="167005" marR="5080" indent="-154940">
              <a:lnSpc>
                <a:spcPct val="125000"/>
              </a:lnSpc>
              <a:spcBef>
                <a:spcPts val="450"/>
              </a:spcBef>
              <a:buClr>
                <a:srgbClr val="60A5FA"/>
              </a:buClr>
              <a:buChar char="·"/>
              <a:tabLst>
                <a:tab pos="167005" algn="l"/>
              </a:tabLst>
            </a:pPr>
            <a:r>
              <a:rPr sz="1000" b="1" dirty="0">
                <a:solidFill>
                  <a:srgbClr val="D0D5DA"/>
                </a:solidFill>
                <a:latin typeface="微软雅黑"/>
                <a:cs typeface="微软雅黑"/>
              </a:rPr>
              <a:t>趋势：</a:t>
            </a: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联邦Agentic RAG</a:t>
            </a:r>
            <a:r>
              <a:rPr sz="1000" spc="-10" dirty="0">
                <a:solidFill>
                  <a:srgbClr val="D0D5DA"/>
                </a:solidFill>
                <a:latin typeface="微软雅黑"/>
                <a:cs typeface="微软雅黑"/>
              </a:rPr>
              <a:t> (隐私保护)、</a:t>
            </a:r>
            <a:r>
              <a:rPr sz="1000" dirty="0">
                <a:solidFill>
                  <a:srgbClr val="D0D5DA"/>
                </a:solidFill>
                <a:latin typeface="微软雅黑"/>
                <a:cs typeface="微软雅黑"/>
              </a:rPr>
              <a:t>MCP</a:t>
            </a:r>
            <a:r>
              <a:rPr sz="1000" spc="-15" dirty="0">
                <a:solidFill>
                  <a:srgbClr val="D0D5DA"/>
                </a:solidFill>
                <a:latin typeface="微软雅黑"/>
                <a:cs typeface="微软雅黑"/>
              </a:rPr>
              <a:t>协议标准</a:t>
            </a:r>
            <a:r>
              <a:rPr sz="1000" spc="-25" dirty="0">
                <a:solidFill>
                  <a:srgbClr val="D0D5DA"/>
                </a:solidFill>
                <a:latin typeface="微软雅黑"/>
                <a:cs typeface="微软雅黑"/>
              </a:rPr>
              <a:t>化。</a:t>
            </a:r>
            <a:endParaRPr sz="1000">
              <a:latin typeface="微软雅黑"/>
              <a:cs typeface="微软雅黑"/>
            </a:endParaRPr>
          </a:p>
          <a:p>
            <a:pPr marL="167640" indent="-154940">
              <a:lnSpc>
                <a:spcPct val="100000"/>
              </a:lnSpc>
              <a:spcBef>
                <a:spcPts val="750"/>
              </a:spcBef>
              <a:buClr>
                <a:srgbClr val="60A5FA"/>
              </a:buClr>
              <a:buChar char="·"/>
              <a:tabLst>
                <a:tab pos="167640" algn="l"/>
              </a:tabLst>
            </a:pPr>
            <a:r>
              <a:rPr sz="1000" b="1" dirty="0">
                <a:solidFill>
                  <a:srgbClr val="D0D5DA"/>
                </a:solidFill>
                <a:latin typeface="微软雅黑"/>
                <a:cs typeface="微软雅黑"/>
              </a:rPr>
              <a:t>价值：</a:t>
            </a:r>
            <a:r>
              <a:rPr sz="1000" spc="-5" dirty="0">
                <a:solidFill>
                  <a:srgbClr val="D0D5DA"/>
                </a:solidFill>
                <a:latin typeface="微软雅黑"/>
                <a:cs typeface="微软雅黑"/>
              </a:rPr>
              <a:t>成为放大人类能力的新型基础设施。</a:t>
            </a:r>
            <a:endParaRPr sz="100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99" y="0"/>
            <a:ext cx="12115800" cy="6858000"/>
          </a:xfrm>
          <a:custGeom>
            <a:avLst/>
            <a:gdLst/>
            <a:ahLst/>
            <a:cxnLst/>
            <a:rect l="l" t="t" r="r" b="b"/>
            <a:pathLst>
              <a:path w="12115800" h="6858000">
                <a:moveTo>
                  <a:pt x="0" y="6857999"/>
                </a:moveTo>
                <a:lnTo>
                  <a:pt x="12115799" y="6857999"/>
                </a:lnTo>
                <a:lnTo>
                  <a:pt x="12115799" y="0"/>
                </a:lnTo>
                <a:lnTo>
                  <a:pt x="0" y="0"/>
                </a:lnTo>
                <a:lnTo>
                  <a:pt x="0" y="6857999"/>
                </a:lnTo>
                <a:close/>
              </a:path>
            </a:pathLst>
          </a:custGeom>
          <a:solidFill>
            <a:srgbClr val="1A205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7315199" y="0"/>
            <a:ext cx="4876800" cy="6858000"/>
          </a:xfrm>
          <a:custGeom>
            <a:avLst/>
            <a:gdLst/>
            <a:ahLst/>
            <a:cxnLst/>
            <a:rect l="l" t="t" r="r" b="b"/>
            <a:pathLst>
              <a:path w="4876800" h="6858000">
                <a:moveTo>
                  <a:pt x="4876799" y="6857999"/>
                </a:moveTo>
                <a:lnTo>
                  <a:pt x="0" y="6857999"/>
                </a:lnTo>
                <a:lnTo>
                  <a:pt x="731519" y="0"/>
                </a:lnTo>
                <a:lnTo>
                  <a:pt x="4876799" y="0"/>
                </a:lnTo>
                <a:lnTo>
                  <a:pt x="4876799" y="6857999"/>
                </a:lnTo>
                <a:close/>
              </a:path>
            </a:pathLst>
          </a:custGeom>
          <a:solidFill>
            <a:srgbClr val="4A54A5">
              <a:alpha val="1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0"/>
            <a:ext cx="76200" cy="6858000"/>
          </a:xfrm>
          <a:custGeom>
            <a:avLst/>
            <a:gdLst/>
            <a:ahLst/>
            <a:cxnLst/>
            <a:rect l="l" t="t" r="r" b="b"/>
            <a:pathLst>
              <a:path w="76200" h="6858000">
                <a:moveTo>
                  <a:pt x="76199" y="6857999"/>
                </a:moveTo>
                <a:lnTo>
                  <a:pt x="0" y="6857999"/>
                </a:lnTo>
                <a:lnTo>
                  <a:pt x="0" y="0"/>
                </a:lnTo>
                <a:lnTo>
                  <a:pt x="76199" y="0"/>
                </a:lnTo>
                <a:lnTo>
                  <a:pt x="76199" y="685799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574331" y="2416175"/>
            <a:ext cx="297434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390" dirty="0">
                <a:solidFill>
                  <a:srgbClr val="FFFFFF"/>
                </a:solidFill>
              </a:rPr>
              <a:t>感谢聆听</a:t>
            </a:r>
            <a:endParaRPr sz="5400"/>
          </a:p>
        </p:txBody>
      </p:sp>
      <p:sp>
        <p:nvSpPr>
          <p:cNvPr id="6" name="object 6"/>
          <p:cNvSpPr/>
          <p:nvPr/>
        </p:nvSpPr>
        <p:spPr>
          <a:xfrm>
            <a:off x="5486398" y="3495674"/>
            <a:ext cx="1219200" cy="57150"/>
          </a:xfrm>
          <a:custGeom>
            <a:avLst/>
            <a:gdLst/>
            <a:ahLst/>
            <a:cxnLst/>
            <a:rect l="l" t="t" r="r" b="b"/>
            <a:pathLst>
              <a:path w="1219200" h="57150">
                <a:moveTo>
                  <a:pt x="119441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8574"/>
                </a:lnTo>
                <a:lnTo>
                  <a:pt x="0" y="24785"/>
                </a:lnTo>
                <a:lnTo>
                  <a:pt x="24785" y="0"/>
                </a:lnTo>
                <a:lnTo>
                  <a:pt x="1194414" y="0"/>
                </a:lnTo>
                <a:lnTo>
                  <a:pt x="1219200" y="24785"/>
                </a:lnTo>
                <a:lnTo>
                  <a:pt x="1219200" y="32364"/>
                </a:lnTo>
                <a:lnTo>
                  <a:pt x="1198059" y="56424"/>
                </a:lnTo>
                <a:lnTo>
                  <a:pt x="1194414" y="57149"/>
                </a:lnTo>
                <a:close/>
              </a:path>
            </a:pathLst>
          </a:custGeom>
          <a:solidFill>
            <a:srgbClr val="3B81F5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7" name="object 7"/>
          <p:cNvGrpSpPr/>
          <p:nvPr/>
        </p:nvGrpSpPr>
        <p:grpSpPr>
          <a:xfrm>
            <a:off x="4962524" y="5305424"/>
            <a:ext cx="2266950" cy="514350"/>
            <a:chOff x="4962524" y="5305424"/>
            <a:chExt cx="2266950" cy="514350"/>
          </a:xfrm>
        </p:grpSpPr>
        <p:sp>
          <p:nvSpPr>
            <p:cNvPr id="8" name="object 8"/>
            <p:cNvSpPr/>
            <p:nvPr/>
          </p:nvSpPr>
          <p:spPr>
            <a:xfrm>
              <a:off x="4962524" y="5305424"/>
              <a:ext cx="2266950" cy="514350"/>
            </a:xfrm>
            <a:custGeom>
              <a:avLst/>
              <a:gdLst/>
              <a:ahLst/>
              <a:cxnLst/>
              <a:rect l="l" t="t" r="r" b="b"/>
              <a:pathLst>
                <a:path w="2266950" h="514350">
                  <a:moveTo>
                    <a:pt x="2009774" y="514349"/>
                  </a:moveTo>
                  <a:lnTo>
                    <a:pt x="257174" y="514349"/>
                  </a:lnTo>
                  <a:lnTo>
                    <a:pt x="244540" y="514040"/>
                  </a:lnTo>
                  <a:lnTo>
                    <a:pt x="194670" y="506640"/>
                  </a:lnTo>
                  <a:lnTo>
                    <a:pt x="147203" y="489652"/>
                  </a:lnTo>
                  <a:lnTo>
                    <a:pt x="103962" y="463731"/>
                  </a:lnTo>
                  <a:lnTo>
                    <a:pt x="66609" y="429872"/>
                  </a:lnTo>
                  <a:lnTo>
                    <a:pt x="36579" y="389376"/>
                  </a:lnTo>
                  <a:lnTo>
                    <a:pt x="15026" y="343800"/>
                  </a:lnTo>
                  <a:lnTo>
                    <a:pt x="2779" y="294895"/>
                  </a:lnTo>
                  <a:lnTo>
                    <a:pt x="0" y="257174"/>
                  </a:lnTo>
                  <a:lnTo>
                    <a:pt x="308" y="244540"/>
                  </a:lnTo>
                  <a:lnTo>
                    <a:pt x="7709" y="194670"/>
                  </a:lnTo>
                  <a:lnTo>
                    <a:pt x="24696" y="147203"/>
                  </a:lnTo>
                  <a:lnTo>
                    <a:pt x="50617" y="103962"/>
                  </a:lnTo>
                  <a:lnTo>
                    <a:pt x="84476" y="66608"/>
                  </a:lnTo>
                  <a:lnTo>
                    <a:pt x="124971" y="36578"/>
                  </a:lnTo>
                  <a:lnTo>
                    <a:pt x="170548" y="15026"/>
                  </a:lnTo>
                  <a:lnTo>
                    <a:pt x="219454" y="2779"/>
                  </a:lnTo>
                  <a:lnTo>
                    <a:pt x="257174" y="0"/>
                  </a:lnTo>
                  <a:lnTo>
                    <a:pt x="2009774" y="0"/>
                  </a:lnTo>
                  <a:lnTo>
                    <a:pt x="2059947" y="4941"/>
                  </a:lnTo>
                  <a:lnTo>
                    <a:pt x="2108189" y="19575"/>
                  </a:lnTo>
                  <a:lnTo>
                    <a:pt x="2152652" y="43340"/>
                  </a:lnTo>
                  <a:lnTo>
                    <a:pt x="2191624" y="75323"/>
                  </a:lnTo>
                  <a:lnTo>
                    <a:pt x="2223608" y="114295"/>
                  </a:lnTo>
                  <a:lnTo>
                    <a:pt x="2247373" y="158757"/>
                  </a:lnTo>
                  <a:lnTo>
                    <a:pt x="2262008" y="207002"/>
                  </a:lnTo>
                  <a:lnTo>
                    <a:pt x="2266949" y="257174"/>
                  </a:lnTo>
                  <a:lnTo>
                    <a:pt x="2266640" y="269809"/>
                  </a:lnTo>
                  <a:lnTo>
                    <a:pt x="2259240" y="319678"/>
                  </a:lnTo>
                  <a:lnTo>
                    <a:pt x="2242253" y="367145"/>
                  </a:lnTo>
                  <a:lnTo>
                    <a:pt x="2216331" y="410386"/>
                  </a:lnTo>
                  <a:lnTo>
                    <a:pt x="2182472" y="447739"/>
                  </a:lnTo>
                  <a:lnTo>
                    <a:pt x="2141976" y="477769"/>
                  </a:lnTo>
                  <a:lnTo>
                    <a:pt x="2096399" y="499322"/>
                  </a:lnTo>
                  <a:lnTo>
                    <a:pt x="2047495" y="511570"/>
                  </a:lnTo>
                  <a:lnTo>
                    <a:pt x="2009774" y="514349"/>
                  </a:lnTo>
                  <a:close/>
                </a:path>
              </a:pathLst>
            </a:custGeom>
            <a:solidFill>
              <a:srgbClr val="1D3A8A">
                <a:alpha val="1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962524" y="5305424"/>
              <a:ext cx="2266950" cy="513080"/>
            </a:xfrm>
            <a:custGeom>
              <a:avLst/>
              <a:gdLst/>
              <a:ahLst/>
              <a:cxnLst/>
              <a:rect l="l" t="t" r="r" b="b"/>
              <a:pathLst>
                <a:path w="2266950" h="513079">
                  <a:moveTo>
                    <a:pt x="2034982" y="513080"/>
                  </a:moveTo>
                  <a:lnTo>
                    <a:pt x="231966" y="513080"/>
                  </a:lnTo>
                  <a:lnTo>
                    <a:pt x="219454" y="510540"/>
                  </a:lnTo>
                  <a:lnTo>
                    <a:pt x="207002" y="509270"/>
                  </a:lnTo>
                  <a:lnTo>
                    <a:pt x="194670" y="505460"/>
                  </a:lnTo>
                  <a:lnTo>
                    <a:pt x="182519" y="502920"/>
                  </a:lnTo>
                  <a:lnTo>
                    <a:pt x="170548" y="499110"/>
                  </a:lnTo>
                  <a:lnTo>
                    <a:pt x="147203" y="488950"/>
                  </a:lnTo>
                  <a:lnTo>
                    <a:pt x="135941" y="483870"/>
                  </a:lnTo>
                  <a:lnTo>
                    <a:pt x="124972" y="477520"/>
                  </a:lnTo>
                  <a:lnTo>
                    <a:pt x="114295" y="469900"/>
                  </a:lnTo>
                  <a:lnTo>
                    <a:pt x="103962" y="463550"/>
                  </a:lnTo>
                  <a:lnTo>
                    <a:pt x="75324" y="438150"/>
                  </a:lnTo>
                  <a:lnTo>
                    <a:pt x="58373" y="419100"/>
                  </a:lnTo>
                  <a:lnTo>
                    <a:pt x="50617" y="410210"/>
                  </a:lnTo>
                  <a:lnTo>
                    <a:pt x="43341" y="400050"/>
                  </a:lnTo>
                  <a:lnTo>
                    <a:pt x="36579" y="388620"/>
                  </a:lnTo>
                  <a:lnTo>
                    <a:pt x="30364" y="377190"/>
                  </a:lnTo>
                  <a:lnTo>
                    <a:pt x="24696" y="367030"/>
                  </a:lnTo>
                  <a:lnTo>
                    <a:pt x="7709" y="318770"/>
                  </a:lnTo>
                  <a:lnTo>
                    <a:pt x="308" y="269240"/>
                  </a:lnTo>
                  <a:lnTo>
                    <a:pt x="0" y="256540"/>
                  </a:lnTo>
                  <a:lnTo>
                    <a:pt x="308" y="243840"/>
                  </a:lnTo>
                  <a:lnTo>
                    <a:pt x="4941" y="205740"/>
                  </a:lnTo>
                  <a:lnTo>
                    <a:pt x="19576" y="158750"/>
                  </a:lnTo>
                  <a:lnTo>
                    <a:pt x="30364" y="135890"/>
                  </a:lnTo>
                  <a:lnTo>
                    <a:pt x="36579" y="124460"/>
                  </a:lnTo>
                  <a:lnTo>
                    <a:pt x="43341" y="113030"/>
                  </a:lnTo>
                  <a:lnTo>
                    <a:pt x="50617" y="102870"/>
                  </a:lnTo>
                  <a:lnTo>
                    <a:pt x="58373" y="93980"/>
                  </a:lnTo>
                  <a:lnTo>
                    <a:pt x="66609" y="83820"/>
                  </a:lnTo>
                  <a:lnTo>
                    <a:pt x="94022" y="57150"/>
                  </a:lnTo>
                  <a:lnTo>
                    <a:pt x="114295" y="43180"/>
                  </a:lnTo>
                  <a:lnTo>
                    <a:pt x="124971" y="35560"/>
                  </a:lnTo>
                  <a:lnTo>
                    <a:pt x="170548" y="13970"/>
                  </a:lnTo>
                  <a:lnTo>
                    <a:pt x="194670" y="7620"/>
                  </a:lnTo>
                  <a:lnTo>
                    <a:pt x="207002" y="3810"/>
                  </a:lnTo>
                  <a:lnTo>
                    <a:pt x="219454" y="2540"/>
                  </a:lnTo>
                  <a:lnTo>
                    <a:pt x="231966" y="0"/>
                  </a:lnTo>
                  <a:lnTo>
                    <a:pt x="2034982" y="0"/>
                  </a:lnTo>
                  <a:lnTo>
                    <a:pt x="2047495" y="2540"/>
                  </a:lnTo>
                  <a:lnTo>
                    <a:pt x="2059947" y="3810"/>
                  </a:lnTo>
                  <a:lnTo>
                    <a:pt x="2072277" y="7620"/>
                  </a:lnTo>
                  <a:lnTo>
                    <a:pt x="2078353" y="8890"/>
                  </a:lnTo>
                  <a:lnTo>
                    <a:pt x="240972" y="8890"/>
                  </a:lnTo>
                  <a:lnTo>
                    <a:pt x="200904" y="15240"/>
                  </a:lnTo>
                  <a:lnTo>
                    <a:pt x="193046" y="17780"/>
                  </a:lnTo>
                  <a:lnTo>
                    <a:pt x="177524" y="21590"/>
                  </a:lnTo>
                  <a:lnTo>
                    <a:pt x="169896" y="24130"/>
                  </a:lnTo>
                  <a:lnTo>
                    <a:pt x="133279" y="41910"/>
                  </a:lnTo>
                  <a:lnTo>
                    <a:pt x="93797" y="69850"/>
                  </a:lnTo>
                  <a:lnTo>
                    <a:pt x="87794" y="76200"/>
                  </a:lnTo>
                  <a:lnTo>
                    <a:pt x="76324" y="87630"/>
                  </a:lnTo>
                  <a:lnTo>
                    <a:pt x="70883" y="92710"/>
                  </a:lnTo>
                  <a:lnTo>
                    <a:pt x="60592" y="105410"/>
                  </a:lnTo>
                  <a:lnTo>
                    <a:pt x="55766" y="111760"/>
                  </a:lnTo>
                  <a:lnTo>
                    <a:pt x="46754" y="125730"/>
                  </a:lnTo>
                  <a:lnTo>
                    <a:pt x="42589" y="132080"/>
                  </a:lnTo>
                  <a:lnTo>
                    <a:pt x="34942" y="147320"/>
                  </a:lnTo>
                  <a:lnTo>
                    <a:pt x="31479" y="153670"/>
                  </a:lnTo>
                  <a:lnTo>
                    <a:pt x="25271" y="168910"/>
                  </a:lnTo>
                  <a:lnTo>
                    <a:pt x="12700" y="215900"/>
                  </a:lnTo>
                  <a:lnTo>
                    <a:pt x="9525" y="248920"/>
                  </a:lnTo>
                  <a:lnTo>
                    <a:pt x="9525" y="264160"/>
                  </a:lnTo>
                  <a:lnTo>
                    <a:pt x="15865" y="312420"/>
                  </a:lnTo>
                  <a:lnTo>
                    <a:pt x="31479" y="359410"/>
                  </a:lnTo>
                  <a:lnTo>
                    <a:pt x="34943" y="365760"/>
                  </a:lnTo>
                  <a:lnTo>
                    <a:pt x="42589" y="381000"/>
                  </a:lnTo>
                  <a:lnTo>
                    <a:pt x="46754" y="387350"/>
                  </a:lnTo>
                  <a:lnTo>
                    <a:pt x="55766" y="401320"/>
                  </a:lnTo>
                  <a:lnTo>
                    <a:pt x="60592" y="407670"/>
                  </a:lnTo>
                  <a:lnTo>
                    <a:pt x="70883" y="420370"/>
                  </a:lnTo>
                  <a:lnTo>
                    <a:pt x="76324" y="425450"/>
                  </a:lnTo>
                  <a:lnTo>
                    <a:pt x="87794" y="436880"/>
                  </a:lnTo>
                  <a:lnTo>
                    <a:pt x="126331" y="467360"/>
                  </a:lnTo>
                  <a:lnTo>
                    <a:pt x="169896" y="488950"/>
                  </a:lnTo>
                  <a:lnTo>
                    <a:pt x="193046" y="495300"/>
                  </a:lnTo>
                  <a:lnTo>
                    <a:pt x="200905" y="497840"/>
                  </a:lnTo>
                  <a:lnTo>
                    <a:pt x="240972" y="504190"/>
                  </a:lnTo>
                  <a:lnTo>
                    <a:pt x="2078353" y="504190"/>
                  </a:lnTo>
                  <a:lnTo>
                    <a:pt x="2072277" y="505460"/>
                  </a:lnTo>
                  <a:lnTo>
                    <a:pt x="2059947" y="509270"/>
                  </a:lnTo>
                  <a:lnTo>
                    <a:pt x="2047495" y="510540"/>
                  </a:lnTo>
                  <a:lnTo>
                    <a:pt x="2034982" y="513080"/>
                  </a:lnTo>
                  <a:close/>
                </a:path>
                <a:path w="2266950" h="513079">
                  <a:moveTo>
                    <a:pt x="2078353" y="504190"/>
                  </a:moveTo>
                  <a:lnTo>
                    <a:pt x="2025976" y="504190"/>
                  </a:lnTo>
                  <a:lnTo>
                    <a:pt x="2066043" y="497840"/>
                  </a:lnTo>
                  <a:lnTo>
                    <a:pt x="2073901" y="495300"/>
                  </a:lnTo>
                  <a:lnTo>
                    <a:pt x="2112038" y="482600"/>
                  </a:lnTo>
                  <a:lnTo>
                    <a:pt x="2154105" y="458470"/>
                  </a:lnTo>
                  <a:lnTo>
                    <a:pt x="2179153" y="436880"/>
                  </a:lnTo>
                  <a:lnTo>
                    <a:pt x="2190623" y="425450"/>
                  </a:lnTo>
                  <a:lnTo>
                    <a:pt x="2196064" y="420370"/>
                  </a:lnTo>
                  <a:lnTo>
                    <a:pt x="2206355" y="407670"/>
                  </a:lnTo>
                  <a:lnTo>
                    <a:pt x="2211180" y="401320"/>
                  </a:lnTo>
                  <a:lnTo>
                    <a:pt x="2220193" y="387350"/>
                  </a:lnTo>
                  <a:lnTo>
                    <a:pt x="2224357" y="381000"/>
                  </a:lnTo>
                  <a:lnTo>
                    <a:pt x="2232005" y="365760"/>
                  </a:lnTo>
                  <a:lnTo>
                    <a:pt x="2235468" y="359410"/>
                  </a:lnTo>
                  <a:lnTo>
                    <a:pt x="2241676" y="344170"/>
                  </a:lnTo>
                  <a:lnTo>
                    <a:pt x="2254247" y="297180"/>
                  </a:lnTo>
                  <a:lnTo>
                    <a:pt x="2257424" y="264160"/>
                  </a:lnTo>
                  <a:lnTo>
                    <a:pt x="2257424" y="248920"/>
                  </a:lnTo>
                  <a:lnTo>
                    <a:pt x="2251083" y="200660"/>
                  </a:lnTo>
                  <a:lnTo>
                    <a:pt x="2235468" y="153670"/>
                  </a:lnTo>
                  <a:lnTo>
                    <a:pt x="2232005" y="147320"/>
                  </a:lnTo>
                  <a:lnTo>
                    <a:pt x="2224358" y="132080"/>
                  </a:lnTo>
                  <a:lnTo>
                    <a:pt x="2220193" y="125730"/>
                  </a:lnTo>
                  <a:lnTo>
                    <a:pt x="2211180" y="111760"/>
                  </a:lnTo>
                  <a:lnTo>
                    <a:pt x="2206355" y="105410"/>
                  </a:lnTo>
                  <a:lnTo>
                    <a:pt x="2196064" y="92710"/>
                  </a:lnTo>
                  <a:lnTo>
                    <a:pt x="2190623" y="87630"/>
                  </a:lnTo>
                  <a:lnTo>
                    <a:pt x="2179153" y="76200"/>
                  </a:lnTo>
                  <a:lnTo>
                    <a:pt x="2140617" y="45720"/>
                  </a:lnTo>
                  <a:lnTo>
                    <a:pt x="2097052" y="24130"/>
                  </a:lnTo>
                  <a:lnTo>
                    <a:pt x="2073901" y="17780"/>
                  </a:lnTo>
                  <a:lnTo>
                    <a:pt x="2066043" y="15240"/>
                  </a:lnTo>
                  <a:lnTo>
                    <a:pt x="2025976" y="8890"/>
                  </a:lnTo>
                  <a:lnTo>
                    <a:pt x="2078353" y="8890"/>
                  </a:lnTo>
                  <a:lnTo>
                    <a:pt x="2119744" y="24130"/>
                  </a:lnTo>
                  <a:lnTo>
                    <a:pt x="2152652" y="43180"/>
                  </a:lnTo>
                  <a:lnTo>
                    <a:pt x="2162985" y="49530"/>
                  </a:lnTo>
                  <a:lnTo>
                    <a:pt x="2191625" y="74930"/>
                  </a:lnTo>
                  <a:lnTo>
                    <a:pt x="2208575" y="93980"/>
                  </a:lnTo>
                  <a:lnTo>
                    <a:pt x="2216331" y="102870"/>
                  </a:lnTo>
                  <a:lnTo>
                    <a:pt x="2223608" y="113030"/>
                  </a:lnTo>
                  <a:lnTo>
                    <a:pt x="2230370" y="124460"/>
                  </a:lnTo>
                  <a:lnTo>
                    <a:pt x="2236585" y="135890"/>
                  </a:lnTo>
                  <a:lnTo>
                    <a:pt x="2242253" y="146050"/>
                  </a:lnTo>
                  <a:lnTo>
                    <a:pt x="2259240" y="194310"/>
                  </a:lnTo>
                  <a:lnTo>
                    <a:pt x="2266640" y="243840"/>
                  </a:lnTo>
                  <a:lnTo>
                    <a:pt x="2266949" y="256540"/>
                  </a:lnTo>
                  <a:lnTo>
                    <a:pt x="2266640" y="269240"/>
                  </a:lnTo>
                  <a:lnTo>
                    <a:pt x="2262008" y="307340"/>
                  </a:lnTo>
                  <a:lnTo>
                    <a:pt x="2247373" y="354330"/>
                  </a:lnTo>
                  <a:lnTo>
                    <a:pt x="2236585" y="377190"/>
                  </a:lnTo>
                  <a:lnTo>
                    <a:pt x="2230370" y="388620"/>
                  </a:lnTo>
                  <a:lnTo>
                    <a:pt x="2223608" y="400050"/>
                  </a:lnTo>
                  <a:lnTo>
                    <a:pt x="2216331" y="410210"/>
                  </a:lnTo>
                  <a:lnTo>
                    <a:pt x="2208575" y="419100"/>
                  </a:lnTo>
                  <a:lnTo>
                    <a:pt x="2200340" y="429260"/>
                  </a:lnTo>
                  <a:lnTo>
                    <a:pt x="2172925" y="455930"/>
                  </a:lnTo>
                  <a:lnTo>
                    <a:pt x="2152652" y="469900"/>
                  </a:lnTo>
                  <a:lnTo>
                    <a:pt x="2141976" y="477520"/>
                  </a:lnTo>
                  <a:lnTo>
                    <a:pt x="2131006" y="483870"/>
                  </a:lnTo>
                  <a:lnTo>
                    <a:pt x="2119744" y="488950"/>
                  </a:lnTo>
                  <a:lnTo>
                    <a:pt x="2096399" y="499110"/>
                  </a:lnTo>
                  <a:lnTo>
                    <a:pt x="2084428" y="502920"/>
                  </a:lnTo>
                  <a:lnTo>
                    <a:pt x="2078353" y="504190"/>
                  </a:lnTo>
                  <a:close/>
                </a:path>
              </a:pathLst>
            </a:custGeom>
            <a:solidFill>
              <a:srgbClr val="3B81F5">
                <a:alpha val="30198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76328" y="5467349"/>
              <a:ext cx="239129" cy="190499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5654674" y="5445125"/>
            <a:ext cx="1273175" cy="231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50" dirty="0">
                <a:solidFill>
                  <a:srgbClr val="DAE9FE"/>
                </a:solidFill>
                <a:latin typeface="微软雅黑"/>
                <a:cs typeface="微软雅黑"/>
              </a:rPr>
              <a:t>Q</a:t>
            </a:r>
            <a:r>
              <a:rPr sz="1350" spc="-10" dirty="0">
                <a:solidFill>
                  <a:srgbClr val="DAE9FE"/>
                </a:solidFill>
                <a:latin typeface="微软雅黑"/>
                <a:cs typeface="微软雅黑"/>
              </a:rPr>
              <a:t> </a:t>
            </a:r>
            <a:r>
              <a:rPr sz="1350" dirty="0">
                <a:solidFill>
                  <a:srgbClr val="DAE9FE"/>
                </a:solidFill>
                <a:latin typeface="微软雅黑"/>
                <a:cs typeface="微软雅黑"/>
              </a:rPr>
              <a:t>&amp;</a:t>
            </a:r>
            <a:r>
              <a:rPr sz="1350" spc="-5" dirty="0">
                <a:solidFill>
                  <a:srgbClr val="DAE9FE"/>
                </a:solidFill>
                <a:latin typeface="微软雅黑"/>
                <a:cs typeface="微软雅黑"/>
              </a:rPr>
              <a:t> </a:t>
            </a:r>
            <a:r>
              <a:rPr sz="1350" dirty="0">
                <a:solidFill>
                  <a:srgbClr val="DAE9FE"/>
                </a:solidFill>
                <a:latin typeface="微软雅黑"/>
                <a:cs typeface="微软雅黑"/>
              </a:rPr>
              <a:t>A</a:t>
            </a:r>
            <a:r>
              <a:rPr sz="1350" spc="-15" dirty="0">
                <a:solidFill>
                  <a:srgbClr val="DAE9FE"/>
                </a:solidFill>
                <a:latin typeface="微软雅黑"/>
                <a:cs typeface="微软雅黑"/>
              </a:rPr>
              <a:t> 交流环节</a:t>
            </a:r>
            <a:endParaRPr sz="1350">
              <a:latin typeface="微软雅黑"/>
              <a:cs typeface="微软雅黑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34049" y="1812131"/>
            <a:ext cx="714375" cy="357505"/>
          </a:xfrm>
          <a:custGeom>
            <a:avLst/>
            <a:gdLst/>
            <a:ahLst/>
            <a:cxnLst/>
            <a:rect l="l" t="t" r="r" b="b"/>
            <a:pathLst>
              <a:path w="714375" h="357505">
                <a:moveTo>
                  <a:pt x="161962" y="357187"/>
                </a:moveTo>
                <a:lnTo>
                  <a:pt x="118919" y="351398"/>
                </a:lnTo>
                <a:lnTo>
                  <a:pt x="80229" y="335061"/>
                </a:lnTo>
                <a:lnTo>
                  <a:pt x="47442" y="309720"/>
                </a:lnTo>
                <a:lnTo>
                  <a:pt x="22107" y="276919"/>
                </a:lnTo>
                <a:lnTo>
                  <a:pt x="5788" y="238267"/>
                </a:lnTo>
                <a:lnTo>
                  <a:pt x="0" y="195225"/>
                </a:lnTo>
                <a:lnTo>
                  <a:pt x="0" y="161962"/>
                </a:lnTo>
                <a:lnTo>
                  <a:pt x="5788" y="118920"/>
                </a:lnTo>
                <a:lnTo>
                  <a:pt x="22121" y="80234"/>
                </a:lnTo>
                <a:lnTo>
                  <a:pt x="47470" y="47438"/>
                </a:lnTo>
                <a:lnTo>
                  <a:pt x="80234" y="22121"/>
                </a:lnTo>
                <a:lnTo>
                  <a:pt x="118920" y="5788"/>
                </a:lnTo>
                <a:lnTo>
                  <a:pt x="161962" y="0"/>
                </a:lnTo>
                <a:lnTo>
                  <a:pt x="193716" y="3142"/>
                </a:lnTo>
                <a:lnTo>
                  <a:pt x="223953" y="12334"/>
                </a:lnTo>
                <a:lnTo>
                  <a:pt x="251825" y="27218"/>
                </a:lnTo>
                <a:lnTo>
                  <a:pt x="276499" y="47452"/>
                </a:lnTo>
                <a:lnTo>
                  <a:pt x="300517" y="71437"/>
                </a:lnTo>
                <a:lnTo>
                  <a:pt x="161962" y="71437"/>
                </a:lnTo>
                <a:lnTo>
                  <a:pt x="126721" y="78549"/>
                </a:lnTo>
                <a:lnTo>
                  <a:pt x="97947" y="97947"/>
                </a:lnTo>
                <a:lnTo>
                  <a:pt x="78549" y="126721"/>
                </a:lnTo>
                <a:lnTo>
                  <a:pt x="71437" y="161962"/>
                </a:lnTo>
                <a:lnTo>
                  <a:pt x="71460" y="195225"/>
                </a:lnTo>
                <a:lnTo>
                  <a:pt x="97909" y="259072"/>
                </a:lnTo>
                <a:lnTo>
                  <a:pt x="161962" y="285638"/>
                </a:lnTo>
                <a:lnTo>
                  <a:pt x="300707" y="285638"/>
                </a:lnTo>
                <a:lnTo>
                  <a:pt x="276597" y="309748"/>
                </a:lnTo>
                <a:lnTo>
                  <a:pt x="251873" y="329969"/>
                </a:lnTo>
                <a:lnTo>
                  <a:pt x="223967" y="344853"/>
                </a:lnTo>
                <a:lnTo>
                  <a:pt x="193718" y="354044"/>
                </a:lnTo>
                <a:lnTo>
                  <a:pt x="161962" y="357187"/>
                </a:lnTo>
                <a:close/>
              </a:path>
              <a:path w="714375" h="357505">
                <a:moveTo>
                  <a:pt x="458316" y="128029"/>
                </a:moveTo>
                <a:lnTo>
                  <a:pt x="357187" y="128029"/>
                </a:lnTo>
                <a:lnTo>
                  <a:pt x="437777" y="47438"/>
                </a:lnTo>
                <a:lnTo>
                  <a:pt x="462502" y="27218"/>
                </a:lnTo>
                <a:lnTo>
                  <a:pt x="490407" y="12334"/>
                </a:lnTo>
                <a:lnTo>
                  <a:pt x="520656" y="3142"/>
                </a:lnTo>
                <a:lnTo>
                  <a:pt x="552412" y="0"/>
                </a:lnTo>
                <a:lnTo>
                  <a:pt x="595454" y="5788"/>
                </a:lnTo>
                <a:lnTo>
                  <a:pt x="634140" y="22121"/>
                </a:lnTo>
                <a:lnTo>
                  <a:pt x="666922" y="47452"/>
                </a:lnTo>
                <a:lnTo>
                  <a:pt x="685541" y="71549"/>
                </a:lnTo>
                <a:lnTo>
                  <a:pt x="552301" y="71549"/>
                </a:lnTo>
                <a:lnTo>
                  <a:pt x="534551" y="73298"/>
                </a:lnTo>
                <a:lnTo>
                  <a:pt x="517628" y="78427"/>
                </a:lnTo>
                <a:lnTo>
                  <a:pt x="502024" y="86759"/>
                </a:lnTo>
                <a:lnTo>
                  <a:pt x="488230" y="98114"/>
                </a:lnTo>
                <a:lnTo>
                  <a:pt x="458316" y="128029"/>
                </a:lnTo>
                <a:close/>
              </a:path>
              <a:path w="714375" h="357505">
                <a:moveTo>
                  <a:pt x="300707" y="285638"/>
                </a:moveTo>
                <a:lnTo>
                  <a:pt x="161962" y="285638"/>
                </a:lnTo>
                <a:lnTo>
                  <a:pt x="179711" y="283889"/>
                </a:lnTo>
                <a:lnTo>
                  <a:pt x="196634" y="278759"/>
                </a:lnTo>
                <a:lnTo>
                  <a:pt x="212238" y="270428"/>
                </a:lnTo>
                <a:lnTo>
                  <a:pt x="226032" y="259072"/>
                </a:lnTo>
                <a:lnTo>
                  <a:pt x="306623" y="178593"/>
                </a:lnTo>
                <a:lnTo>
                  <a:pt x="225964" y="97947"/>
                </a:lnTo>
                <a:lnTo>
                  <a:pt x="212238" y="86694"/>
                </a:lnTo>
                <a:lnTo>
                  <a:pt x="196634" y="78358"/>
                </a:lnTo>
                <a:lnTo>
                  <a:pt x="179711" y="73202"/>
                </a:lnTo>
                <a:lnTo>
                  <a:pt x="161962" y="71437"/>
                </a:lnTo>
                <a:lnTo>
                  <a:pt x="300517" y="71437"/>
                </a:lnTo>
                <a:lnTo>
                  <a:pt x="357187" y="128029"/>
                </a:lnTo>
                <a:lnTo>
                  <a:pt x="458316" y="128029"/>
                </a:lnTo>
                <a:lnTo>
                  <a:pt x="407751" y="178593"/>
                </a:lnTo>
                <a:lnTo>
                  <a:pt x="458204" y="229158"/>
                </a:lnTo>
                <a:lnTo>
                  <a:pt x="357187" y="229158"/>
                </a:lnTo>
                <a:lnTo>
                  <a:pt x="300707" y="285638"/>
                </a:lnTo>
                <a:close/>
              </a:path>
              <a:path w="714375" h="357505">
                <a:moveTo>
                  <a:pt x="685433" y="285750"/>
                </a:moveTo>
                <a:lnTo>
                  <a:pt x="552301" y="285750"/>
                </a:lnTo>
                <a:lnTo>
                  <a:pt x="587542" y="278637"/>
                </a:lnTo>
                <a:lnTo>
                  <a:pt x="616315" y="259239"/>
                </a:lnTo>
                <a:lnTo>
                  <a:pt x="635713" y="230466"/>
                </a:lnTo>
                <a:lnTo>
                  <a:pt x="642825" y="195225"/>
                </a:lnTo>
                <a:lnTo>
                  <a:pt x="642803" y="161962"/>
                </a:lnTo>
                <a:lnTo>
                  <a:pt x="616353" y="98114"/>
                </a:lnTo>
                <a:lnTo>
                  <a:pt x="552301" y="71549"/>
                </a:lnTo>
                <a:lnTo>
                  <a:pt x="685541" y="71549"/>
                </a:lnTo>
                <a:lnTo>
                  <a:pt x="692253" y="80234"/>
                </a:lnTo>
                <a:lnTo>
                  <a:pt x="708586" y="118920"/>
                </a:lnTo>
                <a:lnTo>
                  <a:pt x="714375" y="161962"/>
                </a:lnTo>
                <a:lnTo>
                  <a:pt x="714360" y="195225"/>
                </a:lnTo>
                <a:lnTo>
                  <a:pt x="708586" y="238202"/>
                </a:lnTo>
                <a:lnTo>
                  <a:pt x="692227" y="276952"/>
                </a:lnTo>
                <a:lnTo>
                  <a:pt x="685433" y="285750"/>
                </a:lnTo>
                <a:close/>
              </a:path>
              <a:path w="714375" h="357505">
                <a:moveTo>
                  <a:pt x="552412" y="357187"/>
                </a:moveTo>
                <a:lnTo>
                  <a:pt x="490421" y="344853"/>
                </a:lnTo>
                <a:lnTo>
                  <a:pt x="437861" y="309720"/>
                </a:lnTo>
                <a:lnTo>
                  <a:pt x="357187" y="229158"/>
                </a:lnTo>
                <a:lnTo>
                  <a:pt x="458204" y="229158"/>
                </a:lnTo>
                <a:lnTo>
                  <a:pt x="488298" y="259239"/>
                </a:lnTo>
                <a:lnTo>
                  <a:pt x="502024" y="270492"/>
                </a:lnTo>
                <a:lnTo>
                  <a:pt x="517628" y="278829"/>
                </a:lnTo>
                <a:lnTo>
                  <a:pt x="534551" y="283985"/>
                </a:lnTo>
                <a:lnTo>
                  <a:pt x="552301" y="285750"/>
                </a:lnTo>
                <a:lnTo>
                  <a:pt x="685433" y="285750"/>
                </a:lnTo>
                <a:lnTo>
                  <a:pt x="666886" y="309748"/>
                </a:lnTo>
                <a:lnTo>
                  <a:pt x="634130" y="335065"/>
                </a:lnTo>
                <a:lnTo>
                  <a:pt x="595450" y="351399"/>
                </a:lnTo>
                <a:lnTo>
                  <a:pt x="552412" y="357187"/>
                </a:lnTo>
                <a:close/>
              </a:path>
            </a:pathLst>
          </a:custGeom>
          <a:solidFill>
            <a:srgbClr val="60A5FA">
              <a:alpha val="79998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3551733" y="3921125"/>
            <a:ext cx="5081270" cy="768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250" dirty="0">
                <a:solidFill>
                  <a:srgbClr val="DAE9FE"/>
                </a:solidFill>
                <a:latin typeface="微软雅黑"/>
                <a:cs typeface="微软雅黑"/>
              </a:rPr>
              <a:t>AI</a:t>
            </a:r>
            <a:r>
              <a:rPr sz="2250" spc="135" dirty="0">
                <a:solidFill>
                  <a:srgbClr val="DAE9FE"/>
                </a:solidFill>
                <a:latin typeface="微软雅黑"/>
                <a:cs typeface="微软雅黑"/>
              </a:rPr>
              <a:t> </a:t>
            </a:r>
            <a:r>
              <a:rPr sz="2250" spc="50" dirty="0">
                <a:solidFill>
                  <a:srgbClr val="DAE9FE"/>
                </a:solidFill>
                <a:latin typeface="微软雅黑"/>
                <a:cs typeface="微软雅黑"/>
              </a:rPr>
              <a:t>Agent</a:t>
            </a:r>
            <a:r>
              <a:rPr sz="2250" spc="40" dirty="0">
                <a:solidFill>
                  <a:srgbClr val="DAE9FE"/>
                </a:solidFill>
                <a:latin typeface="微软雅黑"/>
                <a:cs typeface="微软雅黑"/>
              </a:rPr>
              <a:t>：放大人类能力的新基础设施</a:t>
            </a:r>
            <a:endParaRPr sz="2250">
              <a:latin typeface="微软雅黑"/>
              <a:cs typeface="微软雅黑"/>
            </a:endParaRPr>
          </a:p>
          <a:p>
            <a:pPr marL="6985" algn="ctr">
              <a:lnSpc>
                <a:spcPct val="100000"/>
              </a:lnSpc>
              <a:spcBef>
                <a:spcPts val="1350"/>
              </a:spcBef>
            </a:pPr>
            <a:r>
              <a:rPr sz="1500" b="0" spc="-5" dirty="0">
                <a:solidFill>
                  <a:srgbClr val="93C4FD"/>
                </a:solidFill>
                <a:latin typeface="微软雅黑 Light"/>
                <a:cs typeface="微软雅黑 Light"/>
              </a:rPr>
              <a:t>从工具到伙伴，期待与您共创智能未来</a:t>
            </a:r>
            <a:endParaRPr sz="1500">
              <a:latin typeface="微软雅黑 Light"/>
              <a:cs typeface="微软雅黑 Ligh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446916" y="6500145"/>
            <a:ext cx="186690" cy="207010"/>
          </a:xfrm>
          <a:prstGeom prst="rect">
            <a:avLst/>
          </a:prstGeom>
        </p:spPr>
        <p:txBody>
          <a:bodyPr vert="horz" wrap="square" lIns="0" tIns="24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sz="1050" spc="-25" dirty="0">
                <a:solidFill>
                  <a:srgbClr val="9CA2AF"/>
                </a:solidFill>
                <a:latin typeface="微软雅黑"/>
                <a:cs typeface="微软雅黑"/>
              </a:rPr>
              <a:t>30</a:t>
            </a:r>
            <a:endParaRPr sz="1050">
              <a:latin typeface="微软雅黑"/>
              <a:cs typeface="微软雅黑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Words>1969</Words>
  <Application>Microsoft Macintosh PowerPoint</Application>
  <PresentationFormat>自定义</PresentationFormat>
  <Paragraphs>457</Paragraphs>
  <Slides>28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5" baseType="lpstr">
      <vt:lpstr>等线</vt:lpstr>
      <vt:lpstr>微软雅黑</vt:lpstr>
      <vt:lpstr>微软雅黑 Light</vt:lpstr>
      <vt:lpstr>΢</vt:lpstr>
      <vt:lpstr>Arial</vt:lpstr>
      <vt:lpstr>Calibri</vt:lpstr>
      <vt:lpstr>Office Theme</vt:lpstr>
      <vt:lpstr>AI Agent</vt:lpstr>
      <vt:lpstr>目录</vt:lpstr>
      <vt:lpstr>PowerPoint 演示文稿</vt:lpstr>
      <vt:lpstr>AI Agent能做什么？</vt:lpstr>
      <vt:lpstr>AI Agent的本质定义</vt:lpstr>
      <vt:lpstr>从生成式AI到AI Agent的跃迁</vt:lpstr>
      <vt:lpstr>AI Agent的核心特征</vt:lpstr>
      <vt:lpstr>PowerPoint 演示文稿</vt:lpstr>
      <vt:lpstr>框架分类：单智能体 vs 多智能体</vt:lpstr>
      <vt:lpstr>主流框架能力对比</vt:lpstr>
      <vt:lpstr>框架选型建议</vt:lpstr>
      <vt:lpstr>企业级组合方案</vt:lpstr>
      <vt:lpstr>框架发展趋势</vt:lpstr>
      <vt:lpstr>PowerPoint 演示文稿</vt:lpstr>
      <vt:lpstr>技术层面挑战</vt:lpstr>
      <vt:lpstr>系统层面风险</vt:lpstr>
      <vt:lpstr>伦理与治理难题</vt:lpstr>
      <vt:lpstr>业务影响分析</vt:lpstr>
      <vt:lpstr>PowerPoint 演示文稿</vt:lpstr>
      <vt:lpstr>神经符号融合</vt:lpstr>
      <vt:lpstr>联邦Agentic RAG</vt:lpstr>
      <vt:lpstr>AI代理协议标准化</vt:lpstr>
      <vt:lpstr>PowerPoint 演示文稿</vt:lpstr>
      <vt:lpstr>企业效率革命</vt:lpstr>
      <vt:lpstr>科研范式变革</vt:lpstr>
      <vt:lpstr>新商业模式创新</vt:lpstr>
      <vt:lpstr>落地路径与投入建议</vt:lpstr>
      <vt:lpstr>感谢聆听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</dc:title>
  <dc:creator>Zhukunpeng</dc:creator>
  <cp:lastModifiedBy>John bo</cp:lastModifiedBy>
  <cp:revision>20</cp:revision>
  <dcterms:created xsi:type="dcterms:W3CDTF">2025-11-19T11:17:00Z</dcterms:created>
  <dcterms:modified xsi:type="dcterms:W3CDTF">2026-04-01T11:30:12Z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oducer">
    <vt:lpwstr>PyPDF2</vt:lpwstr>
  </property>
</Properties>
</file>